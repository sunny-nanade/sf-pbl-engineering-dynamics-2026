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0:00-1:00 (1 min)</a:t>
            </a:r>
          </a:p>
          <a:p>
            <a:r>
              <a:t>FOCUS: Introduce your system and its real-world engineering relevance.</a:t>
            </a:r>
          </a:p>
          <a:p>
            <a:r>
              <a:t>TIP: Start with a compelling application, not a textbook definition.</a:t>
            </a:r>
          </a:p>
          <a:p>
            <a:r>
              <a:t>SHOW: An image or short video of the actual system.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1:00-2:30 (1.5 min)</a:t>
            </a:r>
          </a:p>
          <a:p>
            <a:r>
              <a:t>FOCUS: Clearly define I/O, states, parameters, DOF, and justify every assumption.</a:t>
            </a:r>
          </a:p>
          <a:p>
            <a:r>
              <a:t>TIP: Explain WHY each assumption is physically valid.</a:t>
            </a:r>
          </a:p>
          <a:p>
            <a:r>
              <a:t>BE PREPARED: You may be asked 'Why this assumption? What if it changes?'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2:30-3:45 (1.25 min)</a:t>
            </a:r>
          </a:p>
          <a:p>
            <a:r>
              <a:t>FOCUS: Walk through EVERY step of the derivation. This is the most important section.</a:t>
            </a:r>
          </a:p>
          <a:p>
            <a:r>
              <a:t>TIP: Show the algebra — don't skip to the final equation.</a:t>
            </a:r>
          </a:p>
          <a:p>
            <a:r>
              <a:t>BE PREPARED: You may be asked to explain any step in detail.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3:45-5:00 (1.25 min)</a:t>
            </a:r>
          </a:p>
          <a:p>
            <a:r>
              <a:t>FOCUS: Present final EOM and state-space. Explain the physical meaning of EVERY term.</a:t>
            </a:r>
          </a:p>
          <a:p>
            <a:r>
              <a:t>TIP: 'c*x_dot = viscous damping force' is stronger than just showing the equation.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5:00-7:00 (2 min)</a:t>
            </a:r>
          </a:p>
          <a:p>
            <a:r>
              <a:t>FOCUS: Show your simulation setup, key code snippet, and output plots.</a:t>
            </a:r>
          </a:p>
          <a:p>
            <a:r>
              <a:t>INCLUDE: Energy vs time plot — this validates your model physically.</a:t>
            </a:r>
          </a:p>
          <a:p>
            <a:r>
              <a:t>BE PREPARED: You may be asked 'Why does the oscillation decay?' or 'How does energy change?'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7:00-8:30 (1.5 min)</a:t>
            </a:r>
          </a:p>
          <a:p>
            <a:r>
              <a:t>FOCUS: Show HOW you verified your results. Energy check, textbook comparison, sensitivity.</a:t>
            </a:r>
          </a:p>
          <a:p>
            <a:r>
              <a:t>TIP: A strong answer = 'We compared natural frequency with Ginsberg Ch.3.'</a:t>
            </a:r>
          </a:p>
          <a:p>
            <a:r>
              <a:t>A weak answer = 'It runs and produces output.'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8:30-10:00 (1.5 min)</a:t>
            </a:r>
          </a:p>
          <a:p>
            <a:r>
              <a:t>FOCUS: Be specific about what you learned and what was hardest.</a:t>
            </a:r>
          </a:p>
          <a:p>
            <a:r>
              <a:t>TIP: 'Getting the sign convention right in the Lagrangian took 3 iterations' is much stronger than 'teamwork was hard.'</a:t>
            </a:r>
          </a:p>
          <a:p>
            <a:r>
              <a:t>INCLUDE: CO self-assessment — which COs did you exercise most?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disclosure is MANDATORY but NOT penalized.</a:t>
            </a:r>
          </a:p>
          <a:p>
            <a:r>
              <a:t>Be honest about what tools you used and for what purpose.</a:t>
            </a:r>
          </a:p>
          <a:p>
            <a:r>
              <a:t>Good: 'Used ChatGPT for Python syntax debugging, derivation done by hand.'</a:t>
            </a:r>
          </a:p>
          <a:p>
            <a:r>
              <a:t>Non-disclosure IS penalized if uncovered during Q&amp;A.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3600" b="1">
                <a:solidFill>
                  <a:srgbClr val="1F4E79"/>
                </a:solidFill>
              </a:defRPr>
            </a:pPr>
            <a:r>
              <a:t>[Project Title]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1800"/>
            </a:pPr>
            <a:r>
              <a:t>Team: [Name 1], [Name 2], [Name 3], [Name 4]</a:t>
            </a:r>
          </a:p>
          <a:p>
            <a:pPr>
              <a:defRPr sz="1800"/>
            </a:pPr>
            <a:r>
              <a:t>Course: Dynamic System Modeling (702MH0C023)</a:t>
            </a:r>
          </a:p>
          <a:p>
            <a:pPr>
              <a:defRPr sz="1800"/>
            </a:pPr>
            <a:r>
              <a:t>B.Tech Mechatronics, Sem IV | NMIMS MPSTME Mumbai</a:t>
            </a:r>
          </a:p>
          <a:p>
            <a:pPr>
              <a:defRPr sz="1800"/>
            </a:pPr>
            <a:r>
              <a:t>Category: [A/B/C/D/E] | Complexity: [Medium/High/Very High]</a:t>
            </a:r>
          </a:p>
          <a:p>
            <a:pPr>
              <a:defRPr sz="1800"/>
            </a:pPr>
            <a:r>
              <a:t>COs Exercised: [CO1, CO2, CO3, CO4, CO5] | Date: [DD/MM/YYYY]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1. System Introduction &amp; 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What is the system? (Real-world description)</a:t>
            </a:r>
          </a:p>
          <a:p>
            <a:pPr>
              <a:spcBef>
                <a:spcPts val="600"/>
              </a:spcBef>
              <a:defRPr sz="1800"/>
            </a:pPr>
            <a:r>
              <a:t>Why does it matter? (Engineering application)</a:t>
            </a:r>
          </a:p>
          <a:p>
            <a:pPr>
              <a:spcBef>
                <a:spcPts val="600"/>
              </a:spcBef>
              <a:defRPr sz="1800"/>
            </a:pPr>
            <a:r>
              <a:t>What question are we answering? (PBL problem statement)</a:t>
            </a:r>
          </a:p>
          <a:p>
            <a:pPr>
              <a:spcBef>
                <a:spcPts val="600"/>
              </a:spcBef>
              <a:defRPr sz="1800"/>
            </a:pPr>
            <a:r>
              <a:t>[INSERT: Image/diagram of real-world system]</a:t>
            </a:r>
          </a:p>
          <a:p>
            <a:pPr>
              <a:spcBef>
                <a:spcPts val="600"/>
              </a:spcBef>
              <a:defRPr sz="1800"/>
            </a:pPr>
            <a:r>
              <a:t>[OPTIONAL: 15-sec video clip]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2. Problem Formulation &amp; Assumptions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Inputs: [e.g., force F(t), voltage V(t)]</a:t>
            </a:r>
          </a:p>
          <a:p>
            <a:pPr>
              <a:spcBef>
                <a:spcPts val="600"/>
              </a:spcBef>
              <a:defRPr sz="1800"/>
            </a:pPr>
            <a:r>
              <a:t>Outputs: [e.g., position x(t), angle theta(t)]</a:t>
            </a:r>
          </a:p>
          <a:p>
            <a:pPr>
              <a:spcBef>
                <a:spcPts val="600"/>
              </a:spcBef>
              <a:defRPr sz="1800"/>
            </a:pPr>
            <a:r>
              <a:t>State Variables: [e.g., x, dx/dt, theta, dtheta/dt]</a:t>
            </a:r>
          </a:p>
          <a:p>
            <a:pPr>
              <a:spcBef>
                <a:spcPts val="600"/>
              </a:spcBef>
              <a:defRPr sz="1800"/>
            </a:pPr>
            <a:r>
              <a:t>Parameters: [e.g., m, L, c, k]</a:t>
            </a:r>
          </a:p>
          <a:p>
            <a:pPr>
              <a:spcBef>
                <a:spcPts val="600"/>
              </a:spcBef>
              <a:defRPr sz="1800"/>
            </a:pPr>
            <a:r>
              <a:t>DOF: [number] — justified by constraint analysis</a:t>
            </a:r>
          </a:p>
          <a:p>
            <a:pPr>
              <a:spcBef>
                <a:spcPts val="600"/>
              </a:spcBef>
              <a:defRPr sz="1800"/>
            </a:pPr>
            <a:r>
              <a:t>Key Assumptions (JUSTIFIED):</a:t>
            </a:r>
          </a:p>
          <a:p>
            <a:pPr>
              <a:spcBef>
                <a:spcPts val="600"/>
              </a:spcBef>
              <a:defRPr sz="1800"/>
            </a:pPr>
            <a:r>
              <a:t>  (1) [e.g., Rigid body — deformation negligible at these speeds]</a:t>
            </a:r>
          </a:p>
          <a:p>
            <a:pPr>
              <a:spcBef>
                <a:spcPts val="600"/>
              </a:spcBef>
              <a:defRPr sz="1800"/>
            </a:pPr>
            <a:r>
              <a:t>  (2) [e.g., Planar motion — out-of-plane forces zero]</a:t>
            </a:r>
          </a:p>
          <a:p>
            <a:pPr>
              <a:spcBef>
                <a:spcPts val="600"/>
              </a:spcBef>
              <a:defRPr sz="1800"/>
            </a:pPr>
            <a:r>
              <a:t>  (3) [e.g., Viscous damping — proportional to velocity]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3. Free Body Diagram / System Schematic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i="1">
                <a:solidFill>
                  <a:srgbClr val="666666"/>
                </a:solidFill>
              </a:defRPr>
            </a:pPr>
            <a:r>
              <a:t>[INSERT your Free Body Diagram here]</a:t>
            </a:r>
            <a:br/>
            <a:br/>
            <a:r>
              <a:t>REQUIREMENTS:</a:t>
            </a:r>
            <a:br/>
            <a:r>
              <a:t>- Draw ALL forces, torques, constraints acting on system</a:t>
            </a:r>
            <a:br/>
            <a:r>
              <a:t>- Label ALL variables: x, theta, F, m, L, k, c, I, etc.</a:t>
            </a:r>
            <a:br/>
            <a:r>
              <a:t>- Show coordinate system and sign conventions clearly</a:t>
            </a:r>
            <a:br/>
            <a:r>
              <a:t>- Show constraint reactions if relevant</a:t>
            </a:r>
            <a:br/>
            <a:br/>
            <a:r>
              <a:t>TIP: Hand-drawn FBDs PREFERRED over AI-generated.</a:t>
            </a:r>
            <a:br/>
            <a:r>
              <a:t>They demonstrate authentic understanding of the physics.</a:t>
            </a:r>
            <a:br/>
            <a:br/>
            <a:r>
              <a:t>This slide directly showcases your CO2 (FBD analysis) skills.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4. Mathematical Derivation (Part 1)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Method: [Newton / Lagrange / Energy] — CO4</a:t>
            </a:r>
          </a:p>
          <a:p>
            <a:pPr>
              <a:spcBef>
                <a:spcPts val="600"/>
              </a:spcBef>
              <a:defRPr sz="1800"/>
            </a:pPr>
          </a:p>
          <a:p>
            <a:pPr>
              <a:spcBef>
                <a:spcPts val="600"/>
              </a:spcBef>
              <a:defRPr sz="1800"/>
            </a:pPr>
            <a:r>
              <a:t>WHY this method? [e.g., 'Lagrange — 3 constraints avoid</a:t>
            </a:r>
          </a:p>
          <a:p>
            <a:pPr>
              <a:spcBef>
                <a:spcPts val="600"/>
              </a:spcBef>
              <a:defRPr sz="1800"/>
            </a:pPr>
            <a:r>
              <a:t>  3 constraint forces needed by Newton']</a:t>
            </a:r>
          </a:p>
          <a:p>
            <a:pPr>
              <a:spcBef>
                <a:spcPts val="600"/>
              </a:spcBef>
              <a:defRPr sz="1800"/>
            </a:pPr>
          </a:p>
          <a:p>
            <a:pPr>
              <a:spcBef>
                <a:spcPts val="600"/>
              </a:spcBef>
              <a:defRPr sz="1800"/>
            </a:pPr>
            <a:r>
              <a:t>Step 1: Identify all forces on the system — CO3</a:t>
            </a:r>
          </a:p>
          <a:p>
            <a:pPr>
              <a:spcBef>
                <a:spcPts val="600"/>
              </a:spcBef>
              <a:defRPr sz="1800"/>
            </a:pPr>
            <a:r>
              <a:t>Step 2: Kinetic Energy  T = (1/2)m*v^2 + (1/2)I*omega^2</a:t>
            </a:r>
          </a:p>
          <a:p>
            <a:pPr>
              <a:spcBef>
                <a:spcPts val="600"/>
              </a:spcBef>
              <a:defRPr sz="1800"/>
            </a:pPr>
            <a:r>
              <a:t>Step 3: Potential Energy  V = mgh + (1/2)k*x^2</a:t>
            </a:r>
          </a:p>
          <a:p>
            <a:pPr>
              <a:spcBef>
                <a:spcPts val="600"/>
              </a:spcBef>
              <a:defRPr sz="1800"/>
            </a:pPr>
            <a:r>
              <a:t>Step 4: Lagrangian  L = T - V</a:t>
            </a:r>
          </a:p>
          <a:p>
            <a:pPr>
              <a:spcBef>
                <a:spcPts val="600"/>
              </a:spcBef>
              <a:defRPr sz="1800"/>
            </a:pPr>
            <a:r>
              <a:t>Step 5: Euler-Lagrange: d/dt(dL/dq_dot) - dL/dq = Q</a:t>
            </a:r>
          </a:p>
          <a:p>
            <a:pPr>
              <a:spcBef>
                <a:spcPts val="600"/>
              </a:spcBef>
              <a:defRPr sz="1800"/>
            </a:pPr>
          </a:p>
          <a:p>
            <a:pPr>
              <a:spcBef>
                <a:spcPts val="600"/>
              </a:spcBef>
              <a:defRPr sz="1800"/>
            </a:pPr>
            <a:r>
              <a:t>[Show EACH algebraic step — not just final equation]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5. Final Equations &amp; State-Space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Final Equations of Motion:</a:t>
            </a:r>
          </a:p>
          <a:p>
            <a:pPr>
              <a:spcBef>
                <a:spcPts val="600"/>
              </a:spcBef>
              <a:defRPr sz="1800"/>
            </a:pPr>
            <a:r>
              <a:t>  EOM 1: m*x_ddot + c*x_dot + k*x = F(t)</a:t>
            </a:r>
          </a:p>
          <a:p>
            <a:pPr>
              <a:spcBef>
                <a:spcPts val="600"/>
              </a:spcBef>
              <a:defRPr sz="1800"/>
            </a:pPr>
            <a:r>
              <a:t>  EOM 2: I*theta_ddot + mgl*sin(theta) = tau(t)</a:t>
            </a:r>
          </a:p>
          <a:p>
            <a:pPr>
              <a:spcBef>
                <a:spcPts val="600"/>
              </a:spcBef>
              <a:defRPr sz="1800"/>
            </a:pPr>
          </a:p>
          <a:p>
            <a:pPr>
              <a:spcBef>
                <a:spcPts val="600"/>
              </a:spcBef>
              <a:defRPr sz="1800"/>
            </a:pPr>
            <a:r>
              <a:t>State-Space Form (if applicable):</a:t>
            </a:r>
          </a:p>
          <a:p>
            <a:pPr>
              <a:spcBef>
                <a:spcPts val="600"/>
              </a:spcBef>
              <a:defRPr sz="1800"/>
            </a:pPr>
            <a:r>
              <a:t>  x_dot = Ax + Bu;  y = Cx + Du</a:t>
            </a:r>
          </a:p>
          <a:p>
            <a:pPr>
              <a:spcBef>
                <a:spcPts val="600"/>
              </a:spcBef>
              <a:defRPr sz="1800"/>
            </a:pPr>
            <a:r>
              <a:t>  A = [...]; B = [...]; C = [...]; D = [...]</a:t>
            </a:r>
          </a:p>
          <a:p>
            <a:pPr>
              <a:spcBef>
                <a:spcPts val="600"/>
              </a:spcBef>
              <a:defRPr sz="1800"/>
            </a:pPr>
          </a:p>
          <a:p>
            <a:pPr>
              <a:spcBef>
                <a:spcPts val="600"/>
              </a:spcBef>
              <a:defRPr sz="1800"/>
            </a:pPr>
            <a:r>
              <a:t>Physical meaning of each term — CO3:</a:t>
            </a:r>
          </a:p>
          <a:p>
            <a:pPr>
              <a:spcBef>
                <a:spcPts val="600"/>
              </a:spcBef>
              <a:defRPr sz="1800"/>
            </a:pPr>
            <a:r>
              <a:t>  'c*x_dot = viscous damping force opposing velocity'</a:t>
            </a:r>
          </a:p>
          <a:p>
            <a:pPr>
              <a:spcBef>
                <a:spcPts val="600"/>
              </a:spcBef>
              <a:defRPr sz="1800"/>
            </a:pPr>
            <a:r>
              <a:t>  'mgl*sin(theta) = gravity restoring torque'</a:t>
            </a:r>
          </a:p>
          <a:p>
            <a:pPr>
              <a:spcBef>
                <a:spcPts val="600"/>
              </a:spcBef>
              <a:defRPr sz="1800"/>
            </a:pPr>
          </a:p>
          <a:p>
            <a:pPr>
              <a:spcBef>
                <a:spcPts val="600"/>
              </a:spcBef>
              <a:defRPr sz="1800"/>
            </a:pPr>
            <a:r>
              <a:t>Energy expression (CO5): T + V = E(t)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6. Simulation &amp; Energy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Tools: Python 3.x + NumPy + SciPy + Matplotlib [+ PyBullet]</a:t>
            </a:r>
          </a:p>
          <a:p>
            <a:pPr>
              <a:spcBef>
                <a:spcPts val="600"/>
              </a:spcBef>
              <a:defRPr sz="1800"/>
            </a:pPr>
            <a:r>
              <a:t>ODE Solver: scipy.integrate.solve_ivp (RK45/BDF)</a:t>
            </a:r>
          </a:p>
          <a:p>
            <a:pPr>
              <a:spcBef>
                <a:spcPts val="600"/>
              </a:spcBef>
              <a:defRPr sz="1800"/>
            </a:pPr>
            <a:r>
              <a:t>Parameters: dt=..., T_total=..., ICs=[...]</a:t>
            </a:r>
          </a:p>
          <a:p>
            <a:pPr>
              <a:spcBef>
                <a:spcPts val="600"/>
              </a:spcBef>
              <a:defRPr sz="1800"/>
            </a:pPr>
          </a:p>
          <a:p>
            <a:pPr>
              <a:spcBef>
                <a:spcPts val="600"/>
              </a:spcBef>
              <a:defRPr sz="1800"/>
            </a:pPr>
            <a:r>
              <a:t>[INSERT: Key code snippet — ODE function]</a:t>
            </a:r>
          </a:p>
          <a:p>
            <a:pPr>
              <a:spcBef>
                <a:spcPts val="600"/>
              </a:spcBef>
              <a:defRPr sz="1800"/>
            </a:pPr>
            <a:r>
              <a:t>[INSERT: Time response plot (states vs time)]</a:t>
            </a:r>
          </a:p>
          <a:p>
            <a:pPr>
              <a:spcBef>
                <a:spcPts val="600"/>
              </a:spcBef>
              <a:defRPr sz="1800"/>
            </a:pPr>
            <a:r>
              <a:t>[INSERT: Energy vs time plot — CO5 validation]</a:t>
            </a:r>
          </a:p>
          <a:p>
            <a:pPr>
              <a:spcBef>
                <a:spcPts val="600"/>
              </a:spcBef>
              <a:defRPr sz="1800"/>
            </a:pPr>
          </a:p>
          <a:p>
            <a:pPr>
              <a:spcBef>
                <a:spcPts val="600"/>
              </a:spcBef>
              <a:defRPr sz="1800"/>
            </a:pPr>
            <a:r>
              <a:t>Energy Check (CO5):</a:t>
            </a:r>
          </a:p>
          <a:p>
            <a:pPr>
              <a:spcBef>
                <a:spcPts val="600"/>
              </a:spcBef>
              <a:defRPr sz="1800"/>
            </a:pPr>
            <a:r>
              <a:t>  Total energy E(t) = T(t) + V(t) = [conserved / decays due to damping]</a:t>
            </a:r>
          </a:p>
          <a:p>
            <a:pPr>
              <a:spcBef>
                <a:spcPts val="600"/>
              </a:spcBef>
              <a:defRPr sz="1800"/>
            </a:pPr>
            <a:r>
              <a:t>  Power dissipated P = c*(dx/dt)^2 = [value] W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7. Simulation Visualization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i="1">
                <a:solidFill>
                  <a:srgbClr val="666666"/>
                </a:solidFill>
              </a:defRPr>
            </a:pPr>
            <a:r>
              <a:t>[INSERT simulation output plots]</a:t>
            </a:r>
            <a:br/>
            <a:br/>
            <a:r>
              <a:t>REQUIRED (minimum):</a:t>
            </a:r>
            <a:br/>
            <a:r>
              <a:t>- Time response: all states vs time (labels, units, legend)</a:t>
            </a:r>
            <a:br/>
            <a:r>
              <a:t>- Energy vs time: T(t), V(t), E(t) on same plot (CO5 validation)</a:t>
            </a:r>
            <a:br/>
            <a:r>
              <a:t>- Parameter variation: effect of changing key parameter</a:t>
            </a:r>
            <a:br/>
            <a:br/>
            <a:r>
              <a:t>[OPTIONAL but valuable]:</a:t>
            </a:r>
            <a:br/>
            <a:r>
              <a:t>- Phase portrait: velocity vs position</a:t>
            </a:r>
            <a:br/>
            <a:r>
              <a:t>- PyBullet 3D animation screenshot</a:t>
            </a:r>
            <a:br/>
            <a:r>
              <a:t>- Power dissipation vs time (CO5)</a:t>
            </a:r>
            <a:br/>
            <a:r>
              <a:t>- Bode/frequency response (Cat E projects)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8. Validation &amp;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Validation 1: Energy conservation check (CO5)</a:t>
            </a:r>
          </a:p>
          <a:p>
            <a:pPr>
              <a:spcBef>
                <a:spcPts val="600"/>
              </a:spcBef>
              <a:defRPr sz="1800"/>
            </a:pPr>
            <a:r>
              <a:t>  Total energy [conserved / decays X% from damping]</a:t>
            </a:r>
          </a:p>
          <a:p>
            <a:pPr>
              <a:spcBef>
                <a:spcPts val="600"/>
              </a:spcBef>
              <a:defRPr sz="1800"/>
            </a:pPr>
            <a:r>
              <a:t>Validation 2: Comparison with analytical/published result (CO4)</a:t>
            </a:r>
          </a:p>
          <a:p>
            <a:pPr>
              <a:spcBef>
                <a:spcPts val="600"/>
              </a:spcBef>
              <a:defRPr sz="1800"/>
            </a:pPr>
            <a:r>
              <a:t>  Textbook: Ginsberg Ch X → w_n = ...; Our sim: w_n = ...</a:t>
            </a:r>
          </a:p>
          <a:p>
            <a:pPr>
              <a:spcBef>
                <a:spcPts val="600"/>
              </a:spcBef>
              <a:defRPr sz="1800"/>
            </a:pPr>
            <a:r>
              <a:t>Validation 3: Dimensional analysis / unit check</a:t>
            </a:r>
          </a:p>
          <a:p>
            <a:pPr>
              <a:spcBef>
                <a:spcPts val="600"/>
              </a:spcBef>
              <a:defRPr sz="1800"/>
            </a:pPr>
          </a:p>
          <a:p>
            <a:pPr>
              <a:spcBef>
                <a:spcPts val="600"/>
              </a:spcBef>
              <a:defRPr sz="1800"/>
            </a:pPr>
            <a:r>
              <a:t>Sensitivity Analysis:</a:t>
            </a:r>
          </a:p>
          <a:p>
            <a:pPr>
              <a:spcBef>
                <a:spcPts val="600"/>
              </a:spcBef>
              <a:defRPr sz="1800"/>
            </a:pPr>
            <a:r>
              <a:t>  Varied [param] from [range] → [effect on natural freq/stability]</a:t>
            </a:r>
          </a:p>
          <a:p>
            <a:pPr>
              <a:spcBef>
                <a:spcPts val="600"/>
              </a:spcBef>
              <a:defRPr sz="1800"/>
            </a:pPr>
          </a:p>
          <a:p>
            <a:pPr>
              <a:spcBef>
                <a:spcPts val="600"/>
              </a:spcBef>
              <a:defRPr sz="1800"/>
            </a:pPr>
            <a:r>
              <a:t>Limitations:</a:t>
            </a:r>
          </a:p>
          <a:p>
            <a:pPr>
              <a:spcBef>
                <a:spcPts val="600"/>
              </a:spcBef>
              <a:defRPr sz="1800"/>
            </a:pPr>
            <a:r>
              <a:t>  (1) [e.g., Rigid body limits to low-speed regime]</a:t>
            </a:r>
          </a:p>
          <a:p>
            <a:pPr>
              <a:spcBef>
                <a:spcPts val="600"/>
              </a:spcBef>
              <a:defRPr sz="1800"/>
            </a:pPr>
            <a:r>
              <a:t>  (2) [e.g., No experimental validation — simulation only]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9. Conclusions &amp; Reflections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Key Finding: [1-2 sentences]</a:t>
            </a:r>
          </a:p>
          <a:p>
            <a:pPr>
              <a:spcBef>
                <a:spcPts val="600"/>
              </a:spcBef>
              <a:defRPr sz="1800"/>
            </a:pPr>
          </a:p>
          <a:p>
            <a:pPr>
              <a:spcBef>
                <a:spcPts val="600"/>
              </a:spcBef>
              <a:defRPr sz="1800"/>
            </a:pPr>
            <a:r>
              <a:t>What we learned that a textbook couldn't teach:</a:t>
            </a:r>
          </a:p>
          <a:p>
            <a:pPr>
              <a:spcBef>
                <a:spcPts val="600"/>
              </a:spcBef>
              <a:defRPr sz="1800"/>
            </a:pPr>
            <a:r>
              <a:t>  [Specific insight — which CO was most challenging?]</a:t>
            </a:r>
          </a:p>
          <a:p>
            <a:pPr>
              <a:spcBef>
                <a:spcPts val="600"/>
              </a:spcBef>
              <a:defRPr sz="1800"/>
            </a:pPr>
          </a:p>
          <a:p>
            <a:pPr>
              <a:spcBef>
                <a:spcPts val="600"/>
              </a:spcBef>
              <a:defRPr sz="1800"/>
            </a:pPr>
            <a:r>
              <a:t>What we would do differently:</a:t>
            </a:r>
          </a:p>
          <a:p>
            <a:pPr>
              <a:spcBef>
                <a:spcPts val="600"/>
              </a:spcBef>
              <a:defRPr sz="1800"/>
            </a:pPr>
            <a:r>
              <a:t>  [Process reflection]</a:t>
            </a:r>
          </a:p>
          <a:p>
            <a:pPr>
              <a:spcBef>
                <a:spcPts val="600"/>
              </a:spcBef>
              <a:defRPr sz="1800"/>
            </a:pPr>
          </a:p>
          <a:p>
            <a:pPr>
              <a:spcBef>
                <a:spcPts val="600"/>
              </a:spcBef>
              <a:defRPr sz="1800"/>
            </a:pPr>
            <a:r>
              <a:t>Course units most critical: [list from mapping matrix]</a:t>
            </a:r>
          </a:p>
          <a:p>
            <a:pPr>
              <a:spcBef>
                <a:spcPts val="600"/>
              </a:spcBef>
              <a:defRPr sz="1800"/>
            </a:pPr>
          </a:p>
          <a:p>
            <a:pPr>
              <a:spcBef>
                <a:spcPts val="600"/>
              </a:spcBef>
              <a:defRPr sz="1800"/>
            </a:pPr>
            <a:r>
              <a:t>CO Self-Assessment:</a:t>
            </a:r>
          </a:p>
          <a:p>
            <a:pPr>
              <a:spcBef>
                <a:spcPts val="600"/>
              </a:spcBef>
              <a:defRPr sz="1800"/>
            </a:pPr>
            <a:r>
              <a:t>  CO1(Kinematics): ✓  CO2(FBD): ✓  CO3(Forces): ✓</a:t>
            </a:r>
          </a:p>
          <a:p>
            <a:pPr>
              <a:spcBef>
                <a:spcPts val="600"/>
              </a:spcBef>
              <a:defRPr sz="1800"/>
            </a:pPr>
            <a:r>
              <a:t>  CO4(Laws): ✓  CO5(Energy): ✓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10. References &amp; AI Disclosure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Textbook References:</a:t>
            </a:r>
          </a:p>
          <a:p>
            <a:pPr>
              <a:spcBef>
                <a:spcPts val="600"/>
              </a:spcBef>
              <a:defRPr sz="1800"/>
            </a:pPr>
            <a:r>
              <a:t>  [1] Ginsberg, J. (2008). Engineering Dynamics. Cambridge UP.</a:t>
            </a:r>
          </a:p>
          <a:p>
            <a:pPr>
              <a:spcBef>
                <a:spcPts val="600"/>
              </a:spcBef>
              <a:defRPr sz="1800"/>
            </a:pPr>
            <a:r>
              <a:t>  [2] [Other textbooks/papers]</a:t>
            </a:r>
          </a:p>
          <a:p>
            <a:pPr>
              <a:spcBef>
                <a:spcPts val="600"/>
              </a:spcBef>
              <a:defRPr sz="1800"/>
            </a:pPr>
          </a:p>
          <a:p>
            <a:pPr>
              <a:spcBef>
                <a:spcPts val="600"/>
              </a:spcBef>
              <a:defRPr sz="1800"/>
            </a:pPr>
            <a:r>
              <a:t>Online Resources:</a:t>
            </a:r>
          </a:p>
          <a:p>
            <a:pPr>
              <a:spcBef>
                <a:spcPts val="600"/>
              </a:spcBef>
              <a:defRPr sz="1800"/>
            </a:pPr>
            <a:r>
              <a:t>  [3] [Websites, tutorials, documentation]</a:t>
            </a:r>
          </a:p>
          <a:p>
            <a:pPr>
              <a:spcBef>
                <a:spcPts val="600"/>
              </a:spcBef>
              <a:defRPr sz="1800"/>
            </a:pPr>
          </a:p>
          <a:p>
            <a:pPr>
              <a:spcBef>
                <a:spcPts val="600"/>
              </a:spcBef>
              <a:defRPr sz="1800"/>
            </a:pPr>
            <a:r>
              <a:t>AI Tools (MANDATORY disclosure, NOT penalized):</a:t>
            </a:r>
          </a:p>
          <a:p>
            <a:pPr>
              <a:spcBef>
                <a:spcPts val="600"/>
              </a:spcBef>
              <a:defRPr sz="1800"/>
            </a:pPr>
            <a:r>
              <a:t>  Tool: [e.g., ChatGPT-4o, GitHub Copilot]</a:t>
            </a:r>
          </a:p>
          <a:p>
            <a:pPr>
              <a:spcBef>
                <a:spcPts val="600"/>
              </a:spcBef>
              <a:defRPr sz="1800"/>
            </a:pPr>
            <a:r>
              <a:t>  Purpose: [e.g., 'Python syntax debugging']</a:t>
            </a:r>
          </a:p>
          <a:p>
            <a:pPr>
              <a:spcBef>
                <a:spcPts val="600"/>
              </a:spcBef>
              <a:defRPr sz="1800"/>
            </a:pPr>
            <a:r>
              <a:t>  NOT used for: [e.g., 'Derivation done by hand']</a:t>
            </a:r>
          </a:p>
          <a:p>
            <a:pPr>
              <a:spcBef>
                <a:spcPts val="600"/>
              </a:spcBef>
              <a:defRPr sz="1800"/>
            </a:pPr>
            <a:r>
              <a:t>  [Honest disclosure is valued. Non-disclosure IS penalized if caught in Q&amp;A]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3600" b="1">
                <a:solidFill>
                  <a:srgbClr val="1F4E79"/>
                </a:solidFill>
              </a:defRPr>
            </a:pPr>
            <a:r>
              <a:t>Thank You — Questions?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1800"/>
            </a:pPr>
            <a:r>
              <a:t>Team: [Name 1], [Name 2], [Name 3], [Name 4]</a:t>
            </a:r>
          </a:p>
          <a:p>
            <a:pPr>
              <a:defRPr sz="1800"/>
            </a:pPr>
            <a:r>
              <a:t>Project: [Project Title]</a:t>
            </a:r>
          </a:p>
          <a:p>
            <a:pPr>
              <a:defRPr sz="1800"/>
            </a:pPr>
            <a:r>
              <a:t>Category: [A/B/C/D/E]</a:t>
            </a:r>
          </a:p>
          <a:p>
            <a:pPr>
              <a:defRPr sz="1800"/>
            </a:pPr>
            <a:r>
              <a:t>COs: [CO1-CO5]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[ALL members prepared for Q&amp;A — evaluators may direct to specific members]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