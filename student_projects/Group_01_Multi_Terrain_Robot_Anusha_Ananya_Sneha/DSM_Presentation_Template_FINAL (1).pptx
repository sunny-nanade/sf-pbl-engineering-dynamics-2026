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68" r:id="rId6"/>
    <p:sldId id="257" r:id="rId7"/>
    <p:sldId id="269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B5365F-C415-43C2-A4E9-DA84682AA839}" v="4" dt="2026-04-23T17:02:24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E5C17-3A2F-4523-BA08-597EA9F0F89D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77193-FF7A-48EA-9977-6404222CF0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768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0:00-1:00 (1 min)</a:t>
            </a:r>
          </a:p>
          <a:p>
            <a:r>
              <a:t>FOCUS: Introduce your system and its real-world engineering relevance.</a:t>
            </a:r>
          </a:p>
          <a:p>
            <a:r>
              <a:t>TIP: Start with a compelling application, not a textbook definition.</a:t>
            </a:r>
          </a:p>
          <a:p>
            <a:r>
              <a:t>SHOW: An image or short video of the actual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1:00-2:30 (1.5 min)</a:t>
            </a:r>
          </a:p>
          <a:p>
            <a:r>
              <a:t>FOCUS: Clearly define I/O, states, parameters, DOF, and justify every assumption.</a:t>
            </a:r>
          </a:p>
          <a:p>
            <a:r>
              <a:t>TIP: Explain WHY each assumption is physically valid.</a:t>
            </a:r>
          </a:p>
          <a:p>
            <a:r>
              <a:t>BE PREPARED: You may be asked 'Why this assumption? What if it changes?'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2:30-3:45 (1.25 min)</a:t>
            </a:r>
          </a:p>
          <a:p>
            <a:r>
              <a:t>FOCUS: Walk through EVERY step of the derivation. This is the most important section.</a:t>
            </a:r>
          </a:p>
          <a:p>
            <a:r>
              <a:t>TIP: Show the algebra — don't skip to the final equation.</a:t>
            </a:r>
          </a:p>
          <a:p>
            <a:r>
              <a:t>BE PREPARED: You may be asked to explain any step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3:45-5:00 (1.25 min)</a:t>
            </a:r>
          </a:p>
          <a:p>
            <a:r>
              <a:t>FOCUS: Present final EOM and state-space. Explain the physical meaning of EVERY term.</a:t>
            </a:r>
          </a:p>
          <a:p>
            <a:r>
              <a:t>TIP: 'c*x_dot = viscous damping force' is stronger than just showing the equation.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5:00-7:00 (2 min)</a:t>
            </a:r>
          </a:p>
          <a:p>
            <a:r>
              <a:t>FOCUS: Show your simulation setup, key code snippet, and output plots.</a:t>
            </a:r>
          </a:p>
          <a:p>
            <a:r>
              <a:t>INCLUDE: Energy vs time plot — this validates your model physically.</a:t>
            </a:r>
          </a:p>
          <a:p>
            <a:r>
              <a:t>BE PREPARED: You may be asked 'Why does the oscillation decay?' or 'How does energy change?'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77193-FF7A-48EA-9977-6404222CF04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937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7:00-8:30 (1.5 min)</a:t>
            </a:r>
          </a:p>
          <a:p>
            <a:r>
              <a:t>FOCUS: Show HOW you verified your results. Energy check, textbook comparison, sensitivity.</a:t>
            </a:r>
          </a:p>
          <a:p>
            <a:r>
              <a:t>TIP: A strong answer = 'We compared natural frequency with Ginsberg Ch.3.'</a:t>
            </a:r>
          </a:p>
          <a:p>
            <a:r>
              <a:t>A weak answer = 'It runs and produces output.'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8:30-10:00 (1.5 min)</a:t>
            </a:r>
          </a:p>
          <a:p>
            <a:r>
              <a:t>FOCUS: Be specific about what you learned and what was hardest.</a:t>
            </a:r>
          </a:p>
          <a:p>
            <a:r>
              <a:t>TIP: 'Getting the sign convention right in the Lagrangian took 3 iterations' is much stronger than 'teamwork was hard.'</a:t>
            </a:r>
          </a:p>
          <a:p>
            <a:r>
              <a:t>INCLUDE: CO self-assessment — which COs did you exercise most?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disclosure is MANDATORY but NOT penalized.</a:t>
            </a:r>
          </a:p>
          <a:p>
            <a:r>
              <a:t>Be honest about what tools you used and for what purpose.</a:t>
            </a:r>
          </a:p>
          <a:p>
            <a:r>
              <a:t>Good: 'Used ChatGPT for Python syntax debugging, derivation done by hand.'</a:t>
            </a:r>
          </a:p>
          <a:p>
            <a:r>
              <a:t>Non-disclosure IS penalized if uncovered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0552" y="492693"/>
            <a:ext cx="8293608" cy="1747587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rPr lang="en-US" sz="3600" dirty="0"/>
              <a:t>MATHEMATICAL MODELING AND DYNAMIC ANALYSIS OF A MULTI-TERRAIN FOUR-WHEELED ROBOT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3590" y="3249659"/>
            <a:ext cx="7679140" cy="3920320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2000" dirty="0"/>
              <a:t>Team</a:t>
            </a:r>
            <a:r>
              <a:rPr lang="en-US" sz="2000" dirty="0"/>
              <a:t>: Ananya Verma, Sneha </a:t>
            </a:r>
            <a:r>
              <a:rPr lang="en-US" sz="2000" dirty="0" err="1"/>
              <a:t>Waghode</a:t>
            </a:r>
            <a:r>
              <a:rPr lang="en-US" sz="2000" dirty="0"/>
              <a:t>, Anusha Surve</a:t>
            </a:r>
          </a:p>
          <a:p>
            <a:pPr>
              <a:defRPr sz="1800"/>
            </a:pPr>
            <a:r>
              <a:rPr lang="en-US" sz="2000" dirty="0"/>
              <a:t>Course: Dynamic System Modeling (702MH0C023)</a:t>
            </a:r>
          </a:p>
          <a:p>
            <a:pPr>
              <a:defRPr sz="1800"/>
            </a:pPr>
            <a:r>
              <a:rPr sz="2000" dirty="0" err="1"/>
              <a:t>B.Tech</a:t>
            </a:r>
            <a:r>
              <a:rPr sz="2000" dirty="0"/>
              <a:t> Mechatronics, Sem IV | NMIMS MPSTME Mumbai</a:t>
            </a:r>
          </a:p>
          <a:p>
            <a:pPr>
              <a:defRPr sz="1800"/>
            </a:pPr>
            <a:r>
              <a:rPr sz="2000" dirty="0"/>
              <a:t>Category: A | </a:t>
            </a:r>
            <a:r>
              <a:rPr sz="2000" dirty="0" err="1"/>
              <a:t>Complexity:High</a:t>
            </a:r>
            <a:endParaRPr sz="2000" dirty="0"/>
          </a:p>
          <a:p>
            <a:pPr>
              <a:defRPr sz="1800"/>
            </a:pPr>
            <a:r>
              <a:rPr sz="2000" dirty="0"/>
              <a:t>COs Exercised: [CO1, CO2, CO3, CO4, CO5] | Date: </a:t>
            </a:r>
            <a:r>
              <a:rPr lang="en-IN" sz="2000" dirty="0"/>
              <a:t>20/04/2026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676CBE-CA7A-D62E-4CEE-6E785D2D62C1}"/>
              </a:ext>
            </a:extLst>
          </p:cNvPr>
          <p:cNvSpPr txBox="1"/>
          <p:nvPr/>
        </p:nvSpPr>
        <p:spPr>
          <a:xfrm>
            <a:off x="283191" y="713095"/>
            <a:ext cx="1064866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system? </a:t>
            </a:r>
          </a:p>
          <a:p>
            <a:endParaRPr lang="en-US" u="sng" dirty="0"/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multi-terrain mobile robotic platform that combines wheels and leg-like suspension (quadrupedal mechanism) to move efficiently across uneven, rough, and complex terrains.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specifically, it is a hybrid quadrupedal-wheeled robot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suspension using servomotors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Four-bar linkage mechanism for each leg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Skid-steering drive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wheel actuation 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D95AF-2718-9F00-72FC-C5AAAC7A4807}"/>
              </a:ext>
            </a:extLst>
          </p:cNvPr>
          <p:cNvSpPr txBox="1"/>
          <p:nvPr/>
        </p:nvSpPr>
        <p:spPr>
          <a:xfrm>
            <a:off x="283191" y="3762587"/>
            <a:ext cx="102119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does it matter? (Engineering application)</a:t>
            </a:r>
          </a:p>
          <a:p>
            <a:endParaRPr lang="en-US" u="sng" dirty="0"/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is important because traditional wheeled robots struggle on uneven or off-road environments, while purely legged robots are complex and expensive.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hybrid approach solves that gap.</a:t>
            </a:r>
          </a:p>
          <a:p>
            <a:r>
              <a:rPr lang="en-US" sz="1600" dirty="0"/>
              <a:t>Key engineering applications: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Search and rescue missions (disaster zones, rubble)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Military and surveillance robots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Planetary exploration (e.g., Mars rovers)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Agricultural field robots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Remote sensing in rough terrains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6FCD5E-93A9-0DF5-C8A3-7DBB671CA9D2}"/>
              </a:ext>
            </a:extLst>
          </p:cNvPr>
          <p:cNvSpPr txBox="1"/>
          <p:nvPr/>
        </p:nvSpPr>
        <p:spPr>
          <a:xfrm>
            <a:off x="3352108" y="169403"/>
            <a:ext cx="56252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tx2"/>
                </a:solidFill>
              </a:rPr>
              <a:t>1. System Introduction &amp; 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4CD44-5924-94DA-DB6F-7D0F3C782092}"/>
              </a:ext>
            </a:extLst>
          </p:cNvPr>
          <p:cNvSpPr txBox="1"/>
          <p:nvPr/>
        </p:nvSpPr>
        <p:spPr>
          <a:xfrm>
            <a:off x="6473952" y="2282756"/>
            <a:ext cx="479145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design allows the robot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its ground clearance dynamically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stability on slopes and obstacles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using wheels while adapting like a legged system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510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E642DE3-2F84-15CE-E864-EEEA819AEEB3}"/>
              </a:ext>
            </a:extLst>
          </p:cNvPr>
          <p:cNvSpPr txBox="1"/>
          <p:nvPr/>
        </p:nvSpPr>
        <p:spPr>
          <a:xfrm>
            <a:off x="333215" y="103828"/>
            <a:ext cx="10741185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What question are we answering? (PBL problem statement)</a:t>
            </a:r>
          </a:p>
          <a:p>
            <a:endParaRPr lang="en-IN" u="sng" dirty="0"/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a multi-terrain robotic system be developed using a hybrid quadrupedal-wheeled mechanism with active suspension to ensure dynamic stability, adaptive ground clearance, and efficient locomotion across rough and unstructured environments?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the robot uses a quadrupedal structure combined with wheels, where each leg is equipped with a wheel. This allows the system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efficiently on flat surfaces like a wheeled robot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 to uneven terrain like a legged robot </a:t>
            </a: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Second, an active suspension system using servomotors is implemented. These servomotors control the position of each leg through a four-bar linkage mechanism, enabling: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Adjustment of ground clearance based on terrain conditions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of balance on slopes and irregular surfaces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of mechanical stress using shock absorbers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Third, dynamic stability is ensured through mathematical modeling, particularly: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maintain the robot’s center of gravity within safe limits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of pitch and roll motion to prevent overturning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a skid-steering mechanism is used for locomotion. This allows the robot to: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direction without complex steering linkages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maneuverability in confined or rough environments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33D3A8-4B3F-314C-B2F2-86EBC75B4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995" y="461548"/>
            <a:ext cx="7240010" cy="59349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10BC7D-66E5-4CE3-C3D2-ABB2E6A857F6}"/>
              </a:ext>
            </a:extLst>
          </p:cNvPr>
          <p:cNvSpPr txBox="1"/>
          <p:nvPr/>
        </p:nvSpPr>
        <p:spPr>
          <a:xfrm>
            <a:off x="5296197" y="142880"/>
            <a:ext cx="15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Real life image </a:t>
            </a:r>
          </a:p>
        </p:txBody>
      </p:sp>
    </p:spTree>
    <p:extLst>
      <p:ext uri="{BB962C8B-B14F-4D97-AF65-F5344CB8AC3E}">
        <p14:creationId xmlns:p14="http://schemas.microsoft.com/office/powerpoint/2010/main" val="3487431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865"/>
            <a:ext cx="8229600" cy="626068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2. Problem Formulation &amp; Assumptions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4716" y="446965"/>
                <a:ext cx="4264926" cy="64110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  <a:defRPr sz="1800"/>
                </a:pPr>
                <a:r>
                  <a:rPr lang="en-I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Inputs:</a:t>
                </a:r>
              </a:p>
              <a:p>
                <a:pPr>
                  <a:buFont typeface="+mj-lt"/>
                  <a:buAutoNum type="arabicPeriod"/>
                  <a:defRPr sz="1800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Servo motor angles 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j​(t)</a:t>
                </a:r>
              </a:p>
              <a:p>
                <a:pPr>
                  <a:buFont typeface="+mj-lt"/>
                  <a:buAutoNum type="arabicPeriod"/>
                  <a:defRPr sz="1800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Driving torque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differential torque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6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l-G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AutoNum type="arabicPeriod"/>
                  <a:defRPr sz="1800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External terrain forces (ground reaction)</a:t>
                </a:r>
              </a:p>
              <a:p>
                <a:pPr marL="0" indent="0">
                  <a:spcBef>
                    <a:spcPts val="600"/>
                  </a:spcBef>
                  <a:buNone/>
                  <a:defRPr sz="1800"/>
                </a:pPr>
                <a:r>
                  <a:rPr lang="en-I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Outputs:</a:t>
                </a:r>
              </a:p>
              <a:p>
                <a:pPr>
                  <a:spcBef>
                    <a:spcPts val="600"/>
                  </a:spcBef>
                  <a:buFont typeface="+mj-lt"/>
                  <a:buAutoNum type="arabicPeriod"/>
                  <a:defRPr sz="1800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velocity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ar-AE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buFont typeface="+mj-lt"/>
                  <a:buAutoNum type="arabicPeriod"/>
                  <a:defRPr sz="1800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Yaw rate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buFont typeface="+mj-lt"/>
                  <a:buAutoNum type="arabicPeriod"/>
                  <a:defRPr sz="1800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Ground clearance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IN" sz="16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600"/>
                  </a:spcBef>
                  <a:buFont typeface="+mj-lt"/>
                  <a:buAutoNum type="arabicPeriod"/>
                  <a:defRPr sz="1800"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Stability angle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ar-AE" sz="16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600"/>
                  </a:spcBef>
                  <a:buNone/>
                  <a:defRPr sz="1800"/>
                </a:pPr>
                <a:r>
                  <a:rPr lang="en-I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Variables:</a:t>
                </a: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  <a:defRPr sz="1800"/>
                </a:pPr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 – velocity</a:t>
                </a: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  <a:defRPr sz="1800"/>
                </a:pPr>
                <a:r>
                  <a:rPr lang="el-GR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– </a:t>
                </a:r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side-slip angle</a:t>
                </a: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  <a:defRPr sz="1800"/>
                </a:pPr>
                <a14:m>
                  <m:oMath xmlns:m="http://schemas.openxmlformats.org/officeDocument/2006/math">
                    <m:r>
                      <a:rPr lang="en-IN" sz="15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yaw rate</a:t>
                </a: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  <a:defRPr sz="1800"/>
                </a:pPr>
                <a:r>
                  <a:rPr lang="el-GR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j​ – suspension angles</a:t>
                </a:r>
              </a:p>
              <a:p>
                <a:pPr marL="0" indent="0">
                  <a:spcBef>
                    <a:spcPts val="600"/>
                  </a:spcBef>
                  <a:buNone/>
                  <a:defRPr sz="1800"/>
                </a:pPr>
                <a:r>
                  <a:rPr lang="en-I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Parameters:</a:t>
                </a: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  <a:defRPr sz="1800"/>
                </a:pPr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– mass</a:t>
                </a: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  <a:defRPr sz="1800"/>
                </a:pPr>
                <a:r>
                  <a:rPr lang="en-IN" sz="1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Iz</a:t>
                </a:r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– moment of inertia</a:t>
                </a: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  <a:defRPr sz="1800"/>
                </a:pPr>
                <a:r>
                  <a:rPr lang="en-IN" sz="1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Kf</a:t>
                </a:r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​,Kr​ – cornering stiffness</a:t>
                </a: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  <a:defRPr sz="1800"/>
                </a:pPr>
                <a:r>
                  <a:rPr lang="en-US" sz="1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</a:t>
                </a: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distances from center of mass</a:t>
                </a:r>
              </a:p>
              <a:p>
                <a:pPr marL="457200" indent="-457200">
                  <a:spcBef>
                    <a:spcPts val="600"/>
                  </a:spcBef>
                  <a:buFont typeface="+mj-lt"/>
                  <a:buAutoNum type="arabicPeriod"/>
                  <a:defRPr sz="1800"/>
                </a:pPr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– wheel radius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4716" y="446965"/>
                <a:ext cx="4264926" cy="6411035"/>
              </a:xfrm>
              <a:blipFill>
                <a:blip r:embed="rId3"/>
                <a:stretch>
                  <a:fillRect l="-1288" t="-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7F4EE9E-4993-0B22-6C02-8A69FED649B4}"/>
              </a:ext>
            </a:extLst>
          </p:cNvPr>
          <p:cNvSpPr txBox="1">
            <a:spLocks/>
          </p:cNvSpPr>
          <p:nvPr/>
        </p:nvSpPr>
        <p:spPr>
          <a:xfrm>
            <a:off x="5700214" y="542498"/>
            <a:ext cx="4264926" cy="641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DOF: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Planar Motion DOF (Body) = 2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-Forward/lateral motion 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-Yaw (rotation about vertical axis) 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Suspension DOF = 4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-4 independent servo-controlled joints 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-Each leg (wheel assembly) can move vertically via active suspension 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Each servo = 1 DOF → 4 DOF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DOF = 2 (motion) + 4 (suspension) = 6 DOF</a:t>
            </a:r>
          </a:p>
          <a:p>
            <a:pPr marL="0" indent="0">
              <a:buNone/>
            </a:pPr>
            <a:endParaRPr lang="en-IN" sz="17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assumptions:</a:t>
            </a:r>
          </a:p>
          <a:p>
            <a:pPr>
              <a:buFont typeface="+mj-lt"/>
              <a:buAutoNum type="arabicPeriod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Rigid body – deformation negligible</a:t>
            </a:r>
          </a:p>
          <a:p>
            <a:pPr>
              <a:buFont typeface="+mj-lt"/>
              <a:buAutoNum type="arabicPeriod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Planar motion – out-of-plane effects ignored</a:t>
            </a:r>
          </a:p>
          <a:p>
            <a:pPr>
              <a:buFont typeface="+mj-lt"/>
              <a:buAutoNum type="arabicPeriod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wheel-ground contact</a:t>
            </a:r>
          </a:p>
          <a:p>
            <a:pPr>
              <a:buFont typeface="+mj-lt"/>
              <a:buAutoNum type="arabicPeriod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Small-angle approximation</a:t>
            </a:r>
          </a:p>
          <a:p>
            <a:pPr>
              <a:buFont typeface="+mj-lt"/>
              <a:buAutoNum type="arabicPeriod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geometry (at 180° configuration)</a:t>
            </a:r>
          </a:p>
          <a:p>
            <a:pPr>
              <a:buFont typeface="+mj-lt"/>
              <a:buAutoNum type="arabicPeriod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Viscous damping proportional to velocity</a:t>
            </a:r>
            <a:endParaRPr lang="en-IN" sz="1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64973" y="274320"/>
            <a:ext cx="63572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rPr dirty="0"/>
              <a:t>3. Free Body Diagram / System Schematic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DAA5DE-B055-61E5-E07B-66B726F8B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00" y="1069067"/>
            <a:ext cx="4887007" cy="30007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98D7B7-DB0C-2CC1-852C-FB9061509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11988"/>
            <a:ext cx="4972744" cy="25149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8CE284-559D-0E6A-AE77-D6501D8DB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333" y="4211624"/>
            <a:ext cx="4172532" cy="23720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4. Mathematical Derivation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8086" y="4259908"/>
                <a:ext cx="82296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Resulting Equations</a:t>
                </a:r>
              </a:p>
              <a:p>
                <a14:m>
                  <m:oMath xmlns:m="http://schemas.openxmlformats.org/officeDocument/2006/math">
                    <m:r>
                      <a:rPr lang="en-US" sz="1800" i="1"/>
                      <m:t>𝑚𝑣</m:t>
                    </m:r>
                    <m:d>
                      <m:dPr>
                        <m:ctrlPr>
                          <a:rPr lang="ar-AE" sz="1800" i="1"/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ar-AE" sz="1800" i="1"/>
                            </m:ctrlPr>
                          </m:accPr>
                          <m:e>
                            <m:r>
                              <a:rPr lang="ar-AE" sz="1800" i="1"/>
                              <m:t>𝛼</m:t>
                            </m:r>
                          </m:e>
                        </m:acc>
                        <m:r>
                          <a:rPr lang="ar-AE" sz="1800"/>
                          <m:t>+</m:t>
                        </m:r>
                        <m:r>
                          <a:rPr lang="ar-AE" sz="1800" i="1"/>
                          <m:t>𝛾</m:t>
                        </m:r>
                      </m:e>
                    </m:d>
                    <m:r>
                      <a:rPr lang="ar-AE" sz="1800"/>
                      <m:t>=</m:t>
                    </m:r>
                    <m:sSub>
                      <m:sSubPr>
                        <m:ctrlPr>
                          <a:rPr lang="ar-AE" sz="1800" i="1"/>
                        </m:ctrlPr>
                      </m:sSubPr>
                      <m:e>
                        <m:r>
                          <a:rPr lang="ar-AE" sz="1800" i="1"/>
                          <m:t>𝐹</m:t>
                        </m:r>
                      </m:e>
                      <m:sub>
                        <m:r>
                          <a:rPr lang="ar-AE" sz="1800" i="1"/>
                          <m:t>𝑦𝑓</m:t>
                        </m:r>
                      </m:sub>
                    </m:sSub>
                    <m:r>
                      <a:rPr lang="ar-AE" sz="1800"/>
                      <m:t>+</m:t>
                    </m:r>
                    <m:sSub>
                      <m:sSubPr>
                        <m:ctrlPr>
                          <a:rPr lang="ar-AE" sz="1800" i="1"/>
                        </m:ctrlPr>
                      </m:sSubPr>
                      <m:e>
                        <m:r>
                          <a:rPr lang="ar-AE" sz="1800" i="1"/>
                          <m:t>𝐹</m:t>
                        </m:r>
                      </m:e>
                      <m:sub>
                        <m:r>
                          <a:rPr lang="ar-AE" sz="1800" i="1"/>
                          <m:t>𝑦𝑟</m:t>
                        </m:r>
                      </m:sub>
                    </m:sSub>
                  </m:oMath>
                </a14:m>
                <a:endParaRPr lang="ar-AE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800"/>
                        </m:ctrlPr>
                      </m:sSubPr>
                      <m:e>
                        <m:r>
                          <a:rPr lang="ar-AE" sz="1800" i="1"/>
                          <m:t>𝐼</m:t>
                        </m:r>
                      </m:e>
                      <m:sub>
                        <m:r>
                          <a:rPr lang="ar-AE" sz="1800" i="1"/>
                          <m:t>𝑧</m:t>
                        </m:r>
                      </m:sub>
                    </m:sSub>
                    <m:acc>
                      <m:accPr>
                        <m:chr m:val="̇"/>
                        <m:ctrlPr>
                          <a:rPr lang="ar-AE" sz="1800" i="1"/>
                        </m:ctrlPr>
                      </m:accPr>
                      <m:e>
                        <m:r>
                          <a:rPr lang="ar-AE" sz="1800" i="1"/>
                          <m:t>𝛾</m:t>
                        </m:r>
                      </m:e>
                    </m:acc>
                    <m:r>
                      <a:rPr lang="ar-AE" sz="1800"/>
                      <m:t>=</m:t>
                    </m:r>
                    <m:sSub>
                      <m:sSubPr>
                        <m:ctrlPr>
                          <a:rPr lang="ar-AE" sz="1800" i="1"/>
                        </m:ctrlPr>
                      </m:sSubPr>
                      <m:e>
                        <m:r>
                          <a:rPr lang="ar-AE" sz="1800" i="1"/>
                          <m:t>𝑀</m:t>
                        </m:r>
                      </m:e>
                      <m:sub>
                        <m:r>
                          <a:rPr lang="ar-AE" sz="1800" i="1"/>
                          <m:t>𝑧</m:t>
                        </m:r>
                      </m:sub>
                    </m:sSub>
                    <m:r>
                      <a:rPr lang="ar-AE" sz="1800"/>
                      <m:t>+</m:t>
                    </m:r>
                    <m:r>
                      <a:rPr lang="ar-AE" sz="1800" i="1"/>
                      <m:t>𝑎</m:t>
                    </m:r>
                    <m:sSub>
                      <m:sSubPr>
                        <m:ctrlPr>
                          <a:rPr lang="ar-AE" sz="1800" i="1"/>
                        </m:ctrlPr>
                      </m:sSubPr>
                      <m:e>
                        <m:r>
                          <a:rPr lang="ar-AE" sz="1800" i="1"/>
                          <m:t>𝐹</m:t>
                        </m:r>
                      </m:e>
                      <m:sub>
                        <m:r>
                          <a:rPr lang="ar-AE" sz="1800" i="1"/>
                          <m:t>𝑦𝑓</m:t>
                        </m:r>
                      </m:sub>
                    </m:sSub>
                    <m:r>
                      <a:rPr lang="ar-AE" sz="1800"/>
                      <m:t>−</m:t>
                    </m:r>
                    <m:r>
                      <a:rPr lang="ar-AE" sz="1800" i="1"/>
                      <m:t>𝑏</m:t>
                    </m:r>
                    <m:sSub>
                      <m:sSubPr>
                        <m:ctrlPr>
                          <a:rPr lang="ar-AE" sz="1800" i="1"/>
                        </m:ctrlPr>
                      </m:sSubPr>
                      <m:e>
                        <m:r>
                          <a:rPr lang="ar-AE" sz="1800" i="1"/>
                          <m:t>𝐹</m:t>
                        </m:r>
                      </m:e>
                      <m:sub>
                        <m:r>
                          <a:rPr lang="ar-AE" sz="1800" i="1"/>
                          <m:t>𝑦𝑟</m:t>
                        </m:r>
                      </m:sub>
                    </m:sSub>
                  </m:oMath>
                </a14:m>
                <a:endParaRPr lang="ar-AE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086" y="4259908"/>
                <a:ext cx="8229600" cy="4525963"/>
              </a:xfrm>
              <a:blipFill>
                <a:blip r:embed="rId3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097152C0-26B4-CF8E-E29C-B991FF004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214" y="886881"/>
            <a:ext cx="111286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Newton’s method is chosen because forces and moments acting on the rover are clearly identifiable from the Free Body Diagram. It provides a direct physical interpretation of lateral forces and yaw moment. Suitable for planar rigid body motion with minimal constraints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54F40EF-A10E-414F-F6CA-F9D08954F27B}"/>
                  </a:ext>
                </a:extLst>
              </p:cNvPr>
              <p:cNvSpPr txBox="1"/>
              <p:nvPr/>
            </p:nvSpPr>
            <p:spPr>
              <a:xfrm>
                <a:off x="688086" y="2140784"/>
                <a:ext cx="609447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Generalized Coordinates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slip angle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yaw rate </a:t>
                </a:r>
              </a:p>
              <a:p>
                <a:pPr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These represent the 2-DOF planar motion of the rover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54F40EF-A10E-414F-F6CA-F9D08954F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086" y="2140784"/>
                <a:ext cx="6094476" cy="1200329"/>
              </a:xfrm>
              <a:prstGeom prst="rect">
                <a:avLst/>
              </a:prstGeom>
              <a:blipFill>
                <a:blip r:embed="rId4"/>
                <a:stretch>
                  <a:fillRect l="-900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149136-EAA5-F21D-9BC8-46591E81DEAC}"/>
                  </a:ext>
                </a:extLst>
              </p:cNvPr>
              <p:cNvSpPr txBox="1"/>
              <p:nvPr/>
            </p:nvSpPr>
            <p:spPr>
              <a:xfrm>
                <a:off x="6704838" y="2157198"/>
                <a:ext cx="6094476" cy="945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Forces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𝑦𝑓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𝑦𝑟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lateral tire forces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yaw input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149136-EAA5-F21D-9BC8-46591E81D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838" y="2157198"/>
                <a:ext cx="6094476" cy="945580"/>
              </a:xfrm>
              <a:prstGeom prst="rect">
                <a:avLst/>
              </a:prstGeom>
              <a:blipFill>
                <a:blip r:embed="rId5"/>
                <a:stretch>
                  <a:fillRect l="-900" t="-3871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69CE69-38C0-0AE4-365B-EF2B70671282}"/>
                  </a:ext>
                </a:extLst>
              </p:cNvPr>
              <p:cNvSpPr txBox="1"/>
              <p:nvPr/>
            </p:nvSpPr>
            <p:spPr>
              <a:xfrm>
                <a:off x="688086" y="3516888"/>
                <a:ext cx="6400800" cy="483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 :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69CE69-38C0-0AE4-365B-EF2B70671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086" y="3516888"/>
                <a:ext cx="6400800" cy="483466"/>
              </a:xfrm>
              <a:prstGeom prst="rect">
                <a:avLst/>
              </a:prstGeom>
              <a:blipFill>
                <a:blip r:embed="rId6"/>
                <a:stretch>
                  <a:fillRect l="-857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154397-41DF-33DE-4268-EFAC50619898}"/>
                  </a:ext>
                </a:extLst>
              </p:cNvPr>
              <p:cNvSpPr txBox="1"/>
              <p:nvPr/>
            </p:nvSpPr>
            <p:spPr>
              <a:xfrm>
                <a:off x="6704838" y="3489990"/>
                <a:ext cx="6400800" cy="530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Euler–Lagrange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acc>
                              <m:accPr>
                                <m:chr m:val="̇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den>
                        </m:f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154397-41DF-33DE-4268-EFAC50619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838" y="3489990"/>
                <a:ext cx="6400800" cy="530466"/>
              </a:xfrm>
              <a:prstGeom prst="rect">
                <a:avLst/>
              </a:prstGeom>
              <a:blipFill>
                <a:blip r:embed="rId7"/>
                <a:stretch>
                  <a:fillRect l="-857" b="-1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1EC2DFB-0966-61BE-BDCC-A955D0C210EC}"/>
              </a:ext>
            </a:extLst>
          </p:cNvPr>
          <p:cNvSpPr txBox="1"/>
          <p:nvPr/>
        </p:nvSpPr>
        <p:spPr>
          <a:xfrm>
            <a:off x="612214" y="5786453"/>
            <a:ext cx="10540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Lagrange’s method to derive coupled lateral and yaw equations using energy and generalized forces.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5. Final Equations &amp; State-Space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B4B30A-B61E-53AB-9205-F072BE1A77E3}"/>
                  </a:ext>
                </a:extLst>
              </p:cNvPr>
              <p:cNvSpPr txBox="1"/>
              <p:nvPr/>
            </p:nvSpPr>
            <p:spPr>
              <a:xfrm>
                <a:off x="898398" y="1345425"/>
                <a:ext cx="6094476" cy="1506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Equations of Motion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𝑣</m:t>
                      </m:r>
                      <m:acc>
                        <m:accPr>
                          <m:chr m:val="̇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𝑚𝑣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den>
                          </m:f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B4B30A-B61E-53AB-9205-F072BE1A7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398" y="1345425"/>
                <a:ext cx="6094476" cy="1506246"/>
              </a:xfrm>
              <a:prstGeom prst="rect">
                <a:avLst/>
              </a:prstGeom>
              <a:blipFill>
                <a:blip r:embed="rId3"/>
                <a:stretch>
                  <a:fillRect l="-800" t="-2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3E0D4A-025F-BC72-F76F-DF5C7ED47075}"/>
                  </a:ext>
                </a:extLst>
              </p:cNvPr>
              <p:cNvSpPr txBox="1"/>
              <p:nvPr/>
            </p:nvSpPr>
            <p:spPr>
              <a:xfrm>
                <a:off x="898398" y="3000679"/>
                <a:ext cx="609447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Variables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3E0D4A-025F-BC72-F76F-DF5C7ED47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398" y="3000679"/>
                <a:ext cx="6094476" cy="646331"/>
              </a:xfrm>
              <a:prstGeom prst="rect">
                <a:avLst/>
              </a:prstGeom>
              <a:blipFill>
                <a:blip r:embed="rId4"/>
                <a:stretch>
                  <a:fillRect l="-800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C3C507-7303-1254-7798-B51A09AD9542}"/>
                  </a:ext>
                </a:extLst>
              </p:cNvPr>
              <p:cNvSpPr txBox="1"/>
              <p:nvPr/>
            </p:nvSpPr>
            <p:spPr>
              <a:xfrm>
                <a:off x="898398" y="3824897"/>
                <a:ext cx="6094476" cy="1249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State-Space Form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C3C507-7303-1254-7798-B51A09AD9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398" y="3824897"/>
                <a:ext cx="6094476" cy="1249701"/>
              </a:xfrm>
              <a:prstGeom prst="rect">
                <a:avLst/>
              </a:prstGeom>
              <a:blipFill>
                <a:blip r:embed="rId5"/>
                <a:stretch>
                  <a:fillRect l="-800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C5B5B1B-5126-6A9D-8FD2-7CC3EE115F30}"/>
                  </a:ext>
                </a:extLst>
              </p:cNvPr>
              <p:cNvSpPr txBox="1"/>
              <p:nvPr/>
            </p:nvSpPr>
            <p:spPr>
              <a:xfrm>
                <a:off x="6329934" y="2851671"/>
                <a:ext cx="6094476" cy="14995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Physical Meaning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lateral deviation (slip)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yaw rate (turning)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tire stiffness (stability)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steering input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C5B5B1B-5126-6A9D-8FD2-7CC3EE115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934" y="2851671"/>
                <a:ext cx="6094476" cy="1499578"/>
              </a:xfrm>
              <a:prstGeom prst="rect">
                <a:avLst/>
              </a:prstGeom>
              <a:blipFill>
                <a:blip r:embed="rId6"/>
                <a:stretch>
                  <a:fillRect l="-800" t="-2439" b="-5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9CC15B-AEEE-4678-5CBC-1AB095F6C6C7}"/>
                  </a:ext>
                </a:extLst>
              </p:cNvPr>
              <p:cNvSpPr txBox="1"/>
              <p:nvPr/>
            </p:nvSpPr>
            <p:spPr>
              <a:xfrm>
                <a:off x="898398" y="5246204"/>
                <a:ext cx="6213348" cy="8879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 Expression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i="1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9CC15B-AEEE-4678-5CBC-1AB095F6C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398" y="5246204"/>
                <a:ext cx="6213348" cy="887935"/>
              </a:xfrm>
              <a:prstGeom prst="rect">
                <a:avLst/>
              </a:prstGeom>
              <a:blipFill>
                <a:blip r:embed="rId7"/>
                <a:stretch>
                  <a:fillRect l="-784" t="-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9344" y="91758"/>
            <a:ext cx="8229600" cy="1143000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6. Simulation &amp; Energy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7A1602-A495-B52E-D13E-2711D8CB0550}"/>
              </a:ext>
            </a:extLst>
          </p:cNvPr>
          <p:cNvSpPr txBox="1"/>
          <p:nvPr/>
        </p:nvSpPr>
        <p:spPr>
          <a:xfrm>
            <a:off x="1026414" y="1132624"/>
            <a:ext cx="60944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Setup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 solved using: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solve_ivp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(RK45)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States: slip angle (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α),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yaw rate (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condition: 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α₀ = 0.1, γ₀ =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230846-15BD-AA4F-43E3-E770D15AE6D2}"/>
              </a:ext>
            </a:extLst>
          </p:cNvPr>
          <p:cNvSpPr txBox="1"/>
          <p:nvPr/>
        </p:nvSpPr>
        <p:spPr>
          <a:xfrm>
            <a:off x="6467094" y="1245246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time response of α and γ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Rover trajectory shows realistic motion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Newton &amp; Lagrange results match (model validated)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4679D1-D6EE-0C75-5EBD-374536234DF0}"/>
                  </a:ext>
                </a:extLst>
              </p:cNvPr>
              <p:cNvSpPr txBox="1"/>
              <p:nvPr/>
            </p:nvSpPr>
            <p:spPr>
              <a:xfrm>
                <a:off x="1026414" y="3126586"/>
                <a:ext cx="609447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 Analysis (CO5)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 conserved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due to external torque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Suspension model shows energy decay (damping effect)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4679D1-D6EE-0C75-5EBD-374536234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414" y="3126586"/>
                <a:ext cx="6094476" cy="1200329"/>
              </a:xfrm>
              <a:prstGeom prst="rect">
                <a:avLst/>
              </a:prstGeom>
              <a:blipFill>
                <a:blip r:embed="rId3"/>
                <a:stretch>
                  <a:fillRect l="-800"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DB92C6-E588-E34F-BCDB-593D98985020}"/>
                  </a:ext>
                </a:extLst>
              </p:cNvPr>
              <p:cNvSpPr txBox="1"/>
              <p:nvPr/>
            </p:nvSpPr>
            <p:spPr>
              <a:xfrm>
                <a:off x="1026414" y="4898718"/>
                <a:ext cx="6094476" cy="945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Sensitivity analysis (varying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confirms stability trends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Eigen/steady-state behavior physically consistent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DB92C6-E588-E34F-BCDB-593D98985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414" y="4898718"/>
                <a:ext cx="6094476" cy="945580"/>
              </a:xfrm>
              <a:prstGeom prst="rect">
                <a:avLst/>
              </a:prstGeom>
              <a:blipFill>
                <a:blip r:embed="rId4"/>
                <a:stretch>
                  <a:fillRect l="-800" t="-3871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78772" y="274320"/>
            <a:ext cx="41296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rPr dirty="0"/>
              <a:t>7. Simulation 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5B35AC-30AC-74C3-E5B1-A52387947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68" y="812281"/>
            <a:ext cx="3951918" cy="2996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C7F5C5-BA77-7223-8E21-712337F56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4832" y="812281"/>
            <a:ext cx="4129657" cy="30681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720946-7D54-5004-87C4-39856C029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123" y="934825"/>
            <a:ext cx="3900830" cy="29596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DE1104-563E-19EF-0378-6AD81BBB0B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89" y="3894523"/>
            <a:ext cx="3536491" cy="27369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A584A9-8B72-F64D-917F-900D263D81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3430" y="3894523"/>
            <a:ext cx="3223549" cy="256216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731C66-F056-50EA-9F05-12BC46BC38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776" y="3838168"/>
            <a:ext cx="3511510" cy="26748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8. Validation &amp;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CAA38E-A3C2-CF89-82F6-0DC5E813D5FC}"/>
                  </a:ext>
                </a:extLst>
              </p:cNvPr>
              <p:cNvSpPr txBox="1"/>
              <p:nvPr/>
            </p:nvSpPr>
            <p:spPr>
              <a:xfrm>
                <a:off x="550926" y="1417638"/>
                <a:ext cx="609447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 Check (CO5)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 conserved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(external torque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CAA38E-A3C2-CF89-82F6-0DC5E813D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26" y="1417638"/>
                <a:ext cx="6094476" cy="923330"/>
              </a:xfrm>
              <a:prstGeom prst="rect">
                <a:avLst/>
              </a:prstGeom>
              <a:blipFill>
                <a:blip r:embed="rId3"/>
                <a:stretch>
                  <a:fillRect l="-800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528F85B-B7C3-AA36-9081-8E60ADFBE395}"/>
              </a:ext>
            </a:extLst>
          </p:cNvPr>
          <p:cNvSpPr txBox="1"/>
          <p:nvPr/>
        </p:nvSpPr>
        <p:spPr>
          <a:xfrm>
            <a:off x="550926" y="3022303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Validation (CO4)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and γ converge → stable response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expected vehicle dynamics behavior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D39644-5878-72C7-5293-3D51F6AE84EF}"/>
                  </a:ext>
                </a:extLst>
              </p:cNvPr>
              <p:cNvSpPr txBox="1"/>
              <p:nvPr/>
            </p:nvSpPr>
            <p:spPr>
              <a:xfrm>
                <a:off x="550926" y="4563538"/>
                <a:ext cx="6094476" cy="1222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Sensitivity Analysis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↑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stiffness → faster stability, less oscillation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↓ stiffness → larger deviation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D39644-5878-72C7-5293-3D51F6AE8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26" y="4563538"/>
                <a:ext cx="6094476" cy="1222579"/>
              </a:xfrm>
              <a:prstGeom prst="rect">
                <a:avLst/>
              </a:prstGeom>
              <a:blipFill>
                <a:blip r:embed="rId4"/>
                <a:stretch>
                  <a:fillRect l="-800" t="-3000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455C8B9-E064-CE25-FC27-AA8BB1DB6849}"/>
              </a:ext>
            </a:extLst>
          </p:cNvPr>
          <p:cNvSpPr txBox="1"/>
          <p:nvPr/>
        </p:nvSpPr>
        <p:spPr>
          <a:xfrm>
            <a:off x="6558534" y="1417638"/>
            <a:ext cx="64716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 Check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Eigenvalues have negative real parts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is dynamically stable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8A5BD9-0CB8-963C-63D8-E842FD7F3132}"/>
              </a:ext>
            </a:extLst>
          </p:cNvPr>
          <p:cNvSpPr txBox="1"/>
          <p:nvPr/>
        </p:nvSpPr>
        <p:spPr>
          <a:xfrm>
            <a:off x="6558534" y="3013159"/>
            <a:ext cx="61539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tire model (small slip only)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velocity assumed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terrain / suspension effects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9. Conclusions &amp; Reflections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C65E63-A60D-6E6B-C97F-1A547CF4D730}"/>
              </a:ext>
            </a:extLst>
          </p:cNvPr>
          <p:cNvSpPr txBox="1"/>
          <p:nvPr/>
        </p:nvSpPr>
        <p:spPr>
          <a:xfrm>
            <a:off x="733806" y="1417638"/>
            <a:ext cx="85290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rover model successfully captures coupled lateral and yaw dynamics.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 show stable and physically consistent behavior under applied inputs.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91309-0279-58E6-45DC-2DCA815D660A}"/>
              </a:ext>
            </a:extLst>
          </p:cNvPr>
          <p:cNvSpPr txBox="1"/>
          <p:nvPr/>
        </p:nvSpPr>
        <p:spPr>
          <a:xfrm>
            <a:off x="733806" y="2481468"/>
            <a:ext cx="113728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Learned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theoretical equations into working simulations (CO4) requires careful handling of assumptions and parameters.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system behavior (stability, response) becomes clearer only after simulation and validation.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A14F0-CA5F-B095-5D60-BF625A21395C}"/>
              </a:ext>
            </a:extLst>
          </p:cNvPr>
          <p:cNvSpPr txBox="1"/>
          <p:nvPr/>
        </p:nvSpPr>
        <p:spPr>
          <a:xfrm>
            <a:off x="733806" y="3880583"/>
            <a:ext cx="68648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We’d Do Differently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 simulation and validation earlier in the process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each step of derivation alongside implementation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more realistic factors (e.g., suspension, terrain)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26D959-1E1C-8BFC-B7AA-2EB9AEB33CA7}"/>
              </a:ext>
            </a:extLst>
          </p:cNvPr>
          <p:cNvSpPr txBox="1"/>
          <p:nvPr/>
        </p:nvSpPr>
        <p:spPr>
          <a:xfrm>
            <a:off x="733806" y="5268088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Critical 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Body Diagram &amp; force identification (CO2, CO3)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of motion derivation (CO4)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analysis and validation (CO5)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10. References &amp; AI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9381744" cy="4525963"/>
          </a:xfrm>
        </p:spPr>
        <p:txBody>
          <a:bodyPr/>
          <a:lstStyle/>
          <a:p>
            <a:pPr>
              <a:defRPr sz="1800"/>
            </a:pPr>
            <a:r>
              <a:rPr lang="en-IN" b="1" u="sng" dirty="0"/>
              <a:t>Research paper</a:t>
            </a:r>
            <a:r>
              <a:rPr b="1" u="sng" dirty="0"/>
              <a:t> References:</a:t>
            </a:r>
          </a:p>
          <a:p>
            <a:pPr marL="0" indent="0">
              <a:spcBef>
                <a:spcPts val="600"/>
              </a:spcBef>
              <a:buNone/>
              <a:defRPr sz="1800"/>
            </a:pPr>
            <a:r>
              <a:rPr lang="en-IN" dirty="0"/>
              <a:t>      </a:t>
            </a:r>
            <a:r>
              <a:rPr lang="en-US" dirty="0"/>
              <a:t>Multi-terrain Quadrupedal-wheeled Robot Mechanism: Design, Modeling, and Analysis</a:t>
            </a:r>
            <a:endParaRPr dirty="0"/>
          </a:p>
          <a:p>
            <a:pPr>
              <a:spcBef>
                <a:spcPts val="600"/>
              </a:spcBef>
              <a:defRPr sz="1800"/>
            </a:pPr>
            <a:r>
              <a:rPr b="1" u="sng" dirty="0"/>
              <a:t>AI Tools :</a:t>
            </a:r>
          </a:p>
          <a:p>
            <a:pPr>
              <a:spcBef>
                <a:spcPts val="600"/>
              </a:spcBef>
              <a:buFont typeface="+mj-lt"/>
              <a:buAutoNum type="arabicPeriod"/>
              <a:defRPr sz="1800"/>
            </a:pPr>
            <a:r>
              <a:rPr dirty="0"/>
              <a:t>  Tool: </a:t>
            </a:r>
            <a:r>
              <a:rPr lang="en-IN" dirty="0"/>
              <a:t>chat </a:t>
            </a:r>
            <a:r>
              <a:rPr lang="en-IN" dirty="0" err="1"/>
              <a:t>gpt</a:t>
            </a:r>
            <a:r>
              <a:rPr lang="en-IN" dirty="0"/>
              <a:t> (codex ), claude.ai </a:t>
            </a:r>
            <a:endParaRPr dirty="0"/>
          </a:p>
          <a:p>
            <a:pPr>
              <a:spcBef>
                <a:spcPts val="600"/>
              </a:spcBef>
              <a:buFont typeface="+mj-lt"/>
              <a:buAutoNum type="arabicPeriod"/>
              <a:defRPr sz="1800"/>
            </a:pPr>
            <a:r>
              <a:rPr dirty="0"/>
              <a:t> Purpose: Python syntax debugging</a:t>
            </a:r>
            <a:r>
              <a:rPr lang="en-IN" dirty="0"/>
              <a:t>.</a:t>
            </a:r>
            <a:endParaRPr dirty="0"/>
          </a:p>
          <a:p>
            <a:pPr>
              <a:spcBef>
                <a:spcPts val="600"/>
              </a:spcBef>
              <a:buFont typeface="+mj-lt"/>
              <a:buAutoNum type="arabicPeriod"/>
              <a:defRPr sz="1800"/>
            </a:pPr>
            <a:r>
              <a:rPr dirty="0"/>
              <a:t>  NOT used for: Derivation done by hand</a:t>
            </a:r>
            <a:r>
              <a:rPr lang="en-IN" dirty="0"/>
              <a:t>. </a:t>
            </a:r>
            <a:r>
              <a:rPr lang="en-IN" dirty="0" err="1"/>
              <a:t>Lengarangian</a:t>
            </a:r>
            <a:r>
              <a:rPr lang="en-IN" dirty="0"/>
              <a:t> method solved by hand 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28921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rPr dirty="0"/>
              <a:t>Thank You — 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071883"/>
            <a:ext cx="6400800" cy="1752600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dirty="0"/>
              <a:t>Team: </a:t>
            </a:r>
            <a:r>
              <a:rPr lang="en-IN" dirty="0"/>
              <a:t>Ananya Verma</a:t>
            </a:r>
            <a:r>
              <a:rPr dirty="0"/>
              <a:t>, </a:t>
            </a:r>
            <a:r>
              <a:rPr lang="en-IN" dirty="0"/>
              <a:t>Anusha Surve</a:t>
            </a:r>
            <a:r>
              <a:rPr dirty="0"/>
              <a:t>,</a:t>
            </a:r>
            <a:r>
              <a:rPr lang="en-IN" dirty="0"/>
              <a:t> Sneha </a:t>
            </a:r>
            <a:r>
              <a:rPr lang="en-IN" dirty="0" err="1"/>
              <a:t>Waghode</a:t>
            </a:r>
            <a:endParaRPr dirty="0"/>
          </a:p>
          <a:p>
            <a:pPr>
              <a:defRPr sz="1800"/>
            </a:pPr>
            <a:r>
              <a:rPr dirty="0"/>
              <a:t>Project: </a:t>
            </a:r>
            <a:r>
              <a:rPr lang="en-IN" dirty="0"/>
              <a:t>Multi-terrain Quadrupedal-wheeled Robot Mechanism</a:t>
            </a:r>
            <a:endParaRPr dirty="0"/>
          </a:p>
          <a:p>
            <a:pPr>
              <a:defRPr sz="1800"/>
            </a:pPr>
            <a:r>
              <a:rPr dirty="0"/>
              <a:t>Category: A</a:t>
            </a:r>
          </a:p>
          <a:p>
            <a:pPr>
              <a:defRPr sz="1800"/>
            </a:pPr>
            <a:r>
              <a:rPr dirty="0"/>
              <a:t>COs: [CO1-CO5]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5ED340F12FF438B134E672892BFDA" ma:contentTypeVersion="12" ma:contentTypeDescription="Create a new document." ma:contentTypeScope="" ma:versionID="2c87ab58b8ec2353d2b26750d179ec7e">
  <xsd:schema xmlns:xsd="http://www.w3.org/2001/XMLSchema" xmlns:xs="http://www.w3.org/2001/XMLSchema" xmlns:p="http://schemas.microsoft.com/office/2006/metadata/properties" xmlns:ns2="b7aa8a3b-80d1-4955-8f76-a3254a33a331" xmlns:ns3="8aa28b7e-c5b6-4db8-be1f-ce18dc9d6788" targetNamespace="http://schemas.microsoft.com/office/2006/metadata/properties" ma:root="true" ma:fieldsID="69fb4eb5051183c283dc3b3a79120d25" ns2:_="" ns3:_="">
    <xsd:import namespace="b7aa8a3b-80d1-4955-8f76-a3254a33a331"/>
    <xsd:import namespace="8aa28b7e-c5b6-4db8-be1f-ce18dc9d678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a8a3b-80d1-4955-8f76-a3254a33a33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28b7e-c5b6-4db8-be1f-ce18dc9d678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a5849d0-3a25-4ea2-a66f-6da2942d5ba7}" ma:internalName="TaxCatchAll" ma:showField="CatchAllData" ma:web="8aa28b7e-c5b6-4db8-be1f-ce18dc9d67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7aa8a3b-80d1-4955-8f76-a3254a33a331" xsi:nil="true"/>
    <lcf76f155ced4ddcb4097134ff3c332f xmlns="b7aa8a3b-80d1-4955-8f76-a3254a33a331">
      <Terms xmlns="http://schemas.microsoft.com/office/infopath/2007/PartnerControls"/>
    </lcf76f155ced4ddcb4097134ff3c332f>
    <TaxCatchAll xmlns="8aa28b7e-c5b6-4db8-be1f-ce18dc9d6788" xsi:nil="true"/>
  </documentManagement>
</p:properties>
</file>

<file path=customXml/itemProps1.xml><?xml version="1.0" encoding="utf-8"?>
<ds:datastoreItem xmlns:ds="http://schemas.openxmlformats.org/officeDocument/2006/customXml" ds:itemID="{0C9632BA-D7F5-4A5D-BF2F-56C93138B5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E7BD03-5895-4089-968F-235A8AAFCE5A}"/>
</file>

<file path=customXml/itemProps3.xml><?xml version="1.0" encoding="utf-8"?>
<ds:datastoreItem xmlns:ds="http://schemas.openxmlformats.org/officeDocument/2006/customXml" ds:itemID="{7E70CD32-C2AC-43A4-8663-26E188E5FFEE}">
  <ds:schemaRefs>
    <ds:schemaRef ds:uri="http://schemas.microsoft.com/office/2006/metadata/properties"/>
    <ds:schemaRef ds:uri="http://schemas.microsoft.com/office/infopath/2007/PartnerControls"/>
    <ds:schemaRef ds:uri="8ba116ed-0b03-4fad-970c-3f26ccc5a62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1702</Words>
  <Application>Microsoft Office PowerPoint</Application>
  <PresentationFormat>Widescreen</PresentationFormat>
  <Paragraphs>218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Times New Roman</vt:lpstr>
      <vt:lpstr>Office Theme</vt:lpstr>
      <vt:lpstr>MATHEMATICAL MODELING AND DYNAMIC ANALYSIS OF A MULTI-TERRAIN FOUR-WHEELED ROBOT</vt:lpstr>
      <vt:lpstr>PowerPoint Presentation</vt:lpstr>
      <vt:lpstr>PowerPoint Presentation</vt:lpstr>
      <vt:lpstr>PowerPoint Presentation</vt:lpstr>
      <vt:lpstr>2. Problem Formulation &amp; Assumptions</vt:lpstr>
      <vt:lpstr>PowerPoint Presentation</vt:lpstr>
      <vt:lpstr>4. Mathematical Derivation </vt:lpstr>
      <vt:lpstr>5. Final Equations &amp; State-Space</vt:lpstr>
      <vt:lpstr>6. Simulation &amp; Energy Analysis</vt:lpstr>
      <vt:lpstr>PowerPoint Presentation</vt:lpstr>
      <vt:lpstr>8. Validation &amp; Analysis</vt:lpstr>
      <vt:lpstr>9. Conclusions &amp; Reflections</vt:lpstr>
      <vt:lpstr>10. References &amp; AI Disclosure</vt:lpstr>
      <vt:lpstr>Thank You —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SNEHA WAGHODE - 70042400062</cp:lastModifiedBy>
  <cp:revision>3</cp:revision>
  <dcterms:created xsi:type="dcterms:W3CDTF">2013-01-27T09:14:16Z</dcterms:created>
  <dcterms:modified xsi:type="dcterms:W3CDTF">2026-04-24T19:23:29Z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0x010100AFE5ED340F12FF438B134E672892BFDA</vt:lpwstr>
  </property>
</Properties>
</file>