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B4D28-DDC4-4E50-A2E6-BBA00D33EED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F166C-12E7-4093-BB92-9C9D083ED8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8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bullet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" TargetMode="External"/><Relationship Id="rId5" Type="http://schemas.openxmlformats.org/officeDocument/2006/relationships/hyperlink" Target="https://numpy.org/" TargetMode="External"/><Relationship Id="rId4" Type="http://schemas.openxmlformats.org/officeDocument/2006/relationships/hyperlink" Target="https://docs.scipy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US" dirty="0"/>
              <a:t>Rocket Vertical Takeoff and Precision Landing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dirty="0"/>
              <a:t>Team: [</a:t>
            </a:r>
            <a:r>
              <a:rPr lang="en-US" dirty="0"/>
              <a:t>Siddharth Bathija</a:t>
            </a:r>
            <a:r>
              <a:rPr dirty="0"/>
              <a:t>], [</a:t>
            </a:r>
            <a:r>
              <a:rPr lang="en-US" dirty="0" err="1"/>
              <a:t>Jayhan</a:t>
            </a:r>
            <a:r>
              <a:rPr lang="en-US" dirty="0"/>
              <a:t> Bhagvati</a:t>
            </a:r>
            <a:r>
              <a:rPr dirty="0"/>
              <a:t>], [</a:t>
            </a:r>
            <a:r>
              <a:rPr lang="en-US" dirty="0"/>
              <a:t>Jimit </a:t>
            </a:r>
            <a:r>
              <a:rPr lang="en-US" dirty="0" err="1"/>
              <a:t>Kacha</a:t>
            </a:r>
            <a:r>
              <a:rPr dirty="0"/>
              <a:t>], [</a:t>
            </a:r>
            <a:r>
              <a:rPr lang="en-US" dirty="0"/>
              <a:t>Shehzad Khan</a:t>
            </a:r>
            <a:r>
              <a:rPr dirty="0"/>
              <a:t>]</a:t>
            </a:r>
          </a:p>
          <a:p>
            <a:pPr>
              <a:defRPr sz="1800"/>
            </a:pPr>
            <a:r>
              <a:rPr dirty="0"/>
              <a:t>Course: Dynamic System Modeling (702MH0C023)</a:t>
            </a:r>
          </a:p>
          <a:p>
            <a:pPr>
              <a:defRPr sz="1800"/>
            </a:pPr>
            <a:r>
              <a:rPr dirty="0" err="1"/>
              <a:t>B.Tech</a:t>
            </a:r>
            <a:r>
              <a:rPr dirty="0"/>
              <a:t> Mechatronics, Sem IV | NMIMS MPSTME Mumbai</a:t>
            </a:r>
          </a:p>
          <a:p>
            <a:pPr>
              <a:defRPr sz="1800"/>
            </a:pPr>
            <a:r>
              <a:rPr dirty="0"/>
              <a:t>Category: [B</a:t>
            </a:r>
            <a:r>
              <a:rPr lang="en-US" dirty="0"/>
              <a:t>(Aerial Systems)</a:t>
            </a:r>
            <a:r>
              <a:rPr dirty="0"/>
              <a:t>] | Complexity: [Very High]</a:t>
            </a:r>
          </a:p>
          <a:p>
            <a:pPr>
              <a:defRPr sz="1800"/>
            </a:pPr>
            <a:r>
              <a:rPr dirty="0"/>
              <a:t>COs Exercised: [CO1, CO2, CO3, CO4, CO5] | Date: [</a:t>
            </a:r>
            <a:r>
              <a:rPr lang="en-US" dirty="0"/>
              <a:t>19</a:t>
            </a:r>
            <a:r>
              <a:rPr dirty="0"/>
              <a:t>/</a:t>
            </a:r>
            <a:r>
              <a:rPr lang="en-US" dirty="0"/>
              <a:t>04</a:t>
            </a:r>
            <a:r>
              <a:rPr dirty="0"/>
              <a:t>/</a:t>
            </a:r>
            <a:r>
              <a:rPr lang="en-US" dirty="0"/>
              <a:t>2026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System: Vertical Takeoff and Landing (VTOL) </a:t>
            </a:r>
          </a:p>
          <a:p>
            <a:pPr>
              <a:defRPr sz="1800"/>
            </a:pPr>
            <a:r>
              <a:rPr lang="en-US" dirty="0"/>
              <a:t>Rocket Application: Reusable launch systems (SpaceX Falcon 9, ISRO RLV)</a:t>
            </a:r>
          </a:p>
          <a:p>
            <a:pPr>
              <a:defRPr sz="1800"/>
            </a:pPr>
            <a:r>
              <a:rPr lang="en-US" dirty="0"/>
              <a:t>Objective: To model and control a rocket that performs stable ascent, hover, and lands back at the same position under disturbances.</a:t>
            </a:r>
          </a:p>
          <a:p>
            <a:pPr>
              <a:defRPr sz="1800"/>
            </a:pPr>
            <a:r>
              <a:rPr lang="en-US" dirty="0"/>
              <a:t>Problem Statement: Design a dynamic model and control strategy to achieve stable flight and precise landing of a rocket subject to gravity, drag, and external disturbances.</a:t>
            </a:r>
          </a:p>
          <a:p>
            <a:pPr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42EEF-F841-527E-D981-22208B0A6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43" y="3803586"/>
            <a:ext cx="6009077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Problem Formulation &amp;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300" b="1" dirty="0"/>
                  <a:t>Inputs:</a:t>
                </a:r>
                <a:endParaRPr lang="en-IN" sz="1300" dirty="0"/>
              </a:p>
              <a:p>
                <a:r>
                  <a:rPr lang="en-IN" sz="1300" dirty="0"/>
                  <a:t>Thrust, </a:t>
                </a:r>
                <a14:m>
                  <m:oMath xmlns:m="http://schemas.openxmlformats.org/officeDocument/2006/math">
                    <m:r>
                      <a:rPr lang="en-IN" sz="1300" i="1"/>
                      <m:t>𝑇</m:t>
                    </m:r>
                    <m:d>
                      <m:dPr>
                        <m:ctrlPr>
                          <a:rPr lang="ar-AE" sz="1300" i="1"/>
                        </m:ctrlPr>
                      </m:dPr>
                      <m:e>
                        <m:r>
                          <a:rPr lang="ar-AE" sz="1300" i="1"/>
                          <m:t>𝑡</m:t>
                        </m:r>
                      </m:e>
                    </m:d>
                  </m:oMath>
                </a14:m>
                <a:endParaRPr lang="ar-AE" sz="1300" dirty="0"/>
              </a:p>
              <a:p>
                <a:r>
                  <a:rPr lang="en-IN" sz="1300" dirty="0"/>
                  <a:t>Gimbal angle, </a:t>
                </a:r>
                <a14:m>
                  <m:oMath xmlns:m="http://schemas.openxmlformats.org/officeDocument/2006/math">
                    <m:r>
                      <a:rPr lang="en-IN" sz="1300" i="1"/>
                      <m:t>𝛿</m:t>
                    </m:r>
                    <m:d>
                      <m:dPr>
                        <m:ctrlPr>
                          <a:rPr lang="ar-AE" sz="1300" i="1"/>
                        </m:ctrlPr>
                      </m:dPr>
                      <m:e>
                        <m:r>
                          <a:rPr lang="ar-AE" sz="1300" i="1"/>
                          <m:t>𝑡</m:t>
                        </m:r>
                      </m:e>
                    </m:d>
                  </m:oMath>
                </a14:m>
                <a:endParaRPr lang="ar-AE" sz="1300" dirty="0"/>
              </a:p>
              <a:p>
                <a:pPr marL="0" indent="0">
                  <a:buNone/>
                </a:pPr>
                <a:r>
                  <a:rPr lang="en-IN" sz="1300" b="1" dirty="0"/>
                  <a:t>Outputs:</a:t>
                </a:r>
                <a:endParaRPr lang="en-IN" sz="1300" dirty="0"/>
              </a:p>
              <a:p>
                <a:r>
                  <a:rPr lang="en-IN" sz="1300" dirty="0"/>
                  <a:t>Position: </a:t>
                </a:r>
                <a14:m>
                  <m:oMath xmlns:m="http://schemas.openxmlformats.org/officeDocument/2006/math">
                    <m:r>
                      <a:rPr lang="en-IN" sz="1300" i="1"/>
                      <m:t>𝑥</m:t>
                    </m:r>
                    <m:d>
                      <m:dPr>
                        <m:ctrlPr>
                          <a:rPr lang="ar-AE" sz="1300" i="1"/>
                        </m:ctrlPr>
                      </m:dPr>
                      <m:e>
                        <m:r>
                          <a:rPr lang="ar-AE" sz="1300" i="1"/>
                          <m:t>𝑡</m:t>
                        </m:r>
                      </m:e>
                    </m:d>
                    <m:r>
                      <a:rPr lang="ar-AE" sz="1300"/>
                      <m:t>,</m:t>
                    </m:r>
                    <m:r>
                      <m:rPr>
                        <m:nor/>
                      </m:rPr>
                      <a:rPr lang="ar-AE" sz="1300" i="1"/>
                      <m:t>  </m:t>
                    </m:r>
                    <m:r>
                      <a:rPr lang="ar-AE" sz="1300" i="1"/>
                      <m:t>𝑧</m:t>
                    </m:r>
                    <m:d>
                      <m:dPr>
                        <m:ctrlPr>
                          <a:rPr lang="ar-AE" sz="1300" i="1"/>
                        </m:ctrlPr>
                      </m:dPr>
                      <m:e>
                        <m:r>
                          <a:rPr lang="ar-AE" sz="1300" i="1"/>
                          <m:t>𝑡</m:t>
                        </m:r>
                      </m:e>
                    </m:d>
                  </m:oMath>
                </a14:m>
                <a:endParaRPr lang="ar-AE" sz="1300" dirty="0"/>
              </a:p>
              <a:p>
                <a:r>
                  <a:rPr lang="en-IN" sz="1300" dirty="0"/>
                  <a:t>Orientation: </a:t>
                </a:r>
                <a14:m>
                  <m:oMath xmlns:m="http://schemas.openxmlformats.org/officeDocument/2006/math">
                    <m:r>
                      <a:rPr lang="en-IN" sz="1300" i="1"/>
                      <m:t>𝜃</m:t>
                    </m:r>
                    <m:d>
                      <m:dPr>
                        <m:ctrlPr>
                          <a:rPr lang="ar-AE" sz="1300" i="1"/>
                        </m:ctrlPr>
                      </m:dPr>
                      <m:e>
                        <m:r>
                          <a:rPr lang="ar-AE" sz="1300" i="1"/>
                          <m:t>𝑡</m:t>
                        </m:r>
                      </m:e>
                    </m:d>
                  </m:oMath>
                </a14:m>
                <a:endParaRPr lang="ar-AE" sz="1300" dirty="0"/>
              </a:p>
              <a:p>
                <a:pPr marL="0" indent="0">
                  <a:buNone/>
                </a:pPr>
                <a:r>
                  <a:rPr lang="en-IN" sz="1300" b="1" dirty="0"/>
                  <a:t>State Variables:</a:t>
                </a:r>
                <a:endParaRPr lang="en-IN" sz="13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300"/>
                        </m:ctrlPr>
                      </m:dPr>
                      <m:e>
                        <m:r>
                          <a:rPr lang="ar-AE" sz="1300" i="1"/>
                          <m:t>𝑥</m:t>
                        </m:r>
                      </m:e>
                      <m:e>
                        <m:r>
                          <m:rPr>
                            <m:nor/>
                          </m:rPr>
                          <a:rPr lang="ar-AE" sz="1300" i="1"/>
                          <m:t>  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sz="1300" i="1"/>
                            </m:ctrlPr>
                          </m:accPr>
                          <m:e>
                            <m:r>
                              <a:rPr lang="ar-AE" sz="1300" i="1"/>
                              <m:t>𝑥</m:t>
                            </m:r>
                          </m:e>
                        </m:acc>
                      </m:e>
                      <m:e>
                        <m:r>
                          <m:rPr>
                            <m:nor/>
                          </m:rPr>
                          <a:rPr lang="ar-AE" sz="1300" i="1"/>
                          <m:t>  </m:t>
                        </m:r>
                      </m:e>
                      <m:e>
                        <m:r>
                          <a:rPr lang="ar-AE" sz="1300" i="1"/>
                          <m:t>𝑧</m:t>
                        </m:r>
                      </m:e>
                      <m:e>
                        <m:r>
                          <m:rPr>
                            <m:nor/>
                          </m:rPr>
                          <a:rPr lang="ar-AE" sz="1300" i="1"/>
                          <m:t>  </m:t>
                        </m:r>
                        <m:acc>
                          <m:accPr>
                            <m:chr m:val="̇"/>
                            <m:ctrlPr>
                              <a:rPr lang="ar-AE" sz="1300" i="1"/>
                            </m:ctrlPr>
                          </m:accPr>
                          <m:e>
                            <m:r>
                              <a:rPr lang="ar-AE" sz="1300" i="1"/>
                              <m:t>𝑧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ar-AE" sz="1300" i="1"/>
                          <m:t>  </m:t>
                        </m:r>
                        <m:r>
                          <a:rPr lang="ar-AE" sz="1300" i="1"/>
                          <m:t>𝜃</m:t>
                        </m:r>
                        <m:r>
                          <m:rPr>
                            <m:nor/>
                          </m:rPr>
                          <a:rPr lang="ar-AE" sz="1300" i="1"/>
                          <m:t>  </m:t>
                        </m:r>
                        <m:acc>
                          <m:accPr>
                            <m:chr m:val="̇"/>
                            <m:ctrlPr>
                              <a:rPr lang="ar-AE" sz="1300" i="1"/>
                            </m:ctrlPr>
                          </m:accPr>
                          <m:e>
                            <m:r>
                              <a:rPr lang="ar-AE" sz="1300" i="1"/>
                              <m:t>𝜃</m:t>
                            </m:r>
                          </m:e>
                        </m:acc>
                      </m:e>
                    </m:d>
                  </m:oMath>
                </a14:m>
                <a:endParaRPr lang="ar-AE" sz="1300" b="0" dirty="0"/>
              </a:p>
              <a:p>
                <a:pPr marL="0" indent="0">
                  <a:buNone/>
                </a:pPr>
                <a:r>
                  <a:rPr lang="en-IN" sz="1300" b="1" dirty="0"/>
                  <a:t>Parameters:</a:t>
                </a:r>
                <a:endParaRPr lang="en-IN" sz="1300" dirty="0"/>
              </a:p>
              <a:p>
                <a:r>
                  <a:rPr lang="en-IN" sz="1300" dirty="0"/>
                  <a:t>Mass, </a:t>
                </a:r>
                <a14:m>
                  <m:oMath xmlns:m="http://schemas.openxmlformats.org/officeDocument/2006/math">
                    <m:r>
                      <a:rPr lang="en-IN" sz="1300" i="1"/>
                      <m:t>𝑚</m:t>
                    </m:r>
                  </m:oMath>
                </a14:m>
                <a:r>
                  <a:rPr lang="en-IN" sz="1300" dirty="0"/>
                  <a:t>, Moment of inertia, </a:t>
                </a:r>
                <a14:m>
                  <m:oMath xmlns:m="http://schemas.openxmlformats.org/officeDocument/2006/math">
                    <m:r>
                      <a:rPr lang="en-IN" sz="1300" i="1"/>
                      <m:t>𝐼</m:t>
                    </m:r>
                    <m:r>
                      <a:rPr lang="en-US" sz="13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1300" dirty="0"/>
                  <a:t>Gravity, </a:t>
                </a:r>
                <a14:m>
                  <m:oMath xmlns:m="http://schemas.openxmlformats.org/officeDocument/2006/math">
                    <m:r>
                      <a:rPr lang="en-IN" sz="1300" i="1"/>
                      <m:t>𝑔</m:t>
                    </m:r>
                    <m:r>
                      <a:rPr lang="en-US" sz="13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1300" dirty="0"/>
                  <a:t>Drag coefficient c</a:t>
                </a:r>
                <a14:m>
                  <m:oMath xmlns:m="http://schemas.openxmlformats.org/officeDocument/2006/math">
                    <m:r>
                      <a:rPr lang="en-US" sz="13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1300" dirty="0"/>
                  <a:t>Lever arm, </a:t>
                </a:r>
                <a14:m>
                  <m:oMath xmlns:m="http://schemas.openxmlformats.org/officeDocument/2006/math">
                    <m:r>
                      <a:rPr lang="en-IN" sz="1300" i="1"/>
                      <m:t>𝑙</m:t>
                    </m:r>
                  </m:oMath>
                </a14:m>
                <a:endParaRPr lang="en-IN" sz="1300" dirty="0"/>
              </a:p>
              <a:p>
                <a:pPr marL="0" indent="0">
                  <a:buNone/>
                </a:pPr>
                <a:r>
                  <a:rPr lang="en-IN" sz="1300" b="1" dirty="0"/>
                  <a:t>Degrees of Freedom (DOF):</a:t>
                </a:r>
                <a:br>
                  <a:rPr lang="en-IN" sz="1300" dirty="0"/>
                </a:br>
                <a:r>
                  <a:rPr lang="en-IN" sz="1300" dirty="0"/>
                  <a:t>3 DOF — horizontal translation, vertical translation, and rotation</a:t>
                </a:r>
                <a:br>
                  <a:rPr lang="en-IN" sz="1300" dirty="0"/>
                </a:br>
                <a:r>
                  <a:rPr lang="en-IN" sz="1300" dirty="0"/>
                  <a:t>(Planar motion assumption)</a:t>
                </a:r>
              </a:p>
              <a:p>
                <a:pPr marL="0" indent="0">
                  <a:buNone/>
                </a:pPr>
                <a:r>
                  <a:rPr lang="en-IN" sz="1300" b="1" dirty="0"/>
                  <a:t>Assumptions (Justified):</a:t>
                </a:r>
              </a:p>
              <a:p>
                <a:r>
                  <a:rPr lang="en-IN" sz="1300" b="1" dirty="0"/>
                  <a:t>Rigid body:</a:t>
                </a:r>
                <a:r>
                  <a:rPr lang="en-IN" sz="1300" dirty="0"/>
                  <a:t> Structural deformation is negligible compared to motion scale </a:t>
                </a:r>
              </a:p>
              <a:p>
                <a:r>
                  <a:rPr lang="en-IN" sz="1300" b="1" dirty="0"/>
                  <a:t>Planar motion:</a:t>
                </a:r>
                <a:r>
                  <a:rPr lang="en-IN" sz="1300" dirty="0"/>
                  <a:t> Yaw is ignored due to symmetric thrust and geometry </a:t>
                </a:r>
              </a:p>
              <a:p>
                <a:r>
                  <a:rPr lang="en-IN" sz="1300" b="1" dirty="0"/>
                  <a:t>Small angle approximation:</a:t>
                </a:r>
                <a:endParaRPr lang="en-IN" sz="13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ar-AE" sz="13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300"/>
                          <m:t>sin</m:t>
                        </m:r>
                      </m:fName>
                      <m:e>
                        <m:r>
                          <a:rPr lang="ar-AE" sz="1300" i="1"/>
                          <m:t>𝜃</m:t>
                        </m:r>
                      </m:e>
                    </m:func>
                    <m:r>
                      <a:rPr lang="ar-AE" sz="1300"/>
                      <m:t>≈</m:t>
                    </m:r>
                    <m:r>
                      <a:rPr lang="ar-AE" sz="1300" i="1"/>
                      <m:t>𝜃</m:t>
                    </m:r>
                    <m:r>
                      <a:rPr lang="ar-AE" sz="1300"/>
                      <m:t>, </m:t>
                    </m:r>
                    <m:func>
                      <m:funcPr>
                        <m:ctrlPr>
                          <a:rPr lang="ar-AE" sz="13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300"/>
                          <m:t>cos</m:t>
                        </m:r>
                      </m:fName>
                      <m:e>
                        <m:r>
                          <a:rPr lang="ar-AE" sz="1300" i="1"/>
                          <m:t>𝜃</m:t>
                        </m:r>
                      </m:e>
                    </m:func>
                    <m:r>
                      <a:rPr lang="ar-AE" sz="1300"/>
                      <m:t>≈</m:t>
                    </m:r>
                    <m:r>
                      <a:rPr lang="ar-AE" sz="1300"/>
                      <m:t>1</m:t>
                    </m:r>
                  </m:oMath>
                </a14:m>
                <a:endParaRPr lang="ar-AE" sz="1300" dirty="0"/>
              </a:p>
              <a:p>
                <a:r>
                  <a:rPr lang="en-IN" sz="1300" dirty="0"/>
                  <a:t>Valid for near-vertical landing conditions</a:t>
                </a:r>
              </a:p>
              <a:p>
                <a:r>
                  <a:rPr lang="en-IN" sz="1300" b="1" dirty="0"/>
                  <a:t>Thrust alignment:</a:t>
                </a:r>
                <a:r>
                  <a:rPr lang="en-IN" sz="1300" dirty="0"/>
                  <a:t> Thrust acts along the rocket body axis </a:t>
                </a:r>
              </a:p>
              <a:p>
                <a:r>
                  <a:rPr lang="en-IN" sz="1300" b="1" dirty="0"/>
                  <a:t>Linear drag model:</a:t>
                </a:r>
                <a:r>
                  <a:rPr lang="en-IN" sz="1300" dirty="0"/>
                  <a:t> Drag force proportional to velocity </a:t>
                </a:r>
              </a:p>
              <a:p>
                <a:r>
                  <a:rPr lang="en-IN" sz="1300" b="1" dirty="0"/>
                  <a:t>Constant mass:</a:t>
                </a:r>
                <a:r>
                  <a:rPr lang="en-IN" sz="1300" dirty="0"/>
                  <a:t> Fuel consumption effects neglected for simplicity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" t="-135" b="-16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1030" name="Picture 6" descr="Thrust Vector Contol | T Zero">
            <a:extLst>
              <a:ext uri="{FF2B5EF4-FFF2-40B4-BE49-F238E27FC236}">
                <a16:creationId xmlns:a16="http://schemas.microsoft.com/office/drawing/2014/main" id="{39139AB0-7D16-9406-0C5F-46047F4F5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2" y="1417638"/>
            <a:ext cx="6753225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9345F2-88E3-CDF7-B1AE-C505F6BF8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119" y="1541463"/>
            <a:ext cx="3752850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Mathematical Derivation (Part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9134856" cy="52578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defRPr sz="1800"/>
                </a:pPr>
                <a:r>
                  <a:rPr lang="en-US" b="1" dirty="0"/>
                  <a:t>Method: Lagrange Method — CO4</a:t>
                </a:r>
                <a:br>
                  <a:rPr lang="en-US" dirty="0"/>
                </a:br>
                <a:r>
                  <a:rPr lang="en-US" b="1" dirty="0"/>
                  <a:t>Why:</a:t>
                </a:r>
                <a:r>
                  <a:rPr lang="en-US" dirty="0"/>
                  <a:t> Handles coupled translation + rotation and avoids solving constraint forces explicitly.</a:t>
                </a:r>
              </a:p>
              <a:p>
                <a:pPr>
                  <a:defRPr sz="1800"/>
                </a:pPr>
                <a:r>
                  <a:rPr lang="en-IN" b="1" dirty="0"/>
                  <a:t>Generalized Coordinates: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sz="1800" i="1"/>
                      <m:t>𝑞</m:t>
                    </m:r>
                    <m:r>
                      <a:rPr lang="en-IN" sz="1800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𝑥</m:t>
                        </m:r>
                      </m:e>
                      <m:e>
                        <m:r>
                          <m:rPr>
                            <m:nor/>
                          </m:rPr>
                          <a:rPr lang="ar-AE" sz="1800" i="1"/>
                          <m:t>  </m:t>
                        </m:r>
                      </m:e>
                      <m:e>
                        <m:r>
                          <a:rPr lang="ar-AE" sz="1800" i="1"/>
                          <m:t>𝑧</m:t>
                        </m:r>
                        <m:r>
                          <m:rPr>
                            <m:nor/>
                          </m:rPr>
                          <a:rPr lang="ar-AE" sz="1800" i="1"/>
                          <m:t>  </m:t>
                        </m:r>
                        <m:r>
                          <a:rPr lang="ar-AE" sz="1800" i="1"/>
                          <m:t>𝜃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IN" b="1" dirty="0"/>
                  <a:t>Kinetic Energy (T):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sz="1800" i="1"/>
                      <m:t>𝑇</m:t>
                    </m:r>
                    <m:r>
                      <a:rPr lang="en-IN" sz="1800"/>
                      <m:t>=</m:t>
                    </m:r>
                    <m:f>
                      <m:fPr>
                        <m:ctrlPr>
                          <a:rPr lang="ar-AE" sz="1800" i="1"/>
                        </m:ctrlPr>
                      </m:fPr>
                      <m:num>
                        <m:r>
                          <a:rPr lang="ar-AE" sz="1800"/>
                          <m:t>1</m:t>
                        </m:r>
                      </m:num>
                      <m:den>
                        <m:r>
                          <a:rPr lang="ar-AE" sz="1800"/>
                          <m:t>2</m:t>
                        </m:r>
                      </m:den>
                    </m:f>
                    <m:r>
                      <a:rPr lang="ar-AE" sz="1800" i="1"/>
                      <m:t>𝑚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sSup>
                          <m:sSupPr>
                            <m:ctrlPr>
                              <a:rPr lang="ar-AE" sz="18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1800" i="1"/>
                                </m:ctrlPr>
                              </m:accPr>
                              <m:e>
                                <m:r>
                                  <a:rPr lang="ar-AE" sz="1800" i="1"/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ar-AE" sz="1800"/>
                              <m:t>2</m:t>
                            </m:r>
                          </m:sup>
                        </m:sSup>
                        <m:r>
                          <a:rPr lang="ar-AE" sz="1800"/>
                          <m:t>+</m:t>
                        </m:r>
                        <m:sSup>
                          <m:sSupPr>
                            <m:ctrlPr>
                              <a:rPr lang="ar-AE" sz="18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1800" i="1"/>
                                </m:ctrlPr>
                              </m:accPr>
                              <m:e>
                                <m:r>
                                  <a:rPr lang="ar-AE" sz="1800" i="1"/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ar-AE" sz="1800"/>
                              <m:t>2</m:t>
                            </m:r>
                          </m:sup>
                        </m:sSup>
                      </m:e>
                    </m:d>
                    <m:r>
                      <a:rPr lang="ar-AE" sz="1800"/>
                      <m:t>+</m:t>
                    </m:r>
                    <m:f>
                      <m:fPr>
                        <m:ctrlPr>
                          <a:rPr lang="ar-AE" sz="1800" i="1"/>
                        </m:ctrlPr>
                      </m:fPr>
                      <m:num>
                        <m:r>
                          <a:rPr lang="ar-AE" sz="1800"/>
                          <m:t>1</m:t>
                        </m:r>
                      </m:num>
                      <m:den>
                        <m:r>
                          <a:rPr lang="ar-AE" sz="1800"/>
                          <m:t>2</m:t>
                        </m:r>
                      </m:den>
                    </m:f>
                    <m:r>
                      <a:rPr lang="ar-AE" sz="1800" i="1"/>
                      <m:t>𝐼</m:t>
                    </m:r>
                    <m:sSup>
                      <m:sSupPr>
                        <m:ctrlPr>
                          <a:rPr lang="ar-AE" sz="1800" i="1"/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sz="1800" i="1"/>
                            </m:ctrlPr>
                          </m:accPr>
                          <m:e>
                            <m:r>
                              <a:rPr lang="ar-AE" sz="1800" i="1"/>
                              <m:t>𝜃</m:t>
                            </m:r>
                          </m:e>
                        </m:acc>
                      </m:e>
                      <m:sup>
                        <m:r>
                          <a:rPr lang="ar-AE" sz="1800"/>
                          <m:t>2</m:t>
                        </m:r>
                      </m:sup>
                    </m:sSup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US" b="1" dirty="0"/>
                  <a:t>Potential Energy (V):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1800" i="1"/>
                      <m:t>𝑉</m:t>
                    </m:r>
                    <m:r>
                      <a:rPr lang="en-US" sz="1800"/>
                      <m:t>=</m:t>
                    </m:r>
                    <m:r>
                      <a:rPr lang="en-US" sz="1800" i="1"/>
                      <m:t>𝑚𝑔𝑧</m:t>
                    </m:r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IN" b="1" dirty="0" err="1"/>
                  <a:t>Lagrangian</a:t>
                </a:r>
                <a:r>
                  <a:rPr lang="en-IN" b="1" dirty="0"/>
                  <a:t> (L):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sz="1800" i="1"/>
                      <m:t>𝐿</m:t>
                    </m:r>
                    <m:r>
                      <a:rPr lang="en-IN" sz="1800"/>
                      <m:t>=</m:t>
                    </m:r>
                    <m:r>
                      <a:rPr lang="en-IN" sz="1800" i="1"/>
                      <m:t>𝑇</m:t>
                    </m:r>
                    <m:r>
                      <a:rPr lang="en-IN" sz="1800"/>
                      <m:t>−</m:t>
                    </m:r>
                    <m:r>
                      <a:rPr lang="en-IN" sz="1800" i="1"/>
                      <m:t>𝑉</m:t>
                    </m:r>
                    <m:r>
                      <a:rPr lang="en-IN" sz="1800"/>
                      <m:t>=</m:t>
                    </m:r>
                    <m:f>
                      <m:fPr>
                        <m:ctrlPr>
                          <a:rPr lang="ar-AE" sz="1800" i="1"/>
                        </m:ctrlPr>
                      </m:fPr>
                      <m:num>
                        <m:r>
                          <a:rPr lang="ar-AE" sz="1800"/>
                          <m:t>1</m:t>
                        </m:r>
                      </m:num>
                      <m:den>
                        <m:r>
                          <a:rPr lang="ar-AE" sz="1800"/>
                          <m:t>2</m:t>
                        </m:r>
                      </m:den>
                    </m:f>
                    <m:r>
                      <a:rPr lang="ar-AE" sz="1800" i="1"/>
                      <m:t>𝑚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sSup>
                          <m:sSupPr>
                            <m:ctrlPr>
                              <a:rPr lang="ar-AE" sz="18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1800" i="1"/>
                                </m:ctrlPr>
                              </m:accPr>
                              <m:e>
                                <m:r>
                                  <a:rPr lang="ar-AE" sz="1800" i="1"/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ar-AE" sz="1800"/>
                              <m:t>2</m:t>
                            </m:r>
                          </m:sup>
                        </m:sSup>
                        <m:r>
                          <a:rPr lang="ar-AE" sz="1800"/>
                          <m:t>+</m:t>
                        </m:r>
                        <m:sSup>
                          <m:sSupPr>
                            <m:ctrlPr>
                              <a:rPr lang="ar-AE" sz="18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1800" i="1"/>
                                </m:ctrlPr>
                              </m:accPr>
                              <m:e>
                                <m:r>
                                  <a:rPr lang="ar-AE" sz="1800" i="1"/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ar-AE" sz="1800"/>
                              <m:t>2</m:t>
                            </m:r>
                          </m:sup>
                        </m:sSup>
                      </m:e>
                    </m:d>
                    <m:r>
                      <a:rPr lang="ar-AE" sz="1800"/>
                      <m:t>+</m:t>
                    </m:r>
                    <m:f>
                      <m:fPr>
                        <m:ctrlPr>
                          <a:rPr lang="ar-AE" sz="1800" i="1"/>
                        </m:ctrlPr>
                      </m:fPr>
                      <m:num>
                        <m:r>
                          <a:rPr lang="ar-AE" sz="1800"/>
                          <m:t>1</m:t>
                        </m:r>
                      </m:num>
                      <m:den>
                        <m:r>
                          <a:rPr lang="ar-AE" sz="1800"/>
                          <m:t>2</m:t>
                        </m:r>
                      </m:den>
                    </m:f>
                    <m:r>
                      <a:rPr lang="ar-AE" sz="1800" i="1"/>
                      <m:t>𝐼</m:t>
                    </m:r>
                    <m:sSup>
                      <m:sSupPr>
                        <m:ctrlPr>
                          <a:rPr lang="ar-AE" sz="1800" i="1"/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sz="1800" i="1"/>
                            </m:ctrlPr>
                          </m:accPr>
                          <m:e>
                            <m:r>
                              <a:rPr lang="ar-AE" sz="1800" i="1"/>
                              <m:t>𝜃</m:t>
                            </m:r>
                          </m:e>
                        </m:acc>
                      </m:e>
                      <m:sup>
                        <m:r>
                          <a:rPr lang="ar-AE" sz="1800"/>
                          <m:t>2</m:t>
                        </m:r>
                      </m:sup>
                    </m:sSup>
                    <m:r>
                      <a:rPr lang="ar-AE" sz="1800"/>
                      <m:t>−</m:t>
                    </m:r>
                    <m:r>
                      <a:rPr lang="ar-AE" sz="1800" i="1"/>
                      <m:t>𝑚𝑔𝑧</m:t>
                    </m:r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IN" b="1" dirty="0"/>
                  <a:t>Generalized Forces:</a:t>
                </a:r>
                <a:br>
                  <a:rPr lang="en-I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𝑄</m:t>
                        </m:r>
                      </m:e>
                      <m:sub>
                        <m:r>
                          <a:rPr lang="ar-AE" sz="1800" i="1"/>
                          <m:t>𝑥</m:t>
                        </m:r>
                      </m:sub>
                    </m:sSub>
                    <m:r>
                      <a:rPr lang="ar-AE" sz="1800"/>
                      <m:t>=</m:t>
                    </m:r>
                    <m:r>
                      <a:rPr lang="ar-AE" sz="1800" i="1"/>
                      <m:t>𝑇</m:t>
                    </m:r>
                    <m:r>
                      <m:rPr>
                        <m:sty m:val="p"/>
                      </m:rPr>
                      <a:rPr lang="en-IN" sz="1800"/>
                      <m:t>sin</m:t>
                    </m:r>
                    <m:r>
                      <a:rPr lang="en-IN" sz="1800"/>
                      <m:t>⁡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𝜃</m:t>
                        </m:r>
                        <m:r>
                          <a:rPr lang="ar-AE" sz="1800"/>
                          <m:t>+</m:t>
                        </m:r>
                        <m:r>
                          <a:rPr lang="ar-AE" sz="1800" i="1"/>
                          <m:t>𝛿</m:t>
                        </m:r>
                      </m:e>
                    </m:d>
                    <m:r>
                      <a:rPr lang="ar-AE" sz="1800"/>
                      <m:t>−</m:t>
                    </m:r>
                    <m:r>
                      <a:rPr lang="ar-AE" sz="1800" i="1"/>
                      <m:t>𝑐</m:t>
                    </m:r>
                    <m:acc>
                      <m:accPr>
                        <m:chr m:val="̇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𝑥</m:t>
                        </m:r>
                      </m:e>
                    </m:acc>
                  </m:oMath>
                </a14:m>
                <a:br>
                  <a:rPr lang="ar-A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𝑄</m:t>
                        </m:r>
                      </m:e>
                      <m:sub>
                        <m:r>
                          <a:rPr lang="ar-AE" sz="1800" i="1"/>
                          <m:t>𝑧</m:t>
                        </m:r>
                      </m:sub>
                    </m:sSub>
                    <m:r>
                      <a:rPr lang="ar-AE" sz="1800"/>
                      <m:t>=</m:t>
                    </m:r>
                    <m:r>
                      <a:rPr lang="ar-AE" sz="1800" i="1"/>
                      <m:t>𝑇</m:t>
                    </m:r>
                    <m:r>
                      <m:rPr>
                        <m:sty m:val="p"/>
                      </m:rPr>
                      <a:rPr lang="en-IN" sz="1800"/>
                      <m:t>cos</m:t>
                    </m:r>
                    <m:r>
                      <a:rPr lang="en-IN" sz="1800"/>
                      <m:t>⁡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𝜃</m:t>
                        </m:r>
                        <m:r>
                          <a:rPr lang="ar-AE" sz="1800"/>
                          <m:t>+</m:t>
                        </m:r>
                        <m:r>
                          <a:rPr lang="ar-AE" sz="1800" i="1"/>
                          <m:t>𝛿</m:t>
                        </m:r>
                      </m:e>
                    </m:d>
                    <m:r>
                      <a:rPr lang="ar-AE" sz="1800"/>
                      <m:t>−</m:t>
                    </m:r>
                    <m:r>
                      <a:rPr lang="ar-AE" sz="1800" i="1"/>
                      <m:t>𝑚𝑔</m:t>
                    </m:r>
                    <m:r>
                      <a:rPr lang="ar-AE" sz="1800"/>
                      <m:t>−</m:t>
                    </m:r>
                    <m:r>
                      <a:rPr lang="ar-AE" sz="1800" i="1"/>
                      <m:t>𝑐</m:t>
                    </m:r>
                    <m:acc>
                      <m:accPr>
                        <m:chr m:val="̇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𝑧</m:t>
                        </m:r>
                      </m:e>
                    </m:acc>
                  </m:oMath>
                </a14:m>
                <a:br>
                  <a:rPr lang="ar-A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𝑄</m:t>
                        </m:r>
                      </m:e>
                      <m:sub>
                        <m:r>
                          <a:rPr lang="ar-AE" sz="1800" i="1"/>
                          <m:t>𝜃</m:t>
                        </m:r>
                      </m:sub>
                    </m:sSub>
                    <m:r>
                      <a:rPr lang="ar-AE" sz="1800"/>
                      <m:t>=</m:t>
                    </m:r>
                    <m:r>
                      <a:rPr lang="ar-AE" sz="1800" i="1"/>
                      <m:t>𝑙𝑇</m:t>
                    </m:r>
                    <m:func>
                      <m:func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800"/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ar-AE" sz="1800" i="1"/>
                            </m:ctrlPr>
                          </m:dPr>
                          <m:e>
                            <m:r>
                              <a:rPr lang="ar-AE" sz="1800" i="1"/>
                              <m:t>𝛿</m:t>
                            </m:r>
                          </m:e>
                        </m:d>
                      </m:e>
                    </m:func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IN" b="1" dirty="0"/>
                  <a:t>Euler–Lagrange Equation:</a:t>
                </a:r>
                <a:br>
                  <a:rPr lang="en-IN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ar-AE" sz="1800"/>
                        </m:ctrlPr>
                      </m:fPr>
                      <m:num>
                        <m:r>
                          <a:rPr lang="ar-AE" sz="1800" i="1"/>
                          <m:t>𝑑</m:t>
                        </m:r>
                      </m:num>
                      <m:den>
                        <m:r>
                          <a:rPr lang="ar-AE" sz="1800" i="1"/>
                          <m:t>𝑑𝑡</m:t>
                        </m:r>
                      </m:den>
                    </m:f>
                    <m:d>
                      <m:dPr>
                        <m:ctrlPr>
                          <a:rPr lang="ar-AE" sz="1800" i="1"/>
                        </m:ctrlPr>
                      </m:dPr>
                      <m:e>
                        <m:f>
                          <m:fPr>
                            <m:ctrlPr>
                              <a:rPr lang="ar-AE" sz="1800" i="1"/>
                            </m:ctrlPr>
                          </m:fPr>
                          <m:num>
                            <m:r>
                              <a:rPr lang="ar-AE" sz="1800"/>
                              <m:t>∂</m:t>
                            </m:r>
                            <m:r>
                              <a:rPr lang="ar-AE" sz="1800" i="1"/>
                              <m:t>𝐿</m:t>
                            </m:r>
                          </m:num>
                          <m:den>
                            <m:r>
                              <a:rPr lang="ar-AE" sz="1800"/>
                              <m:t>∂</m:t>
                            </m:r>
                            <m:acc>
                              <m:accPr>
                                <m:chr m:val="̇"/>
                                <m:ctrlPr>
                                  <a:rPr lang="ar-AE" sz="1800" i="1"/>
                                </m:ctrlPr>
                              </m:accPr>
                              <m:e>
                                <m:r>
                                  <a:rPr lang="ar-AE" sz="1800" i="1"/>
                                  <m:t>𝑞</m:t>
                                </m:r>
                              </m:e>
                            </m:acc>
                          </m:den>
                        </m:f>
                      </m:e>
                    </m:d>
                    <m:r>
                      <a:rPr lang="ar-AE" sz="1800"/>
                      <m:t>−</m:t>
                    </m:r>
                    <m:f>
                      <m:fPr>
                        <m:ctrlPr>
                          <a:rPr lang="ar-AE" sz="1800" i="1"/>
                        </m:ctrlPr>
                      </m:fPr>
                      <m:num>
                        <m:r>
                          <a:rPr lang="ar-AE" sz="1800"/>
                          <m:t>∂</m:t>
                        </m:r>
                        <m:r>
                          <a:rPr lang="ar-AE" sz="1800" i="1"/>
                          <m:t>𝐿</m:t>
                        </m:r>
                      </m:num>
                      <m:den>
                        <m:r>
                          <a:rPr lang="ar-AE" sz="1800"/>
                          <m:t>∂</m:t>
                        </m:r>
                        <m:r>
                          <a:rPr lang="ar-AE" sz="1800" i="1"/>
                          <m:t>𝑞</m:t>
                        </m:r>
                      </m:den>
                    </m:f>
                    <m:r>
                      <a:rPr lang="ar-AE" sz="1800"/>
                      <m:t>=</m:t>
                    </m:r>
                    <m:r>
                      <a:rPr lang="ar-AE" sz="1800" i="1"/>
                      <m:t>𝑄</m:t>
                    </m:r>
                  </m:oMath>
                </a14:m>
                <a:endParaRPr lang="en-US" sz="1800" dirty="0"/>
              </a:p>
              <a:p>
                <a:pPr>
                  <a:defRPr sz="1800"/>
                </a:pPr>
                <a:r>
                  <a:rPr lang="en-IN" b="1" dirty="0"/>
                  <a:t>Equations of Motion: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sz="1800" i="1"/>
                      <m:t>𝑚</m:t>
                    </m:r>
                    <m:acc>
                      <m:accPr>
                        <m:chr m:val="̈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𝑥</m:t>
                        </m:r>
                      </m:e>
                    </m:acc>
                    <m:r>
                      <a:rPr lang="ar-AE" sz="1800"/>
                      <m:t>=</m:t>
                    </m:r>
                    <m:r>
                      <a:rPr lang="ar-AE" sz="1800" i="1"/>
                      <m:t>𝑇</m:t>
                    </m:r>
                    <m:r>
                      <m:rPr>
                        <m:sty m:val="p"/>
                      </m:rPr>
                      <a:rPr lang="en-IN" sz="1800"/>
                      <m:t>sin</m:t>
                    </m:r>
                    <m:r>
                      <a:rPr lang="en-IN" sz="1800"/>
                      <m:t>⁡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𝜃</m:t>
                        </m:r>
                        <m:r>
                          <a:rPr lang="ar-AE" sz="1800"/>
                          <m:t>+</m:t>
                        </m:r>
                        <m:r>
                          <a:rPr lang="ar-AE" sz="1800" i="1"/>
                          <m:t>𝛿</m:t>
                        </m:r>
                      </m:e>
                    </m:d>
                    <m:r>
                      <a:rPr lang="ar-AE" sz="1800"/>
                      <m:t>−</m:t>
                    </m:r>
                    <m:r>
                      <a:rPr lang="ar-AE" sz="1800" i="1"/>
                      <m:t>𝑐</m:t>
                    </m:r>
                    <m:acc>
                      <m:accPr>
                        <m:chr m:val="̇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𝑥</m:t>
                        </m:r>
                      </m:e>
                    </m:acc>
                  </m:oMath>
                </a14:m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sz="1800" i="1"/>
                      <m:t>𝑚</m:t>
                    </m:r>
                    <m:acc>
                      <m:accPr>
                        <m:chr m:val="̈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𝑧</m:t>
                        </m:r>
                      </m:e>
                    </m:acc>
                    <m:r>
                      <a:rPr lang="ar-AE" sz="1800"/>
                      <m:t>=</m:t>
                    </m:r>
                    <m:r>
                      <a:rPr lang="ar-AE" sz="1800" i="1"/>
                      <m:t>𝑇</m:t>
                    </m:r>
                    <m:r>
                      <m:rPr>
                        <m:sty m:val="p"/>
                      </m:rPr>
                      <a:rPr lang="en-IN" sz="1800"/>
                      <m:t>cos</m:t>
                    </m:r>
                    <m:r>
                      <a:rPr lang="en-IN" sz="1800"/>
                      <m:t>⁡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𝜃</m:t>
                        </m:r>
                        <m:r>
                          <a:rPr lang="ar-AE" sz="1800"/>
                          <m:t>+</m:t>
                        </m:r>
                        <m:r>
                          <a:rPr lang="ar-AE" sz="1800" i="1"/>
                          <m:t>𝛿</m:t>
                        </m:r>
                      </m:e>
                    </m:d>
                    <m:r>
                      <a:rPr lang="ar-AE" sz="1800"/>
                      <m:t>−</m:t>
                    </m:r>
                    <m:r>
                      <a:rPr lang="ar-AE" sz="1800" i="1"/>
                      <m:t>𝑚𝑔</m:t>
                    </m:r>
                    <m:r>
                      <a:rPr lang="ar-AE" sz="1800"/>
                      <m:t>−</m:t>
                    </m:r>
                    <m:r>
                      <a:rPr lang="ar-AE" sz="1800" i="1"/>
                      <m:t>𝑐</m:t>
                    </m:r>
                    <m:acc>
                      <m:accPr>
                        <m:chr m:val="̇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𝑧</m:t>
                        </m:r>
                      </m:e>
                    </m:acc>
                  </m:oMath>
                </a14:m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sz="1800" i="1"/>
                      <m:t>𝐼</m:t>
                    </m:r>
                    <m:acc>
                      <m:accPr>
                        <m:chr m:val="̈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𝜃</m:t>
                        </m:r>
                      </m:e>
                    </m:acc>
                    <m:r>
                      <a:rPr lang="ar-AE" sz="1800"/>
                      <m:t>=</m:t>
                    </m:r>
                    <m:r>
                      <a:rPr lang="ar-AE" sz="1800" i="1"/>
                      <m:t>𝑙𝑇</m:t>
                    </m:r>
                    <m:r>
                      <m:rPr>
                        <m:sty m:val="p"/>
                      </m:rPr>
                      <a:rPr lang="en-IN" sz="1800"/>
                      <m:t>sin</m:t>
                    </m:r>
                    <m:r>
                      <a:rPr lang="en-IN" sz="1800"/>
                      <m:t>⁡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r>
                          <a:rPr lang="ar-AE" sz="1800" i="1"/>
                          <m:t>𝛿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9134856" cy="5257800"/>
              </a:xfrm>
              <a:blipFill>
                <a:blip r:embed="rId3"/>
                <a:stretch>
                  <a:fillRect l="-334" t="-12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Final Equations &amp; State-Space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457432" cy="5504688"/>
              </a:xfrm>
            </p:spPr>
            <p:txBody>
              <a:bodyPr>
                <a:normAutofit fontScale="32500" lnSpcReduction="20000"/>
              </a:bodyPr>
              <a:lstStyle/>
              <a:p>
                <a:pPr>
                  <a:defRPr sz="1800"/>
                </a:pPr>
                <a:r>
                  <a:rPr lang="en-IN" sz="3400" b="1" dirty="0"/>
                  <a:t>Final Equations of Motion:</a:t>
                </a:r>
                <a:br>
                  <a:rPr lang="en-IN" sz="3400" dirty="0"/>
                </a:br>
                <a:r>
                  <a:rPr lang="en-IN" sz="3400" dirty="0"/>
                  <a:t>EOM 1: </a:t>
                </a:r>
                <a14:m>
                  <m:oMath xmlns:m="http://schemas.openxmlformats.org/officeDocument/2006/math">
                    <m:r>
                      <a:rPr lang="en-IN" sz="3400" i="1"/>
                      <m:t>𝑚</m:t>
                    </m:r>
                    <m:acc>
                      <m:accPr>
                        <m:chr m:val="̈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𝑥</m:t>
                        </m:r>
                      </m:e>
                    </m:acc>
                    <m:r>
                      <a:rPr lang="ar-AE" sz="3400"/>
                      <m:t>+</m:t>
                    </m:r>
                    <m:r>
                      <a:rPr lang="ar-AE" sz="3400" i="1"/>
                      <m:t>𝑐</m:t>
                    </m:r>
                    <m:acc>
                      <m:accPr>
                        <m:chr m:val="̇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𝑥</m:t>
                        </m:r>
                      </m:e>
                    </m:acc>
                    <m:r>
                      <a:rPr lang="ar-AE" sz="3400"/>
                      <m:t>=</m:t>
                    </m:r>
                    <m:r>
                      <a:rPr lang="ar-AE" sz="3400" i="1"/>
                      <m:t>𝑇</m:t>
                    </m:r>
                    <m:r>
                      <m:rPr>
                        <m:sty m:val="p"/>
                      </m:rPr>
                      <a:rPr lang="en-IN" sz="3400"/>
                      <m:t>sin</m:t>
                    </m:r>
                    <m:r>
                      <a:rPr lang="en-IN" sz="3400"/>
                      <m:t>⁡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𝜃</m:t>
                        </m:r>
                        <m:r>
                          <a:rPr lang="ar-AE" sz="3400"/>
                          <m:t>+</m:t>
                        </m:r>
                        <m:r>
                          <a:rPr lang="ar-AE" sz="3400" i="1"/>
                          <m:t>𝛿</m:t>
                        </m:r>
                      </m:e>
                    </m:d>
                  </m:oMath>
                </a14:m>
                <a:br>
                  <a:rPr lang="ar-AE" sz="3400" dirty="0"/>
                </a:br>
                <a:r>
                  <a:rPr lang="en-IN" sz="3400" dirty="0"/>
                  <a:t>EOM 2: </a:t>
                </a:r>
                <a14:m>
                  <m:oMath xmlns:m="http://schemas.openxmlformats.org/officeDocument/2006/math">
                    <m:r>
                      <a:rPr lang="en-IN" sz="3400" i="1"/>
                      <m:t>𝑚</m:t>
                    </m:r>
                    <m:acc>
                      <m:accPr>
                        <m:chr m:val="̈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𝑧</m:t>
                        </m:r>
                      </m:e>
                    </m:acc>
                    <m:r>
                      <a:rPr lang="ar-AE" sz="3400"/>
                      <m:t>+</m:t>
                    </m:r>
                    <m:r>
                      <a:rPr lang="ar-AE" sz="3400" i="1"/>
                      <m:t>𝑐</m:t>
                    </m:r>
                    <m:acc>
                      <m:accPr>
                        <m:chr m:val="̇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𝑧</m:t>
                        </m:r>
                      </m:e>
                    </m:acc>
                    <m:r>
                      <a:rPr lang="ar-AE" sz="3400"/>
                      <m:t>+</m:t>
                    </m:r>
                    <m:r>
                      <a:rPr lang="ar-AE" sz="3400" i="1"/>
                      <m:t>𝑚𝑔</m:t>
                    </m:r>
                    <m:r>
                      <a:rPr lang="ar-AE" sz="3400"/>
                      <m:t>=</m:t>
                    </m:r>
                    <m:r>
                      <a:rPr lang="ar-AE" sz="3400" i="1"/>
                      <m:t>𝑇</m:t>
                    </m:r>
                    <m:r>
                      <m:rPr>
                        <m:sty m:val="p"/>
                      </m:rPr>
                      <a:rPr lang="en-IN" sz="3400"/>
                      <m:t>cos</m:t>
                    </m:r>
                    <m:r>
                      <a:rPr lang="en-IN" sz="3400"/>
                      <m:t>⁡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𝜃</m:t>
                        </m:r>
                        <m:r>
                          <a:rPr lang="ar-AE" sz="3400"/>
                          <m:t>+</m:t>
                        </m:r>
                        <m:r>
                          <a:rPr lang="ar-AE" sz="3400" i="1"/>
                          <m:t>𝛿</m:t>
                        </m:r>
                      </m:e>
                    </m:d>
                  </m:oMath>
                </a14:m>
                <a:br>
                  <a:rPr lang="ar-AE" sz="3400" dirty="0"/>
                </a:br>
                <a:r>
                  <a:rPr lang="en-IN" sz="3400" dirty="0"/>
                  <a:t>EOM 3: </a:t>
                </a:r>
                <a14:m>
                  <m:oMath xmlns:m="http://schemas.openxmlformats.org/officeDocument/2006/math">
                    <m:r>
                      <a:rPr lang="en-IN" sz="3400" i="1"/>
                      <m:t>𝐼</m:t>
                    </m:r>
                    <m:acc>
                      <m:accPr>
                        <m:chr m:val="̈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𝜃</m:t>
                        </m:r>
                      </m:e>
                    </m:acc>
                    <m:r>
                      <a:rPr lang="ar-AE" sz="3400"/>
                      <m:t>=</m:t>
                    </m:r>
                    <m:r>
                      <a:rPr lang="ar-AE" sz="3400" i="1"/>
                      <m:t>𝑙𝑇</m:t>
                    </m:r>
                    <m:func>
                      <m:funcPr>
                        <m:ctrlPr>
                          <a:rPr lang="en-IN" sz="3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3400"/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ar-AE" sz="3400" i="1"/>
                            </m:ctrlPr>
                          </m:dPr>
                          <m:e>
                            <m:r>
                              <a:rPr lang="ar-AE" sz="3400" i="1"/>
                              <m:t>𝛿</m:t>
                            </m:r>
                          </m:e>
                        </m:d>
                      </m:e>
                    </m:func>
                  </m:oMath>
                </a14:m>
                <a:endParaRPr lang="en-US" sz="3400" dirty="0"/>
              </a:p>
              <a:p>
                <a:r>
                  <a:rPr lang="en-IN" sz="3400" b="1" dirty="0"/>
                  <a:t>State-Space Form (nonlinear):</a:t>
                </a:r>
                <a:br>
                  <a:rPr lang="en-IN" sz="3400" dirty="0"/>
                </a:br>
                <a:r>
                  <a:rPr lang="en-IN" sz="3400" dirty="0"/>
                  <a:t>Let state vector:</a:t>
                </a:r>
                <a:br>
                  <a:rPr lang="en-IN" sz="3400" dirty="0"/>
                </a:br>
                <a14:m>
                  <m:oMath xmlns:m="http://schemas.openxmlformats.org/officeDocument/2006/math">
                    <m:r>
                      <a:rPr lang="en-IN" sz="3400" i="1"/>
                      <m:t>𝑋</m:t>
                    </m:r>
                    <m:r>
                      <a:rPr lang="en-IN" sz="3400"/>
                      <m:t>=</m:t>
                    </m:r>
                    <m:sSup>
                      <m:sSupPr>
                        <m:ctrlPr>
                          <a:rPr lang="ar-AE" sz="3400" i="1"/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sz="3400" i="1"/>
                            </m:ctrlPr>
                          </m:dPr>
                          <m:e>
                            <m:r>
                              <a:rPr lang="ar-AE" sz="3400" i="1"/>
                              <m:t>𝑥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ar-AE" sz="3400" i="1"/>
                                </m:ctrlPr>
                              </m:accPr>
                              <m:e>
                                <m:r>
                                  <a:rPr lang="ar-AE" sz="3400" i="1"/>
                                  <m:t>𝑥</m:t>
                                </m:r>
                              </m:e>
                            </m:acc>
                          </m:e>
                          <m:e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</m:e>
                          <m:e>
                            <m:r>
                              <a:rPr lang="ar-AE" sz="3400" i="1"/>
                              <m:t>𝑧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  <m:acc>
                              <m:accPr>
                                <m:chr m:val="̇"/>
                                <m:ctrlPr>
                                  <a:rPr lang="ar-AE" sz="3400" i="1"/>
                                </m:ctrlPr>
                              </m:accPr>
                              <m:e>
                                <m:r>
                                  <a:rPr lang="ar-AE" sz="3400" i="1"/>
                                  <m:t>𝑧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  <m:r>
                              <a:rPr lang="ar-AE" sz="3400" i="1"/>
                              <m:t>𝜃</m:t>
                            </m:r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  <m:acc>
                              <m:accPr>
                                <m:chr m:val="̇"/>
                                <m:ctrlPr>
                                  <a:rPr lang="ar-AE" sz="3400" i="1"/>
                                </m:ctrlPr>
                              </m:accPr>
                              <m:e>
                                <m:r>
                                  <a:rPr lang="ar-AE" sz="3400" i="1"/>
                                  <m:t>𝜃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ar-AE" sz="3400" i="1"/>
                          <m:t>𝑇</m:t>
                        </m:r>
                      </m:sup>
                    </m:sSup>
                  </m:oMath>
                </a14:m>
                <a:endParaRPr lang="ar-AE" sz="340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sz="3400"/>
                        </m:ctrlPr>
                      </m:accPr>
                      <m:e>
                        <m:r>
                          <a:rPr lang="ar-AE" sz="3400" i="1"/>
                          <m:t>𝑋</m:t>
                        </m:r>
                      </m:e>
                    </m:acc>
                    <m:r>
                      <a:rPr lang="ar-AE" sz="340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sz="3400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sz="3400" i="1"/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ar-AE" sz="3400" i="1"/>
                                  </m:ctrlPr>
                                </m:accPr>
                                <m:e>
                                  <m:r>
                                    <a:rPr lang="ar-AE" sz="3400" i="1"/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sz="3400" i="1"/>
                                  </m:ctrlPr>
                                </m:fPr>
                                <m:num>
                                  <m:r>
                                    <a:rPr lang="ar-AE" sz="3400"/>
                                    <m:t>1</m:t>
                                  </m:r>
                                </m:num>
                                <m:den>
                                  <m:r>
                                    <a:rPr lang="ar-AE" sz="3400" i="1"/>
                                    <m:t>𝑚</m:t>
                                  </m:r>
                                </m:den>
                              </m:f>
                              <m:r>
                                <a:rPr lang="ar-AE" sz="3400"/>
                                <m:t>(</m:t>
                              </m:r>
                              <m:r>
                                <a:rPr lang="ar-AE" sz="3400" i="1"/>
                                <m:t>𝑇</m:t>
                              </m:r>
                              <m:r>
                                <m:rPr>
                                  <m:sty m:val="p"/>
                                </m:rPr>
                                <a:rPr lang="en-IN" sz="3400"/>
                                <m:t>sin</m:t>
                              </m:r>
                              <m:r>
                                <a:rPr lang="en-IN" sz="3400"/>
                                <m:t>⁡</m:t>
                              </m:r>
                              <m:d>
                                <m:dPr>
                                  <m:ctrlPr>
                                    <a:rPr lang="ar-AE" sz="3400" i="1"/>
                                  </m:ctrlPr>
                                </m:dPr>
                                <m:e>
                                  <m:r>
                                    <a:rPr lang="ar-AE" sz="3400" i="1"/>
                                    <m:t>𝜃</m:t>
                                  </m:r>
                                  <m:r>
                                    <a:rPr lang="ar-AE" sz="3400"/>
                                    <m:t>+</m:t>
                                  </m:r>
                                  <m:r>
                                    <a:rPr lang="ar-AE" sz="3400" i="1"/>
                                    <m:t>𝛿</m:t>
                                  </m:r>
                                </m:e>
                              </m:d>
                              <m:r>
                                <a:rPr lang="ar-AE" sz="3400"/>
                                <m:t>−</m:t>
                              </m:r>
                              <m:r>
                                <a:rPr lang="ar-AE" sz="3400" i="1"/>
                                <m:t>𝑐</m:t>
                              </m:r>
                              <m:acc>
                                <m:accPr>
                                  <m:chr m:val="̇"/>
                                  <m:ctrlPr>
                                    <a:rPr lang="ar-AE" sz="3400" i="1"/>
                                  </m:ctrlPr>
                                </m:accPr>
                                <m:e>
                                  <m:r>
                                    <a:rPr lang="ar-AE" sz="3400" i="1"/>
                                    <m:t>𝑥</m:t>
                                  </m:r>
                                </m:e>
                              </m:acc>
                              <m:r>
                                <a:rPr lang="ar-AE" sz="3400"/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ar-AE" sz="3400" i="1"/>
                                  </m:ctrlPr>
                                </m:accPr>
                                <m:e>
                                  <m:r>
                                    <a:rPr lang="ar-AE" sz="3400" i="1"/>
                                    <m:t>𝑧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sz="3400" i="1"/>
                                  </m:ctrlPr>
                                </m:fPr>
                                <m:num>
                                  <m:r>
                                    <a:rPr lang="ar-AE" sz="3400"/>
                                    <m:t>1</m:t>
                                  </m:r>
                                </m:num>
                                <m:den>
                                  <m:r>
                                    <a:rPr lang="ar-AE" sz="3400" i="1"/>
                                    <m:t>𝑚</m:t>
                                  </m:r>
                                </m:den>
                              </m:f>
                              <m:r>
                                <a:rPr lang="ar-AE" sz="3400"/>
                                <m:t>(</m:t>
                              </m:r>
                              <m:r>
                                <a:rPr lang="ar-AE" sz="3400" i="1"/>
                                <m:t>𝑇</m:t>
                              </m:r>
                              <m:r>
                                <m:rPr>
                                  <m:sty m:val="p"/>
                                </m:rPr>
                                <a:rPr lang="en-IN" sz="3400"/>
                                <m:t>cos</m:t>
                              </m:r>
                              <m:r>
                                <a:rPr lang="en-IN" sz="3400"/>
                                <m:t>⁡</m:t>
                              </m:r>
                              <m:d>
                                <m:dPr>
                                  <m:ctrlPr>
                                    <a:rPr lang="ar-AE" sz="3400" i="1"/>
                                  </m:ctrlPr>
                                </m:dPr>
                                <m:e>
                                  <m:r>
                                    <a:rPr lang="ar-AE" sz="3400" i="1"/>
                                    <m:t>𝜃</m:t>
                                  </m:r>
                                  <m:r>
                                    <a:rPr lang="ar-AE" sz="3400"/>
                                    <m:t>+</m:t>
                                  </m:r>
                                  <m:r>
                                    <a:rPr lang="ar-AE" sz="3400" i="1"/>
                                    <m:t>𝛿</m:t>
                                  </m:r>
                                </m:e>
                              </m:d>
                              <m:r>
                                <a:rPr lang="ar-AE" sz="3400"/>
                                <m:t>−</m:t>
                              </m:r>
                              <m:r>
                                <a:rPr lang="ar-AE" sz="3400" i="1"/>
                                <m:t>𝑚𝑔</m:t>
                              </m:r>
                              <m:r>
                                <a:rPr lang="ar-AE" sz="3400"/>
                                <m:t>−</m:t>
                              </m:r>
                              <m:r>
                                <a:rPr lang="ar-AE" sz="3400" i="1"/>
                                <m:t>𝑐</m:t>
                              </m:r>
                              <m:acc>
                                <m:accPr>
                                  <m:chr m:val="̇"/>
                                  <m:ctrlPr>
                                    <a:rPr lang="ar-AE" sz="3400" i="1"/>
                                  </m:ctrlPr>
                                </m:accPr>
                                <m:e>
                                  <m:r>
                                    <a:rPr lang="ar-AE" sz="3400" i="1"/>
                                    <m:t>𝑧</m:t>
                                  </m:r>
                                </m:e>
                              </m:acc>
                              <m:r>
                                <a:rPr lang="ar-AE" sz="3400"/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ar-AE" sz="3400" i="1"/>
                                  </m:ctrlPr>
                                </m:accPr>
                                <m:e>
                                  <m:r>
                                    <a:rPr lang="ar-AE" sz="3400" i="1"/>
                                    <m:t>𝜃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sz="3400" i="1"/>
                                  </m:ctrlPr>
                                </m:fPr>
                                <m:num>
                                  <m:r>
                                    <a:rPr lang="ar-AE" sz="3400" i="1"/>
                                    <m:t>𝑙𝑇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3400"/>
                                    <m:t>sin</m:t>
                                  </m:r>
                                  <m:r>
                                    <a:rPr lang="en-IN" sz="3400"/>
                                    <m:t>⁡</m:t>
                                  </m:r>
                                  <m:d>
                                    <m:dPr>
                                      <m:ctrlPr>
                                        <a:rPr lang="ar-AE" sz="3400" i="1"/>
                                      </m:ctrlPr>
                                    </m:dPr>
                                    <m:e>
                                      <m:r>
                                        <a:rPr lang="ar-AE" sz="3400" i="1"/>
                                        <m:t>𝛿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 sz="3400" i="1"/>
                                    <m:t>𝐼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ar-AE" sz="3400" dirty="0"/>
              </a:p>
              <a:p>
                <a:r>
                  <a:rPr lang="en-IN" sz="3400" dirty="0"/>
                  <a:t>Output (example):</a:t>
                </a:r>
                <a:br>
                  <a:rPr lang="en-IN" sz="3400" dirty="0"/>
                </a:br>
                <a14:m>
                  <m:oMath xmlns:m="http://schemas.openxmlformats.org/officeDocument/2006/math">
                    <m:r>
                      <a:rPr lang="en-IN" sz="3400" i="1"/>
                      <m:t>𝑦</m:t>
                    </m:r>
                    <m:r>
                      <a:rPr lang="en-IN" sz="3400"/>
                      <m:t>=</m:t>
                    </m:r>
                    <m:sSup>
                      <m:sSupPr>
                        <m:ctrlPr>
                          <a:rPr lang="ar-AE" sz="3400" i="1"/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sz="3400" i="1"/>
                            </m:ctrlPr>
                          </m:dPr>
                          <m:e>
                            <m:r>
                              <a:rPr lang="ar-AE" sz="3400" i="1"/>
                              <m:t>𝑥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</m:e>
                          <m:e>
                            <m:r>
                              <a:rPr lang="ar-AE" sz="3400" i="1"/>
                              <m:t>𝑧</m:t>
                            </m:r>
                            <m:r>
                              <m:rPr>
                                <m:nor/>
                              </m:rPr>
                              <a:rPr lang="ar-AE" sz="3400" i="1"/>
                              <m:t>  </m:t>
                            </m:r>
                            <m:r>
                              <a:rPr lang="ar-AE" sz="3400" i="1"/>
                              <m:t>𝜃</m:t>
                            </m:r>
                          </m:e>
                        </m:d>
                      </m:e>
                      <m:sup>
                        <m:r>
                          <a:rPr lang="ar-AE" sz="3400" i="1"/>
                          <m:t>𝑇</m:t>
                        </m:r>
                      </m:sup>
                    </m:sSup>
                  </m:oMath>
                </a14:m>
                <a:endParaRPr lang="ar-AE" sz="3400" dirty="0"/>
              </a:p>
              <a:p>
                <a:r>
                  <a:rPr lang="en-IN" sz="3400" b="1" dirty="0"/>
                  <a:t>Physical Meaning of Each Term — CO3:</a:t>
                </a:r>
                <a:endParaRPr lang="en-IN" sz="3400" dirty="0"/>
              </a:p>
              <a:p>
                <a14:m>
                  <m:oMath xmlns:m="http://schemas.openxmlformats.org/officeDocument/2006/math">
                    <m:r>
                      <a:rPr lang="en-IN" sz="3400" i="1"/>
                      <m:t>𝑇</m:t>
                    </m:r>
                    <m:r>
                      <m:rPr>
                        <m:sty m:val="p"/>
                      </m:rPr>
                      <a:rPr lang="en-IN" sz="3400"/>
                      <m:t>sin</m:t>
                    </m:r>
                    <m:r>
                      <a:rPr lang="en-IN" sz="3400"/>
                      <m:t>⁡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𝜃</m:t>
                        </m:r>
                        <m:r>
                          <a:rPr lang="ar-AE" sz="3400"/>
                          <m:t>+</m:t>
                        </m:r>
                        <m:r>
                          <a:rPr lang="ar-AE" sz="3400" i="1"/>
                          <m:t>𝛿</m:t>
                        </m:r>
                      </m:e>
                    </m:d>
                  </m:oMath>
                </a14:m>
                <a:r>
                  <a:rPr lang="ar-AE" sz="3400" dirty="0"/>
                  <a:t>= </a:t>
                </a:r>
                <a:r>
                  <a:rPr lang="en-IN" sz="3400" dirty="0"/>
                  <a:t>horizontal thrust component </a:t>
                </a:r>
              </a:p>
              <a:p>
                <a14:m>
                  <m:oMath xmlns:m="http://schemas.openxmlformats.org/officeDocument/2006/math">
                    <m:r>
                      <a:rPr lang="en-IN" sz="3400" i="1"/>
                      <m:t>𝑇</m:t>
                    </m:r>
                    <m:r>
                      <m:rPr>
                        <m:sty m:val="p"/>
                      </m:rPr>
                      <a:rPr lang="en-IN" sz="3400"/>
                      <m:t>cos</m:t>
                    </m:r>
                    <m:r>
                      <a:rPr lang="en-IN" sz="3400"/>
                      <m:t>⁡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𝜃</m:t>
                        </m:r>
                        <m:r>
                          <a:rPr lang="ar-AE" sz="3400"/>
                          <m:t>+</m:t>
                        </m:r>
                        <m:r>
                          <a:rPr lang="ar-AE" sz="3400" i="1"/>
                          <m:t>𝛿</m:t>
                        </m:r>
                      </m:e>
                    </m:d>
                  </m:oMath>
                </a14:m>
                <a:r>
                  <a:rPr lang="ar-AE" sz="3400" dirty="0"/>
                  <a:t>= </a:t>
                </a:r>
                <a:r>
                  <a:rPr lang="en-IN" sz="3400" dirty="0"/>
                  <a:t>vertical thrust component </a:t>
                </a:r>
              </a:p>
              <a:p>
                <a14:m>
                  <m:oMath xmlns:m="http://schemas.openxmlformats.org/officeDocument/2006/math">
                    <m:r>
                      <a:rPr lang="en-IN" sz="3400" i="1"/>
                      <m:t>𝑐</m:t>
                    </m:r>
                    <m:acc>
                      <m:accPr>
                        <m:chr m:val="̇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𝑥</m:t>
                        </m:r>
                      </m:e>
                    </m:acc>
                    <m:r>
                      <a:rPr lang="ar-AE" sz="3400"/>
                      <m:t>,</m:t>
                    </m:r>
                    <m:r>
                      <m:rPr>
                        <m:nor/>
                      </m:rPr>
                      <a:rPr lang="ar-AE" sz="3400" i="1"/>
                      <m:t>  </m:t>
                    </m:r>
                    <m:r>
                      <a:rPr lang="ar-AE" sz="3400" i="1"/>
                      <m:t>𝑐</m:t>
                    </m:r>
                    <m:acc>
                      <m:accPr>
                        <m:chr m:val="̇"/>
                        <m:ctrlPr>
                          <a:rPr lang="ar-AE" sz="3400" i="1"/>
                        </m:ctrlPr>
                      </m:accPr>
                      <m:e>
                        <m:r>
                          <a:rPr lang="ar-AE" sz="3400" i="1"/>
                          <m:t>𝑧</m:t>
                        </m:r>
                      </m:e>
                    </m:acc>
                  </m:oMath>
                </a14:m>
                <a:r>
                  <a:rPr lang="ar-AE" sz="3400" dirty="0"/>
                  <a:t>= </a:t>
                </a:r>
                <a:r>
                  <a:rPr lang="en-IN" sz="3400" dirty="0"/>
                  <a:t>viscous drag opposing motion </a:t>
                </a:r>
              </a:p>
              <a:p>
                <a14:m>
                  <m:oMath xmlns:m="http://schemas.openxmlformats.org/officeDocument/2006/math">
                    <m:r>
                      <a:rPr lang="en-IN" sz="3400" i="1"/>
                      <m:t>𝑚𝑔</m:t>
                    </m:r>
                  </m:oMath>
                </a14:m>
                <a:r>
                  <a:rPr lang="en-IN" sz="3400" dirty="0"/>
                  <a:t>= gravitational force acting downward </a:t>
                </a:r>
              </a:p>
              <a:p>
                <a14:m>
                  <m:oMath xmlns:m="http://schemas.openxmlformats.org/officeDocument/2006/math">
                    <m:r>
                      <a:rPr lang="en-IN" sz="3400" i="1"/>
                      <m:t>𝑙𝑇</m:t>
                    </m:r>
                    <m:r>
                      <m:rPr>
                        <m:sty m:val="p"/>
                      </m:rPr>
                      <a:rPr lang="en-IN" sz="3400"/>
                      <m:t>sin</m:t>
                    </m:r>
                    <m:r>
                      <a:rPr lang="en-IN" sz="3400"/>
                      <m:t>⁡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𝛿</m:t>
                        </m:r>
                      </m:e>
                    </m:d>
                  </m:oMath>
                </a14:m>
                <a:r>
                  <a:rPr lang="ar-AE" sz="3400" dirty="0"/>
                  <a:t>= </a:t>
                </a:r>
                <a:r>
                  <a:rPr lang="en-IN" sz="3400" dirty="0"/>
                  <a:t>torque generated by gimbaled thrust</a:t>
                </a:r>
              </a:p>
              <a:p>
                <a:r>
                  <a:rPr lang="en-IN" sz="3400" b="1" dirty="0"/>
                  <a:t>Energy Expression (CO5):</a:t>
                </a:r>
                <a:br>
                  <a:rPr lang="en-IN" sz="3400" dirty="0"/>
                </a:br>
                <a:r>
                  <a:rPr lang="en-IN" sz="3400" dirty="0"/>
                  <a:t>Kinetic Energy:</a:t>
                </a:r>
                <a:br>
                  <a:rPr lang="en-IN" sz="3400" dirty="0"/>
                </a:br>
                <a14:m>
                  <m:oMath xmlns:m="http://schemas.openxmlformats.org/officeDocument/2006/math">
                    <m:r>
                      <a:rPr lang="en-IN" sz="3400" i="1"/>
                      <m:t>𝑇</m:t>
                    </m:r>
                    <m:r>
                      <a:rPr lang="en-IN" sz="3400"/>
                      <m:t>=</m:t>
                    </m:r>
                    <m:f>
                      <m:fPr>
                        <m:ctrlPr>
                          <a:rPr lang="ar-AE" sz="3400" i="1"/>
                        </m:ctrlPr>
                      </m:fPr>
                      <m:num>
                        <m:r>
                          <a:rPr lang="ar-AE" sz="3400"/>
                          <m:t>1</m:t>
                        </m:r>
                      </m:num>
                      <m:den>
                        <m:r>
                          <a:rPr lang="ar-AE" sz="3400"/>
                          <m:t>2</m:t>
                        </m:r>
                      </m:den>
                    </m:f>
                    <m:r>
                      <a:rPr lang="ar-AE" sz="3400" i="1"/>
                      <m:t>𝑚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sSup>
                          <m:sSupPr>
                            <m:ctrlPr>
                              <a:rPr lang="ar-AE" sz="34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3400" i="1"/>
                                </m:ctrlPr>
                              </m:accPr>
                              <m:e>
                                <m:r>
                                  <a:rPr lang="ar-AE" sz="3400" i="1"/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ar-AE" sz="3400"/>
                              <m:t>2</m:t>
                            </m:r>
                          </m:sup>
                        </m:sSup>
                        <m:r>
                          <a:rPr lang="ar-AE" sz="3400"/>
                          <m:t>+</m:t>
                        </m:r>
                        <m:sSup>
                          <m:sSupPr>
                            <m:ctrlPr>
                              <a:rPr lang="ar-AE" sz="3400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sz="3400" i="1"/>
                                </m:ctrlPr>
                              </m:accPr>
                              <m:e>
                                <m:r>
                                  <a:rPr lang="ar-AE" sz="3400" i="1"/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ar-AE" sz="3400"/>
                              <m:t>2</m:t>
                            </m:r>
                          </m:sup>
                        </m:sSup>
                      </m:e>
                    </m:d>
                    <m:r>
                      <a:rPr lang="ar-AE" sz="3400"/>
                      <m:t>+</m:t>
                    </m:r>
                    <m:f>
                      <m:fPr>
                        <m:ctrlPr>
                          <a:rPr lang="ar-AE" sz="3400" i="1"/>
                        </m:ctrlPr>
                      </m:fPr>
                      <m:num>
                        <m:r>
                          <a:rPr lang="ar-AE" sz="3400"/>
                          <m:t>1</m:t>
                        </m:r>
                      </m:num>
                      <m:den>
                        <m:r>
                          <a:rPr lang="ar-AE" sz="3400"/>
                          <m:t>2</m:t>
                        </m:r>
                      </m:den>
                    </m:f>
                    <m:r>
                      <a:rPr lang="ar-AE" sz="3400" i="1"/>
                      <m:t>𝐼</m:t>
                    </m:r>
                    <m:sSup>
                      <m:sSupPr>
                        <m:ctrlPr>
                          <a:rPr lang="ar-AE" sz="3400" i="1"/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sz="3400" i="1"/>
                            </m:ctrlPr>
                          </m:accPr>
                          <m:e>
                            <m:r>
                              <a:rPr lang="ar-AE" sz="3400" i="1"/>
                              <m:t>𝜃</m:t>
                            </m:r>
                          </m:e>
                        </m:acc>
                      </m:e>
                      <m:sup>
                        <m:r>
                          <a:rPr lang="ar-AE" sz="3400"/>
                          <m:t>2</m:t>
                        </m:r>
                      </m:sup>
                    </m:sSup>
                  </m:oMath>
                </a14:m>
                <a:endParaRPr lang="ar-AE" sz="3400" dirty="0"/>
              </a:p>
              <a:p>
                <a:r>
                  <a:rPr lang="en-IN" sz="3400" dirty="0"/>
                  <a:t>Potential Energy:</a:t>
                </a:r>
                <a:br>
                  <a:rPr lang="en-IN" sz="3400" dirty="0"/>
                </a:br>
                <a14:m>
                  <m:oMath xmlns:m="http://schemas.openxmlformats.org/officeDocument/2006/math">
                    <m:r>
                      <a:rPr lang="en-IN" sz="3400" i="1"/>
                      <m:t>𝑉</m:t>
                    </m:r>
                    <m:r>
                      <a:rPr lang="en-IN" sz="3400"/>
                      <m:t>=</m:t>
                    </m:r>
                    <m:r>
                      <a:rPr lang="en-IN" sz="3400" i="1"/>
                      <m:t>𝑚𝑔𝑧</m:t>
                    </m:r>
                  </m:oMath>
                </a14:m>
                <a:endParaRPr lang="en-IN" sz="3400" dirty="0"/>
              </a:p>
              <a:p>
                <a:r>
                  <a:rPr lang="en-IN" sz="3400" dirty="0"/>
                  <a:t>Total Energy:</a:t>
                </a:r>
                <a:br>
                  <a:rPr lang="en-IN" sz="3400" dirty="0"/>
                </a:br>
                <a14:m>
                  <m:oMath xmlns:m="http://schemas.openxmlformats.org/officeDocument/2006/math">
                    <m:r>
                      <a:rPr lang="en-IN" sz="3400" i="1"/>
                      <m:t>𝐸</m:t>
                    </m:r>
                    <m:d>
                      <m:dPr>
                        <m:ctrlPr>
                          <a:rPr lang="ar-AE" sz="3400" i="1"/>
                        </m:ctrlPr>
                      </m:dPr>
                      <m:e>
                        <m:r>
                          <a:rPr lang="ar-AE" sz="3400" i="1"/>
                          <m:t>𝑡</m:t>
                        </m:r>
                      </m:e>
                    </m:d>
                    <m:r>
                      <a:rPr lang="ar-AE" sz="3400"/>
                      <m:t>=</m:t>
                    </m:r>
                    <m:r>
                      <a:rPr lang="ar-AE" sz="3400" i="1"/>
                      <m:t>𝑇</m:t>
                    </m:r>
                    <m:r>
                      <a:rPr lang="ar-AE" sz="3400"/>
                      <m:t>+</m:t>
                    </m:r>
                    <m:r>
                      <a:rPr lang="ar-AE" sz="3400" i="1"/>
                      <m:t>𝑉</m:t>
                    </m:r>
                  </m:oMath>
                </a14:m>
                <a:endParaRPr lang="ar-AE" sz="3400" dirty="0"/>
              </a:p>
              <a:p>
                <a:pPr>
                  <a:defRPr sz="1800"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457432" cy="5504688"/>
              </a:xfrm>
              <a:blipFill>
                <a:blip r:embed="rId3"/>
                <a:stretch>
                  <a:fillRect t="-5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Simulation &amp; Energy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68580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Tools:</a:t>
                </a:r>
                <a:br>
                  <a:rPr lang="en-IN" dirty="0"/>
                </a:br>
                <a:r>
                  <a:rPr lang="en-IN" dirty="0"/>
                  <a:t>Python 3.x + NumPy + SciPy + Matplotlib + </a:t>
                </a:r>
                <a:r>
                  <a:rPr lang="en-IN" dirty="0" err="1"/>
                  <a:t>PyBullet</a:t>
                </a:r>
                <a:endParaRPr lang="en-IN" dirty="0"/>
              </a:p>
              <a:p>
                <a:r>
                  <a:rPr lang="en-IN" b="1" dirty="0"/>
                  <a:t>ODE Solver:</a:t>
                </a:r>
                <a:br>
                  <a:rPr lang="en-IN" dirty="0"/>
                </a:br>
                <a:r>
                  <a:rPr lang="en-IN" dirty="0" err="1"/>
                  <a:t>scipy.integrate.solve_ivp</a:t>
                </a:r>
                <a:r>
                  <a:rPr lang="en-IN" dirty="0"/>
                  <a:t> (RK45)</a:t>
                </a:r>
              </a:p>
              <a:p>
                <a:r>
                  <a:rPr lang="en-IN" b="1" dirty="0"/>
                  <a:t>Parameters: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/>
                      <m:t>𝑑𝑡</m:t>
                    </m:r>
                    <m:r>
                      <a:rPr lang="en-IN"/>
                      <m:t>=</m:t>
                    </m:r>
                    <m:r>
                      <a:rPr lang="en-IN"/>
                      <m:t>1</m:t>
                    </m:r>
                    <m:r>
                      <a:rPr lang="en-IN"/>
                      <m:t>/</m:t>
                    </m:r>
                    <m:r>
                      <a:rPr lang="en-IN"/>
                      <m:t>120</m:t>
                    </m:r>
                  </m:oMath>
                </a14:m>
                <a:r>
                  <a:rPr lang="en-IN" dirty="0"/>
                  <a:t>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 i="1"/>
                          <m:t>𝑡𝑜𝑡𝑎𝑙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  <m:r>
                      <m:rPr>
                        <m:nor/>
                      </m:rPr>
                      <a:rPr lang="ar-AE" i="1"/>
                      <m:t>–</m:t>
                    </m:r>
                    <m:r>
                      <a:rPr lang="ar-AE"/>
                      <m:t>15</m:t>
                    </m:r>
                  </m:oMath>
                </a14:m>
                <a:r>
                  <a:rPr lang="en-IN" dirty="0"/>
                  <a:t>s</a:t>
                </a:r>
                <a:br>
                  <a:rPr lang="en-IN" dirty="0"/>
                </a:br>
                <a:r>
                  <a:rPr lang="en-IN" dirty="0"/>
                  <a:t>Initial Conditions:</a:t>
                </a:r>
                <a:br>
                  <a:rPr lang="en-IN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𝑥</m:t>
                            </m:r>
                          </m:e>
                        </m:acc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</m:e>
                      <m:e>
                        <m:r>
                          <a:rPr lang="ar-AE" i="1"/>
                          <m:t>𝑧</m:t>
                        </m:r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𝑧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  <m:r>
                          <a:rPr lang="ar-AE" i="1"/>
                          <m:t>𝜃</m:t>
                        </m:r>
                        <m:r>
                          <m:rPr>
                            <m:nor/>
                          </m:rPr>
                          <a:rPr lang="ar-AE" i="1"/>
                          <m:t>  </m:t>
                        </m:r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𝜃</m:t>
                            </m:r>
                          </m:e>
                        </m:acc>
                      </m:e>
                    </m:d>
                    <m:r>
                      <a:rPr lang="ar-AE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spcBef>
                    <a:spcPts val="600"/>
                  </a:spcBef>
                  <a:defRPr sz="1800"/>
                </a:pPr>
                <a:endParaRPr dirty="0"/>
              </a:p>
              <a:p>
                <a:r>
                  <a:rPr lang="en-IN" b="1" dirty="0"/>
                  <a:t>Energy Check (CO5):</a:t>
                </a:r>
                <a:endParaRPr lang="en-IN" dirty="0"/>
              </a:p>
              <a:p>
                <a:r>
                  <a:rPr lang="en-IN" dirty="0"/>
                  <a:t>Total Energy: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/>
                      <m:t>𝐸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𝑇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  <m:r>
                      <a:rPr lang="ar-AE"/>
                      <m:t>+</m:t>
                    </m:r>
                    <m:r>
                      <a:rPr lang="ar-AE" i="1"/>
                      <m:t>𝑉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b="1" dirty="0"/>
                  <a:t>decays over time due to damping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Power Dissipation: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/>
                      <m:t>𝑃</m:t>
                    </m:r>
                    <m:r>
                      <a:rPr lang="en-IN"/>
                      <m:t>=</m:t>
                    </m:r>
                    <m:r>
                      <a:rPr lang="en-IN" i="1"/>
                      <m:t>𝑐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/>
                                </m:ctrlPr>
                              </m:accPr>
                              <m:e>
                                <m:r>
                                  <a:rPr lang="ar-AE" i="1"/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r>
                          <a:rPr lang="ar-AE"/>
                          <m:t>+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/>
                                </m:ctrlPr>
                              </m:accPr>
                              <m:e>
                                <m:r>
                                  <a:rPr lang="ar-AE" i="1"/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6858000" cy="4525963"/>
              </a:xfrm>
              <a:blipFill>
                <a:blip r:embed="rId3"/>
                <a:stretch>
                  <a:fillRect l="-978" t="-2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833114A-4997-E3A3-4CAD-D1B7B38B3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0"/>
            <a:ext cx="4639056" cy="2648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06A205-B889-7831-5BBF-62E443D8D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648320"/>
            <a:ext cx="4639056" cy="2166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B8DF42-609C-0ACB-E37E-971551B99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4691062"/>
            <a:ext cx="4492752" cy="21669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Simulation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6446A-23EF-CF03-544D-70ACEA1DD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660"/>
            <a:ext cx="4937760" cy="3076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36F004-AE99-55EE-575E-13AB787F9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304" y="146304"/>
            <a:ext cx="5163312" cy="36210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EF6CB3-A996-435E-1B1F-F0B2C88F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78758"/>
            <a:ext cx="6449568" cy="29329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4638"/>
            <a:ext cx="4224528" cy="438594"/>
          </a:xfrm>
        </p:spPr>
        <p:txBody>
          <a:bodyPr>
            <a:normAutofit fontScale="90000"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8. Validation &amp;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232"/>
                <a:ext cx="11521440" cy="6062472"/>
              </a:xfrm>
            </p:spPr>
            <p:txBody>
              <a:bodyPr>
                <a:normAutofit fontScale="25000" lnSpcReduction="20000"/>
              </a:bodyPr>
              <a:lstStyle/>
              <a:p>
                <a:r>
                  <a:rPr lang="en-IN" sz="5200" b="1" dirty="0"/>
                  <a:t>Validation 1: Energy Check (CO5)</a:t>
                </a:r>
              </a:p>
              <a:p>
                <a:r>
                  <a:rPr lang="en-IN" sz="5200" dirty="0"/>
                  <a:t>Total Energy: </a:t>
                </a:r>
                <a14:m>
                  <m:oMath xmlns:m="http://schemas.openxmlformats.org/officeDocument/2006/math">
                    <m:r>
                      <a:rPr lang="en-IN" sz="5200" i="1"/>
                      <m:t>𝐸</m:t>
                    </m:r>
                    <m:d>
                      <m:dPr>
                        <m:ctrlPr>
                          <a:rPr lang="ar-AE" sz="5200" i="1"/>
                        </m:ctrlPr>
                      </m:dPr>
                      <m:e>
                        <m:r>
                          <a:rPr lang="ar-AE" sz="5200" i="1"/>
                          <m:t>𝑡</m:t>
                        </m:r>
                      </m:e>
                    </m:d>
                    <m:r>
                      <a:rPr lang="ar-AE" sz="5200"/>
                      <m:t>=</m:t>
                    </m:r>
                    <m:r>
                      <a:rPr lang="ar-AE" sz="5200" i="1"/>
                      <m:t>𝑇</m:t>
                    </m:r>
                    <m:d>
                      <m:dPr>
                        <m:ctrlPr>
                          <a:rPr lang="ar-AE" sz="5200" i="1"/>
                        </m:ctrlPr>
                      </m:dPr>
                      <m:e>
                        <m:r>
                          <a:rPr lang="ar-AE" sz="5200" i="1"/>
                          <m:t>𝑡</m:t>
                        </m:r>
                      </m:e>
                    </m:d>
                    <m:r>
                      <a:rPr lang="ar-AE" sz="5200"/>
                      <m:t>+</m:t>
                    </m:r>
                    <m:r>
                      <a:rPr lang="ar-AE" sz="5200" i="1"/>
                      <m:t>𝑉</m:t>
                    </m:r>
                    <m:d>
                      <m:dPr>
                        <m:ctrlPr>
                          <a:rPr lang="ar-AE" sz="5200" i="1"/>
                        </m:ctrlPr>
                      </m:dPr>
                      <m:e>
                        <m:r>
                          <a:rPr lang="ar-AE" sz="5200" i="1"/>
                          <m:t>𝑡</m:t>
                        </m:r>
                      </m:e>
                    </m:d>
                  </m:oMath>
                </a14:m>
                <a:endParaRPr lang="ar-AE" sz="5200" dirty="0"/>
              </a:p>
              <a:p>
                <a:r>
                  <a:rPr lang="en-IN" sz="5200" dirty="0"/>
                  <a:t>Observation: </a:t>
                </a:r>
                <a:r>
                  <a:rPr lang="en-IN" sz="5200" b="1" dirty="0"/>
                  <a:t>Energy decays over time due to drag and control damping</a:t>
                </a:r>
                <a:r>
                  <a:rPr lang="en-IN" sz="5200" dirty="0"/>
                  <a:t> </a:t>
                </a:r>
              </a:p>
              <a:p>
                <a:r>
                  <a:rPr lang="en-IN" sz="5200" dirty="0"/>
                  <a:t>Approximate decay: </a:t>
                </a:r>
                <a:r>
                  <a:rPr lang="en-IN" sz="5200" b="1" dirty="0"/>
                  <a:t>~70–90% reduction</a:t>
                </a:r>
                <a:r>
                  <a:rPr lang="en-IN" sz="5200" dirty="0"/>
                  <a:t> from peak during landing phase</a:t>
                </a:r>
              </a:p>
              <a:p>
                <a:r>
                  <a:rPr lang="en-IN" sz="5200" b="1" dirty="0"/>
                  <a:t>Validation 2: Analytical Comparison (CO4)</a:t>
                </a:r>
              </a:p>
              <a:p>
                <a:r>
                  <a:rPr lang="en-IN" sz="5200" dirty="0"/>
                  <a:t>Small-angle linearization:</a:t>
                </a:r>
                <a:br>
                  <a:rPr lang="en-IN" sz="52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ar-AE" sz="52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5200"/>
                          <m:t>sin</m:t>
                        </m:r>
                      </m:fName>
                      <m:e>
                        <m:r>
                          <a:rPr lang="ar-AE" sz="5200" i="1"/>
                          <m:t>𝜃</m:t>
                        </m:r>
                      </m:e>
                    </m:func>
                    <m:r>
                      <a:rPr lang="ar-AE" sz="5200"/>
                      <m:t>≈</m:t>
                    </m:r>
                    <m:r>
                      <a:rPr lang="ar-AE" sz="5200" i="1"/>
                      <m:t>𝜃</m:t>
                    </m:r>
                  </m:oMath>
                </a14:m>
                <a:endParaRPr lang="ar-AE" sz="5200" dirty="0"/>
              </a:p>
              <a:p>
                <a:r>
                  <a:rPr lang="en-IN" sz="5200" dirty="0"/>
                  <a:t>Simplified vertical dynamics behave like a </a:t>
                </a:r>
                <a:r>
                  <a:rPr lang="en-IN" sz="5200" b="1" dirty="0"/>
                  <a:t>damped second-order system</a:t>
                </a:r>
                <a:r>
                  <a:rPr lang="en-IN" sz="5200" dirty="0"/>
                  <a:t> </a:t>
                </a:r>
              </a:p>
              <a:p>
                <a:r>
                  <a:rPr lang="en-IN" sz="5200" dirty="0"/>
                  <a:t>Natural frequency (</a:t>
                </a:r>
                <a:r>
                  <a:rPr lang="en-IN" sz="5200" dirty="0" err="1"/>
                  <a:t>approx</a:t>
                </a:r>
                <a:r>
                  <a:rPr lang="en-IN" sz="5200" dirty="0"/>
                  <a:t>):</a:t>
                </a:r>
                <a:br>
                  <a:rPr lang="en-IN" sz="5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5200"/>
                        </m:ctrlPr>
                      </m:sSubPr>
                      <m:e>
                        <m:r>
                          <a:rPr lang="ar-AE" sz="5200" i="1"/>
                          <m:t>𝜔</m:t>
                        </m:r>
                      </m:e>
                      <m:sub>
                        <m:r>
                          <a:rPr lang="ar-AE" sz="5200" i="1"/>
                          <m:t>𝑛</m:t>
                        </m:r>
                      </m:sub>
                    </m:sSub>
                    <m:r>
                      <a:rPr lang="ar-AE" sz="5200"/>
                      <m:t>≈</m:t>
                    </m:r>
                    <m:rad>
                      <m:radPr>
                        <m:degHide m:val="on"/>
                        <m:ctrlPr>
                          <a:rPr lang="ar-AE" sz="5200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sz="5200" i="1"/>
                            </m:ctrlPr>
                          </m:fPr>
                          <m:num>
                            <m:r>
                              <a:rPr lang="ar-AE" sz="5200" i="1"/>
                              <m:t>𝑇</m:t>
                            </m:r>
                          </m:num>
                          <m:den>
                            <m:r>
                              <a:rPr lang="ar-AE" sz="5200" i="1"/>
                              <m:t>𝑚</m:t>
                            </m:r>
                            <m:r>
                              <a:rPr lang="ar-AE" sz="5200"/>
                              <m:t>⋅</m:t>
                            </m:r>
                            <m:r>
                              <a:rPr lang="ar-AE" sz="5200" i="1"/>
                              <m:t>𝑧</m:t>
                            </m:r>
                          </m:den>
                        </m:f>
                      </m:e>
                    </m:rad>
                  </m:oMath>
                </a14:m>
                <a:endParaRPr lang="ar-AE" sz="5200" dirty="0"/>
              </a:p>
              <a:p>
                <a:r>
                  <a:rPr lang="en-IN" sz="5200" dirty="0"/>
                  <a:t>From simulation: </a:t>
                </a:r>
              </a:p>
              <a:p>
                <a:pPr lvl="1"/>
                <a:r>
                  <a:rPr lang="en-IN" sz="5200" dirty="0"/>
                  <a:t>Oscillation frequency reduces over time </a:t>
                </a:r>
              </a:p>
              <a:p>
                <a:pPr lvl="1"/>
                <a:r>
                  <a:rPr lang="en-IN" sz="5200" dirty="0"/>
                  <a:t>System transitions from </a:t>
                </a:r>
                <a:r>
                  <a:rPr lang="en-IN" sz="5200" b="1" dirty="0"/>
                  <a:t>underdamped → critically damped </a:t>
                </a:r>
                <a:r>
                  <a:rPr lang="en-IN" sz="5200" b="1" dirty="0" err="1"/>
                  <a:t>behavior</a:t>
                </a:r>
                <a:endParaRPr lang="en-IN" sz="5200" dirty="0"/>
              </a:p>
              <a:p>
                <a:r>
                  <a:rPr lang="en-IN" sz="5200" b="1" dirty="0"/>
                  <a:t>Validation 3: Dimensional Analysis / Unit Check</a:t>
                </a:r>
              </a:p>
              <a:p>
                <a14:m>
                  <m:oMath xmlns:m="http://schemas.openxmlformats.org/officeDocument/2006/math">
                    <m:r>
                      <a:rPr lang="en-IN" sz="5200" i="1"/>
                      <m:t>𝑚</m:t>
                    </m:r>
                    <m:acc>
                      <m:accPr>
                        <m:chr m:val="̈"/>
                        <m:ctrlPr>
                          <a:rPr lang="ar-AE" sz="5200" i="1"/>
                        </m:ctrlPr>
                      </m:accPr>
                      <m:e>
                        <m:r>
                          <a:rPr lang="ar-AE" sz="5200" i="1"/>
                          <m:t>𝑥</m:t>
                        </m:r>
                      </m:e>
                    </m:acc>
                  </m:oMath>
                </a14:m>
                <a:r>
                  <a:rPr lang="ar-AE" sz="5200" dirty="0"/>
                  <a:t>→ </a:t>
                </a:r>
                <a:r>
                  <a:rPr lang="en-IN" sz="5200" dirty="0"/>
                  <a:t>N (</a:t>
                </a:r>
                <a:r>
                  <a:rPr lang="en-IN" sz="5200" dirty="0" err="1"/>
                  <a:t>kg·m</a:t>
                </a:r>
                <a:r>
                  <a:rPr lang="en-IN" sz="5200" dirty="0"/>
                  <a:t>/s²) </a:t>
                </a:r>
              </a:p>
              <a:p>
                <a14:m>
                  <m:oMath xmlns:m="http://schemas.openxmlformats.org/officeDocument/2006/math">
                    <m:r>
                      <a:rPr lang="en-IN" sz="5200" i="1"/>
                      <m:t>𝑇</m:t>
                    </m:r>
                    <m:r>
                      <m:rPr>
                        <m:sty m:val="p"/>
                      </m:rPr>
                      <a:rPr lang="en-IN" sz="5200"/>
                      <m:t>sin</m:t>
                    </m:r>
                    <m:r>
                      <a:rPr lang="en-IN" sz="5200"/>
                      <m:t>⁡</m:t>
                    </m:r>
                    <m:d>
                      <m:dPr>
                        <m:ctrlPr>
                          <a:rPr lang="ar-AE" sz="5200" i="1"/>
                        </m:ctrlPr>
                      </m:dPr>
                      <m:e>
                        <m:r>
                          <a:rPr lang="ar-AE" sz="5200" i="1"/>
                          <m:t>𝜃</m:t>
                        </m:r>
                      </m:e>
                    </m:d>
                  </m:oMath>
                </a14:m>
                <a:r>
                  <a:rPr lang="ar-AE" sz="5200" dirty="0"/>
                  <a:t>→ </a:t>
                </a:r>
                <a:r>
                  <a:rPr lang="en-IN" sz="5200" dirty="0"/>
                  <a:t>N </a:t>
                </a:r>
              </a:p>
              <a:p>
                <a14:m>
                  <m:oMath xmlns:m="http://schemas.openxmlformats.org/officeDocument/2006/math">
                    <m:r>
                      <a:rPr lang="en-IN" sz="5200" i="1"/>
                      <m:t>𝑐</m:t>
                    </m:r>
                    <m:acc>
                      <m:accPr>
                        <m:chr m:val="̇"/>
                        <m:ctrlPr>
                          <a:rPr lang="ar-AE" sz="5200" i="1"/>
                        </m:ctrlPr>
                      </m:accPr>
                      <m:e>
                        <m:r>
                          <a:rPr lang="ar-AE" sz="5200" i="1"/>
                          <m:t>𝑥</m:t>
                        </m:r>
                      </m:e>
                    </m:acc>
                  </m:oMath>
                </a14:m>
                <a:r>
                  <a:rPr lang="ar-AE" sz="5200" dirty="0"/>
                  <a:t>→ </a:t>
                </a:r>
                <a:r>
                  <a:rPr lang="en-IN" sz="5200" dirty="0"/>
                  <a:t>N </a:t>
                </a:r>
              </a:p>
              <a:p>
                <a14:m>
                  <m:oMath xmlns:m="http://schemas.openxmlformats.org/officeDocument/2006/math">
                    <m:r>
                      <a:rPr lang="en-IN" sz="5200" i="1"/>
                      <m:t>𝐼</m:t>
                    </m:r>
                    <m:acc>
                      <m:accPr>
                        <m:chr m:val="̈"/>
                        <m:ctrlPr>
                          <a:rPr lang="ar-AE" sz="5200" i="1"/>
                        </m:ctrlPr>
                      </m:accPr>
                      <m:e>
                        <m:r>
                          <a:rPr lang="ar-AE" sz="5200" i="1"/>
                          <m:t>𝜃</m:t>
                        </m:r>
                      </m:e>
                    </m:acc>
                  </m:oMath>
                </a14:m>
                <a:r>
                  <a:rPr lang="ar-AE" sz="5200" dirty="0"/>
                  <a:t>→ </a:t>
                </a:r>
                <a:r>
                  <a:rPr lang="en-IN" sz="5200" dirty="0" err="1"/>
                  <a:t>N·m</a:t>
                </a:r>
                <a:endParaRPr lang="en-IN" sz="5200" dirty="0"/>
              </a:p>
              <a:p>
                <a:r>
                  <a:rPr lang="en-IN" sz="5200" b="1" dirty="0"/>
                  <a:t>Sensitivity Analysis:</a:t>
                </a:r>
              </a:p>
              <a:p>
                <a:r>
                  <a:rPr lang="en-IN" sz="5200" dirty="0"/>
                  <a:t>Parameter varied: </a:t>
                </a:r>
                <a:r>
                  <a:rPr lang="en-IN" sz="5200" b="1" dirty="0" err="1"/>
                  <a:t>Kp</a:t>
                </a:r>
                <a:r>
                  <a:rPr lang="en-IN" sz="5200" b="1" dirty="0"/>
                  <a:t> (2 → 8)</a:t>
                </a:r>
                <a:endParaRPr lang="en-IN" sz="5200" dirty="0"/>
              </a:p>
              <a:p>
                <a:r>
                  <a:rPr lang="en-IN" sz="5200" dirty="0"/>
                  <a:t>Low </a:t>
                </a:r>
                <a:r>
                  <a:rPr lang="en-IN" sz="5200" dirty="0" err="1"/>
                  <a:t>Kp</a:t>
                </a:r>
                <a:r>
                  <a:rPr lang="en-IN" sz="5200" dirty="0"/>
                  <a:t> → slow response, large deviation </a:t>
                </a:r>
              </a:p>
              <a:p>
                <a:r>
                  <a:rPr lang="en-IN" sz="5200" dirty="0"/>
                  <a:t>Optimal </a:t>
                </a:r>
                <a:r>
                  <a:rPr lang="en-IN" sz="5200" dirty="0" err="1"/>
                  <a:t>Kp</a:t>
                </a:r>
                <a:r>
                  <a:rPr lang="en-IN" sz="5200" dirty="0"/>
                  <a:t> (~4) → stable landing </a:t>
                </a:r>
              </a:p>
              <a:p>
                <a:r>
                  <a:rPr lang="en-IN" sz="5200" dirty="0"/>
                  <a:t>High </a:t>
                </a:r>
                <a:r>
                  <a:rPr lang="en-IN" sz="5200" dirty="0" err="1"/>
                  <a:t>Kp</a:t>
                </a:r>
                <a:r>
                  <a:rPr lang="en-IN" sz="5200" dirty="0"/>
                  <a:t> → oscillatory / unstable </a:t>
                </a:r>
                <a:r>
                  <a:rPr lang="en-IN" sz="5200" dirty="0" err="1"/>
                  <a:t>behavior</a:t>
                </a:r>
                <a:r>
                  <a:rPr lang="en-IN" sz="5200" dirty="0"/>
                  <a:t> </a:t>
                </a:r>
              </a:p>
              <a:p>
                <a:r>
                  <a:rPr lang="en-IN" sz="5200" b="1" dirty="0"/>
                  <a:t>Effect:</a:t>
                </a:r>
                <a:r>
                  <a:rPr lang="en-IN" sz="5200" dirty="0"/>
                  <a:t> Strong influence on </a:t>
                </a:r>
                <a:r>
                  <a:rPr lang="en-IN" sz="5200" b="1" dirty="0"/>
                  <a:t>stability and settling time</a:t>
                </a:r>
                <a:endParaRPr lang="en-IN" sz="5200" dirty="0"/>
              </a:p>
              <a:p>
                <a:r>
                  <a:rPr lang="en-IN" sz="5200" b="1" dirty="0"/>
                  <a:t>Limitations:</a:t>
                </a:r>
              </a:p>
              <a:p>
                <a:r>
                  <a:rPr lang="en-IN" sz="5200" b="1" dirty="0"/>
                  <a:t>Rigid body assumption</a:t>
                </a:r>
                <a:r>
                  <a:rPr lang="en-IN" sz="5200" dirty="0"/>
                  <a:t> → ignores structural flexibility at high speeds </a:t>
                </a:r>
              </a:p>
              <a:p>
                <a:r>
                  <a:rPr lang="en-IN" sz="5200" b="1" dirty="0"/>
                  <a:t>Constant mass assumption</a:t>
                </a:r>
                <a:r>
                  <a:rPr lang="en-IN" sz="5200" dirty="0"/>
                  <a:t> → real rockets lose mass during flight </a:t>
                </a:r>
              </a:p>
              <a:p>
                <a:r>
                  <a:rPr lang="en-IN" sz="5200" b="1" dirty="0"/>
                  <a:t>No experimental validation</a:t>
                </a:r>
                <a:r>
                  <a:rPr lang="en-IN" sz="5200" dirty="0"/>
                  <a:t> → results are simulation-only </a:t>
                </a:r>
              </a:p>
              <a:p>
                <a:r>
                  <a:rPr lang="en-IN" sz="5200" b="1" dirty="0"/>
                  <a:t>Simplified drag model</a:t>
                </a:r>
                <a:r>
                  <a:rPr lang="en-IN" sz="5200" dirty="0"/>
                  <a:t> → real aerodynamics are nonlinear</a:t>
                </a:r>
              </a:p>
              <a:p>
                <a:pPr>
                  <a:defRPr sz="1800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232"/>
                <a:ext cx="11521440" cy="6062472"/>
              </a:xfrm>
              <a:blipFill>
                <a:blip r:embed="rId3"/>
                <a:stretch>
                  <a:fillRect t="-603" b="-5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503152" cy="5257800"/>
          </a:xfrm>
        </p:spPr>
        <p:txBody>
          <a:bodyPr>
            <a:noAutofit/>
          </a:bodyPr>
          <a:lstStyle/>
          <a:p>
            <a:r>
              <a:rPr lang="en-US" sz="1300" b="1" dirty="0"/>
              <a:t>Key Finding:</a:t>
            </a:r>
            <a:br>
              <a:rPr lang="en-US" sz="1300" dirty="0"/>
            </a:br>
            <a:r>
              <a:rPr lang="en-US" sz="1300" dirty="0"/>
              <a:t>A PID-controlled thrust vectoring system can achieve </a:t>
            </a:r>
            <a:r>
              <a:rPr lang="en-US" sz="1300" b="1" dirty="0"/>
              <a:t>stable hover and precise vertical landing</a:t>
            </a:r>
            <a:r>
              <a:rPr lang="en-US" sz="1300" dirty="0"/>
              <a:t> under disturbances such as wind and drag.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What we learned that a textbook couldn’t teach:</a:t>
            </a:r>
            <a:endParaRPr lang="en-US" sz="1300" dirty="0"/>
          </a:p>
          <a:p>
            <a:r>
              <a:rPr lang="en-US" sz="1300" dirty="0"/>
              <a:t>Correct </a:t>
            </a:r>
            <a:r>
              <a:rPr lang="en-US" sz="1300" b="1" dirty="0"/>
              <a:t>sign conventions and force directions</a:t>
            </a:r>
            <a:r>
              <a:rPr lang="en-US" sz="1300" dirty="0"/>
              <a:t> in FBD and Lagrange formulation required multiple iterations </a:t>
            </a:r>
          </a:p>
          <a:p>
            <a:r>
              <a:rPr lang="en-US" sz="1300" dirty="0"/>
              <a:t>Real systems need </a:t>
            </a:r>
            <a:r>
              <a:rPr lang="en-US" sz="1300" b="1" dirty="0"/>
              <a:t>controller tuning (</a:t>
            </a:r>
            <a:r>
              <a:rPr lang="en-US" sz="1300" b="1" dirty="0" err="1"/>
              <a:t>Kp</a:t>
            </a:r>
            <a:r>
              <a:rPr lang="en-US" sz="1300" b="1" dirty="0"/>
              <a:t>, </a:t>
            </a:r>
            <a:r>
              <a:rPr lang="en-US" sz="1300" b="1" dirty="0" err="1"/>
              <a:t>Kd</a:t>
            </a:r>
            <a:r>
              <a:rPr lang="en-US" sz="1300" b="1" dirty="0"/>
              <a:t>)</a:t>
            </a:r>
            <a:r>
              <a:rPr lang="en-US" sz="1300" dirty="0"/>
              <a:t> — theory alone is not sufficient </a:t>
            </a:r>
          </a:p>
          <a:p>
            <a:r>
              <a:rPr lang="en-US" sz="1300" dirty="0"/>
              <a:t>Coupling between </a:t>
            </a:r>
            <a:r>
              <a:rPr lang="en-US" sz="1300" b="1" dirty="0"/>
              <a:t>rotation and translation</a:t>
            </a:r>
            <a:r>
              <a:rPr lang="en-US" sz="1300" dirty="0"/>
              <a:t> significantly affects stability (CO4 most challenging) 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What we would do differently:</a:t>
            </a:r>
            <a:endParaRPr lang="en-US" sz="1300" dirty="0"/>
          </a:p>
          <a:p>
            <a:r>
              <a:rPr lang="en-US" sz="1300" dirty="0"/>
              <a:t>Implement </a:t>
            </a:r>
            <a:r>
              <a:rPr lang="en-US" sz="1300" b="1" dirty="0"/>
              <a:t>real-time data logging</a:t>
            </a:r>
            <a:r>
              <a:rPr lang="en-US" sz="1300" dirty="0"/>
              <a:t> for accurate plots instead of approximations </a:t>
            </a:r>
          </a:p>
          <a:p>
            <a:r>
              <a:rPr lang="en-US" sz="1300" dirty="0"/>
              <a:t>Include </a:t>
            </a:r>
            <a:r>
              <a:rPr lang="en-US" sz="1300" b="1" dirty="0"/>
              <a:t>variable mass model</a:t>
            </a:r>
            <a:r>
              <a:rPr lang="en-US" sz="1300" dirty="0"/>
              <a:t> (fuel consumption) </a:t>
            </a:r>
          </a:p>
          <a:p>
            <a:r>
              <a:rPr lang="en-US" sz="1300" dirty="0"/>
              <a:t>Add </a:t>
            </a:r>
            <a:r>
              <a:rPr lang="en-US" sz="1300" b="1" dirty="0"/>
              <a:t>advanced controller (PID + feedforward / LQR)</a:t>
            </a:r>
            <a:r>
              <a:rPr lang="en-US" sz="1300" dirty="0"/>
              <a:t> for better stability 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Course units most critical:</a:t>
            </a:r>
            <a:endParaRPr lang="en-US" sz="1300" dirty="0"/>
          </a:p>
          <a:p>
            <a:r>
              <a:rPr lang="en-US" sz="1300" dirty="0"/>
              <a:t>Kinematics of rigid bodies (CO1) </a:t>
            </a:r>
          </a:p>
          <a:p>
            <a:r>
              <a:rPr lang="en-US" sz="1300" dirty="0"/>
              <a:t>Free Body Diagrams and force analysis (CO2, CO3) </a:t>
            </a:r>
          </a:p>
          <a:p>
            <a:r>
              <a:rPr lang="en-US" sz="1300" dirty="0"/>
              <a:t>Lagrange/Newton modeling (CO4) </a:t>
            </a:r>
          </a:p>
          <a:p>
            <a:r>
              <a:rPr lang="en-US" sz="1300" dirty="0"/>
              <a:t>Energy methods and validation (CO5)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b="1" dirty="0"/>
              <a:t>Textbook References:</a:t>
            </a:r>
          </a:p>
          <a:p>
            <a:r>
              <a:rPr lang="en-IN" sz="1400" dirty="0"/>
              <a:t>[1] Ginsberg, J. H. (2008). </a:t>
            </a:r>
            <a:r>
              <a:rPr lang="en-IN" sz="1400" i="1" dirty="0"/>
              <a:t>Engineering Dynamics</a:t>
            </a:r>
            <a:r>
              <a:rPr lang="en-IN" sz="1400" dirty="0"/>
              <a:t>. Cambridge University Press</a:t>
            </a:r>
            <a:br>
              <a:rPr lang="en-IN" sz="1400" dirty="0"/>
            </a:br>
            <a:r>
              <a:rPr lang="en-IN" sz="1400" dirty="0"/>
              <a:t>[2] Ogata, K. (2010). </a:t>
            </a:r>
            <a:r>
              <a:rPr lang="en-IN" sz="1400" i="1" dirty="0"/>
              <a:t>Modern Control Engineering</a:t>
            </a:r>
            <a:r>
              <a:rPr lang="en-IN" sz="1400" dirty="0"/>
              <a:t>. Prentice Hall</a:t>
            </a:r>
          </a:p>
          <a:p>
            <a:br>
              <a:rPr lang="en-IN" sz="1400" dirty="0"/>
            </a:br>
            <a:endParaRPr lang="en-IN" sz="1400" dirty="0"/>
          </a:p>
          <a:p>
            <a:r>
              <a:rPr lang="en-IN" sz="1400" b="1" dirty="0"/>
              <a:t>Online Resources:</a:t>
            </a:r>
          </a:p>
          <a:p>
            <a:r>
              <a:rPr lang="en-IN" sz="1400" dirty="0"/>
              <a:t>[3] </a:t>
            </a:r>
            <a:r>
              <a:rPr lang="en-IN" sz="1400" dirty="0" err="1"/>
              <a:t>PyBullet</a:t>
            </a:r>
            <a:r>
              <a:rPr lang="en-IN" sz="1400" dirty="0"/>
              <a:t> Documentation — </a:t>
            </a:r>
            <a:r>
              <a:rPr lang="en-IN" sz="1400" dirty="0">
                <a:hlinkClick r:id="rId3"/>
              </a:rPr>
              <a:t>https://pybullet.org</a:t>
            </a:r>
            <a:br>
              <a:rPr lang="en-IN" sz="1400" dirty="0"/>
            </a:br>
            <a:r>
              <a:rPr lang="en-IN" sz="1400" dirty="0"/>
              <a:t>[4] SciPy Documentation — </a:t>
            </a:r>
            <a:r>
              <a:rPr lang="en-IN" sz="1400" dirty="0">
                <a:hlinkClick r:id="rId4"/>
              </a:rPr>
              <a:t>https://docs.scipy.org</a:t>
            </a:r>
            <a:br>
              <a:rPr lang="en-IN" sz="1400" dirty="0"/>
            </a:br>
            <a:r>
              <a:rPr lang="en-IN" sz="1400" dirty="0"/>
              <a:t>[5] NumPy Documentation — </a:t>
            </a:r>
            <a:r>
              <a:rPr lang="en-IN" sz="1400" dirty="0">
                <a:hlinkClick r:id="rId5"/>
              </a:rPr>
              <a:t>https://numpy.org</a:t>
            </a:r>
            <a:br>
              <a:rPr lang="en-IN" sz="1400" dirty="0"/>
            </a:br>
            <a:r>
              <a:rPr lang="en-IN" sz="1400" dirty="0"/>
              <a:t>[6] Matplotlib Documentation — </a:t>
            </a:r>
            <a:r>
              <a:rPr lang="en-IN" sz="1400" dirty="0">
                <a:hlinkClick r:id="rId6"/>
              </a:rPr>
              <a:t>https://matplotlib.org</a:t>
            </a:r>
            <a:endParaRPr lang="en-IN" sz="1400" dirty="0"/>
          </a:p>
          <a:p>
            <a:br>
              <a:rPr lang="en-IN" sz="1400" dirty="0"/>
            </a:br>
            <a:endParaRPr lang="en-IN" sz="1400" dirty="0"/>
          </a:p>
          <a:p>
            <a:r>
              <a:rPr lang="en-IN" sz="1400" b="1" dirty="0"/>
              <a:t>AI Tools (MANDATORY Disclosure):</a:t>
            </a:r>
          </a:p>
          <a:p>
            <a:r>
              <a:rPr lang="en-IN" sz="1400" b="1" dirty="0"/>
              <a:t>Tool:</a:t>
            </a:r>
            <a:r>
              <a:rPr lang="en-IN" sz="1400" dirty="0"/>
              <a:t> ChatGPT </a:t>
            </a:r>
          </a:p>
          <a:p>
            <a:r>
              <a:rPr lang="en-IN" sz="1400" b="1" dirty="0"/>
              <a:t>Purpose: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Python code structuring and debugging </a:t>
            </a:r>
          </a:p>
          <a:p>
            <a:pPr lvl="1"/>
            <a:r>
              <a:rPr lang="en-IN" sz="1400" dirty="0"/>
              <a:t>Assistance in organizing presentation content </a:t>
            </a:r>
          </a:p>
          <a:p>
            <a:pPr lvl="1"/>
            <a:r>
              <a:rPr lang="en-IN" sz="1400" dirty="0"/>
              <a:t>Clarification of concepts (control systems, dynamics) </a:t>
            </a:r>
          </a:p>
          <a:p>
            <a:r>
              <a:rPr lang="en-IN" sz="1400" b="1" dirty="0"/>
              <a:t>NOT used for: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Final derivation of equations (done manually) </a:t>
            </a:r>
          </a:p>
          <a:p>
            <a:pPr lvl="1"/>
            <a:r>
              <a:rPr lang="en-IN" sz="1400" dirty="0"/>
              <a:t>Core conceptual understanding and </a:t>
            </a:r>
            <a:r>
              <a:rPr lang="en-IN" sz="1400" dirty="0" err="1"/>
              <a:t>modeling</a:t>
            </a:r>
            <a:r>
              <a:rPr lang="en-IN" sz="1400" dirty="0"/>
              <a:t>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Team: </a:t>
            </a:r>
            <a:r>
              <a:rPr lang="en-IN" dirty="0"/>
              <a:t>: [Siddharth Bathija], [</a:t>
            </a:r>
            <a:r>
              <a:rPr lang="en-IN" dirty="0" err="1"/>
              <a:t>Jayhan</a:t>
            </a:r>
            <a:r>
              <a:rPr lang="en-IN" dirty="0"/>
              <a:t> Bhagvati], [Jimit </a:t>
            </a:r>
            <a:r>
              <a:rPr lang="en-IN" dirty="0" err="1"/>
              <a:t>Kacha</a:t>
            </a:r>
            <a:r>
              <a:rPr lang="en-IN" dirty="0"/>
              <a:t>], [Shehzad Khan]</a:t>
            </a:r>
          </a:p>
          <a:p>
            <a:pPr>
              <a:defRPr sz="1800"/>
            </a:pPr>
            <a:r>
              <a:rPr dirty="0"/>
              <a:t>Project: [</a:t>
            </a:r>
            <a:r>
              <a:rPr lang="en-US" dirty="0"/>
              <a:t>Rocket Vertical Takeoff and Precision Landing</a:t>
            </a:r>
            <a:r>
              <a:rPr dirty="0"/>
              <a:t>]</a:t>
            </a:r>
          </a:p>
          <a:p>
            <a:pPr>
              <a:defRPr sz="1800"/>
            </a:pPr>
            <a:r>
              <a:rPr dirty="0"/>
              <a:t>Category: [B]</a:t>
            </a:r>
          </a:p>
          <a:p>
            <a:pPr>
              <a:defRPr sz="1800"/>
            </a:pPr>
            <a:r>
              <a:rPr dirty="0"/>
              <a:t>COs: [CO1-CO5]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60B7E6-3B58-49BB-A6C9-D30B05E781C3}"/>
</file>

<file path=customXml/itemProps2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1690</Words>
  <Application>Microsoft Office PowerPoint</Application>
  <PresentationFormat>Widescreen</PresentationFormat>
  <Paragraphs>163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Rocket Vertical Takeoff and Precision Landing</vt:lpstr>
      <vt:lpstr>1. System Introduction &amp; Motivation</vt:lpstr>
      <vt:lpstr>2. Problem Formulation &amp; Assumptions</vt:lpstr>
      <vt:lpstr>PowerPoint Presentation</vt:lpstr>
      <vt:lpstr>4. Mathematical Derivation (Part 1)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JImit</dc:creator>
  <cp:keywords/>
  <dc:description>generated using python-pptx</dc:description>
  <cp:lastModifiedBy>JIMIT KACHA - 70042400028</cp:lastModifiedBy>
  <cp:revision>2</cp:revision>
  <dcterms:created xsi:type="dcterms:W3CDTF">2013-01-27T09:14:16Z</dcterms:created>
  <dcterms:modified xsi:type="dcterms:W3CDTF">2026-04-19T15:16:13Z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