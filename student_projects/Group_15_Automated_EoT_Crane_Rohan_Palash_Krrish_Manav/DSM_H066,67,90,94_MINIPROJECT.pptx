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73" r:id="rId6"/>
    <p:sldId id="258" r:id="rId7"/>
    <p:sldId id="259" r:id="rId8"/>
    <p:sldId id="260" r:id="rId9"/>
    <p:sldId id="261" r:id="rId10"/>
    <p:sldId id="263" r:id="rId11"/>
    <p:sldId id="264" r:id="rId12"/>
    <p:sldId id="27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2011C-295A-41EF-A2C8-3E187BA4752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0444A-4EF3-48C5-B8F6-99DBE9EBA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7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8102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8442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2309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4426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17865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1032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lang="en-IN" sz="3600" b="1" dirty="0"/>
              <a:t>Automated EOT Crane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Palash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Shah, Rohan Shah,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Krrish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Jain,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Manav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Alimchandani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Dynamic System Modeling (702MH0C023)</a:t>
            </a:r>
          </a:p>
          <a:p>
            <a:pPr>
              <a:defRPr sz="1800"/>
            </a:pP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Mechatronics, Sem IV | NMIMS MPSTME Mumbai</a:t>
            </a:r>
          </a:p>
          <a:p>
            <a:pPr>
              <a:defRPr sz="18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Category: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Complexity: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 Exercised: CO1, CO2, CO3, CO4, CO5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Date: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04/2026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2900" y="1873832"/>
            <a:ext cx="117348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system?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Electric Overhead Traveling (EOT) Crane, consisting of a translating bridge, a traversing trolley, and a hoisting cable with a heavy payload.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does it matter?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industrial warehouses, moving heavy payloads quickly causes dangerous pendulum swing. Understanding the dynamics is critical for designing anti-sway motor controllers.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 the accelerations of the bridge and the hoisting speed of the cable couple together to induce or amplify payload swing?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F4E79"/>
                </a:solidFill>
              </a:defRPr>
            </a:pPr>
            <a:r>
              <a:rPr lang="en-IN" sz="2800" b="1" smtClean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System Introduction &amp; Motivation</a:t>
            </a:r>
            <a:endParaRPr lang="en-IN" sz="28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69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Formulation &amp; Assumptions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199" y="1047026"/>
            <a:ext cx="1153450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(Bridge motor force),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Fz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(Hoist force)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(Absolute payload position),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(Swing angle)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Variables: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 ẋ,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θ̇x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(Positions and Velocities)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Mb (Bridge mass),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(Payload mass),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 (Cable length),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 (Gravity)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Degrees of Freedom: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 DOF (Bridge X, Trolley Y, Hoist Z, Swing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Swing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—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Assumptions 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Rigid Body Dynamics: The steel bridge girders do not deform at operating speeds.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Particle Kinetics: Cable length is much larger than the payload, allowing it to be treated as a point mass.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Angle Approximation: Swing angles rarely exceed 15 degrees; therefore, sin(θ) ≈ θ.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2265" y="393125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72265" y="1124644"/>
            <a:ext cx="3332748" cy="459085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839477" y="1124644"/>
            <a:ext cx="3467100" cy="4590857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7541042" y="1026160"/>
            <a:ext cx="3438525" cy="240284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7541042" y="3524752"/>
            <a:ext cx="3457575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200918"/>
            <a:ext cx="117348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Newton's Second Law of Motion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this method?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Newton's laws were chosen over Lagrange's equations because they explicitly expose the internal constraint force (cable tension, T). Knowing real-time tension is critical for industrial cable sizing and safety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 (Kinematics):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absolute payload acceleration using the product rule: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Apx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ẍ + (L̈ *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θx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+ (2 * L̇ *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θ̇x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+ (L *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θ̈x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 (Z-Axis Kinetics):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 forces vertically for payload mass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Apz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g - T —&gt; T =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(g - L̈)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 (X-Axis Kinetics):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 forces horizontally for payload mass: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Apx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-T *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θx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4476"/>
            <a:ext cx="8229600" cy="1143000"/>
          </a:xfrm>
        </p:spPr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Final Equations &amp; State-Space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3300"/>
            <a:ext cx="11849100" cy="5715000"/>
          </a:xfrm>
        </p:spPr>
        <p:txBody>
          <a:bodyPr>
            <a:normAutofit fontScale="55000" lnSpcReduction="2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Equations of Motion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EOM 1 (Payload Swing): </a:t>
            </a:r>
            <a:endParaRPr lang="en-IN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θ̈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+ 2 * L̇ * 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θ̇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+ g * 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-x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̈</a:t>
            </a:r>
          </a:p>
          <a:p>
            <a:pPr marL="0" indent="0" algn="ctr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EOM 2 (Bridge Translation): </a:t>
            </a:r>
            <a:endParaRPr lang="en-IN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ẍ =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Fx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cx * ẋ +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(g - L̈) * 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0" indent="0" algn="ctr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/>
              <a:t>State Space Representation</a:t>
            </a:r>
            <a:endParaRPr lang="en-IN" sz="3600" b="1" dirty="0"/>
          </a:p>
          <a:p>
            <a:r>
              <a:rPr lang="en-US" sz="3600" dirty="0" err="1"/>
              <a:t>Stae</a:t>
            </a:r>
            <a:r>
              <a:rPr lang="en-US" sz="3600" dirty="0"/>
              <a:t> Vector:</a:t>
            </a:r>
            <a:br>
              <a:rPr lang="en-US" sz="3600" dirty="0"/>
            </a:br>
            <a:r>
              <a:rPr lang="en-US" sz="3600" dirty="0"/>
              <a:t>[x dx y </a:t>
            </a:r>
            <a:r>
              <a:rPr lang="en-US" sz="3600" dirty="0" err="1"/>
              <a:t>dy</a:t>
            </a:r>
            <a:r>
              <a:rPr lang="en-US" sz="3600" dirty="0"/>
              <a:t> z </a:t>
            </a:r>
            <a:r>
              <a:rPr lang="en-US" sz="3600" dirty="0" err="1"/>
              <a:t>dz</a:t>
            </a:r>
            <a:r>
              <a:rPr lang="en-US" sz="3600" dirty="0"/>
              <a:t>]</a:t>
            </a:r>
            <a:br>
              <a:rPr lang="en-US" sz="3600" dirty="0"/>
            </a:br>
            <a:endParaRPr lang="en-US" sz="3600" dirty="0" smtClean="0"/>
          </a:p>
          <a:p>
            <a:pPr marL="0" indent="0" algn="ctr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State equations:</a:t>
            </a:r>
            <a:br>
              <a:rPr lang="en-US" sz="3600" dirty="0"/>
            </a:br>
            <a:r>
              <a:rPr lang="en-US" sz="3600" dirty="0"/>
              <a:t>dx/</a:t>
            </a:r>
            <a:r>
              <a:rPr lang="en-US" sz="3600" dirty="0" err="1"/>
              <a:t>dt</a:t>
            </a:r>
            <a:r>
              <a:rPr lang="en-US" sz="3600" dirty="0"/>
              <a:t> = </a:t>
            </a:r>
            <a:r>
              <a:rPr lang="en-US" sz="3600" dirty="0" err="1"/>
              <a:t>vx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d2x/dt2 = (</a:t>
            </a:r>
            <a:r>
              <a:rPr lang="en-US" sz="3600" dirty="0" err="1"/>
              <a:t>F_b</a:t>
            </a:r>
            <a:r>
              <a:rPr lang="en-US" sz="3600" dirty="0"/>
              <a:t> - </a:t>
            </a:r>
            <a:r>
              <a:rPr lang="en-US" sz="3600" dirty="0" err="1"/>
              <a:t>C_b</a:t>
            </a:r>
            <a:r>
              <a:rPr lang="en-US" sz="3600" dirty="0"/>
              <a:t>*</a:t>
            </a:r>
            <a:r>
              <a:rPr lang="en-US" sz="3600" dirty="0" err="1"/>
              <a:t>vx</a:t>
            </a:r>
            <a:r>
              <a:rPr lang="en-US" sz="3600" dirty="0"/>
              <a:t>)/</a:t>
            </a:r>
            <a:r>
              <a:rPr lang="en-US" sz="3600" dirty="0" err="1"/>
              <a:t>M_b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d2y/dt2 = (</a:t>
            </a:r>
            <a:r>
              <a:rPr lang="en-US" sz="3600" dirty="0" err="1"/>
              <a:t>F_t</a:t>
            </a:r>
            <a:r>
              <a:rPr lang="en-US" sz="3600" dirty="0"/>
              <a:t> - </a:t>
            </a:r>
            <a:r>
              <a:rPr lang="en-US" sz="3600" dirty="0" err="1"/>
              <a:t>C_t</a:t>
            </a:r>
            <a:r>
              <a:rPr lang="en-US" sz="3600" dirty="0"/>
              <a:t>*</a:t>
            </a:r>
            <a:r>
              <a:rPr lang="en-US" sz="3600" dirty="0" err="1"/>
              <a:t>vy</a:t>
            </a:r>
            <a:r>
              <a:rPr lang="en-US" sz="3600" dirty="0"/>
              <a:t>)/</a:t>
            </a:r>
            <a:r>
              <a:rPr lang="en-US" sz="3600" dirty="0" err="1"/>
              <a:t>M_t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d2z/dt2 = (</a:t>
            </a:r>
            <a:r>
              <a:rPr lang="en-US" sz="3600" dirty="0" err="1"/>
              <a:t>F_h</a:t>
            </a:r>
            <a:r>
              <a:rPr lang="en-US" sz="3600" dirty="0"/>
              <a:t> - </a:t>
            </a:r>
            <a:r>
              <a:rPr lang="en-US" sz="3600" dirty="0" err="1"/>
              <a:t>C_h</a:t>
            </a:r>
            <a:r>
              <a:rPr lang="en-US" sz="3600" dirty="0"/>
              <a:t>*</a:t>
            </a:r>
            <a:r>
              <a:rPr lang="en-US" sz="3600" dirty="0" err="1"/>
              <a:t>vz</a:t>
            </a:r>
            <a:r>
              <a:rPr lang="en-US" sz="3600" dirty="0"/>
              <a:t> - Mg)/</a:t>
            </a:r>
            <a:r>
              <a:rPr lang="en-US" sz="3600" dirty="0" err="1"/>
              <a:t>M_l</a:t>
            </a:r>
            <a:endParaRPr lang="en-IN" sz="3600" dirty="0"/>
          </a:p>
          <a:p>
            <a:pPr marL="0" indent="0" algn="ctr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37706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7. Simulation Visualization</a:t>
            </a:r>
          </a:p>
        </p:txBody>
      </p:sp>
      <p:pic>
        <p:nvPicPr>
          <p:cNvPr id="5" name="WhatsApp Video 2026-04-20 at 10.09.39 P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" y="1459832"/>
            <a:ext cx="10972800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Validation &amp; Analysis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257075"/>
            <a:ext cx="117348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1 (Energy Check):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energy perfectly conserved (red line flat), proving the derived equations respect physical laws.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2 (Analytical Comparison):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simulated time period for a 10m cable was 6.34 seconds. This perfectly matches the textbook natural frequency calculation: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ω_n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√(g/L) = √(9.81/10) = 0.99 rad/s.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Varied parameter: Hoist Cable Length (L).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Effect: Shortening the cable to 5m increased the oscillation frequency. Lengthening it to 15m slowed the swing. Hoisting upwards makes the system more highly oscillatory.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small angle assumption (sin(θ) ≈ θ) will fail and underestimate restoring forces if sudden braking causes a swing greater than 15-20 degrees.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" y="457200"/>
            <a:ext cx="11862059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7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Conclusions &amp; Reflections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199" y="1878481"/>
            <a:ext cx="1157369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Pendulum swing in cranes isn't just an isolated pendulum; it is actively driven by bridge acceleration and modified by Coriolis forces during hoisting.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 (Beyond the Textbook):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Textbooks teach static natural frequencies. This project taught us how active length changes (L̇) dynamically shift the system's behavior in real-time.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Challenging CO: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CO4. Coupling the bridge kinetics with the payload kinetics via cable tension required extremely careful sign conventions.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 Self-Assessment: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CO1(Kinematics), CO2(FBD),CO3(Forces),CO4(Laws),CO5(Energy)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References &amp; AI Disclosure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457200" y="1487183"/>
            <a:ext cx="11734800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Textbook References: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Ginsberg, G. H. (2007). Advanced Dynamics, 2nd Edition, Cambridge University Press.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for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solve_ivp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Runge-Kutta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numerical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Tools (Mandatory Disclosure):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Gemini,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Copilot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Codex, Anti-Gravity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Formatting mathematical derivation steps into plain text, and translating final state-space EOMs into Python syntax for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solver and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validation plots.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syntax debugging, Classifying content according to rubrics, Formatting presentation and word documents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used for: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Drawing Free Body Diagrams or finalizing the engineering assumptions.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50013"/>
            <a:ext cx="10820400" cy="2209801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— Questions?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651589" y="3409593"/>
            <a:ext cx="688882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IN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Palash</a:t>
            </a: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Shah, Rohan Shah, </a:t>
            </a:r>
            <a:r>
              <a:rPr lang="en-IN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Krrish</a:t>
            </a: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Jain, </a:t>
            </a:r>
            <a:r>
              <a:rPr lang="en-IN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Manav</a:t>
            </a: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Alimchandani</a:t>
            </a:r>
            <a:endParaRPr lang="en-IN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Dynamic System </a:t>
            </a:r>
            <a:r>
              <a:rPr lang="en-IN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(702MH0C023)</a:t>
            </a:r>
          </a:p>
          <a:p>
            <a:pPr>
              <a:defRPr sz="1800"/>
            </a:pPr>
            <a:r>
              <a:rPr lang="en-IN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Mechatronics, </a:t>
            </a:r>
            <a:r>
              <a:rPr lang="en-IN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IV | NMIMS MPSTME Mumbai</a:t>
            </a:r>
          </a:p>
          <a:p>
            <a:pPr>
              <a:defRPr sz="1800"/>
            </a:pP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Category: D | Complexity: Medium </a:t>
            </a:r>
          </a:p>
          <a:p>
            <a:pPr>
              <a:defRPr sz="1800"/>
            </a:pP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 Exercised: CO1, CO2, CO3, CO4, CO5 | Date: 19/04/2026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2c87ab58b8ec2353d2b26750d179ec7e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69fb4eb5051183c283dc3b3a79120d25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70CD32-C2AC-43A4-8663-26E188E5FFEE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8ba116ed-0b03-4fad-970c-3f26ccc5a62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D863AE6-78CD-48CD-92F5-8D2D2C465E93}"/>
</file>

<file path=customXml/itemProps3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1247</Words>
  <Application>Microsoft Office PowerPoint</Application>
  <PresentationFormat>Widescreen</PresentationFormat>
  <Paragraphs>136</Paragraphs>
  <Slides>12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Automated EOT Crane System</vt:lpstr>
      <vt:lpstr>PowerPoint Presentation</vt:lpstr>
      <vt:lpstr>2. Problem Formulation &amp; Assumptions</vt:lpstr>
      <vt:lpstr>PowerPoint Presentation</vt:lpstr>
      <vt:lpstr>4. Mathematical Derivation (Part 1)</vt:lpstr>
      <vt:lpstr>5. Final Equations &amp; State-Space</vt:lpstr>
      <vt:lpstr>PowerPoint Presentation</vt:lpstr>
      <vt:lpstr>8. Validation &amp; Analysis</vt:lpstr>
      <vt:lpstr>PowerPoint Presentation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EOT Crane System</dc:title>
  <dc:subject/>
  <dc:creator>Admin</dc:creator>
  <cp:keywords/>
  <dc:description>generated using python-pptx</dc:description>
  <cp:lastModifiedBy>Admin</cp:lastModifiedBy>
  <cp:revision>13</cp:revision>
  <dcterms:created xsi:type="dcterms:W3CDTF">2013-01-27T09:14:16Z</dcterms:created>
  <dcterms:modified xsi:type="dcterms:W3CDTF">2026-04-22T19:50:30Z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