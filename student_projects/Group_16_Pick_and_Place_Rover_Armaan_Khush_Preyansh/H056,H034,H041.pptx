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6"/>
  </p:notesMasterIdLst>
  <p:sldIdLst>
    <p:sldId id="256" r:id="rId5"/>
    <p:sldId id="257" r:id="rId6"/>
    <p:sldId id="268" r:id="rId7"/>
    <p:sldId id="269" r:id="rId8"/>
    <p:sldId id="258" r:id="rId9"/>
    <p:sldId id="270" r:id="rId10"/>
    <p:sldId id="259" r:id="rId11"/>
    <p:sldId id="289" r:id="rId12"/>
    <p:sldId id="260" r:id="rId13"/>
    <p:sldId id="271" r:id="rId14"/>
    <p:sldId id="273" r:id="rId15"/>
    <p:sldId id="272" r:id="rId16"/>
    <p:sldId id="261" r:id="rId17"/>
    <p:sldId id="274" r:id="rId18"/>
    <p:sldId id="275" r:id="rId19"/>
    <p:sldId id="262" r:id="rId20"/>
    <p:sldId id="276" r:id="rId21"/>
    <p:sldId id="277" r:id="rId22"/>
    <p:sldId id="279" r:id="rId23"/>
    <p:sldId id="280" r:id="rId24"/>
    <p:sldId id="281" r:id="rId25"/>
    <p:sldId id="282" r:id="rId26"/>
    <p:sldId id="283" r:id="rId27"/>
    <p:sldId id="288" r:id="rId28"/>
    <p:sldId id="285" r:id="rId29"/>
    <p:sldId id="286" r:id="rId30"/>
    <p:sldId id="287" r:id="rId31"/>
    <p:sldId id="284" r:id="rId32"/>
    <p:sldId id="265" r:id="rId33"/>
    <p:sldId id="266" r:id="rId34"/>
    <p:sldId id="267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E7633D-518C-4C4E-9892-6B7DAAB1B7C3}" v="395" dt="2026-04-19T18:32:07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an Kotadiya" userId="b0e0637b268c654f" providerId="LiveId" clId="{7261E39A-96BE-4485-B31B-C6B188B3D8B0}"/>
    <pc:docChg chg="undo custSel addSld delSld modSld sldOrd">
      <pc:chgData name="Armaan Kotadiya" userId="b0e0637b268c654f" providerId="LiveId" clId="{7261E39A-96BE-4485-B31B-C6B188B3D8B0}" dt="2026-04-19T18:39:14.785" v="551" actId="14100"/>
      <pc:docMkLst>
        <pc:docMk/>
      </pc:docMkLst>
      <pc:sldChg chg="modSp del mod">
        <pc:chgData name="Armaan Kotadiya" userId="b0e0637b268c654f" providerId="LiveId" clId="{7261E39A-96BE-4485-B31B-C6B188B3D8B0}" dt="2026-04-19T18:09:19.626" v="12" actId="2696"/>
        <pc:sldMkLst>
          <pc:docMk/>
          <pc:sldMk cId="0" sldId="264"/>
        </pc:sldMkLst>
        <pc:spChg chg="mod">
          <ac:chgData name="Armaan Kotadiya" userId="b0e0637b268c654f" providerId="LiveId" clId="{7261E39A-96BE-4485-B31B-C6B188B3D8B0}" dt="2026-04-19T18:08:55.447" v="9" actId="20577"/>
          <ac:spMkLst>
            <pc:docMk/>
            <pc:sldMk cId="0" sldId="264"/>
            <ac:spMk id="2" creationId="{00000000-0000-0000-0000-000000000000}"/>
          </ac:spMkLst>
        </pc:spChg>
      </pc:sldChg>
      <pc:sldChg chg="addSp delSp modSp mod">
        <pc:chgData name="Armaan Kotadiya" userId="b0e0637b268c654f" providerId="LiveId" clId="{7261E39A-96BE-4485-B31B-C6B188B3D8B0}" dt="2026-04-19T18:36:04.758" v="545" actId="20577"/>
        <pc:sldMkLst>
          <pc:docMk/>
          <pc:sldMk cId="0" sldId="266"/>
        </pc:sldMkLst>
        <pc:spChg chg="mod">
          <ac:chgData name="Armaan Kotadiya" userId="b0e0637b268c654f" providerId="LiveId" clId="{7261E39A-96BE-4485-B31B-C6B188B3D8B0}" dt="2026-04-19T18:30:19.310" v="497" actId="1076"/>
          <ac:spMkLst>
            <pc:docMk/>
            <pc:sldMk cId="0" sldId="266"/>
            <ac:spMk id="2" creationId="{00000000-0000-0000-0000-000000000000}"/>
          </ac:spMkLst>
        </pc:spChg>
        <pc:spChg chg="del mod">
          <ac:chgData name="Armaan Kotadiya" userId="b0e0637b268c654f" providerId="LiveId" clId="{7261E39A-96BE-4485-B31B-C6B188B3D8B0}" dt="2026-04-19T18:19:03.197" v="486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Armaan Kotadiya" userId="b0e0637b268c654f" providerId="LiveId" clId="{7261E39A-96BE-4485-B31B-C6B188B3D8B0}" dt="2026-04-19T18:36:04.758" v="545" actId="20577"/>
          <ac:spMkLst>
            <pc:docMk/>
            <pc:sldMk cId="0" sldId="266"/>
            <ac:spMk id="5" creationId="{DF9AFD4A-8B85-E861-C211-B8014F2F7CC3}"/>
          </ac:spMkLst>
        </pc:spChg>
      </pc:sldChg>
      <pc:sldChg chg="modSp mod">
        <pc:chgData name="Armaan Kotadiya" userId="b0e0637b268c654f" providerId="LiveId" clId="{7261E39A-96BE-4485-B31B-C6B188B3D8B0}" dt="2026-04-19T18:08:31.884" v="4" actId="20577"/>
        <pc:sldMkLst>
          <pc:docMk/>
          <pc:sldMk cId="1801220340" sldId="275"/>
        </pc:sldMkLst>
        <pc:spChg chg="mod">
          <ac:chgData name="Armaan Kotadiya" userId="b0e0637b268c654f" providerId="LiveId" clId="{7261E39A-96BE-4485-B31B-C6B188B3D8B0}" dt="2026-04-19T18:08:31.884" v="4" actId="20577"/>
          <ac:spMkLst>
            <pc:docMk/>
            <pc:sldMk cId="1801220340" sldId="275"/>
            <ac:spMk id="3" creationId="{496116F9-F7A7-8CF6-9701-AEBC47D63644}"/>
          </ac:spMkLst>
        </pc:spChg>
      </pc:sldChg>
      <pc:sldChg chg="modSp add mod ord">
        <pc:chgData name="Armaan Kotadiya" userId="b0e0637b268c654f" providerId="LiveId" clId="{7261E39A-96BE-4485-B31B-C6B188B3D8B0}" dt="2026-04-19T18:09:06.235" v="11"/>
        <pc:sldMkLst>
          <pc:docMk/>
          <pc:sldMk cId="0" sldId="285"/>
        </pc:sldMkLst>
        <pc:spChg chg="mod">
          <ac:chgData name="Armaan Kotadiya" userId="b0e0637b268c654f" providerId="LiveId" clId="{7261E39A-96BE-4485-B31B-C6B188B3D8B0}" dt="2026-04-19T18:09:06.235" v="11"/>
          <ac:spMkLst>
            <pc:docMk/>
            <pc:sldMk cId="0" sldId="285"/>
            <ac:spMk id="2" creationId="{00000000-0000-0000-0000-000000000000}"/>
          </ac:spMkLst>
        </pc:spChg>
      </pc:sldChg>
      <pc:sldChg chg="addSp delSp modSp add mod">
        <pc:chgData name="Armaan Kotadiya" userId="b0e0637b268c654f" providerId="LiveId" clId="{7261E39A-96BE-4485-B31B-C6B188B3D8B0}" dt="2026-04-19T18:10:24.159" v="18" actId="22"/>
        <pc:sldMkLst>
          <pc:docMk/>
          <pc:sldMk cId="1098105512" sldId="286"/>
        </pc:sldMkLst>
        <pc:spChg chg="mod">
          <ac:chgData name="Armaan Kotadiya" userId="b0e0637b268c654f" providerId="LiveId" clId="{7261E39A-96BE-4485-B31B-C6B188B3D8B0}" dt="2026-04-19T18:09:44.956" v="15"/>
          <ac:spMkLst>
            <pc:docMk/>
            <pc:sldMk cId="1098105512" sldId="286"/>
            <ac:spMk id="2" creationId="{26E9C05C-CFBC-11DB-D231-DAF9B5BBB435}"/>
          </ac:spMkLst>
        </pc:spChg>
        <pc:spChg chg="mod">
          <ac:chgData name="Armaan Kotadiya" userId="b0e0637b268c654f" providerId="LiveId" clId="{7261E39A-96BE-4485-B31B-C6B188B3D8B0}" dt="2026-04-19T18:10:11.642" v="16" actId="14100"/>
          <ac:spMkLst>
            <pc:docMk/>
            <pc:sldMk cId="1098105512" sldId="286"/>
            <ac:spMk id="3" creationId="{34DFC81D-C565-53E7-2F3F-7539FFBE8F8D}"/>
          </ac:spMkLst>
        </pc:spChg>
        <pc:spChg chg="add del">
          <ac:chgData name="Armaan Kotadiya" userId="b0e0637b268c654f" providerId="LiveId" clId="{7261E39A-96BE-4485-B31B-C6B188B3D8B0}" dt="2026-04-19T18:10:24.159" v="18" actId="22"/>
          <ac:spMkLst>
            <pc:docMk/>
            <pc:sldMk cId="1098105512" sldId="286"/>
            <ac:spMk id="5" creationId="{45DC1B35-856D-0C9C-4254-80BF72F07707}"/>
          </ac:spMkLst>
        </pc:spChg>
      </pc:sldChg>
      <pc:sldChg chg="modSp add mod">
        <pc:chgData name="Armaan Kotadiya" userId="b0e0637b268c654f" providerId="LiveId" clId="{7261E39A-96BE-4485-B31B-C6B188B3D8B0}" dt="2026-04-19T18:18:42.669" v="484" actId="27636"/>
        <pc:sldMkLst>
          <pc:docMk/>
          <pc:sldMk cId="1877829936" sldId="287"/>
        </pc:sldMkLst>
        <pc:spChg chg="mod">
          <ac:chgData name="Armaan Kotadiya" userId="b0e0637b268c654f" providerId="LiveId" clId="{7261E39A-96BE-4485-B31B-C6B188B3D8B0}" dt="2026-04-19T18:18:42.669" v="484" actId="27636"/>
          <ac:spMkLst>
            <pc:docMk/>
            <pc:sldMk cId="1877829936" sldId="287"/>
            <ac:spMk id="3" creationId="{F92E7228-2F12-F22F-0B31-4B4C05D81DB6}"/>
          </ac:spMkLst>
        </pc:spChg>
      </pc:sldChg>
      <pc:sldChg chg="addSp modSp new mod">
        <pc:chgData name="Armaan Kotadiya" userId="b0e0637b268c654f" providerId="LiveId" clId="{7261E39A-96BE-4485-B31B-C6B188B3D8B0}" dt="2026-04-19T18:28:35.923" v="495" actId="14100"/>
        <pc:sldMkLst>
          <pc:docMk/>
          <pc:sldMk cId="1437668397" sldId="288"/>
        </pc:sldMkLst>
        <pc:picChg chg="add mod">
          <ac:chgData name="Armaan Kotadiya" userId="b0e0637b268c654f" providerId="LiveId" clId="{7261E39A-96BE-4485-B31B-C6B188B3D8B0}" dt="2026-04-19T18:28:35.923" v="495" actId="14100"/>
          <ac:picMkLst>
            <pc:docMk/>
            <pc:sldMk cId="1437668397" sldId="288"/>
            <ac:picMk id="4" creationId="{4F86F3A8-7E7D-C82A-E977-358157923F85}"/>
          </ac:picMkLst>
        </pc:picChg>
      </pc:sldChg>
      <pc:sldChg chg="addSp delSp modSp add mod">
        <pc:chgData name="Armaan Kotadiya" userId="b0e0637b268c654f" providerId="LiveId" clId="{7261E39A-96BE-4485-B31B-C6B188B3D8B0}" dt="2026-04-19T18:39:14.785" v="551" actId="14100"/>
        <pc:sldMkLst>
          <pc:docMk/>
          <pc:sldMk cId="4038914651" sldId="289"/>
        </pc:sldMkLst>
        <pc:picChg chg="add mod">
          <ac:chgData name="Armaan Kotadiya" userId="b0e0637b268c654f" providerId="LiveId" clId="{7261E39A-96BE-4485-B31B-C6B188B3D8B0}" dt="2026-04-19T18:39:14.785" v="551" actId="14100"/>
          <ac:picMkLst>
            <pc:docMk/>
            <pc:sldMk cId="4038914651" sldId="289"/>
            <ac:picMk id="4" creationId="{7CE6DC9D-A1B0-7A84-7D72-C6D8890530BC}"/>
          </ac:picMkLst>
        </pc:picChg>
        <pc:picChg chg="del">
          <ac:chgData name="Armaan Kotadiya" userId="b0e0637b268c654f" providerId="LiveId" clId="{7261E39A-96BE-4485-B31B-C6B188B3D8B0}" dt="2026-04-19T18:39:06.090" v="547" actId="478"/>
          <ac:picMkLst>
            <pc:docMk/>
            <pc:sldMk cId="4038914651" sldId="289"/>
            <ac:picMk id="6" creationId="{0F524F55-5AB6-8B09-75B0-2AE70A43730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84D97-371D-4725-97C7-2014EA522E3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6582F2-59EC-4B60-8FD0-D7EE2D541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47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0:00-1:00 (1 min)</a:t>
            </a:r>
          </a:p>
          <a:p>
            <a:r>
              <a:t>FOCUS: Introduce your system and its real-world engineering relevance.</a:t>
            </a:r>
          </a:p>
          <a:p>
            <a:r>
              <a:t>TIP: Start with a compelling application, not a textbook definition.</a:t>
            </a:r>
          </a:p>
          <a:p>
            <a:r>
              <a:t>SHOW: An image or short video of the actual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71A7-1B1D-72EB-EF18-3F3E68A96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A4E04-90C9-2F18-4618-B9FFCF1567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DCC617-D015-4F5E-2CE9-02F63BA88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0:00-1:00 (1 min)</a:t>
            </a:r>
          </a:p>
          <a:p>
            <a:r>
              <a:t>FOCUS: Introduce your system and its real-world engineering relevance.</a:t>
            </a:r>
          </a:p>
          <a:p>
            <a:r>
              <a:t>TIP: Start with a compelling application, not a textbook definition.</a:t>
            </a:r>
          </a:p>
          <a:p>
            <a:r>
              <a:t>SHOW: An image or short video of the actual system.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CAB53-6242-C4E6-18F6-676309059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218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E5FB6-4C48-1B1F-805C-9A78E0E64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519FE-A122-2F61-C4D8-0589AEE4FB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C6FC3-498D-9949-035D-8978A6AAD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1:00-2:30 (1.5 min)</a:t>
            </a:r>
          </a:p>
          <a:p>
            <a:r>
              <a:t>FOCUS: Clearly define I/O, states, parameters, DOF, and justify every assumption.</a:t>
            </a:r>
          </a:p>
          <a:p>
            <a:r>
              <a:t>TIP: Explain WHY each assumption is physically valid.</a:t>
            </a:r>
          </a:p>
          <a:p>
            <a:r>
              <a:t>BE PREPARED: You may be asked 'Why this assumption? What if it changes?'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41189-2549-9807-A9F0-640565DF9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706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1:00-2:30 (1.5 min)</a:t>
            </a:r>
          </a:p>
          <a:p>
            <a:r>
              <a:t>FOCUS: Clearly define I/O, states, parameters, DOF, and justify every assumption.</a:t>
            </a:r>
          </a:p>
          <a:p>
            <a:r>
              <a:t>TIP: Explain WHY each assumption is physically valid.</a:t>
            </a:r>
          </a:p>
          <a:p>
            <a:r>
              <a:t>BE PREPARED: You may be asked 'Why this assumption? What if it changes?'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60410-BA4A-DDE9-A503-9E0CEDA1D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016CF-114B-1D77-2F8E-3D2D8DE930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6AB6F-8D70-59CA-21C6-02F65C7F93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1:00-2:30 (1.5 min)</a:t>
            </a:r>
          </a:p>
          <a:p>
            <a:r>
              <a:t>FOCUS: Clearly define I/O, states, parameters, DOF, and justify every assumption.</a:t>
            </a:r>
          </a:p>
          <a:p>
            <a:r>
              <a:t>TIP: Explain WHY each assumption is physically valid.</a:t>
            </a:r>
          </a:p>
          <a:p>
            <a:r>
              <a:t>BE PREPARED: You may be asked 'Why this assumption? What if it changes?'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E781F-B174-C53A-AB9B-7A6EA8DB0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474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2:30-3:45 (1.25 min)</a:t>
            </a:r>
          </a:p>
          <a:p>
            <a:r>
              <a:t>FOCUS: Walk through EVERY step of the derivation. This is the most important section.</a:t>
            </a:r>
          </a:p>
          <a:p>
            <a:r>
              <a:t>TIP: Show the algebra — don't skip to the final equation.</a:t>
            </a:r>
          </a:p>
          <a:p>
            <a:r>
              <a:t>BE PREPARED: You may be asked to explain any step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3615E-752D-FAFA-AB96-10C2783D2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2C09D-BAEF-F4FB-6098-AE3F217D83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9A1AB-2D41-43C9-A238-C58E86C16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2:30-3:45 (1.25 min)</a:t>
            </a:r>
          </a:p>
          <a:p>
            <a:r>
              <a:t>FOCUS: Walk through EVERY step of the derivation. This is the most important section.</a:t>
            </a:r>
          </a:p>
          <a:p>
            <a:r>
              <a:t>TIP: Show the algebra — don't skip to the final equation.</a:t>
            </a:r>
          </a:p>
          <a:p>
            <a:r>
              <a:t>BE PREPARED: You may be asked to explain any step in detail.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5E6E2-F4DB-FB4E-C8C2-7645F17716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873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DEC49-9645-A6FA-600B-5AEC5B68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ACED9-C56A-49D6-F548-258A9C00A1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7FA67-6561-B016-8C4F-DF0BFBA452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2:30-3:45 (1.25 min)</a:t>
            </a:r>
          </a:p>
          <a:p>
            <a:r>
              <a:t>FOCUS: Walk through EVERY step of the derivation. This is the most important section.</a:t>
            </a:r>
          </a:p>
          <a:p>
            <a:r>
              <a:t>TIP: Show the algebra — don't skip to the final equation.</a:t>
            </a:r>
          </a:p>
          <a:p>
            <a:r>
              <a:t>BE PREPARED: You may be asked to explain any step in detail.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C493C-3329-920A-13A1-465783306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320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6F90B-63C9-9798-40F0-8638659EB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26B38-DC39-4976-BAFD-B65A81A733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08B9F-84D0-9E67-093C-DEC74DD5F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2:30-3:45 (1.25 min)</a:t>
            </a:r>
          </a:p>
          <a:p>
            <a:r>
              <a:t>FOCUS: Walk through EVERY step of the derivation. This is the most important section.</a:t>
            </a:r>
          </a:p>
          <a:p>
            <a:r>
              <a:t>TIP: Show the algebra — don't skip to the final equation.</a:t>
            </a:r>
          </a:p>
          <a:p>
            <a:r>
              <a:t>BE PREPARED: You may be asked to explain any step in detail.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A492C-0BC6-5D2C-3C4B-3E8A6E8AD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411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EC9FB-215A-A9FD-04A6-82E0D957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038E4-63F7-3BC2-10D3-B8F84603E2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C73AF-D5BD-A395-E40A-8C93F9C9B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69C0C-E12E-1259-443F-EE5143398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446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92BE2-41D9-40C1-6B80-6CAAB422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47F64-0C4E-AF68-4EC6-D623A55E8F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694E37-1588-B473-7DBC-F9BE9E128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44D03-58D2-66EB-5EDC-A97266178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84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5:00-7:00 (2 min)</a:t>
            </a:r>
          </a:p>
          <a:p>
            <a:r>
              <a:t>FOCUS: Show your simulation setup, key code snippet, and output plots.</a:t>
            </a:r>
          </a:p>
          <a:p>
            <a:r>
              <a:t>INCLUDE: Energy vs time plot — this validates your model physically.</a:t>
            </a:r>
          </a:p>
          <a:p>
            <a:r>
              <a:t>BE PREPARED: You may be asked 'Why does the oscillation decay?' or 'How does energy change?'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6CAB9-5ECA-929B-9F88-9FA18F7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D98CA-D075-66E5-AFC6-214AA465E4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B4E57-CB6E-648C-74A7-CB5B1F751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5:00-7:00 (2 min)</a:t>
            </a:r>
          </a:p>
          <a:p>
            <a:r>
              <a:t>FOCUS: Show your simulation setup, key code snippet, and output plots.</a:t>
            </a:r>
          </a:p>
          <a:p>
            <a:r>
              <a:t>INCLUDE: Energy vs time plot — this validates your model physically.</a:t>
            </a:r>
          </a:p>
          <a:p>
            <a:r>
              <a:t>BE PREPARED: You may be asked 'Why does the oscillation decay?' or 'How does energy change?'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1116E-6E57-DD1F-EAC6-8F1E7CB83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0946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5B0E5-5536-1D9B-2F5C-57F1C1D3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73032-D978-DC61-ABB3-10D9171E2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36070-95B7-AFC0-E2D5-FF4AA3AC9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5:00-7:00 (2 min)</a:t>
            </a:r>
          </a:p>
          <a:p>
            <a:r>
              <a:t>FOCUS: Show your simulation setup, key code snippet, and output plots.</a:t>
            </a:r>
          </a:p>
          <a:p>
            <a:r>
              <a:t>INCLUDE: Energy vs time plot — this validates your model physically.</a:t>
            </a:r>
          </a:p>
          <a:p>
            <a:r>
              <a:t>BE PREPARED: You may be asked 'Why does the oscillation decay?' or 'How does energy change?'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E143B-8353-FBDB-6869-00340C7C5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1599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76FB9-7A01-10C5-9627-F3C90794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BB5C9-20CF-3D21-4A46-DE7A369296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5BDBB-6388-9682-4169-1C4205C92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5:00-7:00 (2 min)</a:t>
            </a:r>
          </a:p>
          <a:p>
            <a:r>
              <a:t>FOCUS: Show your simulation setup, key code snippet, and output plots.</a:t>
            </a:r>
          </a:p>
          <a:p>
            <a:r>
              <a:t>INCLUDE: Energy vs time plot — this validates your model physically.</a:t>
            </a:r>
          </a:p>
          <a:p>
            <a:r>
              <a:t>BE PREPARED: You may be asked 'Why does the oscillation decay?' or 'How does energy change?'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11CEF-4495-7FF1-924B-00D8612EA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8301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B4164-DC0C-B996-AAF2-83B41316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3308B-5976-AD4D-B05E-78307BC97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BFD9C-9FCB-E241-A2E5-132E9451F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5:00-7:00 (2 min)</a:t>
            </a:r>
          </a:p>
          <a:p>
            <a:r>
              <a:t>FOCUS: Show your simulation setup, key code snippet, and output plots.</a:t>
            </a:r>
          </a:p>
          <a:p>
            <a:r>
              <a:t>INCLUDE: Energy vs time plot — this validates your model physically.</a:t>
            </a:r>
          </a:p>
          <a:p>
            <a:r>
              <a:t>BE PREPARED: You may be asked 'Why does the oscillation decay?' or 'How does energy change?'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113AB-76ED-0400-4169-A7B7CA213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382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C6440-7AC0-8254-998B-80B12D1BD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A34B6-CF76-5E96-3B20-B7B95027C0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D3B2F-4F8A-06E8-5ACF-357D2F22F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371AE-110C-252B-DB8D-406083C65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578843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3544D-7C5F-4DC7-7A12-9034EA870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0B11B-2531-F6B8-615F-EFD5241F65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31465-A431-B5FD-FE3D-5B12FBD1F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4A6F0-7572-C72B-BEC1-D33BB4555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941739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53974-E899-7C99-D32C-99F8FA01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D210D-8C16-6C7B-7A6B-7032B1B1F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88C0D-CF08-85CF-CBE6-045FF247C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8:30-10:00 (1.5 min)</a:t>
            </a:r>
          </a:p>
          <a:p>
            <a:r>
              <a:t>FOCUS: Be specific about what you learned and what was hardest.</a:t>
            </a:r>
          </a:p>
          <a:p>
            <a:r>
              <a:t>TIP: 'Getting the sign convention right in the Lagrangian took 3 iterations' is much stronger than 'teamwork was hard.'</a:t>
            </a:r>
          </a:p>
          <a:p>
            <a:r>
              <a:t>INCLUDE: CO self-assessment — which COs did you exercise most?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B892E-B21A-E198-A993-E7D7FFB72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0166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8:30-10:00 (1.5 min)</a:t>
            </a:r>
          </a:p>
          <a:p>
            <a:r>
              <a:t>FOCUS: Be specific about what you learned and what was hardest.</a:t>
            </a:r>
          </a:p>
          <a:p>
            <a:r>
              <a:t>TIP: 'Getting the sign convention right in the Lagrangian took 3 iterations' is much stronger than 'teamwork was hard.'</a:t>
            </a:r>
          </a:p>
          <a:p>
            <a:r>
              <a:t>INCLUDE: CO self-assessment — which COs did you exercise most?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disclosure is MANDATORY but NOT penalized.</a:t>
            </a:r>
          </a:p>
          <a:p>
            <a:r>
              <a:t>Be honest about what tools you used and for what purpose.</a:t>
            </a:r>
          </a:p>
          <a:p>
            <a:r>
              <a:t>Good: 'Used ChatGPT for Python syntax debugging, derivation done by hand.'</a:t>
            </a:r>
          </a:p>
          <a:p>
            <a:r>
              <a:t>Non-disclosure IS penalized if uncovered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955800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lang="en-US" dirty="0"/>
              <a:t>Mathematical simulation of pick and place autonomous bot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4063181"/>
            <a:ext cx="6400800" cy="1752600"/>
          </a:xfrm>
        </p:spPr>
        <p:txBody>
          <a:bodyPr/>
          <a:lstStyle/>
          <a:p>
            <a:pPr>
              <a:defRPr sz="1800"/>
            </a:pPr>
            <a:r>
              <a:rPr dirty="0"/>
              <a:t>Team: </a:t>
            </a:r>
            <a:r>
              <a:rPr lang="en-US" dirty="0"/>
              <a:t>Armaan Kotadiya ,Preyansh Patni ,Khush Mehta</a:t>
            </a:r>
            <a:endParaRPr dirty="0"/>
          </a:p>
          <a:p>
            <a:pPr>
              <a:defRPr sz="1800"/>
            </a:pPr>
            <a:r>
              <a:rPr dirty="0"/>
              <a:t>Course: Dynamic System Modeling (702MH0C023)</a:t>
            </a:r>
          </a:p>
          <a:p>
            <a:pPr>
              <a:defRPr sz="1800"/>
            </a:pPr>
            <a:r>
              <a:rPr dirty="0" err="1"/>
              <a:t>B.Tech</a:t>
            </a:r>
            <a:r>
              <a:rPr dirty="0"/>
              <a:t> Mechatronics, Sem IV | NMIMS MPSTME Mumbai</a:t>
            </a:r>
          </a:p>
          <a:p>
            <a:pPr>
              <a:defRPr sz="1800"/>
            </a:pPr>
            <a:r>
              <a:rPr dirty="0"/>
              <a:t>Category: [E] | Complexity: [High]</a:t>
            </a:r>
          </a:p>
          <a:p>
            <a:pPr>
              <a:defRPr sz="1800"/>
            </a:pPr>
            <a:r>
              <a:rPr dirty="0"/>
              <a:t>COs Exercised: [CO1, CO2, CO3, CO4, CO5] | Date: [</a:t>
            </a:r>
            <a:r>
              <a:rPr lang="en-US" dirty="0"/>
              <a:t>15</a:t>
            </a:r>
            <a:r>
              <a:rPr dirty="0"/>
              <a:t>/</a:t>
            </a:r>
            <a:r>
              <a:rPr lang="en-US" dirty="0"/>
              <a:t>04</a:t>
            </a:r>
            <a:r>
              <a:rPr dirty="0"/>
              <a:t>/</a:t>
            </a:r>
            <a:r>
              <a:rPr lang="en-US" dirty="0"/>
              <a:t>2026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60337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1. System 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895" y="1166018"/>
            <a:ext cx="11636477" cy="5293776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1800" dirty="0"/>
              <a:t>What is the system? (Real-world description)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This is a mobile manipulator — a ground robot that can both navigate an environment and physically interact with objects. Specifically, it combines:</a:t>
            </a:r>
          </a:p>
          <a:p>
            <a:pPr marL="0" indent="0">
              <a:buNone/>
            </a:pPr>
            <a:r>
              <a:rPr lang="en-US" sz="1800" dirty="0"/>
              <a:t>A </a:t>
            </a:r>
            <a:r>
              <a:rPr lang="en-US" sz="1800" dirty="0" err="1"/>
              <a:t>Clearpath</a:t>
            </a:r>
            <a:r>
              <a:rPr lang="en-US" sz="1800" dirty="0"/>
              <a:t> Husky — a 38 kg, four-wheel differential-drive unmanned ground vehicle (UGV)</a:t>
            </a:r>
          </a:p>
          <a:p>
            <a:pPr marL="0" indent="0">
              <a:buNone/>
            </a:pPr>
            <a:r>
              <a:rPr lang="en-US" sz="1800" dirty="0"/>
              <a:t>A KUKA </a:t>
            </a:r>
            <a:r>
              <a:rPr lang="en-US" sz="1800" dirty="0" err="1"/>
              <a:t>iiwa</a:t>
            </a:r>
            <a:r>
              <a:rPr lang="en-US" sz="1800" dirty="0"/>
              <a:t> — a 7-degree-of-freedom robotic arm mounted rigidly on top of the Husky</a:t>
            </a:r>
          </a:p>
          <a:p>
            <a:pPr marL="0" indent="0">
              <a:buNone/>
            </a:pPr>
            <a:endParaRPr sz="1800" dirty="0"/>
          </a:p>
          <a:p>
            <a:pPr>
              <a:spcBef>
                <a:spcPts val="600"/>
              </a:spcBef>
              <a:defRPr sz="1800"/>
            </a:pPr>
            <a:r>
              <a:rPr sz="1800" dirty="0"/>
              <a:t>Why does it matter? (Engineering application)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Mobile manipulators are one of the central problems in modern robotics. Unlike a fixed arm (limited to a small workspace) or a wheeled robot (can move but can't grab things), a mobile manipulator can traverse an environment and physically act on it. This matters enormously in: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Planetary exploration — rovers like NASA's Perseverance must navigate terrain and collect rock samples autonomously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Warehouse logistics — robots that autonomously fetch, carry, and place goods (Amazon, Boston Dynamics Stretch)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Search and rescue — robots deployed into hazardous areas to retrieve objects or operate valves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Field agriculture — harvesting robots that navigate rows and pick produce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Construction and inspection — manipulators on mobile platforms inspecting or repairing structures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The specific challenge demonstrated here — navigate, pick, transport, place — is the canonical "pick-and-place" task and serves as a foundation for nearly all applied mobile manipulation research.</a:t>
            </a:r>
          </a:p>
          <a:p>
            <a:pPr marL="0" indent="0">
              <a:spcBef>
                <a:spcPts val="600"/>
              </a:spcBef>
              <a:buNone/>
              <a:defRPr sz="1800"/>
            </a:pPr>
            <a:endParaRPr lang="en-US" sz="1800" dirty="0"/>
          </a:p>
          <a:p>
            <a:pPr>
              <a:spcBef>
                <a:spcPts val="600"/>
              </a:spcBef>
              <a:defRPr sz="1800"/>
            </a:pP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92F18-421F-2067-0019-3DFCBE80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2372-B765-2895-E1E4-16DABA0ED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60337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1. System 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FE32-495F-7AD3-FA34-5DE038CC0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636477" cy="452596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defRPr sz="1800"/>
            </a:pPr>
            <a:r>
              <a:rPr dirty="0"/>
              <a:t>What question are we answering? (PBL problem statement)</a:t>
            </a:r>
            <a:endParaRPr lang="en-US" dirty="0"/>
          </a:p>
          <a:p>
            <a:pPr marL="0" indent="0">
              <a:buNone/>
            </a:pPr>
            <a:r>
              <a:rPr lang="en-US" sz="1800" dirty="0"/>
              <a:t>Can a robot autonomously navigate an obstacle-filled environment, use its arm to retrieve a target object, and deliver it to a goal — with no human input?</a:t>
            </a:r>
          </a:p>
          <a:p>
            <a:pPr marL="0" indent="0">
              <a:buNone/>
            </a:pPr>
            <a:r>
              <a:rPr lang="en-US" sz="1800" dirty="0"/>
              <a:t>This is the classic autonomous mobile pick-and-place problem, and the code answers it by implementing: ray-based obstacle avoidance, waypoint navigation, stuck recovery, inverse kinematics arm control, and constraint-based grasping.</a:t>
            </a:r>
          </a:p>
          <a:p>
            <a:pPr marL="0" indent="0">
              <a:spcBef>
                <a:spcPts val="600"/>
              </a:spcBef>
              <a:buNone/>
              <a:defRPr sz="1800"/>
            </a:pPr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</a:t>
            </a:r>
            <a:endParaRPr dirty="0"/>
          </a:p>
        </p:txBody>
      </p:sp>
      <p:pic>
        <p:nvPicPr>
          <p:cNvPr id="1026" name="Picture 2" descr="Mobile Manipulation with KUKA LBR IIWA Arm">
            <a:extLst>
              <a:ext uri="{FF2B5EF4-FFF2-40B4-BE49-F238E27FC236}">
                <a16:creationId xmlns:a16="http://schemas.microsoft.com/office/drawing/2014/main" id="{F68A91A7-8B3A-673B-A893-005E5203B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837" y="3429000"/>
            <a:ext cx="5212326" cy="325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350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47F5F-925B-E739-BFB6-BEFD10D5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4D1C-D97B-D29E-A7A6-9E27196A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956" y="107489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2. Problem Formulation &amp;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ADBBD305-EE9C-6952-67F9-AA1C090536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88" y="815213"/>
                <a:ext cx="11867536" cy="61298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Inputs: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Force inputs to wheel motors — target wheel velocities (rad/s) applied as torque commands via wheel force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 panose="020B0604020202020204" pitchFamily="34" charset="-128"/>
                  </a:rPr>
                  <a:t>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 panose="020B0604020202020204" pitchFamily="34" charset="-128"/>
                  </a:rPr>
                  <a:t>= 950 N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and joint position targets sent to the KUKA arm's 7 joints via IK solver.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Outputs: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Position of Husky base: x(t), y(t) in the arena plane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Arm end-effector position: (x, y, z) in 3D space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Sample block position: tracked to confirm pick and place success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State Variables: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x, y — base position 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,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en-US" sz="2400" dirty="0">
                    <a:latin typeface="Arial" panose="020B0604020202020204" pitchFamily="34" charset="0"/>
                  </a:rPr>
                  <a:t>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— base linear velocity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θ (yaw) — base heading angle 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— angular velocity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q₁…q₇ — KUKA joint angles 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…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num>
                      <m:den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— joint angular velocities </a:t>
                </a: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ADBBD305-EE9C-6952-67F9-AA1C090536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988" y="815213"/>
                <a:ext cx="11867536" cy="6129820"/>
              </a:xfrm>
              <a:prstGeom prst="rect">
                <a:avLst/>
              </a:prstGeom>
              <a:blipFill>
                <a:blip r:embed="rId3"/>
                <a:stretch>
                  <a:fillRect l="-770" b="-49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6450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956" y="107489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2. Problem Formulation &amp;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ABD0F842-E317-E4ED-56BD-ADBB3D95A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88" y="1418740"/>
                <a:ext cx="11867536" cy="49227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400" b="1" dirty="0">
                    <a:latin typeface="Arial" panose="020B0604020202020204" pitchFamily="34" charset="0"/>
                  </a:rPr>
                  <a:t>Parameters:</a:t>
                </a:r>
                <a:endParaRPr lang="en-US" altLang="en-US" sz="2400" dirty="0">
                  <a:latin typeface="Arial" panose="020B0604020202020204" pitchFamily="34" charset="0"/>
                </a:endParaRP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2400" dirty="0">
                    <a:latin typeface="Arial" panose="020B0604020202020204" pitchFamily="34" charset="0"/>
                  </a:rPr>
                  <a:t>m = 38 kg (Husky base mass), 1.2 kg per arm link 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2400" dirty="0">
                    <a:latin typeface="Arial" panose="020B0604020202020204" pitchFamily="34" charset="0"/>
                  </a:rPr>
                  <a:t>Wheel force limit = 950 N 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2400" dirty="0">
                    <a:latin typeface="Arial" panose="020B0604020202020204" pitchFamily="34" charset="0"/>
                  </a:rPr>
                  <a:t>Sensor range = 7.0 m (ray scan) 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2400" dirty="0">
                    <a:latin typeface="Arial" panose="020B0604020202020204" pitchFamily="34" charset="0"/>
                  </a:rPr>
                  <a:t>Obstacle avoidance distance = 2.0 m 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2400" dirty="0">
                    <a:latin typeface="Arial" panose="020B0604020202020204" pitchFamily="34" charset="0"/>
                  </a:rPr>
                  <a:t>Base cruise speed = 8.0 rad/s 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2400" dirty="0">
                    <a:latin typeface="Arial" panose="020B0604020202020204" pitchFamily="34" charset="0"/>
                  </a:rPr>
                  <a:t>Arm Force = 160 N, Arm max velocity = 1.2 rad/s 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2400" dirty="0">
                    <a:latin typeface="Arial" panose="020B0604020202020204" pitchFamily="34" charset="0"/>
                  </a:rPr>
                  <a:t>Simulation timestep </a:t>
                </a:r>
                <a:r>
                  <a:rPr lang="en-US" altLang="en-US" sz="2400" dirty="0" err="1">
                    <a:latin typeface="Arial" panose="020B0604020202020204" pitchFamily="34" charset="0"/>
                  </a:rPr>
                  <a:t>Δt</a:t>
                </a:r>
                <a:r>
                  <a:rPr lang="en-US" altLang="en-US" sz="2400" dirty="0">
                    <a:latin typeface="Arial" panose="020B0604020202020204" pitchFamily="34" charset="0"/>
                  </a:rPr>
                  <a:t> =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240</m:t>
                        </m:r>
                      </m:den>
                    </m:f>
                  </m:oMath>
                </a14:m>
                <a:endParaRPr lang="en-US" altLang="en-US" sz="2400" dirty="0">
                  <a:latin typeface="Arial" panose="020B0604020202020204" pitchFamily="34" charset="0"/>
                </a:endParaRP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400" b="1" dirty="0">
                    <a:latin typeface="Arial" panose="020B0604020202020204" pitchFamily="34" charset="0"/>
                  </a:rPr>
                  <a:t>DOF: 10</a:t>
                </a:r>
                <a:r>
                  <a:rPr lang="en-US" altLang="en-US" sz="2400" dirty="0">
                    <a:latin typeface="Arial" panose="020B0604020202020204" pitchFamily="34" charset="0"/>
                  </a:rPr>
                  <a:t> Justified by constraint analysis — 3 DOF for the planar mobile base (x, y, θ), fixed to ground plane (z = const), plus 7 DOF from the KUKA </a:t>
                </a:r>
                <a:r>
                  <a:rPr lang="en-US" altLang="en-US" sz="2400" dirty="0" err="1">
                    <a:latin typeface="Arial" panose="020B0604020202020204" pitchFamily="34" charset="0"/>
                  </a:rPr>
                  <a:t>iiwa</a:t>
                </a:r>
                <a:r>
                  <a:rPr lang="en-US" altLang="en-US" sz="2400" dirty="0">
                    <a:latin typeface="Arial" panose="020B0604020202020204" pitchFamily="34" charset="0"/>
                  </a:rPr>
                  <a:t> arm. The arm base is rigidly fixed to the Husky via a </a:t>
                </a:r>
                <a:r>
                  <a:rPr lang="en-US" altLang="en-US" sz="2400" dirty="0">
                    <a:latin typeface="Arial Unicode MS" panose="020B0604020202020204" pitchFamily="34" charset="-128"/>
                  </a:rPr>
                  <a:t>JOINT_FIXED</a:t>
                </a:r>
                <a:r>
                  <a:rPr lang="en-US" altLang="en-US" sz="2400" dirty="0"/>
                  <a:t> constraint, so no additional DOF are added at the mount point.</a:t>
                </a:r>
                <a:endParaRPr lang="en-US" altLang="en-US" sz="2400" dirty="0"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ABD0F842-E317-E4ED-56BD-ADBB3D95A9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988" y="1418740"/>
                <a:ext cx="11867536" cy="4922758"/>
              </a:xfrm>
              <a:prstGeom prst="rect">
                <a:avLst/>
              </a:prstGeom>
              <a:blipFill>
                <a:blip r:embed="rId3"/>
                <a:stretch>
                  <a:fillRect l="-770" t="-496" r="-10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7EEF9-5451-EAE1-E8F6-EEA17A05B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A9A1-050B-C878-725D-8C8CD6CF7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956" y="107489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2. Problem Formulation &amp; Assumptions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090713C-2C52-E419-B725-0E9C83D62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88" y="1679516"/>
            <a:ext cx="1186753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Assumptions (JUSTIFIED):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Rigid body throughout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both the Husky chassis and KUKA arm links are treated as rigid; deformation is negligible at the low speeds and forces involved (max 950 N wheel force, &lt;2 m/s travel speed).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(2)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Planar base motion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the Husky operates on a flat ground plane; z-position is constant, out-of-plane forces are zeroed by the plane contact constraint. Only x, y, and yaw are controlled.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(3)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Viscous damping on all joints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linearDamping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angularDamping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explicitly set on both the base and arm links, modeling drag proportional to velocity. This stabilizes the simulation and approximates real actuator back-EMF and friction behavior.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(4)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Grasp modeled as a fixed constraint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true contact/friction grasping is replaced by a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JOINT_FIXED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PyBullet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constraint between the end-effector and sample block,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maxForce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= 50 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This assumes a successful grasp once the end-effector reaches within threshold distance.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(5)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Perfect ray sensing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the 17-beam ray scanner returns exact hit distances with no noise, modeling an ideal lidar. Real sensors would introduce measurement uncertainty.</a:t>
            </a:r>
          </a:p>
        </p:txBody>
      </p:sp>
    </p:spTree>
    <p:extLst>
      <p:ext uri="{BB962C8B-B14F-4D97-AF65-F5344CB8AC3E}">
        <p14:creationId xmlns:p14="http://schemas.microsoft.com/office/powerpoint/2010/main" val="3462445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09567" y="155206"/>
            <a:ext cx="65728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3. Free Body Diagram / System Schematic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6809BF-13F3-2A22-513E-7088F874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60" y="1014063"/>
            <a:ext cx="10569677" cy="57652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7A55-593F-B736-E6AD-520DF23B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CF6DEC-73AA-09F3-9EDB-4C4BCBB89C30}"/>
              </a:ext>
            </a:extLst>
          </p:cNvPr>
          <p:cNvSpPr txBox="1"/>
          <p:nvPr/>
        </p:nvSpPr>
        <p:spPr>
          <a:xfrm>
            <a:off x="2809567" y="155206"/>
            <a:ext cx="65728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3. Free Body Diagram / System Schematic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6DC9D-A1B0-7A84-7D72-C6D889053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116"/>
            <a:ext cx="12192000" cy="608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14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4. Mathematical Derivation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Google Sans Text"/>
              </a:rPr>
              <a:t>Method Selection</a:t>
            </a:r>
            <a:endParaRPr lang="en-US" altLang="en-US" sz="2400" b="1" dirty="0">
              <a:latin typeface="Google San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Google Sans Text"/>
              </a:rPr>
              <a:t>Method:</a:t>
            </a:r>
            <a:r>
              <a:rPr lang="en-US" altLang="en-US" sz="2400" dirty="0">
                <a:latin typeface="Google Sans Text"/>
              </a:rPr>
              <a:t> Lagrange Mechanics.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Google Sans Text"/>
              </a:rPr>
              <a:t>Why this method?</a:t>
            </a:r>
            <a:r>
              <a:rPr lang="en-US" altLang="en-US" sz="2400" dirty="0">
                <a:latin typeface="Google Sans Text"/>
              </a:rPr>
              <a:t> The system consists of a mobile base and a 7-DOF arm rigidly coupled. Using the </a:t>
            </a:r>
            <a:r>
              <a:rPr lang="en-US" altLang="en-US" sz="2400" dirty="0" err="1">
                <a:latin typeface="Google Sans Text"/>
              </a:rPr>
              <a:t>Lagrangian</a:t>
            </a:r>
            <a:r>
              <a:rPr lang="en-US" altLang="en-US" sz="2400" dirty="0">
                <a:latin typeface="Google Sans Text"/>
              </a:rPr>
              <a:t> method avoids the need to explicitly calculate the internal constraint forces at the mounting point (z = 0.25) that a Newtonian approach would require.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>
              <a:buNone/>
              <a:defRPr sz="1800"/>
            </a:pP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5B26A-D4E9-3535-27E1-64B9E4495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AD81B-20CE-B627-B76E-569F97104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4. Mathematical Derivation (Part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B8C8D7-D8B2-FE61-3516-10138C5FCC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973394"/>
                <a:ext cx="11734800" cy="5791200"/>
              </a:xfrm>
            </p:spPr>
            <p:txBody>
              <a:bodyPr>
                <a:noAutofit/>
              </a:bodyPr>
              <a:lstStyle/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b="1" dirty="0">
                    <a:latin typeface="Google Sans Text"/>
                  </a:rPr>
                  <a:t>Derivation Steps</a:t>
                </a:r>
                <a:endParaRPr lang="en-US" altLang="en-US" sz="2400" b="1" dirty="0">
                  <a:latin typeface="Google Sans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b="1" dirty="0">
                    <a:latin typeface="Google Sans Text"/>
                  </a:rPr>
                  <a:t>Step 1: Identify Forces and Torques</a:t>
                </a:r>
                <a:endParaRPr lang="en-US" altLang="en-US" sz="2400" b="1" dirty="0">
                  <a:latin typeface="Google Sans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2400" b="1" dirty="0">
                    <a:latin typeface="Google Sans Text"/>
                  </a:rPr>
                  <a:t>Non-conservative Forces (Q):</a:t>
                </a:r>
                <a:r>
                  <a:rPr lang="en-US" altLang="en-US" sz="2400" dirty="0">
                    <a:latin typeface="Google Sans Text"/>
                  </a:rPr>
                  <a:t> These include the motor torques applied to the four Husky wheels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𝑊h𝑒𝑒𝑙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=950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US" sz="2400" dirty="0">
                    <a:latin typeface="Google Sans Text"/>
                  </a:rPr>
                  <a:t>) and the seven KUKA arm joints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𝐴𝑟𝑚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160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US" sz="2400" dirty="0">
                    <a:latin typeface="Google Sans Text"/>
                  </a:rPr>
                  <a:t>)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2400" b="1" dirty="0">
                    <a:latin typeface="Google Sans Text"/>
                  </a:rPr>
                  <a:t>Dissipative Forces:</a:t>
                </a:r>
                <a:r>
                  <a:rPr lang="en-US" altLang="en-US" sz="2400" dirty="0">
                    <a:latin typeface="Google Sans Text"/>
                  </a:rPr>
                  <a:t> Modeled as damping terms (</a:t>
                </a:r>
                <a14:m>
                  <m:oMath xmlns:m="http://schemas.openxmlformats.org/officeDocument/2006/math"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∁</m:t>
                    </m:r>
                  </m:oMath>
                </a14:m>
                <a:r>
                  <a:rPr lang="en-US" altLang="en-US" sz="2400" dirty="0">
                    <a:latin typeface="Google Sans Text"/>
                  </a:rPr>
                  <a:t>) for the base and joints to stabilize motion.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b="1" dirty="0">
                    <a:latin typeface="Google Sans Text"/>
                  </a:rPr>
                  <a:t>Step 2: Kinetic Energy (T)</a:t>
                </a:r>
                <a:endParaRPr lang="en-US" altLang="en-US" sz="2400" b="1" dirty="0">
                  <a:latin typeface="Google Sans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dirty="0">
                    <a:latin typeface="Google Sans Text"/>
                  </a:rPr>
                  <a:t>The total kinetic energy is the sum of the translational and rotational energy of the base (b) and each arm link (</a:t>
                </a:r>
                <a:r>
                  <a:rPr lang="en-US" altLang="en-US" sz="2400" dirty="0" err="1">
                    <a:latin typeface="Google Sans Text"/>
                  </a:rPr>
                  <a:t>i</a:t>
                </a:r>
                <a:r>
                  <a:rPr lang="en-US" altLang="en-US" sz="2400" dirty="0">
                    <a:latin typeface="Google Sans Text"/>
                  </a:rPr>
                  <a:t>):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Sup>
                        <m:sSubSup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Sup>
                        <m:sSubSup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f>
                        <m:f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dirty="0">
                  <a:latin typeface="Google Sans Text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2400" dirty="0">
                    <a:latin typeface="Google Sans Text"/>
                  </a:rPr>
                  <a:t>The simulation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en-US" sz="2400" b="0" i="0" smtClean="0">
                        <a:latin typeface="Cambria Math" panose="02040503050406030204" pitchFamily="18" charset="0"/>
                      </a:rPr>
                      <m:t>=38 </m:t>
                    </m:r>
                    <m:r>
                      <m:rPr>
                        <m:sty m:val="p"/>
                      </m:rPr>
                      <a:rPr lang="en-US" altLang="en-US" sz="2400" b="0" i="0" smtClean="0">
                        <a:latin typeface="Cambria Math" panose="02040503050406030204" pitchFamily="18" charset="0"/>
                      </a:rPr>
                      <m:t>Kg</m:t>
                    </m:r>
                  </m:oMath>
                </a14:m>
                <a:r>
                  <a:rPr lang="en-US" altLang="en-US" sz="2400" dirty="0">
                    <a:latin typeface="Google Sans Tex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=1.2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𝐾𝑔</m:t>
                    </m:r>
                  </m:oMath>
                </a14:m>
                <a:endParaRPr lang="en-US" altLang="en-US" sz="2400" dirty="0">
                  <a:latin typeface="Google Sans Text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>
                    <a:latin typeface="Google Sans Tex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>
                    <a:latin typeface="Google Sans Text"/>
                  </a:rPr>
                  <a:t>are dependent on both the base velocity and the joint velocities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en-US" sz="2400" dirty="0">
                    <a:latin typeface="Google Sans Text"/>
                  </a:rPr>
                  <a:t>due to the rigid coupling.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  <a:p>
                <a:pPr marL="0" indent="0">
                  <a:buNone/>
                  <a:defRPr sz="1800"/>
                </a:pPr>
                <a:endParaRPr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B8C8D7-D8B2-FE61-3516-10138C5FCC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73394"/>
                <a:ext cx="11734800" cy="5791200"/>
              </a:xfrm>
              <a:blipFill>
                <a:blip r:embed="rId3"/>
                <a:stretch>
                  <a:fillRect l="-831" t="-842" r="-9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556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11569-66F9-99AC-8586-E20F6DCF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A012A-24F5-8793-262B-EA70B9275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4. Mathematical Derivation (Part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E3C19-BEEB-4D47-F64C-990E671DA6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973394"/>
                <a:ext cx="11734800" cy="5791200"/>
              </a:xfrm>
            </p:spPr>
            <p:txBody>
              <a:bodyPr>
                <a:noAutofit/>
              </a:bodyPr>
              <a:lstStyle/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b="1" dirty="0">
                    <a:latin typeface="Google Sans Text"/>
                  </a:rPr>
                  <a:t>Step 3: Potential Energy (V)</a:t>
                </a:r>
                <a:endParaRPr lang="en-US" altLang="en-US" sz="2400" b="1" dirty="0">
                  <a:latin typeface="Google Sans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dirty="0">
                    <a:latin typeface="Google Sans Text"/>
                  </a:rPr>
                  <a:t>Potential energy is primarily due to gravity acting on the arm links, as the base moves on a flat plane (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≈0.1</m:t>
                    </m:r>
                  </m:oMath>
                </a14:m>
                <a:r>
                  <a:rPr lang="en-US" altLang="en-US" sz="2400" dirty="0">
                    <a:latin typeface="Google Sans Text"/>
                  </a:rPr>
                  <a:t>):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𝑐𝑖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en-US" sz="2400" dirty="0"/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=9.81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sz="2400" dirty="0">
                  <a:latin typeface="Google Sans Text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𝑐𝑖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>
                    <a:latin typeface="Google Sans Text"/>
                  </a:rPr>
                  <a:t>is the vertical height of the center of mass for each arm link relative to the ground.</a:t>
                </a:r>
                <a:endParaRPr lang="en-US" altLang="en-US" sz="2400" dirty="0">
                  <a:latin typeface="Arial" panose="020B0604020202020204" pitchFamily="34" charset="0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b="1" dirty="0">
                    <a:latin typeface="Google Sans Text"/>
                  </a:rPr>
                  <a:t>Step 4: The </a:t>
                </a:r>
                <a:r>
                  <a:rPr lang="en-US" altLang="en-US" sz="2400" b="1" dirty="0" err="1">
                    <a:latin typeface="Google Sans Text"/>
                  </a:rPr>
                  <a:t>Lagrangian</a:t>
                </a:r>
                <a:r>
                  <a:rPr lang="en-US" altLang="en-US" sz="2400" b="1" dirty="0">
                    <a:latin typeface="Google Sans Text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en-US" sz="2400" b="1" i="1" dirty="0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altLang="en-US" sz="2400" b="1" dirty="0">
                    <a:latin typeface="Google Sans Text"/>
                  </a:rPr>
                  <a:t>)</a:t>
                </a:r>
                <a:endParaRPr lang="en-US" altLang="en-US" sz="2400" b="1" dirty="0">
                  <a:latin typeface="Google Sans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dirty="0">
                    <a:latin typeface="Google Sans Text"/>
                  </a:rPr>
                  <a:t>The </a:t>
                </a:r>
                <a:r>
                  <a:rPr lang="en-US" altLang="en-US" sz="2400" dirty="0" err="1">
                    <a:latin typeface="Google Sans Text"/>
                  </a:rPr>
                  <a:t>Lagrangian</a:t>
                </a:r>
                <a:r>
                  <a:rPr lang="en-US" altLang="en-US" sz="2400" dirty="0">
                    <a:latin typeface="Google Sans Text"/>
                  </a:rPr>
                  <a:t> is defined as the difference between kinetic and potential energy:</a:t>
                </a:r>
                <a:endParaRPr lang="en-US" altLang="en-US" sz="2400" dirty="0"/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en-US" sz="2400" b="0" dirty="0">
                  <a:latin typeface="Arial" panose="020B0604020202020204" pitchFamily="34" charset="0"/>
                </a:endParaRPr>
              </a:p>
              <a:p>
                <a:pPr mar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=[</m:t>
                      </m:r>
                      <m:f>
                        <m:f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Sup>
                        <m:sSubSup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Sup>
                        <m:sSubSup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f>
                        <m:f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]−[</m:t>
                      </m:r>
                      <m:nary>
                        <m:naryPr>
                          <m:chr m:val="∑"/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𝑐𝑖</m:t>
                              </m:r>
                            </m:sub>
                          </m:sSub>
                        </m:e>
                      </m:nary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en-US" sz="2400" dirty="0"/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  <a:p>
                <a:pPr marL="0" indent="0">
                  <a:buNone/>
                  <a:defRPr sz="1800"/>
                </a:pPr>
                <a:endParaRPr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E3C19-BEEB-4D47-F64C-990E671DA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73394"/>
                <a:ext cx="11734800" cy="5791200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0031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B4151-071E-1027-BD55-0146E8F12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A6475-4338-EDE2-2068-78B629A2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4. Mathematical Derivation (Part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53FBF4E7-A4AD-CC2F-452E-D74A1BAB3C78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0" y="1417735"/>
                <a:ext cx="12192000" cy="32776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Step 5: Euler-Lagrange Equations</a:t>
                </a:r>
                <a:endPara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To find the equations of motion for each generalized coordinate q (where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𝑞</m:t>
                    </m:r>
                    <m:r>
                      <a:rPr kumimoji="0" lang="en-US" alt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</m:t>
                    </m:r>
                    <m:r>
                      <a:rPr kumimoji="0" lang="en-US" alt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0" lang="en-US" alt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0" lang="en-US" alt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kumimoji="0" lang="en-US" alt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0" lang="en-US" alt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kumimoji="0" lang="en-US" alt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1…7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)we apply: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en-US" altLang="en-US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en-US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kumimoji="0" lang="en-US" altLang="en-US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kumimoji="0" lang="en-US" altLang="en-US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acc>
                              <m:accPr>
                                <m:chr m:val="̇"/>
                                <m:ctrlPr>
                                  <a:rPr kumimoji="0" lang="en-US" altLang="en-US" sz="2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kumimoji="0" lang="en-US" altLang="en-US" sz="2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en-US" sz="2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kumimoji="0" lang="en-US" altLang="en-US" sz="2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acc>
                          </m:den>
                        </m:f>
                      </m:e>
                    </m:d>
                    <m:r>
                      <a:rPr kumimoji="0" lang="en-US" alt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For the arm joints,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represents the joint torques restricted by ARM_FORCE (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160N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).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For the base,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represents the resultant forces from the four wheels controlled by WHEEL_FORCE (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950N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).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53FBF4E7-A4AD-CC2F-452E-D74A1BAB3C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0" y="1417735"/>
                <a:ext cx="12192000" cy="3277629"/>
              </a:xfrm>
              <a:prstGeom prst="rect">
                <a:avLst/>
              </a:prstGeom>
              <a:blipFill>
                <a:blip r:embed="rId3"/>
                <a:stretch>
                  <a:fillRect l="-800" t="-2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1155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27154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5. Final Equations &amp; State-Space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361E8A4E-4BDE-37D6-D213-7444BB9A086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0" y="1516536"/>
                <a:ext cx="12192000" cy="3416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Final Equations of Motion (EOM)</a:t>
                </a:r>
                <a:endPara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The dynamics of the Husky base and KUKA arm can be summarized by these generalized forms derived from the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Lagrangian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: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EOM 1 (Base Translation):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𝒕𝒐𝒕𝒂𝒍</m:t>
                        </m:r>
                      </m:sub>
                    </m:sSub>
                    <m:acc>
                      <m:accPr>
                        <m:chr m:val="̈"/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kumimoji="0" lang="en-US" alt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acc>
                      <m:accPr>
                        <m:chr m:val="̇"/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kumimoji="0" lang="en-US" alt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𝒘𝒉𝒆𝒆𝒍</m:t>
                        </m:r>
                      </m:sub>
                    </m:sSub>
                    <m:r>
                      <a:rPr kumimoji="0" lang="en-US" alt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kumimoji="0" lang="en-US" alt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Note: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The stiffness term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is effectively zero as there are no restorative springs in the navigation environment.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EOM 2 (Arm Joint Rotation):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acc>
                      <m:accPr>
                        <m:chr m:val="̈"/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0" lang="en-US" altLang="en-US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kumimoji="0" lang="en-US" altLang="en-US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acc>
                    <m:sSub>
                      <m:sSubPr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acc>
                      <m:accPr>
                        <m:chr m:val="̇"/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0" lang="en-US" altLang="en-US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kumimoji="0" lang="en-US" altLang="en-US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acc>
                    <m:r>
                      <a:rPr kumimoji="0" lang="en-US" alt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0" lang="en-US" alt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𝒈𝒍</m:t>
                    </m:r>
                    <m:func>
                      <m:funcPr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alt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kumimoji="0" lang="en-US" altLang="en-US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0" lang="en-US" altLang="en-US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sSub>
                      <m:sSubPr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0" lang="en-US" alt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kumimoji="0" lang="en-US" alt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400" dirty="0"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This represents the pendulum-like dynamics of each arm link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under gravity.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361E8A4E-4BDE-37D6-D213-7444BB9A08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0" y="1516536"/>
                <a:ext cx="12192000" cy="3416000"/>
              </a:xfrm>
              <a:prstGeom prst="rect">
                <a:avLst/>
              </a:prstGeom>
              <a:blipFill>
                <a:blip r:embed="rId3"/>
                <a:stretch>
                  <a:fillRect l="-800" t="-1964" r="-9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0D557-EBC6-4524-653F-0D1EBE35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F667-7B54-C112-496C-423B92330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27154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5. Final Equations &amp; State-Space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B84FA229-4A27-A48C-6F7B-C6EC9344B84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1" y="1552263"/>
                <a:ext cx="11956026" cy="48474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State-Space Form</a:t>
                </a:r>
                <a:endPara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To represent the system for control analysis (where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US" alt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  <m:acc>
                          <m:accPr>
                            <m:chr m:val="̇"/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), we linearize the joint dynamics around an operating point:</a:t>
                </a:r>
                <a:endParaRPr lang="en-US" altLang="en-US" sz="2400" dirty="0"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kumimoji="0" lang="en-US" altLang="en-US" sz="2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US" altLang="en-US" sz="2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𝐵𝑢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  ;   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𝐶𝑥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𝐷𝑢</m:t>
                      </m:r>
                    </m:oMath>
                  </m:oMathPara>
                </a14:m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Matrix A (System Matrix):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Includes the mass, inertia, and damping coefficients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= 0.06</a:t>
                </a:r>
                <a:r>
                  <a:rPr kumimoji="0" lang="en-US" altLang="en-US" sz="24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for base,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= 0.15 for arm joints).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Matrix B (Input Matrix):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Maps the wheel force (up to 950N) and joint torques (160N) to the state derivatives.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Matrix C (Output Matrix):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Typically an identity matrix if all positions and velocities are measured via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PyBullet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sensors.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Matrix D (Feedforward):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Usually a zero matrix in this mechanical setup.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B84FA229-4A27-A48C-6F7B-C6EC9344B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" y="1552263"/>
                <a:ext cx="11956026" cy="4847481"/>
              </a:xfrm>
              <a:prstGeom prst="rect">
                <a:avLst/>
              </a:prstGeom>
              <a:blipFill>
                <a:blip r:embed="rId3"/>
                <a:stretch>
                  <a:fillRect l="-816" t="-150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5111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487BF-BCAB-CA0D-E739-015164A2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71C97-0F6B-5E67-61CC-9DE739C5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27154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5. Final Equations &amp; State-Space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496116F9-F7A7-8CF6-9701-AEBC47D6364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98323" y="1238715"/>
                <a:ext cx="11975690" cy="59725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b="1" dirty="0">
                    <a:latin typeface="Google Sans Text"/>
                  </a:rPr>
                  <a:t>Physical Meaning of Terms</a:t>
                </a:r>
                <a:endParaRPr lang="en-US" altLang="en-US" sz="2400" b="1" dirty="0">
                  <a:latin typeface="Google Sans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altLang="en-US" sz="2400" b="1" i="1" smtClean="0">
                        <a:latin typeface="Cambria Math" panose="02040503050406030204" pitchFamily="18" charset="0"/>
                      </a:rPr>
                      <m:t>𝒄</m:t>
                    </m:r>
                    <m:acc>
                      <m:accPr>
                        <m:chr m:val="̇"/>
                        <m:ctrlPr>
                          <a:rPr lang="en-US" alt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en-US" sz="2400" b="1" dirty="0">
                    <a:latin typeface="Google Sans Text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400" b="1" i="1" smtClean="0">
                        <a:latin typeface="Cambria Math" panose="02040503050406030204" pitchFamily="18" charset="0"/>
                      </a:rPr>
                      <m:t>𝒄</m:t>
                    </m:r>
                    <m:acc>
                      <m:accPr>
                        <m:chr m:val="̇"/>
                        <m:ctrlPr>
                          <a:rPr lang="en-US" alt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en-US" altLang="en-US" sz="2400" b="1" dirty="0">
                    <a:latin typeface="Google Sans Text"/>
                  </a:rPr>
                  <a:t>:</a:t>
                </a:r>
                <a:r>
                  <a:rPr lang="en-US" altLang="en-US" sz="2400" dirty="0">
                    <a:latin typeface="Google Sans Text"/>
                  </a:rPr>
                  <a:t> Viscous damping forces and torques that oppose velocity, preventing the system from oscillating indefinitely.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altLang="en-US" sz="2400" b="1" i="1" smtClean="0">
                        <a:latin typeface="Cambria Math" panose="02040503050406030204" pitchFamily="18" charset="0"/>
                      </a:rPr>
                      <m:t>𝒎𝒈𝒍</m:t>
                    </m:r>
                    <m:func>
                      <m:funcPr>
                        <m:ctrlPr>
                          <a:rPr lang="en-US" altLang="en-US" sz="24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en-US" sz="2400" b="1" i="0" smtClean="0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r>
                  <a:rPr lang="en-US" altLang="en-US" sz="2400" b="1" dirty="0">
                    <a:latin typeface="Google Sans Text"/>
                  </a:rPr>
                  <a:t>:</a:t>
                </a:r>
                <a:r>
                  <a:rPr lang="en-US" altLang="en-US" sz="2400" dirty="0">
                    <a:latin typeface="Google Sans Text"/>
                  </a:rPr>
                  <a:t> The gravity restoring torque acting on the arm links, which the motor must overcome to maintain a position.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alt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en-US" alt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US" alt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400" b="1" dirty="0">
                    <a:latin typeface="Google Sans Text"/>
                  </a:rPr>
                  <a:t>:</a:t>
                </a:r>
                <a:r>
                  <a:rPr lang="en-US" altLang="en-US" sz="2400" dirty="0">
                    <a:latin typeface="Google Sans Text"/>
                  </a:rPr>
                  <a:t> The control input representing the motor efforts commanded by the Python script.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Energy Expression</a:t>
                </a:r>
                <a:endPara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The total energy of the system at any time (t</a:t>
                </a:r>
                <a:r>
                  <a:rPr lang="en-US" altLang="en-US" sz="2400" dirty="0">
                    <a:latin typeface="Google Sans Text"/>
                  </a:rPr>
                  <a:t>)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is the sum of its kinetic and potential components: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(Kinetic):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Energy of the 38kg base and moving arm links.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(Potential):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Gravitational energy of the arm links based on their height</a:t>
                </a:r>
                <a:r>
                  <a:rPr kumimoji="0" lang="en-US" altLang="en-US" sz="24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z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.</a:t>
                </a:r>
              </a:p>
              <a:p>
                <a:pPr mar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The total mechanical energy, which changes as the motors do work on the system and damping dissipates it.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496116F9-F7A7-8CF6-9701-AEBC47D636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98323" y="1238715"/>
                <a:ext cx="11975690" cy="5972597"/>
              </a:xfrm>
              <a:prstGeom prst="rect">
                <a:avLst/>
              </a:prstGeom>
              <a:blipFill>
                <a:blip r:embed="rId3"/>
                <a:stretch>
                  <a:fillRect l="-763" t="-11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220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5980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6. Simulation &amp; Energy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E3DE334-F019-9802-9A4E-0A2819D8B1A7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0" y="1867665"/>
                <a:ext cx="12192000" cy="4108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Simulation Environment</a:t>
                </a:r>
                <a:endPara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Tools: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Python 3.x,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PyBullet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(Physics Engine), NumPy (Array operations), and Matplotlib (Plotting).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ODE Solver: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PyBullet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uses a discrete-time constraint-based solver (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numSolverIterations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=200) which approximates the behavior of continuous ODE solvers like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scipy.integrate.solve_ivp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Parameters: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Time Step (</a:t>
                </a:r>
                <a14:m>
                  <m:oMath xmlns:m="http://schemas.openxmlformats.org/officeDocument/2006/math">
                    <m:r>
                      <a:rPr kumimoji="0" lang="en-US" altLang="en-US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𝒅𝒕</m:t>
                    </m:r>
                  </m:oMath>
                </a14:m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$1.0 / 240.0$ seconds (Standard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PyBullet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frequency).</a:t>
                </a: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Total Time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𝒕𝒐𝒕𝒂𝒍</m:t>
                        </m:r>
                      </m:sub>
                    </m:sSub>
                  </m:oMath>
                </a14:m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Timeout set to 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200 seconds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.</a:t>
                </a: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Initial Conditions (ICs):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Start position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(−6.0, −6.0, 0.1) </m:t>
                    </m:r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with the arm in a rest pose    </a:t>
                </a: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lang="en-US" altLang="en-US" sz="2400" dirty="0">
                    <a:latin typeface="Google Sans Text"/>
                  </a:rPr>
                  <a:t>                                            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[0.0, 0.6, 0.0, −1.2, 0.0, 1.5, 0.0].</m:t>
                    </m:r>
                  </m:oMath>
                </a14:m>
                <a:endParaRPr lang="en-US" altLang="en-US" sz="2400" dirty="0"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E3DE334-F019-9802-9A4E-0A2819D8B1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0" y="1867665"/>
                <a:ext cx="12192000" cy="4108817"/>
              </a:xfrm>
              <a:prstGeom prst="rect">
                <a:avLst/>
              </a:prstGeom>
              <a:blipFill>
                <a:blip r:embed="rId3"/>
                <a:stretch>
                  <a:fillRect l="-800" t="-178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C4A1D-9752-6962-7A54-909889271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DD223-A63F-2CAC-5E4D-21975BBED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95980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6. Simulation &amp; Energy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B72D37AD-EF38-08AA-FC17-A1A66FF7C25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0" y="1661511"/>
                <a:ext cx="12047974" cy="44781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Energy Check (CO5 Validation)</a:t>
                </a:r>
                <a:endPara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Total Energy (E(t)):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In this specific simulation, the total mechanical energy 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decays over time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. This is due to the explicit inclusion of damping and friction to ensure stability and reduce oscillations.</a:t>
                </a: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Linear Damping: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0.06 for the Husky base.</a:t>
                </a: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Angular Damping: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0.08 for the Husky base.</a:t>
                </a: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Joint Damping: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0.15 for KUKA arm joints.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Power Dissipated (P):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The instantaneous power loss due to damping is calculated as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kumimoji="0" lang="en-US" altLang="en-US" sz="2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kumimoji="0" lang="en-US" altLang="en-US" sz="24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altLang="en-US" sz="24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kumimoji="0" lang="en-US" altLang="en-US" sz="24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For the base, this depends on the translational velocity $\d and the damping coefficient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lang="en-US" altLang="en-US" sz="2400" dirty="0">
                    <a:latin typeface="Google Sans Text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=0.06</m:t>
                    </m:r>
                  </m:oMath>
                </a14:m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B72D37AD-EF38-08AA-FC17-A1A66FF7C2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0" y="1661511"/>
                <a:ext cx="12047974" cy="4478149"/>
              </a:xfrm>
              <a:prstGeom prst="rect">
                <a:avLst/>
              </a:prstGeom>
              <a:blipFill>
                <a:blip r:embed="rId3"/>
                <a:stretch>
                  <a:fillRect l="-810" t="-16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505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DD3CF-303C-B8A4-30F4-DB12D7AA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2A39-47F3-5692-E65E-C2D68B7E7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95980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6. Simulation &amp; Energy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A5B8D9-1992-4F39-0630-9D3FD18227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198540"/>
            <a:ext cx="11749548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Expected Visualizations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Time Response Plot: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This would show the Husky base's x, y coordinates transitioning from START to SAMPLE and then to GOAL, with smooth velocity ramps due to the MAX_WHEEL_DELTA constraint.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Energy vs. Time Plot: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You would observe sharp increases in energy when the motors apply WHEEL_FORCE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950N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or ARM_FORCE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160N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), followed by exponential decay when the robot brakes or settles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FD76D9-771F-DEB5-EB4B-48373462C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29538"/>
            <a:ext cx="9682480" cy="22598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FD57A9-A31D-FE26-EC84-FDC46A457DE3}"/>
              </a:ext>
            </a:extLst>
          </p:cNvPr>
          <p:cNvSpPr txBox="1"/>
          <p:nvPr/>
        </p:nvSpPr>
        <p:spPr>
          <a:xfrm>
            <a:off x="0" y="3968528"/>
            <a:ext cx="568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Code Snippet — ODE Equivalent: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528923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3F164-B751-E6A8-8D84-4A7F654C1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702EE-E847-28F4-90AA-2CA33DD2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95980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6. Simulation &amp; Energy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53DFFD-E8AB-6151-7AA9-BD75A331CDF9}"/>
              </a:ext>
            </a:extLst>
          </p:cNvPr>
          <p:cNvSpPr txBox="1"/>
          <p:nvPr/>
        </p:nvSpPr>
        <p:spPr>
          <a:xfrm>
            <a:off x="185174" y="905527"/>
            <a:ext cx="568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Time response plot (states vs time)] :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F196D1-E72C-5F7A-CEF4-22CBF7AC3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8981"/>
            <a:ext cx="12192000" cy="532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06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E6671-6EE8-2460-4AAD-EF5474515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03B8-A4C5-A8E3-3089-84A202674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95980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lang="en-IN"/>
              <a:t>6. Simulation &amp; Energy Analysis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67072D-194C-D80E-6AA9-9F41094210BE}"/>
              </a:ext>
            </a:extLst>
          </p:cNvPr>
          <p:cNvSpPr txBox="1"/>
          <p:nvPr/>
        </p:nvSpPr>
        <p:spPr>
          <a:xfrm>
            <a:off x="185174" y="905527"/>
            <a:ext cx="568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Energy vs time plot </a:t>
            </a:r>
            <a:r>
              <a:rPr lang="en-US" sz="2400" b="1" dirty="0"/>
              <a:t>: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CC576B-57C2-F250-83F6-946D0C2DD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5292"/>
            <a:ext cx="12192000" cy="556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43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03774-D584-244A-853F-FDD968ECA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75F97D-945C-5230-C240-74A918561E8C}"/>
              </a:ext>
            </a:extLst>
          </p:cNvPr>
          <p:cNvSpPr txBox="1"/>
          <p:nvPr/>
        </p:nvSpPr>
        <p:spPr>
          <a:xfrm>
            <a:off x="3974690" y="264487"/>
            <a:ext cx="42426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7. Simulation Visualization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9C7BCB3-96AD-D757-5788-A5626E475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5070"/>
            <a:ext cx="7393858" cy="649594"/>
          </a:xfrm>
        </p:spPr>
        <p:txBody>
          <a:bodyPr>
            <a:noAutofit/>
          </a:bodyPr>
          <a:lstStyle/>
          <a:p>
            <a:pPr algn="l"/>
            <a:r>
              <a:rPr lang="en-US" sz="2400" b="1" dirty="0"/>
              <a:t>Time response: all states vs time (labels, units, legend):</a:t>
            </a:r>
            <a:endParaRPr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5BAE19-5065-66B0-4BE7-260434C37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46298"/>
            <a:ext cx="12192001" cy="550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705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3BF1-E59A-EF56-EE0A-695E1A53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05AEC1-2BF4-237A-B463-B7DC3FBB0988}"/>
              </a:ext>
            </a:extLst>
          </p:cNvPr>
          <p:cNvSpPr txBox="1"/>
          <p:nvPr/>
        </p:nvSpPr>
        <p:spPr>
          <a:xfrm>
            <a:off x="3974690" y="264487"/>
            <a:ext cx="42426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7. Simulation Visualization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A0F1C12-C8B1-A99F-54B4-749CA8F5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5070"/>
            <a:ext cx="7393858" cy="649594"/>
          </a:xfrm>
        </p:spPr>
        <p:txBody>
          <a:bodyPr>
            <a:noAutofit/>
          </a:bodyPr>
          <a:lstStyle/>
          <a:p>
            <a:pPr algn="l"/>
            <a:r>
              <a:rPr lang="fr-FR" sz="2400" b="1" dirty="0"/>
              <a:t>Phase portrait: </a:t>
            </a:r>
            <a:r>
              <a:rPr lang="fr-FR" sz="2400" b="1" dirty="0" err="1"/>
              <a:t>velocity</a:t>
            </a:r>
            <a:r>
              <a:rPr lang="fr-FR" sz="2400" b="1" dirty="0"/>
              <a:t> vs position:</a:t>
            </a:r>
            <a:endParaRPr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9A623-9DED-71E0-D818-C5CC8892B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2027"/>
            <a:ext cx="12192000" cy="186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41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B5886-09E4-9DE6-35C2-AF42B3DCF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6B1744-D1BD-70BF-04B1-4EB235731B07}"/>
              </a:ext>
            </a:extLst>
          </p:cNvPr>
          <p:cNvSpPr txBox="1"/>
          <p:nvPr/>
        </p:nvSpPr>
        <p:spPr>
          <a:xfrm>
            <a:off x="3974690" y="264487"/>
            <a:ext cx="42426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7. Simulation Visualization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769B68-30B6-8A44-CF79-0911F5DA8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5070"/>
            <a:ext cx="7393858" cy="649594"/>
          </a:xfrm>
        </p:spPr>
        <p:txBody>
          <a:bodyPr>
            <a:noAutofit/>
          </a:bodyPr>
          <a:lstStyle/>
          <a:p>
            <a:pPr algn="l"/>
            <a:r>
              <a:rPr lang="en-IN" sz="2400" b="1" dirty="0"/>
              <a:t>Bode/frequency response </a:t>
            </a:r>
            <a:r>
              <a:rPr lang="fr-FR" sz="2400" b="1" dirty="0"/>
              <a:t>:</a:t>
            </a:r>
            <a:endParaRPr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6EDE48-6D2E-0826-10DA-5CA56B7FD0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15914" r="-2437"/>
          <a:stretch>
            <a:fillRect/>
          </a:stretch>
        </p:blipFill>
        <p:spPr>
          <a:xfrm>
            <a:off x="1" y="1612027"/>
            <a:ext cx="12467302" cy="524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957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5058E-E4E1-919C-F162-36D645D76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6F3A8-7E7D-C82A-E977-358157923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4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68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68161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lang="en-IN" dirty="0"/>
              <a:t>8. Validation &amp; Analysis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1046"/>
                <a:ext cx="11734800" cy="5015118"/>
              </a:xfrm>
            </p:spPr>
            <p:txBody>
              <a:bodyPr>
                <a:normAutofit lnSpcReduction="10000"/>
              </a:bodyPr>
              <a:lstStyle/>
              <a:p>
                <a:pPr>
                  <a:defRPr sz="1800"/>
                </a:pPr>
                <a:r>
                  <a:rPr lang="en-US" sz="2400" dirty="0"/>
                  <a:t>Validation 1: Energy Conservation Check (CO5) The total mechanical energy of the system is given by: </a:t>
                </a:r>
              </a:p>
              <a:p>
                <a:pPr>
                  <a:defRPr sz="1800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𝐾𝐸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𝑏𝑎𝑠𝑒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𝐾𝐸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𝑎𝑟𝑚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𝐾𝐸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𝑠𝑎𝑚𝑝𝑙𝑒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𝑎𝑟𝑚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𝑃𝐸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𝑠𝑎𝑚𝑝𝑙𝑒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defRPr sz="1800"/>
                </a:pPr>
                <a:r>
                  <a:rPr lang="en-US" sz="2400" dirty="0"/>
                  <a:t>For an ideal system with no damping:</a:t>
                </a:r>
              </a:p>
              <a:p>
                <a:pPr>
                  <a:defRPr sz="1800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𝑑𝐸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>
                  <a:defRPr sz="1800"/>
                </a:pPr>
                <a:r>
                  <a:rPr lang="en-US" sz="2400" dirty="0"/>
                  <a:t>This indicates that the total energy remains constant over time. </a:t>
                </a:r>
              </a:p>
              <a:p>
                <a:pPr>
                  <a:defRPr sz="1800"/>
                </a:pPr>
                <a:r>
                  <a:rPr lang="en-US" sz="2400" dirty="0"/>
                  <a:t>However, in the present model, damping effects such as rolling resistance (cᵣ) and yaw damping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𝑦𝑎𝑤</m:t>
                        </m:r>
                      </m:sub>
                    </m:sSub>
                  </m:oMath>
                </a14:m>
                <a:r>
                  <a:rPr lang="en-US" sz="2400" dirty="0"/>
                  <a:t>) are included. Therefore, the total energy decreases gradually over time due to energy dissipation. </a:t>
                </a:r>
              </a:p>
              <a:p>
                <a:pPr>
                  <a:defRPr sz="1800"/>
                </a:pPr>
                <a:r>
                  <a:rPr lang="en-US" sz="2400" dirty="0"/>
                  <a:t>Observation: The simulation results show a gradual decay in total energy, confirming the presence of damping. In the absence of damping, energy remains conserved. This validates the correctness of the derived equations. </a:t>
                </a:r>
                <a:endParaRPr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1046"/>
                <a:ext cx="11734800" cy="5015118"/>
              </a:xfrm>
              <a:blipFill>
                <a:blip r:embed="rId3"/>
                <a:stretch>
                  <a:fillRect l="-675" t="-17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CED5B-B2AA-436D-2164-F5B9B507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C05C-CFBC-11DB-D231-DAF9B5BB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68161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lang="en-IN" dirty="0"/>
              <a:t>8. Validation &amp; Analysis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DFC81D-C565-53E7-2F3F-7539FFBE8F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11046"/>
                <a:ext cx="12192000" cy="5427406"/>
              </a:xfrm>
            </p:spPr>
            <p:txBody>
              <a:bodyPr>
                <a:normAutofit/>
              </a:bodyPr>
              <a:lstStyle/>
              <a:p>
                <a:pPr>
                  <a:defRPr sz="1800"/>
                </a:pPr>
                <a:r>
                  <a:rPr lang="en-IN" sz="2400" dirty="0"/>
                  <a:t>Validation 2: Comparison with Analytical / Published Results (CO4) </a:t>
                </a:r>
              </a:p>
              <a:p>
                <a:pPr>
                  <a:defRPr sz="1800"/>
                </a:pPr>
                <a:r>
                  <a:rPr lang="en-IN" sz="2400" dirty="0"/>
                  <a:t>The derived equations of motion for the mobile base are:</a:t>
                </a:r>
              </a:p>
              <a:p>
                <a:pPr marL="0" indent="0">
                  <a:buNone/>
                  <a:defRPr sz="1800"/>
                </a:pPr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𝑟𝑣</m:t>
                        </m:r>
                      </m:sub>
                    </m:sSub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  <a:defRPr sz="1800"/>
                </a:pPr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n-IN" sz="2400" i="1" dirty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N" sz="2400" i="1" dirty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𝑦𝑎𝑤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en-IN" sz="2400" dirty="0"/>
              </a:p>
              <a:p>
                <a:pPr>
                  <a:defRPr sz="1800"/>
                </a:pPr>
                <a:r>
                  <a:rPr lang="en-IN" sz="2400" dirty="0"/>
                  <a:t>These match the standard differential drive robot model available in literature. </a:t>
                </a:r>
              </a:p>
              <a:p>
                <a:pPr>
                  <a:defRPr sz="1800"/>
                </a:pPr>
                <a:r>
                  <a:rPr lang="en-IN" sz="2400" dirty="0"/>
                  <a:t>The robotic arm dynamics are represented as:</a:t>
                </a:r>
              </a:p>
              <a:p>
                <a:pPr marL="0" indent="0">
                  <a:buNone/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IN" sz="2400" dirty="0"/>
              </a:p>
              <a:p>
                <a:pPr marL="0" indent="0">
                  <a:buNone/>
                  <a:defRPr sz="1800"/>
                </a:pPr>
                <a:r>
                  <a:rPr lang="en-IN" sz="2400" dirty="0"/>
                  <a:t>This is the standard form of equations of motion for robotic manipulators derived using the Lagrange method.</a:t>
                </a:r>
                <a:endParaRPr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DFC81D-C565-53E7-2F3F-7539FFBE8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11046"/>
                <a:ext cx="12192000" cy="5427406"/>
              </a:xfrm>
              <a:blipFill>
                <a:blip r:embed="rId3"/>
                <a:stretch>
                  <a:fillRect l="-750" t="-8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105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EDD5-6064-71AB-C760-49717F5B5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FCA73-E740-387F-1222-11F5599D9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68161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lang="en-IN" dirty="0"/>
              <a:t>8. Validation &amp; Analysis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2E7228-2F12-F22F-0B31-4B4C05D81D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11046"/>
                <a:ext cx="12192000" cy="5427406"/>
              </a:xfrm>
            </p:spPr>
            <p:txBody>
              <a:bodyPr>
                <a:normAutofit lnSpcReduction="10000"/>
              </a:bodyPr>
              <a:lstStyle/>
              <a:p>
                <a:pPr>
                  <a:defRPr sz="1800"/>
                </a:pPr>
                <a:r>
                  <a:rPr lang="en-IN" sz="2400" dirty="0"/>
                  <a:t>Validation 3: Dimensional Analysis / Unit Check </a:t>
                </a:r>
              </a:p>
              <a:p>
                <a:pPr>
                  <a:defRPr sz="1800"/>
                </a:pPr>
                <a:r>
                  <a:rPr lang="en-IN" sz="2400" dirty="0"/>
                  <a:t>All derived equations are verified for dimensional consistency. </a:t>
                </a:r>
              </a:p>
              <a:p>
                <a:pPr>
                  <a:defRPr sz="1800"/>
                </a:pPr>
                <a:r>
                  <a:rPr lang="en-IN" sz="2400" dirty="0"/>
                  <a:t>Example checks: </a:t>
                </a:r>
              </a:p>
              <a:p>
                <a:pPr>
                  <a:defRPr sz="1800"/>
                </a:pPr>
                <a:r>
                  <a:rPr lang="en-IN" sz="2400" dirty="0"/>
                  <a:t>Linear acceleration equation: </a:t>
                </a:r>
              </a:p>
              <a:p>
                <a:pPr marL="0" indent="0">
                  <a:buNone/>
                  <a:defRPr sz="1800"/>
                </a:pPr>
                <a:r>
                  <a:rPr lang="en-IN" sz="2400" dirty="0"/>
                  <a:t>    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IN" sz="2400" i="1" dirty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en-IN" sz="2400" dirty="0"/>
              </a:p>
              <a:p>
                <a:pPr marL="0" indent="0">
                  <a:buNone/>
                  <a:defRPr sz="1800"/>
                </a:pPr>
                <a:r>
                  <a:rPr lang="en-IN" sz="2400" dirty="0"/>
                  <a:t>Units: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𝑘𝑔</m:t>
                        </m:r>
                      </m:den>
                    </m:f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𝑘𝑔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𝑘𝑔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400" dirty="0"/>
              </a:p>
              <a:p>
                <a:pPr>
                  <a:defRPr sz="1800"/>
                </a:pPr>
                <a:r>
                  <a:rPr lang="en-IN" sz="2400" dirty="0"/>
                  <a:t>Rotational dynamics: </a:t>
                </a:r>
              </a:p>
              <a:p>
                <a:pPr marL="0" indent="0">
                  <a:buNone/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IN" sz="24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sz="2400" i="1" dirty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400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</m:t>
                      </m:r>
                      <m:r>
                        <a:rPr lang="en-IN" sz="24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  <a:defRPr sz="1800"/>
                </a:pPr>
                <a:r>
                  <a:rPr lang="en-IN" sz="2400" dirty="0"/>
                  <a:t>Units:</a:t>
                </a:r>
              </a:p>
              <a:p>
                <a:pPr marL="0" indent="0">
                  <a:buNone/>
                  <a:defRPr sz="1800"/>
                </a:pPr>
                <a14:m>
                  <m:oMath xmlns:m="http://schemas.openxmlformats.org/officeDocument/2006/math"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 dirty="0" err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400" i="1" dirty="0" err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 dirty="0" err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IN" sz="2400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 dirty="0" err="1">
                            <a:latin typeface="Cambria Math" panose="02040503050406030204" pitchFamily="18" charset="0"/>
                          </a:rPr>
                          <m:t>𝑘𝑔</m:t>
                        </m:r>
                        <m:r>
                          <a:rPr lang="en-IN" sz="2400" i="1" dirty="0" err="1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IN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4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 dirty="0">
                                <a:latin typeface="Cambria Math" panose="02040503050406030204" pitchFamily="18" charset="0"/>
                              </a:rPr>
                              <m:t>𝑟𝑎𝑑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      </a:t>
                </a:r>
              </a:p>
              <a:p>
                <a:pPr marL="0" indent="0">
                  <a:buNone/>
                  <a:defRPr sz="1800"/>
                </a:pPr>
                <a:r>
                  <a:rPr lang="en-IN" sz="2400" dirty="0"/>
                  <a:t>Observation: All equations are dimensionally consistent, validating mathematical         correctness.</a:t>
                </a:r>
                <a:endParaRPr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2E7228-2F12-F22F-0B31-4B4C05D81D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11046"/>
                <a:ext cx="12192000" cy="5427406"/>
              </a:xfrm>
              <a:blipFill>
                <a:blip r:embed="rId3"/>
                <a:stretch>
                  <a:fillRect l="-750" t="-1571" b="-14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829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87D9F-22B6-6204-A1EC-ABD9BD062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0EE2-5610-F5B0-2B39-B69751A9C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9167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9. Conclusions &amp; Reflections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9A3635-92F6-044B-0582-F8D42A9E76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20878"/>
                <a:ext cx="12192000" cy="5737122"/>
              </a:xfrm>
            </p:spPr>
            <p:txBody>
              <a:bodyPr>
                <a:noAutofit/>
              </a:bodyPr>
              <a:lstStyle/>
              <a:p>
                <a:pPr>
                  <a:defRPr sz="1800"/>
                </a:pPr>
                <a:r>
                  <a:rPr sz="2400" dirty="0"/>
                  <a:t>Key Finding:</a:t>
                </a:r>
                <a:r>
                  <a:rPr lang="en-US" sz="2400" dirty="0"/>
                  <a:t> </a:t>
                </a:r>
              </a:p>
              <a:p>
                <a:pPr marL="0" indent="0">
                  <a:buNone/>
                  <a:defRPr sz="1800"/>
                </a:pPr>
                <a:r>
                  <a:rPr lang="en-US" altLang="en-US" sz="2400" dirty="0">
                    <a:latin typeface="Arial" panose="020B0604020202020204" pitchFamily="34" charset="0"/>
                  </a:rPr>
                  <a:t>A higher command smoothing factor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= 0.78) </m:t>
                    </m:r>
                  </m:oMath>
                </a14:m>
                <a:r>
                  <a:rPr lang="en-US" altLang="en-US" sz="2400" dirty="0"/>
                  <a:t>acts as an effective low-pass filter, allowing the Husky base to maintain trajectory stability while ignoring high-frequency sensor noise.</a:t>
                </a:r>
                <a:endParaRPr lang="en-US" altLang="en-US" sz="2400" dirty="0">
                  <a:latin typeface="Arial" panose="020B0604020202020204" pitchFamily="34" charset="0"/>
                </a:endParaRPr>
              </a:p>
              <a:p>
                <a:pPr>
                  <a:defRPr sz="1800"/>
                </a:pPr>
                <a:endParaRPr sz="2400" dirty="0"/>
              </a:p>
              <a:p>
                <a:pPr>
                  <a:spcBef>
                    <a:spcPts val="600"/>
                  </a:spcBef>
                  <a:defRPr sz="1800"/>
                </a:pPr>
                <a:r>
                  <a:rPr sz="2400" dirty="0"/>
                  <a:t>What we learned that a textbook couldn't teach:</a:t>
                </a:r>
                <a:endParaRPr lang="en-US" sz="2400" dirty="0"/>
              </a:p>
              <a:p>
                <a:pPr marL="0" indent="0">
                  <a:spcBef>
                    <a:spcPts val="600"/>
                  </a:spcBef>
                  <a:buNone/>
                  <a:defRPr sz="1800"/>
                </a:pPr>
                <a:r>
                  <a:rPr lang="en-US" sz="2400" dirty="0"/>
                  <a:t>CO4 (Laws): Manual derivation is one thing, but managing numerical stability in a 9-DOF simulation is another. We learned that damping must be precisely tuned to prevent "jitter" in the robotic arm during high-speed base movement.</a:t>
                </a:r>
              </a:p>
              <a:p>
                <a:pPr marL="0" indent="0">
                  <a:spcBef>
                    <a:spcPts val="600"/>
                  </a:spcBef>
                  <a:buNone/>
                  <a:defRPr sz="1800"/>
                </a:pPr>
                <a:endParaRPr lang="en-IN" sz="2400" dirty="0"/>
              </a:p>
              <a:p>
                <a:pPr>
                  <a:spcBef>
                    <a:spcPts val="600"/>
                  </a:spcBef>
                  <a:defRPr sz="1800"/>
                </a:pPr>
                <a:r>
                  <a:rPr sz="2400" dirty="0"/>
                  <a:t>Specific insight — which CO was most challenging?</a:t>
                </a:r>
                <a:endParaRPr lang="en-US" sz="2400" dirty="0"/>
              </a:p>
              <a:p>
                <a:pPr marL="0" indent="0">
                  <a:spcBef>
                    <a:spcPts val="600"/>
                  </a:spcBef>
                  <a:buNone/>
                  <a:defRPr sz="1800"/>
                </a:pPr>
                <a:r>
                  <a:rPr lang="en-US" sz="2400" b="1" dirty="0"/>
                  <a:t>CO4 (Mathematical Laws):</a:t>
                </a:r>
                <a:r>
                  <a:rPr lang="en-US" sz="2400" dirty="0"/>
                  <a:t> Deriving the EOMs via the </a:t>
                </a:r>
                <a:r>
                  <a:rPr lang="en-US" sz="2400" dirty="0" err="1"/>
                  <a:t>Lagrangian</a:t>
                </a:r>
                <a:r>
                  <a:rPr lang="en-US" sz="2400" dirty="0"/>
                  <a:t> for a </a:t>
                </a:r>
                <a:r>
                  <a:rPr lang="en-US" sz="2400" b="1" dirty="0"/>
                  <a:t>9-DOF system</a:t>
                </a:r>
                <a:r>
                  <a:rPr lang="en-US" sz="2400" dirty="0"/>
                  <a:t> was the most difficult. Managing the interaction between the mobile base inertia and the arm's shifting center of mass required complex matrix manipulation that goes far beyond standard 2-DOF textbook examples.</a:t>
                </a:r>
              </a:p>
              <a:p>
                <a:pPr marL="0" indent="0">
                  <a:spcBef>
                    <a:spcPts val="600"/>
                  </a:spcBef>
                  <a:buNone/>
                  <a:defRPr sz="1800"/>
                </a:pPr>
                <a:endParaRPr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9A3635-92F6-044B-0582-F8D42A9E76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20878"/>
                <a:ext cx="12192000" cy="5737122"/>
              </a:xfrm>
              <a:blipFill>
                <a:blip r:embed="rId3"/>
                <a:stretch>
                  <a:fillRect l="-750" t="-850" r="-900" b="-24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25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167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9. Conclusions &amp; Reflections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0878"/>
            <a:ext cx="12192000" cy="5737122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  <a:defRPr sz="1800"/>
            </a:pPr>
            <a:r>
              <a:rPr sz="2400" dirty="0"/>
              <a:t>What we would do differently:</a:t>
            </a:r>
            <a:endParaRPr lang="en-US" sz="2400" dirty="0"/>
          </a:p>
          <a:p>
            <a:pPr marL="0" indent="0">
              <a:spcBef>
                <a:spcPts val="600"/>
              </a:spcBef>
              <a:buNone/>
              <a:defRPr sz="1800"/>
            </a:pPr>
            <a:r>
              <a:rPr lang="en-US" sz="2400" dirty="0"/>
              <a:t>Implement a closed-loop PID controller for the base heading instead of simple gain-based logic to reduce the slight overshoot observed when approaching the sample location.</a:t>
            </a:r>
            <a:endParaRPr sz="2400" dirty="0"/>
          </a:p>
          <a:p>
            <a:pPr marL="0" indent="0">
              <a:spcBef>
                <a:spcPts val="600"/>
              </a:spcBef>
              <a:buNone/>
              <a:defRPr sz="1800"/>
            </a:pPr>
            <a:endParaRPr sz="2400" dirty="0"/>
          </a:p>
          <a:p>
            <a:pPr>
              <a:spcBef>
                <a:spcPts val="600"/>
              </a:spcBef>
              <a:defRPr sz="1800"/>
            </a:pPr>
            <a:r>
              <a:rPr sz="2400" dirty="0"/>
              <a:t>Course units most critical: </a:t>
            </a:r>
            <a:endParaRPr lang="en-US" sz="2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Unit 3 (Work &amp; Energy): Crucial for proving the system isn't "gaining" phantom energy.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Unit 5 (System Dynamics): Provided the framework for the Bode analysis.</a:t>
            </a:r>
          </a:p>
          <a:p>
            <a:pPr marL="0" indent="0">
              <a:spcBef>
                <a:spcPts val="600"/>
              </a:spcBef>
              <a:buNone/>
              <a:defRPr sz="1800"/>
            </a:pPr>
            <a:endParaRPr sz="2400" dirty="0"/>
          </a:p>
          <a:p>
            <a:pPr>
              <a:spcBef>
                <a:spcPts val="600"/>
              </a:spcBef>
              <a:defRPr sz="1800"/>
            </a:pPr>
            <a:r>
              <a:rPr sz="2400" dirty="0"/>
              <a:t>CO Self-Assessment:</a:t>
            </a:r>
          </a:p>
          <a:p>
            <a:pPr>
              <a:spcBef>
                <a:spcPts val="600"/>
              </a:spcBef>
              <a:defRPr sz="1800"/>
            </a:pPr>
            <a:r>
              <a:rPr sz="2400" dirty="0"/>
              <a:t>  CO1(Kinematics): ✓  CO2(FBD): ✓  CO3(Forces): ✓</a:t>
            </a:r>
          </a:p>
          <a:p>
            <a:pPr>
              <a:spcBef>
                <a:spcPts val="600"/>
              </a:spcBef>
              <a:defRPr sz="1800"/>
            </a:pPr>
            <a:r>
              <a:rPr sz="2400" dirty="0"/>
              <a:t>  CO4(Laws): ✓  CO5(Energy): ✓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4303" y="160337"/>
            <a:ext cx="4783394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10. References &amp; AI Disclosure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9AFD4A-8B85-E861-C211-B8014F2F7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0542"/>
            <a:ext cx="12192000" cy="571745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This project titled “Mathematical Simulation of Pick-and-Place Autonomous Robot” involved the use of Artificial Intelligence (AI) tools to assist in various stages of development, including coding, analysis, and documentation. </a:t>
            </a:r>
          </a:p>
          <a:p>
            <a:pPr marL="0" indent="0">
              <a:buNone/>
            </a:pPr>
            <a:r>
              <a:rPr lang="en-US" dirty="0"/>
              <a:t>The following AI tools were used: </a:t>
            </a:r>
          </a:p>
          <a:p>
            <a:pPr marL="0" indent="0">
              <a:buNone/>
            </a:pPr>
            <a:r>
              <a:rPr lang="en-US" dirty="0"/>
              <a:t>• ChatGPT (OpenAI) – Used for generating and refining Python simulation code, deriving equations of motion, assisting in debugging, and preparing report content such as validation, analysis, and explanations. </a:t>
            </a:r>
          </a:p>
          <a:p>
            <a:pPr marL="0" indent="0">
              <a:buNone/>
            </a:pPr>
            <a:r>
              <a:rPr lang="en-US" dirty="0"/>
              <a:t>• Claude AI (Anthropic) – Used for structuring long-form content, improving documentation clarity, and assisting in formatting technical explanations. </a:t>
            </a:r>
          </a:p>
          <a:p>
            <a:pPr marL="0" indent="0">
              <a:buNone/>
            </a:pPr>
            <a:r>
              <a:rPr lang="en-US" dirty="0"/>
              <a:t>• Google Gemini (Google AI) – Used for cross-verification of concepts, additional explanations, and alternative approaches to problem-solving. </a:t>
            </a:r>
          </a:p>
          <a:p>
            <a:pPr marL="0" indent="0">
              <a:buNone/>
            </a:pPr>
            <a:r>
              <a:rPr lang="en-US" b="1" dirty="0"/>
              <a:t>Scope of AI Assistance AI tools were used strictly as supporting tools for: </a:t>
            </a:r>
          </a:p>
          <a:p>
            <a:pPr marL="0" indent="0">
              <a:buNone/>
            </a:pPr>
            <a:r>
              <a:rPr lang="en-US" dirty="0"/>
              <a:t>• Understanding theoretical concepts </a:t>
            </a:r>
          </a:p>
          <a:p>
            <a:pPr marL="0" indent="0">
              <a:buNone/>
            </a:pPr>
            <a:r>
              <a:rPr lang="en-US" dirty="0"/>
              <a:t>• Generating and optimizing simulation code </a:t>
            </a:r>
          </a:p>
          <a:p>
            <a:pPr marL="0" indent="0">
              <a:buNone/>
            </a:pPr>
            <a:r>
              <a:rPr lang="en-US" dirty="0"/>
              <a:t>• Structuring derivations and explanations </a:t>
            </a:r>
          </a:p>
          <a:p>
            <a:pPr marL="0" indent="0">
              <a:buNone/>
            </a:pPr>
            <a:r>
              <a:rPr lang="en-US" dirty="0"/>
              <a:t>• Assisting in report writing and formatting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Academic </a:t>
            </a:r>
            <a:r>
              <a:rPr lang="en-US" b="1"/>
              <a:t>Integrity Statement: 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All outputs generated using AI tools were: </a:t>
            </a:r>
          </a:p>
          <a:p>
            <a:pPr marL="0" indent="0">
              <a:buNone/>
            </a:pPr>
            <a:r>
              <a:rPr lang="en-US" dirty="0"/>
              <a:t>• Carefully reviewed and verified by the project team </a:t>
            </a:r>
          </a:p>
          <a:p>
            <a:pPr marL="0" indent="0">
              <a:buNone/>
            </a:pPr>
            <a:r>
              <a:rPr lang="en-US" dirty="0"/>
              <a:t>• Modified and adapted to meet the project requirements </a:t>
            </a:r>
          </a:p>
          <a:p>
            <a:pPr marL="0" indent="0">
              <a:buNone/>
            </a:pPr>
            <a:r>
              <a:rPr lang="en-US" dirty="0"/>
              <a:t>• Understood before inclusion in the final submission The final work represents the team’s own understanding and   </a:t>
            </a:r>
          </a:p>
          <a:p>
            <a:pPr marL="0" indent="0">
              <a:buNone/>
            </a:pPr>
            <a:r>
              <a:rPr lang="en-US" dirty="0"/>
              <a:t>    implementation, with AI used only as an aid for learning and productivity.</a:t>
            </a:r>
            <a:endParaRPr lang="en-I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985297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dirty="0"/>
              <a:t>Thank You — Questions?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265383B-117D-57F7-1029-F4F71DE88A2B}"/>
              </a:ext>
            </a:extLst>
          </p:cNvPr>
          <p:cNvSpPr txBox="1">
            <a:spLocks/>
          </p:cNvSpPr>
          <p:nvPr/>
        </p:nvSpPr>
        <p:spPr>
          <a:xfrm>
            <a:off x="2895600" y="348359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en-IN" sz="1800" dirty="0"/>
              <a:t>Team: Armaan Kotadiya ,Preyansh Patni ,Khush Mehta</a:t>
            </a:r>
          </a:p>
          <a:p>
            <a:pPr>
              <a:defRPr sz="1800"/>
            </a:pPr>
            <a:r>
              <a:rPr lang="en-IN" sz="1800" dirty="0"/>
              <a:t>Course: Dynamic System Modeling (702MH0C023)</a:t>
            </a:r>
          </a:p>
          <a:p>
            <a:pPr>
              <a:defRPr sz="1800"/>
            </a:pPr>
            <a:r>
              <a:rPr lang="en-IN" sz="1800" dirty="0"/>
              <a:t>B.Tech Mechatronics, Sem IV | NMIMS MPSTME Mumbai</a:t>
            </a:r>
          </a:p>
          <a:p>
            <a:pPr>
              <a:defRPr sz="1800"/>
            </a:pPr>
            <a:r>
              <a:rPr lang="en-IN" sz="1800" dirty="0"/>
              <a:t>Category: [E] | Complexity: [High]</a:t>
            </a:r>
          </a:p>
          <a:p>
            <a:pPr>
              <a:defRPr sz="1800"/>
            </a:pPr>
            <a:r>
              <a:rPr lang="en-IN" sz="1800" dirty="0"/>
              <a:t>COs Exercised: [CO1, CO2, CO3, CO4, CO5] | Date: [15/04/2026]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5ED340F12FF438B134E672892BFDA" ma:contentTypeVersion="12" ma:contentTypeDescription="Create a new document." ma:contentTypeScope="" ma:versionID="4e4a6ae84bd6460c7f5bb12ca08fb79b">
  <xsd:schema xmlns:xsd="http://www.w3.org/2001/XMLSchema" xmlns:xs="http://www.w3.org/2001/XMLSchema" xmlns:p="http://schemas.microsoft.com/office/2006/metadata/properties" xmlns:ns2="b7aa8a3b-80d1-4955-8f76-a3254a33a331" xmlns:ns3="8aa28b7e-c5b6-4db8-be1f-ce18dc9d6788" targetNamespace="http://schemas.microsoft.com/office/2006/metadata/properties" ma:root="true" ma:fieldsID="dad97b1bfed5a3964b6f7fde8b00b5db" ns2:_="" ns3:_="">
    <xsd:import namespace="b7aa8a3b-80d1-4955-8f76-a3254a33a331"/>
    <xsd:import namespace="8aa28b7e-c5b6-4db8-be1f-ce18dc9d678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a8a3b-80d1-4955-8f76-a3254a33a33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28b7e-c5b6-4db8-be1f-ce18dc9d678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a5849d0-3a25-4ea2-a66f-6da2942d5ba7}" ma:internalName="TaxCatchAll" ma:showField="CatchAllData" ma:web="8aa28b7e-c5b6-4db8-be1f-ce18dc9d6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7aa8a3b-80d1-4955-8f76-a3254a33a331" xsi:nil="true"/>
    <lcf76f155ced4ddcb4097134ff3c332f xmlns="b7aa8a3b-80d1-4955-8f76-a3254a33a331">
      <Terms xmlns="http://schemas.microsoft.com/office/infopath/2007/PartnerControls"/>
    </lcf76f155ced4ddcb4097134ff3c332f>
    <TaxCatchAll xmlns="8aa28b7e-c5b6-4db8-be1f-ce18dc9d678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9F4488-FD5B-4F48-933E-B59F5A4AF620}"/>
</file>

<file path=customXml/itemProps2.xml><?xml version="1.0" encoding="utf-8"?>
<ds:datastoreItem xmlns:ds="http://schemas.openxmlformats.org/officeDocument/2006/customXml" ds:itemID="{7E70CD32-C2AC-43A4-8663-26E188E5FFEE}">
  <ds:schemaRefs>
    <ds:schemaRef ds:uri="http://schemas.microsoft.com/office/2006/metadata/properties"/>
    <ds:schemaRef ds:uri="http://schemas.microsoft.com/office/infopath/2007/PartnerControls"/>
    <ds:schemaRef ds:uri="8ba116ed-0b03-4fad-970c-3f26ccc5a628"/>
  </ds:schemaRefs>
</ds:datastoreItem>
</file>

<file path=customXml/itemProps3.xml><?xml version="1.0" encoding="utf-8"?>
<ds:datastoreItem xmlns:ds="http://schemas.openxmlformats.org/officeDocument/2006/customXml" ds:itemID="{0C9632BA-D7F5-4A5D-BF2F-56C93138B5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5791</TotalTime>
  <Words>4099</Words>
  <Application>Microsoft Office PowerPoint</Application>
  <PresentationFormat>Widescreen</PresentationFormat>
  <Paragraphs>309</Paragraphs>
  <Slides>31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 Unicode MS</vt:lpstr>
      <vt:lpstr>Arial</vt:lpstr>
      <vt:lpstr>Calibri</vt:lpstr>
      <vt:lpstr>Cambria Math</vt:lpstr>
      <vt:lpstr>Google Sans</vt:lpstr>
      <vt:lpstr>Google Sans Text</vt:lpstr>
      <vt:lpstr>Office Theme</vt:lpstr>
      <vt:lpstr>Mathematical simulation of pick and place autonomous bot</vt:lpstr>
      <vt:lpstr>1. System Introduction &amp; Motivation</vt:lpstr>
      <vt:lpstr>1. System Introduction &amp; Motivation</vt:lpstr>
      <vt:lpstr>2. Problem Formulation &amp; Assumptions</vt:lpstr>
      <vt:lpstr>2. Problem Formulation &amp; Assumptions</vt:lpstr>
      <vt:lpstr>2. Problem Formulation &amp; Assumptions</vt:lpstr>
      <vt:lpstr>PowerPoint Presentation</vt:lpstr>
      <vt:lpstr>PowerPoint Presentation</vt:lpstr>
      <vt:lpstr>4. Mathematical Derivation (Part 1)</vt:lpstr>
      <vt:lpstr>4. Mathematical Derivation (Part 1)</vt:lpstr>
      <vt:lpstr>4. Mathematical Derivation (Part 1)</vt:lpstr>
      <vt:lpstr>4. Mathematical Derivation (Part 1)</vt:lpstr>
      <vt:lpstr>5. Final Equations &amp; State-Space</vt:lpstr>
      <vt:lpstr>5. Final Equations &amp; State-Space</vt:lpstr>
      <vt:lpstr>5. Final Equations &amp; State-Space</vt:lpstr>
      <vt:lpstr>6. Simulation &amp; Energy Analysis</vt:lpstr>
      <vt:lpstr>6. Simulation &amp; Energy Analysis</vt:lpstr>
      <vt:lpstr>6. Simulation &amp; Energy Analysis</vt:lpstr>
      <vt:lpstr>6. Simulation &amp; Energy Analysis</vt:lpstr>
      <vt:lpstr>6. Simulation &amp; Energy Analysis</vt:lpstr>
      <vt:lpstr>Time response: all states vs time (labels, units, legend):</vt:lpstr>
      <vt:lpstr>Phase portrait: velocity vs position:</vt:lpstr>
      <vt:lpstr>Bode/frequency response :</vt:lpstr>
      <vt:lpstr>PowerPoint Presentation</vt:lpstr>
      <vt:lpstr>8. Validation &amp; Analysis</vt:lpstr>
      <vt:lpstr>8. Validation &amp; Analysis</vt:lpstr>
      <vt:lpstr>8. Validation &amp; Analysis</vt:lpstr>
      <vt:lpstr>9. Conclusions &amp; Reflections</vt:lpstr>
      <vt:lpstr>9. Conclusions &amp; Reflections</vt:lpstr>
      <vt:lpstr>10. References &amp; AI Disclosure</vt:lpstr>
      <vt:lpstr>Thank You —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Armaan</dc:creator>
  <cp:keywords/>
  <dc:description>generated using python-pptx</dc:description>
  <cp:lastModifiedBy>Armaan Kotadiya</cp:lastModifiedBy>
  <cp:revision>3</cp:revision>
  <dcterms:created xsi:type="dcterms:W3CDTF">2013-01-27T09:14:16Z</dcterms:created>
  <dcterms:modified xsi:type="dcterms:W3CDTF">2026-04-19T18:39:20Z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0x010100AFE5ED340F12FF438B134E672892BFDA</vt:lpwstr>
  </property>
</Properties>
</file>