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42" r:id="rId4"/>
  </p:sldMasterIdLst>
  <p:notesMasterIdLst>
    <p:notesMasterId r:id="rId19"/>
  </p:notesMasterIdLst>
  <p:sldIdLst>
    <p:sldId id="256" r:id="rId5"/>
    <p:sldId id="257" r:id="rId6"/>
    <p:sldId id="258" r:id="rId7"/>
    <p:sldId id="259" r:id="rId8"/>
    <p:sldId id="260" r:id="rId9"/>
    <p:sldId id="268" r:id="rId10"/>
    <p:sldId id="269" r:id="rId11"/>
    <p:sldId id="261" r:id="rId12"/>
    <p:sldId id="262" r:id="rId13"/>
    <p:sldId id="263" r:id="rId14"/>
    <p:sldId id="264" r:id="rId15"/>
    <p:sldId id="265" r:id="rId16"/>
    <p:sldId id="266"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3" d="100"/>
          <a:sy n="113" d="100"/>
        </p:scale>
        <p:origin x="47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4EDD4A-9F8F-435C-960E-A7359701A02C}" type="datetimeFigureOut">
              <a:rPr lang="en-IN" smtClean="0"/>
              <a:t>24-04-2026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D1A5DB-3321-450C-A8D7-2C7DAA67FCFE}" type="slidenum">
              <a:rPr lang="en-IN" smtClean="0"/>
              <a:t>‹#›</a:t>
            </a:fld>
            <a:endParaRPr lang="en-IN"/>
          </a:p>
        </p:txBody>
      </p:sp>
    </p:spTree>
    <p:extLst>
      <p:ext uri="{BB962C8B-B14F-4D97-AF65-F5344CB8AC3E}">
        <p14:creationId xmlns:p14="http://schemas.microsoft.com/office/powerpoint/2010/main" val="412772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0:00-1:00 (1 min)</a:t>
            </a:r>
          </a:p>
          <a:p>
            <a:r>
              <a:t>FOCUS: Introduce your system and its real-world engineering relevance.</a:t>
            </a:r>
          </a:p>
          <a:p>
            <a:r>
              <a:t>TIP: Start with a compelling application, not a textbook definition.</a:t>
            </a:r>
          </a:p>
          <a:p>
            <a:r>
              <a:t>SHOW: An image or short video of the actual system.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1:00-2:30 (1.5 min)</a:t>
            </a:r>
          </a:p>
          <a:p>
            <a:r>
              <a:t>FOCUS: Clearly define I/O, states, parameters, DOF, and justify every assumption.</a:t>
            </a:r>
          </a:p>
          <a:p>
            <a:r>
              <a:t>TIP: Explain WHY each assumption is physically valid.</a:t>
            </a:r>
          </a:p>
          <a:p>
            <a:r>
              <a:t>BE PREPARED: You may be asked 'Why this assumption? What if it changes?'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2:30-3:45 (1.25 min)</a:t>
            </a:r>
          </a:p>
          <a:p>
            <a:r>
              <a:t>FOCUS: Walk through EVERY step of the derivation. This is the most important section.</a:t>
            </a:r>
          </a:p>
          <a:p>
            <a:r>
              <a:t>TIP: Show the algebra — don't skip to the final equation.</a:t>
            </a:r>
          </a:p>
          <a:p>
            <a:r>
              <a:t>BE PREPARED: You may be asked to explain any step in detail.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3:45-5:00 (1.25 min)</a:t>
            </a:r>
          </a:p>
          <a:p>
            <a:r>
              <a:t>FOCUS: Present final EOM and state-space. Explain the physical meaning of EVERY term.</a:t>
            </a:r>
          </a:p>
          <a:p>
            <a:r>
              <a:t>TIP: 'c*x_dot = viscous damping force' is stronger than just showing the equation.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5:00-7:00 (2 min)</a:t>
            </a:r>
          </a:p>
          <a:p>
            <a:r>
              <a:t>FOCUS: Show your simulation setup, key code snippet, and output plots.</a:t>
            </a:r>
          </a:p>
          <a:p>
            <a:r>
              <a:t>INCLUDE: Energy vs time plot — this validates your model physically.</a:t>
            </a:r>
          </a:p>
          <a:p>
            <a:r>
              <a:t>BE PREPARED: You may be asked 'Why does the oscillation decay?' or 'How does energy change?'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7:00-8:30 (1.5 min)</a:t>
            </a:r>
          </a:p>
          <a:p>
            <a:r>
              <a:t>FOCUS: Show HOW you verified your results. Energy check, textbook comparison, sensitivity.</a:t>
            </a:r>
          </a:p>
          <a:p>
            <a:r>
              <a:t>TIP: A strong answer = 'We compared natural frequency with Ginsberg Ch.3.'</a:t>
            </a:r>
          </a:p>
          <a:p>
            <a:r>
              <a:t>A weak answer = 'It runs and produces output.'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8:30-10:00 (1.5 min)</a:t>
            </a:r>
          </a:p>
          <a:p>
            <a:r>
              <a:t>FOCUS: Be specific about what you learned and what was hardest.</a:t>
            </a:r>
          </a:p>
          <a:p>
            <a:r>
              <a:t>TIP: 'Getting the sign convention right in the Lagrangian took 3 iterations' is much stronger than 'teamwork was hard.'</a:t>
            </a:r>
          </a:p>
          <a:p>
            <a:r>
              <a:t>INCLUDE: CO self-assessment — which COs did you exercise most?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disclosure is MANDATORY but NOT penalized.</a:t>
            </a:r>
          </a:p>
          <a:p>
            <a:r>
              <a:t>Be honest about what tools you used and for what purpose.</a:t>
            </a:r>
          </a:p>
          <a:p>
            <a:r>
              <a:t>Good: 'Used ChatGPT for Python syntax debugging, derivation done by hand.'</a:t>
            </a:r>
          </a:p>
          <a:p>
            <a:r>
              <a:t>Non-disclosure IS penalized if uncovered during Q&amp;A.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599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821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4248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1724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6521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522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1960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6537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Tree>
    <p:extLst>
      <p:ext uri="{BB962C8B-B14F-4D97-AF65-F5344CB8AC3E}">
        <p14:creationId xmlns:p14="http://schemas.microsoft.com/office/powerpoint/2010/main" val="1126202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7104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61258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68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52794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6922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9143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5266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4/24/2026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14977790"/>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jltemas.i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www.researchgate.ne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951498"/>
            <a:ext cx="10365658" cy="1470025"/>
          </a:xfrm>
        </p:spPr>
        <p:txBody>
          <a:bodyPr>
            <a:normAutofit/>
          </a:bodyPr>
          <a:lstStyle/>
          <a:p>
            <a:pPr>
              <a:defRPr sz="3600" b="1">
                <a:solidFill>
                  <a:srgbClr val="1F4E79"/>
                </a:solidFill>
              </a:defRPr>
            </a:pPr>
            <a:r>
              <a:rPr lang="en-IN" sz="4800" dirty="0">
                <a:latin typeface="Algerian" panose="04020705040A02060702" pitchFamily="82" charset="0"/>
              </a:rPr>
              <a:t>        2 DOF Self-Balancing Robot</a:t>
            </a:r>
            <a:endParaRPr sz="4800" dirty="0">
              <a:latin typeface="Algerian" panose="04020705040A02060702" pitchFamily="82" charset="0"/>
            </a:endParaRPr>
          </a:p>
        </p:txBody>
      </p:sp>
      <p:sp>
        <p:nvSpPr>
          <p:cNvPr id="3" name="Subtitle 2"/>
          <p:cNvSpPr>
            <a:spLocks noGrp="1"/>
          </p:cNvSpPr>
          <p:nvPr>
            <p:ph type="subTitle" idx="1"/>
          </p:nvPr>
        </p:nvSpPr>
        <p:spPr>
          <a:xfrm>
            <a:off x="3033251" y="3719052"/>
            <a:ext cx="6400800" cy="1752600"/>
          </a:xfrm>
        </p:spPr>
        <p:txBody>
          <a:bodyPr>
            <a:normAutofit fontScale="85000" lnSpcReduction="10000"/>
          </a:bodyPr>
          <a:lstStyle/>
          <a:p>
            <a:pPr>
              <a:defRPr sz="1800"/>
            </a:pPr>
            <a:r>
              <a:rPr dirty="0">
                <a:solidFill>
                  <a:schemeClr val="tx1"/>
                </a:solidFill>
              </a:rPr>
              <a:t>Team: [</a:t>
            </a:r>
            <a:r>
              <a:rPr lang="en-GB" dirty="0" err="1">
                <a:solidFill>
                  <a:schemeClr val="tx1"/>
                </a:solidFill>
              </a:rPr>
              <a:t>Apurv</a:t>
            </a:r>
            <a:r>
              <a:rPr lang="en-GB" dirty="0">
                <a:solidFill>
                  <a:schemeClr val="tx1"/>
                </a:solidFill>
              </a:rPr>
              <a:t> </a:t>
            </a:r>
            <a:r>
              <a:rPr lang="en-GB" dirty="0" err="1">
                <a:solidFill>
                  <a:schemeClr val="tx1"/>
                </a:solidFill>
              </a:rPr>
              <a:t>Sambhare</a:t>
            </a:r>
            <a:r>
              <a:rPr lang="en-GB" dirty="0">
                <a:solidFill>
                  <a:schemeClr val="tx1"/>
                </a:solidFill>
              </a:rPr>
              <a:t>(H095)</a:t>
            </a:r>
            <a:r>
              <a:rPr dirty="0">
                <a:solidFill>
                  <a:schemeClr val="tx1"/>
                </a:solidFill>
              </a:rPr>
              <a:t>], [</a:t>
            </a:r>
            <a:r>
              <a:rPr lang="en-GB" dirty="0">
                <a:solidFill>
                  <a:schemeClr val="tx1"/>
                </a:solidFill>
              </a:rPr>
              <a:t>Chaitanya Sontakke(H093)</a:t>
            </a:r>
            <a:r>
              <a:rPr dirty="0">
                <a:solidFill>
                  <a:schemeClr val="tx1"/>
                </a:solidFill>
              </a:rPr>
              <a:t>]</a:t>
            </a:r>
          </a:p>
          <a:p>
            <a:pPr>
              <a:defRPr sz="1800"/>
            </a:pPr>
            <a:r>
              <a:rPr dirty="0">
                <a:solidFill>
                  <a:schemeClr val="tx1"/>
                </a:solidFill>
              </a:rPr>
              <a:t>Course: Dynamic System Modeling (702MH0C023)</a:t>
            </a:r>
          </a:p>
          <a:p>
            <a:pPr>
              <a:defRPr sz="1800"/>
            </a:pPr>
            <a:r>
              <a:rPr dirty="0" err="1">
                <a:solidFill>
                  <a:schemeClr val="tx1"/>
                </a:solidFill>
              </a:rPr>
              <a:t>B.Tech</a:t>
            </a:r>
            <a:r>
              <a:rPr dirty="0">
                <a:solidFill>
                  <a:schemeClr val="tx1"/>
                </a:solidFill>
              </a:rPr>
              <a:t> Mechatronics, Sem IV | NMIMS MPSTME Mumbai</a:t>
            </a:r>
          </a:p>
          <a:p>
            <a:pPr>
              <a:defRPr sz="1800"/>
            </a:pPr>
            <a:r>
              <a:rPr dirty="0">
                <a:solidFill>
                  <a:schemeClr val="tx1"/>
                </a:solidFill>
              </a:rPr>
              <a:t>Category: [C] | Complexity: [Medium]</a:t>
            </a:r>
          </a:p>
          <a:p>
            <a:pPr>
              <a:defRPr sz="1800"/>
            </a:pPr>
            <a:r>
              <a:rPr dirty="0">
                <a:solidFill>
                  <a:schemeClr val="tx1"/>
                </a:solidFill>
              </a:rPr>
              <a:t>COs Exercised: [CO1, CO2, CO3, CO4, CO5] | Date: [</a:t>
            </a:r>
            <a:r>
              <a:rPr lang="en-GB" dirty="0">
                <a:solidFill>
                  <a:schemeClr val="tx1"/>
                </a:solidFill>
              </a:rPr>
              <a:t>24</a:t>
            </a:r>
            <a:r>
              <a:rPr dirty="0">
                <a:solidFill>
                  <a:schemeClr val="tx1"/>
                </a:solidFill>
              </a:rPr>
              <a:t>/</a:t>
            </a:r>
            <a:r>
              <a:rPr lang="en-GB" dirty="0">
                <a:solidFill>
                  <a:schemeClr val="tx1"/>
                </a:solidFill>
              </a:rPr>
              <a:t>04</a:t>
            </a:r>
            <a:r>
              <a:rPr dirty="0">
                <a:solidFill>
                  <a:schemeClr val="tx1"/>
                </a:solidFill>
              </a:rPr>
              <a:t>/</a:t>
            </a:r>
            <a:r>
              <a:rPr lang="en-GB" dirty="0">
                <a:solidFill>
                  <a:schemeClr val="tx1"/>
                </a:solidFill>
              </a:rPr>
              <a:t>2026</a:t>
            </a:r>
            <a:r>
              <a:rPr dirty="0">
                <a:solidFill>
                  <a:schemeClr val="tx1"/>
                </a:solidFill>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800" b="1">
                <a:solidFill>
                  <a:srgbClr val="1F4E79"/>
                </a:solidFill>
              </a:defRPr>
            </a:pPr>
            <a:r>
              <a:rPr dirty="0"/>
              <a:t> </a:t>
            </a:r>
          </a:p>
        </p:txBody>
      </p:sp>
      <p:sp>
        <p:nvSpPr>
          <p:cNvPr id="3" name="Content Placeholder 2"/>
          <p:cNvSpPr>
            <a:spLocks noGrp="1"/>
          </p:cNvSpPr>
          <p:nvPr>
            <p:ph idx="1"/>
          </p:nvPr>
        </p:nvSpPr>
        <p:spPr>
          <a:xfrm>
            <a:off x="683342" y="1600200"/>
            <a:ext cx="6976533" cy="4525963"/>
          </a:xfrm>
        </p:spPr>
        <p:txBody>
          <a:bodyPr>
            <a:normAutofit fontScale="25000" lnSpcReduction="20000"/>
          </a:bodyPr>
          <a:lstStyle/>
          <a:p>
            <a:pPr marL="0" indent="0">
              <a:buNone/>
            </a:pPr>
            <a:r>
              <a:rPr lang="en-IN" sz="6200" b="1" dirty="0"/>
              <a:t>System Description</a:t>
            </a:r>
            <a:endParaRPr lang="en-IN" sz="6200" dirty="0"/>
          </a:p>
          <a:p>
            <a:pPr marL="0" indent="0">
              <a:buNone/>
            </a:pPr>
            <a:r>
              <a:rPr lang="en-IN" sz="6200" dirty="0"/>
              <a:t>The selected system is a two-wheeled self-balancing robot model as an Inverted Pendulum mounted on a moving base. The objective of the system is to maintain an upright position by dynamically adjusting wheel motion in response to tilt.</a:t>
            </a:r>
          </a:p>
          <a:p>
            <a:pPr marL="0" indent="0">
              <a:buNone/>
            </a:pPr>
            <a:endParaRPr lang="en-IN" sz="6200" dirty="0"/>
          </a:p>
          <a:p>
            <a:pPr marL="0" indent="0">
              <a:buNone/>
            </a:pPr>
            <a:r>
              <a:rPr lang="en-IN" sz="6200" b="1" dirty="0"/>
              <a:t>Real-World Applications</a:t>
            </a:r>
            <a:endParaRPr lang="en-IN" sz="6200" dirty="0"/>
          </a:p>
          <a:p>
            <a:pPr marL="0" indent="0">
              <a:buNone/>
            </a:pPr>
            <a:r>
              <a:rPr lang="en-IN" sz="6200" b="1" dirty="0"/>
              <a:t>Personal Transport Systems</a:t>
            </a:r>
            <a:endParaRPr lang="en-IN" sz="6200" dirty="0"/>
          </a:p>
          <a:p>
            <a:pPr marL="0" indent="0">
              <a:buNone/>
            </a:pPr>
            <a:r>
              <a:rPr lang="en-IN" sz="6200" dirty="0"/>
              <a:t>Self-balancing robots are used in devices like the Segway PT, where dynamic balancing allows smooth and</a:t>
            </a:r>
            <a:r>
              <a:rPr lang="en-IN" sz="6200" b="1" dirty="0"/>
              <a:t> </a:t>
            </a:r>
            <a:r>
              <a:rPr lang="en-IN" sz="6200" dirty="0"/>
              <a:t>stable human transportation.</a:t>
            </a:r>
          </a:p>
          <a:p>
            <a:pPr marL="0" indent="0">
              <a:buNone/>
            </a:pPr>
            <a:r>
              <a:rPr lang="en-IN" sz="6200" b="1" dirty="0"/>
              <a:t>Warehouse &amp; Industrial Robotics</a:t>
            </a:r>
            <a:endParaRPr lang="en-IN" sz="6200" dirty="0"/>
          </a:p>
          <a:p>
            <a:pPr marL="0" indent="0">
              <a:buNone/>
            </a:pPr>
            <a:r>
              <a:rPr lang="en-IN" sz="6200" dirty="0"/>
              <a:t>Used in autonomous robots for material handling, where balance control enables efficient navigation in tight spaces and uneven loads</a:t>
            </a:r>
          </a:p>
          <a:p>
            <a:pPr marL="0" indent="0">
              <a:buNone/>
            </a:pPr>
            <a:endParaRPr lang="en-IN" sz="6200" dirty="0"/>
          </a:p>
          <a:p>
            <a:pPr marL="0" indent="0">
              <a:buNone/>
            </a:pPr>
            <a:r>
              <a:rPr lang="en-GB" sz="6400" b="1" dirty="0"/>
              <a:t>Problem Statement</a:t>
            </a:r>
          </a:p>
          <a:p>
            <a:pPr marL="0" indent="0">
              <a:buNone/>
            </a:pPr>
            <a:r>
              <a:rPr lang="en-GB" sz="6400" dirty="0"/>
              <a:t>The objective is to model and simulate a two-wheeled self-balancing robot, which behaves like an Inverted Pendulum. The system is inherently unstable and requires motor torque input to maintain upright balance. The goal is to derive its equations of motion, simulate the dynamics, and </a:t>
            </a:r>
            <a:r>
              <a:rPr lang="en-GB" sz="6400" dirty="0" err="1"/>
              <a:t>analyze</a:t>
            </a:r>
            <a:r>
              <a:rPr lang="en-GB" sz="6400" dirty="0"/>
              <a:t> stability under disturbances.</a:t>
            </a:r>
          </a:p>
          <a:p>
            <a:pPr marL="0" indent="0">
              <a:buNone/>
            </a:pPr>
            <a:endParaRPr lang="en-IN" sz="6400" dirty="0"/>
          </a:p>
          <a:p>
            <a:pPr marL="0" indent="0">
              <a:buNone/>
              <a:defRPr sz="1800"/>
            </a:pPr>
            <a:endParaRPr lang="en-IN" sz="6200" dirty="0"/>
          </a:p>
          <a:p>
            <a:pPr marL="0" indent="0">
              <a:buNone/>
              <a:defRPr sz="1800"/>
            </a:pPr>
            <a:endParaRPr lang="en-IN" sz="6200" dirty="0"/>
          </a:p>
          <a:p>
            <a:pPr>
              <a:defRPr sz="1800"/>
            </a:pPr>
            <a:endParaRPr lang="en-IN" dirty="0"/>
          </a:p>
          <a:p>
            <a:pPr>
              <a:defRPr sz="1800"/>
            </a:pPr>
            <a:endParaRPr lang="en-IN" dirty="0"/>
          </a:p>
          <a:p>
            <a:pPr>
              <a:defRPr sz="1800"/>
            </a:pPr>
            <a:endParaRPr lang="en-IN" dirty="0"/>
          </a:p>
          <a:p>
            <a:pPr>
              <a:defRPr sz="1800"/>
            </a:pPr>
            <a:endParaRPr dirty="0"/>
          </a:p>
        </p:txBody>
      </p:sp>
      <p:pic>
        <p:nvPicPr>
          <p:cNvPr id="5" name="Picture 4">
            <a:extLst>
              <a:ext uri="{FF2B5EF4-FFF2-40B4-BE49-F238E27FC236}">
                <a16:creationId xmlns:a16="http://schemas.microsoft.com/office/drawing/2014/main" id="{80887377-9B7A-E532-0761-58F8EF4DE0B3}"/>
              </a:ext>
            </a:extLst>
          </p:cNvPr>
          <p:cNvPicPr>
            <a:picLocks noChangeAspect="1"/>
          </p:cNvPicPr>
          <p:nvPr/>
        </p:nvPicPr>
        <p:blipFill>
          <a:blip r:embed="rId3"/>
          <a:stretch>
            <a:fillRect/>
          </a:stretch>
        </p:blipFill>
        <p:spPr>
          <a:xfrm>
            <a:off x="8686800" y="1417638"/>
            <a:ext cx="2466975" cy="1847850"/>
          </a:xfrm>
          <a:prstGeom prst="rect">
            <a:avLst/>
          </a:prstGeom>
        </p:spPr>
      </p:pic>
      <p:pic>
        <p:nvPicPr>
          <p:cNvPr id="7" name="Picture 6">
            <a:extLst>
              <a:ext uri="{FF2B5EF4-FFF2-40B4-BE49-F238E27FC236}">
                <a16:creationId xmlns:a16="http://schemas.microsoft.com/office/drawing/2014/main" id="{E4E1A890-0BF5-F149-D2CD-62DFE840DE73}"/>
              </a:ext>
            </a:extLst>
          </p:cNvPr>
          <p:cNvPicPr>
            <a:picLocks noChangeAspect="1"/>
          </p:cNvPicPr>
          <p:nvPr/>
        </p:nvPicPr>
        <p:blipFill>
          <a:blip r:embed="rId4"/>
          <a:stretch>
            <a:fillRect/>
          </a:stretch>
        </p:blipFill>
        <p:spPr>
          <a:xfrm>
            <a:off x="8558212" y="4300247"/>
            <a:ext cx="2724150" cy="1676400"/>
          </a:xfrm>
          <a:prstGeom prst="rect">
            <a:avLst/>
          </a:prstGeom>
        </p:spPr>
      </p:pic>
      <p:sp>
        <p:nvSpPr>
          <p:cNvPr id="9" name="TextBox 8">
            <a:extLst>
              <a:ext uri="{FF2B5EF4-FFF2-40B4-BE49-F238E27FC236}">
                <a16:creationId xmlns:a16="http://schemas.microsoft.com/office/drawing/2014/main" id="{A8F491B8-936D-A080-695F-1AF9CC280AA5}"/>
              </a:ext>
            </a:extLst>
          </p:cNvPr>
          <p:cNvSpPr txBox="1"/>
          <p:nvPr/>
        </p:nvSpPr>
        <p:spPr>
          <a:xfrm>
            <a:off x="351400" y="614170"/>
            <a:ext cx="9956800" cy="646331"/>
          </a:xfrm>
          <a:prstGeom prst="rect">
            <a:avLst/>
          </a:prstGeom>
          <a:noFill/>
        </p:spPr>
        <p:txBody>
          <a:bodyPr wrap="square">
            <a:spAutoFit/>
          </a:bodyPr>
          <a:lstStyle/>
          <a:p>
            <a:r>
              <a:rPr lang="en-IN" sz="3600" dirty="0">
                <a:solidFill>
                  <a:schemeClr val="accent2">
                    <a:lumMod val="50000"/>
                  </a:schemeClr>
                </a:solidFill>
                <a:latin typeface="Algerian" panose="04020705040A02060702" pitchFamily="82" charset="0"/>
              </a:rPr>
              <a:t>2 DOF Self-Balancing Robot-Introduction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40909"/>
            <a:ext cx="8229600" cy="1143000"/>
          </a:xfrm>
        </p:spPr>
        <p:txBody>
          <a:bodyPr>
            <a:normAutofit fontScale="90000"/>
          </a:bodyPr>
          <a:lstStyle/>
          <a:p>
            <a:pPr>
              <a:defRPr sz="2800" b="1">
                <a:solidFill>
                  <a:srgbClr val="1F4E79"/>
                </a:solidFill>
              </a:defRPr>
            </a:pPr>
            <a:r>
              <a:rPr lang="en-IN" sz="3600" dirty="0">
                <a:latin typeface="Algerian" panose="04020705040A02060702" pitchFamily="82" charset="0"/>
              </a:rPr>
              <a:t>Problem Formulation &amp; Assumptions</a:t>
            </a:r>
            <a:endParaRPr sz="3600" dirty="0">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2116" y="1236407"/>
                <a:ext cx="6307667" cy="4983162"/>
              </a:xfrm>
            </p:spPr>
            <p:txBody>
              <a:bodyPr>
                <a:noAutofit/>
              </a:bodyPr>
              <a:lstStyle/>
              <a:p>
                <a:pPr marL="0" indent="0">
                  <a:buNone/>
                </a:pPr>
                <a:r>
                  <a:rPr lang="en-IN" sz="1100" b="1" dirty="0"/>
                  <a:t>Inputs, Outputs, and State Variables</a:t>
                </a:r>
                <a:endParaRPr lang="en-IN" sz="1100" dirty="0"/>
              </a:p>
              <a:p>
                <a:pPr marL="0" indent="0">
                  <a:buNone/>
                </a:pPr>
                <a:r>
                  <a:rPr lang="en-IN" sz="1100" dirty="0"/>
                  <a:t>Input</a:t>
                </a:r>
              </a:p>
              <a:p>
                <a:pPr marL="0" lvl="0" indent="0">
                  <a:buNone/>
                </a:pPr>
                <a14:m>
                  <m:oMath xmlns:m="http://schemas.openxmlformats.org/officeDocument/2006/math">
                    <m:r>
                      <a:rPr lang="en-IN" sz="1100" i="1">
                        <a:latin typeface="Cambria Math" panose="02040503050406030204" pitchFamily="18" charset="0"/>
                      </a:rPr>
                      <m:t>𝑢</m:t>
                    </m:r>
                    <m:r>
                      <a:rPr lang="en-IN" sz="1100" i="1">
                        <a:latin typeface="Cambria Math" panose="02040503050406030204" pitchFamily="18" charset="0"/>
                      </a:rPr>
                      <m:t>(</m:t>
                    </m:r>
                    <m:r>
                      <a:rPr lang="en-IN" sz="1100" i="1">
                        <a:latin typeface="Cambria Math" panose="02040503050406030204" pitchFamily="18" charset="0"/>
                      </a:rPr>
                      <m:t>𝑡</m:t>
                    </m:r>
                    <m:r>
                      <a:rPr lang="en-IN" sz="1100" i="1">
                        <a:latin typeface="Cambria Math" panose="02040503050406030204" pitchFamily="18" charset="0"/>
                      </a:rPr>
                      <m:t>)=2</m:t>
                    </m:r>
                    <m:sSub>
                      <m:sSubPr>
                        <m:ctrlPr>
                          <a:rPr lang="en-IN" sz="1100" i="1">
                            <a:latin typeface="Cambria Math" panose="02040503050406030204" pitchFamily="18" charset="0"/>
                          </a:rPr>
                        </m:ctrlPr>
                      </m:sSubPr>
                      <m:e>
                        <m:r>
                          <a:rPr lang="en-IN" sz="1100" i="1">
                            <a:latin typeface="Cambria Math" panose="02040503050406030204" pitchFamily="18" charset="0"/>
                          </a:rPr>
                          <m:t>𝑇</m:t>
                        </m:r>
                      </m:e>
                      <m:sub>
                        <m:r>
                          <a:rPr lang="en-IN" sz="1100" i="1">
                            <a:latin typeface="Cambria Math" panose="02040503050406030204" pitchFamily="18" charset="0"/>
                          </a:rPr>
                          <m:t>𝑤</m:t>
                        </m:r>
                      </m:sub>
                    </m:sSub>
                  </m:oMath>
                </a14:m>
                <a:r>
                  <a:rPr lang="en-IN" sz="1100" dirty="0"/>
                  <a:t>: Total motor torque applied to wheels </a:t>
                </a:r>
              </a:p>
              <a:p>
                <a:pPr marL="0" indent="0">
                  <a:buNone/>
                </a:pPr>
                <a:r>
                  <a:rPr lang="en-IN" sz="1100" dirty="0"/>
                  <a:t> </a:t>
                </a:r>
              </a:p>
              <a:p>
                <a:pPr marL="0" indent="0">
                  <a:buNone/>
                </a:pPr>
                <a:r>
                  <a:rPr lang="en-IN" sz="1100" b="1" dirty="0"/>
                  <a:t> </a:t>
                </a:r>
                <a:endParaRPr lang="en-IN" sz="1100" dirty="0"/>
              </a:p>
              <a:p>
                <a:pPr marL="0" indent="0">
                  <a:buNone/>
                </a:pPr>
                <a:r>
                  <a:rPr lang="en-IN" sz="1100" b="1" dirty="0"/>
                  <a:t>Disturbance Input</a:t>
                </a:r>
                <a:endParaRPr lang="en-IN" sz="1100" dirty="0"/>
              </a:p>
              <a:p>
                <a:pPr marL="0" lvl="0" indent="0">
                  <a:buNone/>
                </a:pPr>
                <a14:m>
                  <m:oMath xmlns:m="http://schemas.openxmlformats.org/officeDocument/2006/math">
                    <m:sSub>
                      <m:sSubPr>
                        <m:ctrlPr>
                          <a:rPr lang="en-IN" sz="1100" i="1">
                            <a:latin typeface="Cambria Math" panose="02040503050406030204" pitchFamily="18" charset="0"/>
                          </a:rPr>
                        </m:ctrlPr>
                      </m:sSubPr>
                      <m:e>
                        <m:r>
                          <a:rPr lang="en-IN" sz="1100" i="1">
                            <a:latin typeface="Cambria Math" panose="02040503050406030204" pitchFamily="18" charset="0"/>
                          </a:rPr>
                          <m:t>𝐹</m:t>
                        </m:r>
                      </m:e>
                      <m:sub>
                        <m:r>
                          <a:rPr lang="en-IN" sz="1100" i="1">
                            <a:latin typeface="Cambria Math" panose="02040503050406030204" pitchFamily="18" charset="0"/>
                          </a:rPr>
                          <m:t>𝑑</m:t>
                        </m:r>
                      </m:sub>
                    </m:sSub>
                  </m:oMath>
                </a14:m>
                <a:r>
                  <a:rPr lang="en-IN" sz="1100" dirty="0"/>
                  <a:t>: External disturbance force acting at the top of the body </a:t>
                </a:r>
              </a:p>
              <a:p>
                <a:pPr marL="0" indent="0">
                  <a:buNone/>
                </a:pPr>
                <a:r>
                  <a:rPr lang="en-IN" sz="1100" dirty="0"/>
                  <a:t> </a:t>
                </a:r>
              </a:p>
              <a:p>
                <a:pPr marL="0" indent="0">
                  <a:buNone/>
                </a:pPr>
                <a:r>
                  <a:rPr lang="en-IN" sz="1100" b="1" dirty="0"/>
                  <a:t>Outputs</a:t>
                </a:r>
                <a:endParaRPr lang="en-IN" sz="1100" dirty="0"/>
              </a:p>
              <a:p>
                <a:pPr marL="0" lvl="0" indent="0">
                  <a:buNone/>
                </a:pPr>
                <a14:m>
                  <m:oMath xmlns:m="http://schemas.openxmlformats.org/officeDocument/2006/math">
                    <m:r>
                      <a:rPr lang="en-IN" sz="1100" i="1">
                        <a:latin typeface="Cambria Math" panose="02040503050406030204" pitchFamily="18" charset="0"/>
                      </a:rPr>
                      <m:t>𝜃</m:t>
                    </m:r>
                    <m:r>
                      <a:rPr lang="en-IN" sz="1100" i="1">
                        <a:latin typeface="Cambria Math" panose="02040503050406030204" pitchFamily="18" charset="0"/>
                      </a:rPr>
                      <m:t>(</m:t>
                    </m:r>
                    <m:r>
                      <a:rPr lang="en-IN" sz="1100" i="1">
                        <a:latin typeface="Cambria Math" panose="02040503050406030204" pitchFamily="18" charset="0"/>
                      </a:rPr>
                      <m:t>𝑡</m:t>
                    </m:r>
                    <m:r>
                      <a:rPr lang="en-IN" sz="1100" i="1">
                        <a:latin typeface="Cambria Math" panose="02040503050406030204" pitchFamily="18" charset="0"/>
                      </a:rPr>
                      <m:t>)</m:t>
                    </m:r>
                  </m:oMath>
                </a14:m>
                <a:r>
                  <a:rPr lang="en-IN" sz="1100" dirty="0"/>
                  <a:t>: Tilt angle </a:t>
                </a:r>
              </a:p>
              <a:p>
                <a:pPr marL="0" lvl="0" indent="0">
                  <a:buNone/>
                </a:pPr>
                <a14:m>
                  <m:oMath xmlns:m="http://schemas.openxmlformats.org/officeDocument/2006/math">
                    <m:r>
                      <a:rPr lang="en-IN" sz="1100" i="1">
                        <a:latin typeface="Cambria Math" panose="02040503050406030204" pitchFamily="18" charset="0"/>
                      </a:rPr>
                      <m:t>𝑥</m:t>
                    </m:r>
                    <m:r>
                      <a:rPr lang="en-IN" sz="1100" i="1">
                        <a:latin typeface="Cambria Math" panose="02040503050406030204" pitchFamily="18" charset="0"/>
                      </a:rPr>
                      <m:t>(</m:t>
                    </m:r>
                    <m:r>
                      <a:rPr lang="en-IN" sz="1100" i="1">
                        <a:latin typeface="Cambria Math" panose="02040503050406030204" pitchFamily="18" charset="0"/>
                      </a:rPr>
                      <m:t>𝑡</m:t>
                    </m:r>
                    <m:r>
                      <a:rPr lang="en-IN" sz="1100" i="1">
                        <a:latin typeface="Cambria Math" panose="02040503050406030204" pitchFamily="18" charset="0"/>
                      </a:rPr>
                      <m:t>)</m:t>
                    </m:r>
                  </m:oMath>
                </a14:m>
                <a:r>
                  <a:rPr lang="en-IN" sz="1100" dirty="0"/>
                  <a:t>: Horizontal position </a:t>
                </a:r>
              </a:p>
              <a:p>
                <a:pPr marL="0" indent="0">
                  <a:buNone/>
                </a:pPr>
                <a:r>
                  <a:rPr lang="en-IN" sz="1100" b="1" dirty="0"/>
                  <a:t>State Variables</a:t>
                </a:r>
                <a:endParaRPr lang="en-IN" sz="1100" dirty="0"/>
              </a:p>
              <a:p>
                <a:pPr marL="0" lvl="0" indent="0">
                  <a:buNone/>
                </a:pPr>
                <a14:m>
                  <m:oMath xmlns:m="http://schemas.openxmlformats.org/officeDocument/2006/math">
                    <m:sSub>
                      <m:sSubPr>
                        <m:ctrlPr>
                          <a:rPr lang="en-IN" sz="1100" i="1">
                            <a:latin typeface="Cambria Math" panose="02040503050406030204" pitchFamily="18" charset="0"/>
                          </a:rPr>
                        </m:ctrlPr>
                      </m:sSubPr>
                      <m:e>
                        <m:r>
                          <a:rPr lang="en-IN" sz="1100" i="1">
                            <a:latin typeface="Cambria Math" panose="02040503050406030204" pitchFamily="18" charset="0"/>
                          </a:rPr>
                          <m:t>𝑥</m:t>
                        </m:r>
                      </m:e>
                      <m:sub>
                        <m:r>
                          <a:rPr lang="en-IN" sz="1100" i="1">
                            <a:latin typeface="Cambria Math" panose="02040503050406030204" pitchFamily="18" charset="0"/>
                          </a:rPr>
                          <m:t>1</m:t>
                        </m:r>
                      </m:sub>
                    </m:sSub>
                    <m:r>
                      <a:rPr lang="en-IN" sz="1100" i="1">
                        <a:latin typeface="Cambria Math" panose="02040503050406030204" pitchFamily="18" charset="0"/>
                      </a:rPr>
                      <m:t>=</m:t>
                    </m:r>
                    <m:r>
                      <a:rPr lang="en-IN" sz="1100" i="1">
                        <a:latin typeface="Cambria Math" panose="02040503050406030204" pitchFamily="18" charset="0"/>
                      </a:rPr>
                      <m:t>𝑥</m:t>
                    </m:r>
                  </m:oMath>
                </a14:m>
                <a:r>
                  <a:rPr lang="en-IN" sz="1100" dirty="0"/>
                  <a:t>: Position </a:t>
                </a:r>
              </a:p>
              <a:p>
                <a:pPr marL="0" lvl="0" indent="0">
                  <a:buNone/>
                </a:pPr>
                <a14:m>
                  <m:oMath xmlns:m="http://schemas.openxmlformats.org/officeDocument/2006/math">
                    <m:sSub>
                      <m:sSubPr>
                        <m:ctrlPr>
                          <a:rPr lang="en-IN" sz="1100" i="1">
                            <a:latin typeface="Cambria Math" panose="02040503050406030204" pitchFamily="18" charset="0"/>
                          </a:rPr>
                        </m:ctrlPr>
                      </m:sSubPr>
                      <m:e>
                        <m:r>
                          <a:rPr lang="en-IN" sz="1100" i="1">
                            <a:latin typeface="Cambria Math" panose="02040503050406030204" pitchFamily="18" charset="0"/>
                          </a:rPr>
                          <m:t>𝑥</m:t>
                        </m:r>
                      </m:e>
                      <m:sub>
                        <m:r>
                          <a:rPr lang="en-IN" sz="1100" i="1">
                            <a:latin typeface="Cambria Math" panose="02040503050406030204" pitchFamily="18" charset="0"/>
                          </a:rPr>
                          <m:t>2</m:t>
                        </m:r>
                      </m:sub>
                    </m:sSub>
                    <m:r>
                      <a:rPr lang="en-IN" sz="1100" i="1">
                        <a:latin typeface="Cambria Math" panose="02040503050406030204" pitchFamily="18" charset="0"/>
                      </a:rPr>
                      <m:t>=</m:t>
                    </m:r>
                    <m:acc>
                      <m:accPr>
                        <m:chr m:val="̇"/>
                        <m:ctrlPr>
                          <a:rPr lang="en-IN" sz="1100" i="1">
                            <a:latin typeface="Cambria Math" panose="02040503050406030204" pitchFamily="18" charset="0"/>
                          </a:rPr>
                        </m:ctrlPr>
                      </m:accPr>
                      <m:e>
                        <m:r>
                          <a:rPr lang="en-IN" sz="1100" i="1">
                            <a:latin typeface="Cambria Math" panose="02040503050406030204" pitchFamily="18" charset="0"/>
                          </a:rPr>
                          <m:t>𝑥</m:t>
                        </m:r>
                      </m:e>
                    </m:acc>
                  </m:oMath>
                </a14:m>
                <a:r>
                  <a:rPr lang="en-IN" sz="1100" dirty="0"/>
                  <a:t>: Velocity </a:t>
                </a:r>
              </a:p>
              <a:p>
                <a:pPr marL="0" lvl="0" indent="0">
                  <a:buNone/>
                </a:pPr>
                <a14:m>
                  <m:oMath xmlns:m="http://schemas.openxmlformats.org/officeDocument/2006/math">
                    <m:sSub>
                      <m:sSubPr>
                        <m:ctrlPr>
                          <a:rPr lang="en-IN" sz="1100" i="1">
                            <a:latin typeface="Cambria Math" panose="02040503050406030204" pitchFamily="18" charset="0"/>
                          </a:rPr>
                        </m:ctrlPr>
                      </m:sSubPr>
                      <m:e>
                        <m:r>
                          <a:rPr lang="en-IN" sz="1100" i="1">
                            <a:latin typeface="Cambria Math" panose="02040503050406030204" pitchFamily="18" charset="0"/>
                          </a:rPr>
                          <m:t>𝑥</m:t>
                        </m:r>
                      </m:e>
                      <m:sub>
                        <m:r>
                          <a:rPr lang="en-IN" sz="1100" i="1">
                            <a:latin typeface="Cambria Math" panose="02040503050406030204" pitchFamily="18" charset="0"/>
                          </a:rPr>
                          <m:t>3</m:t>
                        </m:r>
                      </m:sub>
                    </m:sSub>
                    <m:r>
                      <a:rPr lang="en-IN" sz="1100" i="1">
                        <a:latin typeface="Cambria Math" panose="02040503050406030204" pitchFamily="18" charset="0"/>
                      </a:rPr>
                      <m:t>=</m:t>
                    </m:r>
                    <m:r>
                      <a:rPr lang="en-IN" sz="1100" i="1">
                        <a:latin typeface="Cambria Math" panose="02040503050406030204" pitchFamily="18" charset="0"/>
                      </a:rPr>
                      <m:t>𝜃</m:t>
                    </m:r>
                  </m:oMath>
                </a14:m>
                <a:r>
                  <a:rPr lang="en-IN" sz="1100" dirty="0"/>
                  <a:t>: Tilt angle </a:t>
                </a:r>
              </a:p>
              <a:p>
                <a:pPr marL="0" lvl="0" indent="0">
                  <a:buNone/>
                </a:pPr>
                <a14:m>
                  <m:oMath xmlns:m="http://schemas.openxmlformats.org/officeDocument/2006/math">
                    <m:sSub>
                      <m:sSubPr>
                        <m:ctrlPr>
                          <a:rPr lang="en-IN" sz="1100" i="1">
                            <a:latin typeface="Cambria Math" panose="02040503050406030204" pitchFamily="18" charset="0"/>
                          </a:rPr>
                        </m:ctrlPr>
                      </m:sSubPr>
                      <m:e>
                        <m:r>
                          <a:rPr lang="en-IN" sz="1100" i="1">
                            <a:latin typeface="Cambria Math" panose="02040503050406030204" pitchFamily="18" charset="0"/>
                          </a:rPr>
                          <m:t>𝑥</m:t>
                        </m:r>
                      </m:e>
                      <m:sub>
                        <m:r>
                          <a:rPr lang="en-IN" sz="1100" i="1">
                            <a:latin typeface="Cambria Math" panose="02040503050406030204" pitchFamily="18" charset="0"/>
                          </a:rPr>
                          <m:t>4</m:t>
                        </m:r>
                      </m:sub>
                    </m:sSub>
                    <m:r>
                      <a:rPr lang="en-IN" sz="1100" i="1">
                        <a:latin typeface="Cambria Math" panose="02040503050406030204" pitchFamily="18" charset="0"/>
                      </a:rPr>
                      <m:t>=</m:t>
                    </m:r>
                    <m:acc>
                      <m:accPr>
                        <m:chr m:val="̇"/>
                        <m:ctrlPr>
                          <a:rPr lang="en-IN" sz="1100" i="1">
                            <a:latin typeface="Cambria Math" panose="02040503050406030204" pitchFamily="18" charset="0"/>
                          </a:rPr>
                        </m:ctrlPr>
                      </m:accPr>
                      <m:e>
                        <m:r>
                          <a:rPr lang="en-IN" sz="1100" i="1">
                            <a:latin typeface="Cambria Math" panose="02040503050406030204" pitchFamily="18" charset="0"/>
                          </a:rPr>
                          <m:t>𝜃</m:t>
                        </m:r>
                      </m:e>
                    </m:acc>
                  </m:oMath>
                </a14:m>
                <a:r>
                  <a:rPr lang="en-IN" sz="1100" dirty="0"/>
                  <a:t>: Angular velocity</a:t>
                </a:r>
              </a:p>
              <a:p>
                <a:pPr marL="0" indent="0">
                  <a:buNone/>
                </a:pPr>
                <a:r>
                  <a:rPr lang="en-IN" sz="1100" b="1" dirty="0"/>
                  <a:t>System Parameters (From FBD)</a:t>
                </a:r>
                <a:endParaRPr lang="en-IN" sz="1100" dirty="0"/>
              </a:p>
              <a:p>
                <a:pPr marL="0" lvl="0" indent="0">
                  <a:buNone/>
                </a:pPr>
                <a14:m>
                  <m:oMath xmlns:m="http://schemas.openxmlformats.org/officeDocument/2006/math">
                    <m:r>
                      <a:rPr lang="en-IN" sz="1100" i="1">
                        <a:latin typeface="Cambria Math" panose="02040503050406030204" pitchFamily="18" charset="0"/>
                      </a:rPr>
                      <m:t>𝑀</m:t>
                    </m:r>
                  </m:oMath>
                </a14:m>
                <a:r>
                  <a:rPr lang="en-IN" sz="1100" dirty="0"/>
                  <a:t>: Mass of robot body </a:t>
                </a:r>
              </a:p>
              <a:p>
                <a:pPr marL="0" lvl="0" indent="0">
                  <a:buNone/>
                </a:pPr>
                <a14:m>
                  <m:oMath xmlns:m="http://schemas.openxmlformats.org/officeDocument/2006/math">
                    <m:r>
                      <a:rPr lang="en-IN" sz="1100" i="1">
                        <a:latin typeface="Cambria Math" panose="02040503050406030204" pitchFamily="18" charset="0"/>
                      </a:rPr>
                      <m:t>𝑚</m:t>
                    </m:r>
                  </m:oMath>
                </a14:m>
                <a:r>
                  <a:rPr lang="en-IN" sz="1100" dirty="0"/>
                  <a:t>: Mass of each wheel </a:t>
                </a:r>
              </a:p>
              <a:p>
                <a:pPr marL="0" lvl="0" indent="0">
                  <a:buNone/>
                </a:pPr>
                <a14:m>
                  <m:oMath xmlns:m="http://schemas.openxmlformats.org/officeDocument/2006/math">
                    <m:sSub>
                      <m:sSubPr>
                        <m:ctrlPr>
                          <a:rPr lang="en-IN" sz="1100" i="1">
                            <a:latin typeface="Cambria Math" panose="02040503050406030204" pitchFamily="18" charset="0"/>
                          </a:rPr>
                        </m:ctrlPr>
                      </m:sSubPr>
                      <m:e>
                        <m:r>
                          <a:rPr lang="en-IN" sz="1100" i="1">
                            <a:latin typeface="Cambria Math" panose="02040503050406030204" pitchFamily="18" charset="0"/>
                          </a:rPr>
                          <m:t>𝑙</m:t>
                        </m:r>
                      </m:e>
                      <m:sub>
                        <m:r>
                          <a:rPr lang="en-IN" sz="1100" i="1">
                            <a:latin typeface="Cambria Math" panose="02040503050406030204" pitchFamily="18" charset="0"/>
                          </a:rPr>
                          <m:t>𝐶𝐺</m:t>
                        </m:r>
                      </m:sub>
                    </m:sSub>
                  </m:oMath>
                </a14:m>
                <a:r>
                  <a:rPr lang="en-IN" sz="1100" dirty="0"/>
                  <a:t>: Distance from wheel axis to </a:t>
                </a:r>
                <a:r>
                  <a:rPr lang="en-IN" sz="1100" dirty="0" err="1"/>
                  <a:t>center</a:t>
                </a:r>
                <a:r>
                  <a:rPr lang="en-IN" sz="1100" dirty="0"/>
                  <a:t> of mass </a:t>
                </a:r>
              </a:p>
              <a:p>
                <a:pPr marL="0" lvl="0" indent="0">
                  <a:buNone/>
                </a:pPr>
                <a14:m>
                  <m:oMath xmlns:m="http://schemas.openxmlformats.org/officeDocument/2006/math">
                    <m:r>
                      <a:rPr lang="en-IN" sz="1100" i="1">
                        <a:latin typeface="Cambria Math" panose="02040503050406030204" pitchFamily="18" charset="0"/>
                      </a:rPr>
                      <m:t>𝑟</m:t>
                    </m:r>
                  </m:oMath>
                </a14:m>
                <a:r>
                  <a:rPr lang="en-IN" sz="1100" dirty="0"/>
                  <a:t>: Wheel radius </a:t>
                </a:r>
              </a:p>
              <a:p>
                <a:pPr marL="0" lvl="0" indent="0">
                  <a:buNone/>
                </a:pPr>
                <a14:m>
                  <m:oMath xmlns:m="http://schemas.openxmlformats.org/officeDocument/2006/math">
                    <m:sSub>
                      <m:sSubPr>
                        <m:ctrlPr>
                          <a:rPr lang="en-IN" sz="1100" i="1">
                            <a:latin typeface="Cambria Math" panose="02040503050406030204" pitchFamily="18" charset="0"/>
                          </a:rPr>
                        </m:ctrlPr>
                      </m:sSubPr>
                      <m:e>
                        <m:r>
                          <a:rPr lang="en-IN" sz="1100" i="1">
                            <a:latin typeface="Cambria Math" panose="02040503050406030204" pitchFamily="18" charset="0"/>
                          </a:rPr>
                          <m:t>𝐼</m:t>
                        </m:r>
                      </m:e>
                      <m:sub>
                        <m:r>
                          <a:rPr lang="en-IN" sz="1100" i="1">
                            <a:latin typeface="Cambria Math" panose="02040503050406030204" pitchFamily="18" charset="0"/>
                          </a:rPr>
                          <m:t>𝐶𝐺</m:t>
                        </m:r>
                      </m:sub>
                    </m:sSub>
                  </m:oMath>
                </a14:m>
                <a:r>
                  <a:rPr lang="en-IN" sz="1100" dirty="0"/>
                  <a:t>: Moment of inertia of body </a:t>
                </a:r>
              </a:p>
              <a:p>
                <a:pPr marL="0" lvl="0" indent="0">
                  <a:buNone/>
                </a:pPr>
                <a14:m>
                  <m:oMath xmlns:m="http://schemas.openxmlformats.org/officeDocument/2006/math">
                    <m:r>
                      <a:rPr lang="en-IN" sz="1100" i="1">
                        <a:latin typeface="Cambria Math" panose="02040503050406030204" pitchFamily="18" charset="0"/>
                      </a:rPr>
                      <m:t>𝐽</m:t>
                    </m:r>
                  </m:oMath>
                </a14:m>
                <a:r>
                  <a:rPr lang="en-IN" sz="1100" dirty="0"/>
                  <a:t>: Moment of inertia of each wheel </a:t>
                </a:r>
              </a:p>
              <a:p>
                <a:pPr marL="0" indent="0">
                  <a:buNone/>
                </a:pPr>
                <a14:m>
                  <m:oMath xmlns:m="http://schemas.openxmlformats.org/officeDocument/2006/math">
                    <m:r>
                      <a:rPr lang="en-IN" sz="1100" i="1">
                        <a:latin typeface="Cambria Math" panose="02040503050406030204" pitchFamily="18" charset="0"/>
                      </a:rPr>
                      <m:t>𝑔</m:t>
                    </m:r>
                  </m:oMath>
                </a14:m>
                <a:r>
                  <a:rPr lang="en-IN" sz="1100" dirty="0"/>
                  <a:t>: Gravitational acceleration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2116" y="1236407"/>
                <a:ext cx="6307667" cy="4983162"/>
              </a:xfrm>
              <a:blipFill>
                <a:blip r:embed="rId3"/>
                <a:stretch>
                  <a:fillRect t="-122" b="-42228"/>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5FA3B437-3306-453A-17CD-ACA7A46AED94}"/>
              </a:ext>
            </a:extLst>
          </p:cNvPr>
          <p:cNvSpPr txBox="1"/>
          <p:nvPr/>
        </p:nvSpPr>
        <p:spPr>
          <a:xfrm>
            <a:off x="6096000" y="1531410"/>
            <a:ext cx="6096000" cy="2800767"/>
          </a:xfrm>
          <a:prstGeom prst="rect">
            <a:avLst/>
          </a:prstGeom>
          <a:noFill/>
        </p:spPr>
        <p:txBody>
          <a:bodyPr wrap="square">
            <a:spAutoFit/>
          </a:bodyPr>
          <a:lstStyle/>
          <a:p>
            <a:r>
              <a:rPr lang="en-GB" sz="1100" b="1" dirty="0"/>
              <a:t>Assumptions with Physical Justification</a:t>
            </a:r>
          </a:p>
          <a:p>
            <a:endParaRPr lang="en-GB" sz="1100" dirty="0"/>
          </a:p>
          <a:p>
            <a:r>
              <a:rPr lang="en-GB" sz="1100" b="1" dirty="0"/>
              <a:t>No Slip Condition</a:t>
            </a:r>
          </a:p>
          <a:p>
            <a:r>
              <a:rPr lang="en-GB" sz="1100" dirty="0"/>
              <a:t>Wheels roll without slipping ensures x=</a:t>
            </a:r>
            <a:r>
              <a:rPr lang="en-GB" sz="1100" dirty="0" err="1"/>
              <a:t>rϕ</a:t>
            </a:r>
            <a:endParaRPr lang="en-GB" sz="1100" dirty="0"/>
          </a:p>
          <a:p>
            <a:endParaRPr lang="en-GB" sz="1100" b="1" dirty="0"/>
          </a:p>
          <a:p>
            <a:r>
              <a:rPr lang="en-GB" sz="1100" b="1" dirty="0"/>
              <a:t>Rigid Body Approximation</a:t>
            </a:r>
          </a:p>
          <a:p>
            <a:r>
              <a:rPr lang="en-GB" sz="1100" dirty="0"/>
              <a:t>Body and wheels do not deform </a:t>
            </a:r>
          </a:p>
          <a:p>
            <a:endParaRPr lang="en-GB" sz="1100" b="1" dirty="0"/>
          </a:p>
          <a:p>
            <a:r>
              <a:rPr lang="en-GB" sz="1100" b="1" dirty="0"/>
              <a:t>Planar Motion</a:t>
            </a:r>
          </a:p>
          <a:p>
            <a:r>
              <a:rPr lang="en-GB" sz="1100" dirty="0"/>
              <a:t>Motion restricted to 2D plane justified by symmetric wheels </a:t>
            </a:r>
          </a:p>
          <a:p>
            <a:endParaRPr lang="en-GB" sz="1100" dirty="0"/>
          </a:p>
          <a:p>
            <a:r>
              <a:rPr lang="en-GB" sz="1100" b="1" dirty="0"/>
              <a:t>Negligible Air Resistance</a:t>
            </a:r>
          </a:p>
          <a:p>
            <a:r>
              <a:rPr lang="en-GB" sz="1100" dirty="0"/>
              <a:t>Effect is very small compared to gravity and motor forces </a:t>
            </a:r>
          </a:p>
          <a:p>
            <a:endParaRPr lang="en-GB" sz="1100" dirty="0"/>
          </a:p>
          <a:p>
            <a:r>
              <a:rPr lang="en-GB" sz="1100" b="1" dirty="0"/>
              <a:t>Uniform Mass Distribution</a:t>
            </a:r>
          </a:p>
          <a:p>
            <a:r>
              <a:rPr lang="en-GB" sz="1100" dirty="0"/>
              <a:t>Allows use of </a:t>
            </a:r>
            <a:r>
              <a:rPr lang="en-GB" sz="1100" dirty="0" err="1"/>
              <a:t>I_CGas</a:t>
            </a:r>
            <a:r>
              <a:rPr lang="en-GB" sz="1100" dirty="0"/>
              <a:t> constant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solidFill>
                  <a:schemeClr val="accent2">
                    <a:lumMod val="50000"/>
                  </a:schemeClr>
                </a:solidFill>
                <a:latin typeface="Algerian" panose="04020705040A02060702" pitchFamily="82" charset="0"/>
              </a:rPr>
              <a:t>FBD-</a:t>
            </a:r>
            <a:r>
              <a:rPr lang="en-IN" sz="3600" dirty="0">
                <a:solidFill>
                  <a:schemeClr val="accent2">
                    <a:lumMod val="50000"/>
                  </a:schemeClr>
                </a:solidFill>
                <a:latin typeface="Algerian" panose="04020705040A02060702" pitchFamily="82" charset="0"/>
              </a:rPr>
              <a:t>2 DOF Self-Balancing Robot</a:t>
            </a:r>
            <a:endParaRPr sz="3600" dirty="0">
              <a:solidFill>
                <a:schemeClr val="accent2">
                  <a:lumMod val="50000"/>
                </a:schemeClr>
              </a:solidFill>
              <a:latin typeface="Algerian" panose="04020705040A02060702" pitchFamily="82" charset="0"/>
            </a:endParaRPr>
          </a:p>
        </p:txBody>
      </p:sp>
      <p:sp>
        <p:nvSpPr>
          <p:cNvPr id="4" name="TextBox 3"/>
          <p:cNvSpPr txBox="1"/>
          <p:nvPr/>
        </p:nvSpPr>
        <p:spPr>
          <a:xfrm>
            <a:off x="457200" y="1188720"/>
            <a:ext cx="10972800" cy="307777"/>
          </a:xfrm>
          <a:prstGeom prst="rect">
            <a:avLst/>
          </a:prstGeom>
          <a:noFill/>
        </p:spPr>
        <p:txBody>
          <a:bodyPr wrap="square">
            <a:spAutoFit/>
          </a:bodyPr>
          <a:lstStyle/>
          <a:p>
            <a:pPr>
              <a:defRPr sz="1400" i="1">
                <a:solidFill>
                  <a:srgbClr val="666666"/>
                </a:solidFill>
              </a:defRPr>
            </a:pPr>
            <a:r>
              <a:rPr dirty="0"/>
              <a:t>.</a:t>
            </a:r>
          </a:p>
        </p:txBody>
      </p:sp>
      <p:pic>
        <p:nvPicPr>
          <p:cNvPr id="6" name="Picture 5">
            <a:extLst>
              <a:ext uri="{FF2B5EF4-FFF2-40B4-BE49-F238E27FC236}">
                <a16:creationId xmlns:a16="http://schemas.microsoft.com/office/drawing/2014/main" id="{F86D7741-A0AB-7BD9-EC71-AC4ADBAFE0D0}"/>
              </a:ext>
            </a:extLst>
          </p:cNvPr>
          <p:cNvPicPr>
            <a:picLocks noChangeAspect="1"/>
          </p:cNvPicPr>
          <p:nvPr/>
        </p:nvPicPr>
        <p:blipFill>
          <a:blip r:embed="rId2"/>
          <a:stretch>
            <a:fillRect/>
          </a:stretch>
        </p:blipFill>
        <p:spPr>
          <a:xfrm>
            <a:off x="762000" y="1188720"/>
            <a:ext cx="8627534" cy="56763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6D4A22-3E18-BD79-AA0B-22FDE50D20B5}"/>
              </a:ext>
            </a:extLst>
          </p:cNvPr>
          <p:cNvPicPr>
            <a:picLocks noGrp="1" noChangeAspect="1"/>
          </p:cNvPicPr>
          <p:nvPr>
            <p:ph idx="1"/>
          </p:nvPr>
        </p:nvPicPr>
        <p:blipFill>
          <a:blip r:embed="rId3"/>
          <a:stretch>
            <a:fillRect/>
          </a:stretch>
        </p:blipFill>
        <p:spPr>
          <a:xfrm>
            <a:off x="527405" y="1624417"/>
            <a:ext cx="5390795" cy="4696480"/>
          </a:xfrm>
          <a:prstGeom prst="rect">
            <a:avLst/>
          </a:prstGeom>
        </p:spPr>
      </p:pic>
      <p:sp>
        <p:nvSpPr>
          <p:cNvPr id="9" name="TextBox 8">
            <a:extLst>
              <a:ext uri="{FF2B5EF4-FFF2-40B4-BE49-F238E27FC236}">
                <a16:creationId xmlns:a16="http://schemas.microsoft.com/office/drawing/2014/main" id="{3EA7EFB0-0504-7982-A23D-87CD3615A522}"/>
              </a:ext>
            </a:extLst>
          </p:cNvPr>
          <p:cNvSpPr txBox="1"/>
          <p:nvPr/>
        </p:nvSpPr>
        <p:spPr>
          <a:xfrm>
            <a:off x="527405" y="352438"/>
            <a:ext cx="11342862" cy="1200329"/>
          </a:xfrm>
          <a:prstGeom prst="rect">
            <a:avLst/>
          </a:prstGeom>
          <a:noFill/>
        </p:spPr>
        <p:txBody>
          <a:bodyPr wrap="square" rtlCol="0">
            <a:spAutoFit/>
          </a:bodyPr>
          <a:lstStyle/>
          <a:p>
            <a:r>
              <a:rPr lang="en-GB" sz="3600" dirty="0">
                <a:latin typeface="Algerian" panose="04020705040A02060702" pitchFamily="82" charset="0"/>
              </a:rPr>
              <a:t>Mathematical model equations of 2 </a:t>
            </a:r>
            <a:r>
              <a:rPr lang="en-IN" sz="3600" dirty="0">
                <a:latin typeface="Algerian" panose="04020705040A02060702" pitchFamily="82" charset="0"/>
              </a:rPr>
              <a:t>DOF Self-Balancing Robot</a:t>
            </a:r>
            <a:r>
              <a:rPr lang="en-GB" sz="3600" dirty="0">
                <a:latin typeface="Algerian" panose="04020705040A02060702" pitchFamily="82" charset="0"/>
              </a:rPr>
              <a:t> </a:t>
            </a:r>
            <a:endParaRPr lang="en-IN" sz="3600" dirty="0">
              <a:latin typeface="Algerian" panose="04020705040A02060702" pitchFamily="82" charset="0"/>
            </a:endParaRPr>
          </a:p>
        </p:txBody>
      </p:sp>
      <p:pic>
        <p:nvPicPr>
          <p:cNvPr id="11" name="Picture 10">
            <a:extLst>
              <a:ext uri="{FF2B5EF4-FFF2-40B4-BE49-F238E27FC236}">
                <a16:creationId xmlns:a16="http://schemas.microsoft.com/office/drawing/2014/main" id="{91AD2D0E-FA26-EBBF-1E8F-E04BC6026163}"/>
              </a:ext>
            </a:extLst>
          </p:cNvPr>
          <p:cNvPicPr>
            <a:picLocks noChangeAspect="1"/>
          </p:cNvPicPr>
          <p:nvPr/>
        </p:nvPicPr>
        <p:blipFill>
          <a:blip r:embed="rId4"/>
          <a:stretch>
            <a:fillRect/>
          </a:stretch>
        </p:blipFill>
        <p:spPr>
          <a:xfrm>
            <a:off x="6198836" y="1624416"/>
            <a:ext cx="4972744" cy="4696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7350BD-2A26-C6AE-D6C2-5E618537BEB9}"/>
              </a:ext>
            </a:extLst>
          </p:cNvPr>
          <p:cNvPicPr>
            <a:picLocks noChangeAspect="1"/>
          </p:cNvPicPr>
          <p:nvPr/>
        </p:nvPicPr>
        <p:blipFill>
          <a:blip r:embed="rId2"/>
          <a:stretch>
            <a:fillRect/>
          </a:stretch>
        </p:blipFill>
        <p:spPr>
          <a:xfrm>
            <a:off x="3254639" y="0"/>
            <a:ext cx="5039255" cy="6731000"/>
          </a:xfrm>
          <a:prstGeom prst="rect">
            <a:avLst/>
          </a:prstGeom>
        </p:spPr>
      </p:pic>
    </p:spTree>
    <p:extLst>
      <p:ext uri="{BB962C8B-B14F-4D97-AF65-F5344CB8AC3E}">
        <p14:creationId xmlns:p14="http://schemas.microsoft.com/office/powerpoint/2010/main" val="199438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ACDB16-E889-ABCA-B2F1-C225749949A2}"/>
              </a:ext>
            </a:extLst>
          </p:cNvPr>
          <p:cNvPicPr>
            <a:picLocks noChangeAspect="1"/>
          </p:cNvPicPr>
          <p:nvPr/>
        </p:nvPicPr>
        <p:blipFill>
          <a:blip r:embed="rId2"/>
          <a:stretch>
            <a:fillRect/>
          </a:stretch>
        </p:blipFill>
        <p:spPr>
          <a:xfrm>
            <a:off x="3295789" y="0"/>
            <a:ext cx="5600421" cy="6858000"/>
          </a:xfrm>
          <a:prstGeom prst="rect">
            <a:avLst/>
          </a:prstGeom>
        </p:spPr>
      </p:pic>
    </p:spTree>
    <p:extLst>
      <p:ext uri="{BB962C8B-B14F-4D97-AF65-F5344CB8AC3E}">
        <p14:creationId xmlns:p14="http://schemas.microsoft.com/office/powerpoint/2010/main" val="178314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800" b="1">
                <a:solidFill>
                  <a:srgbClr val="1F4E79"/>
                </a:solidFill>
              </a:defRPr>
            </a:pPr>
            <a:r>
              <a:rPr dirty="0">
                <a:latin typeface="Algerian" panose="04020705040A02060702" pitchFamily="82" charset="0"/>
              </a:rPr>
              <a:t>5. Final Equations &amp; State-Space</a:t>
            </a:r>
          </a:p>
        </p:txBody>
      </p:sp>
      <p:sp>
        <p:nvSpPr>
          <p:cNvPr id="3" name="Content Placeholder 2"/>
          <p:cNvSpPr>
            <a:spLocks noGrp="1"/>
          </p:cNvSpPr>
          <p:nvPr>
            <p:ph idx="1"/>
          </p:nvPr>
        </p:nvSpPr>
        <p:spPr/>
        <p:txBody>
          <a:bodyPr>
            <a:normAutofit/>
          </a:bodyPr>
          <a:lstStyle/>
          <a:p>
            <a:pPr>
              <a:defRPr sz="1800"/>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533" y="0"/>
            <a:ext cx="8229600" cy="1143000"/>
          </a:xfrm>
        </p:spPr>
        <p:txBody>
          <a:bodyPr/>
          <a:lstStyle/>
          <a:p>
            <a:pPr>
              <a:defRPr sz="2800" b="1">
                <a:solidFill>
                  <a:srgbClr val="1F4E79"/>
                </a:solidFill>
              </a:defRPr>
            </a:pPr>
            <a:r>
              <a:rPr dirty="0">
                <a:latin typeface="Algerian" panose="04020705040A02060702" pitchFamily="82" charset="0"/>
              </a:rPr>
              <a:t>Simulation &amp; Energy Analysis</a:t>
            </a:r>
          </a:p>
        </p:txBody>
      </p:sp>
      <p:pic>
        <p:nvPicPr>
          <p:cNvPr id="5" name="Picture 4">
            <a:extLst>
              <a:ext uri="{FF2B5EF4-FFF2-40B4-BE49-F238E27FC236}">
                <a16:creationId xmlns:a16="http://schemas.microsoft.com/office/drawing/2014/main" id="{3A1ACF1D-4FBA-5CD7-9641-3E5241E09746}"/>
              </a:ext>
            </a:extLst>
          </p:cNvPr>
          <p:cNvPicPr>
            <a:picLocks noChangeAspect="1"/>
          </p:cNvPicPr>
          <p:nvPr/>
        </p:nvPicPr>
        <p:blipFill>
          <a:blip r:embed="rId3"/>
          <a:stretch>
            <a:fillRect/>
          </a:stretch>
        </p:blipFill>
        <p:spPr>
          <a:xfrm>
            <a:off x="-1" y="931333"/>
            <a:ext cx="3743159" cy="5926667"/>
          </a:xfrm>
          <a:prstGeom prst="rect">
            <a:avLst/>
          </a:prstGeom>
        </p:spPr>
      </p:pic>
      <p:pic>
        <p:nvPicPr>
          <p:cNvPr id="7" name="Picture 6">
            <a:extLst>
              <a:ext uri="{FF2B5EF4-FFF2-40B4-BE49-F238E27FC236}">
                <a16:creationId xmlns:a16="http://schemas.microsoft.com/office/drawing/2014/main" id="{0DF6D54F-4FC1-5445-B1D7-07EFB7C23625}"/>
              </a:ext>
            </a:extLst>
          </p:cNvPr>
          <p:cNvPicPr>
            <a:picLocks noChangeAspect="1"/>
          </p:cNvPicPr>
          <p:nvPr/>
        </p:nvPicPr>
        <p:blipFill>
          <a:blip r:embed="rId4"/>
          <a:stretch>
            <a:fillRect/>
          </a:stretch>
        </p:blipFill>
        <p:spPr>
          <a:xfrm>
            <a:off x="4165530" y="924016"/>
            <a:ext cx="3534544" cy="5941299"/>
          </a:xfrm>
          <a:prstGeom prst="rect">
            <a:avLst/>
          </a:prstGeom>
        </p:spPr>
      </p:pic>
      <p:pic>
        <p:nvPicPr>
          <p:cNvPr id="9" name="Picture 8">
            <a:extLst>
              <a:ext uri="{FF2B5EF4-FFF2-40B4-BE49-F238E27FC236}">
                <a16:creationId xmlns:a16="http://schemas.microsoft.com/office/drawing/2014/main" id="{12685B17-D60E-A445-2B44-C8507B882033}"/>
              </a:ext>
            </a:extLst>
          </p:cNvPr>
          <p:cNvPicPr>
            <a:picLocks noChangeAspect="1"/>
          </p:cNvPicPr>
          <p:nvPr/>
        </p:nvPicPr>
        <p:blipFill>
          <a:blip r:embed="rId5"/>
          <a:stretch>
            <a:fillRect/>
          </a:stretch>
        </p:blipFill>
        <p:spPr>
          <a:xfrm>
            <a:off x="8122446" y="1976557"/>
            <a:ext cx="3753374" cy="33056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0514" y="291295"/>
            <a:ext cx="5290231" cy="523220"/>
          </a:xfrm>
          <a:prstGeom prst="rect">
            <a:avLst/>
          </a:prstGeom>
          <a:noFill/>
        </p:spPr>
        <p:txBody>
          <a:bodyPr wrap="none">
            <a:spAutoFit/>
          </a:bodyPr>
          <a:lstStyle/>
          <a:p>
            <a:pPr>
              <a:defRPr sz="2800" b="1">
                <a:solidFill>
                  <a:srgbClr val="1F4E79"/>
                </a:solidFill>
              </a:defRPr>
            </a:pPr>
            <a:r>
              <a:rPr dirty="0">
                <a:latin typeface="Algerian" panose="04020705040A02060702" pitchFamily="82" charset="0"/>
              </a:rPr>
              <a:t>7. Simulation Visualization</a:t>
            </a:r>
          </a:p>
        </p:txBody>
      </p:sp>
      <p:pic>
        <p:nvPicPr>
          <p:cNvPr id="6" name="Picture 5">
            <a:extLst>
              <a:ext uri="{FF2B5EF4-FFF2-40B4-BE49-F238E27FC236}">
                <a16:creationId xmlns:a16="http://schemas.microsoft.com/office/drawing/2014/main" id="{868DB734-D181-8FDB-C394-4D194649FE04}"/>
              </a:ext>
            </a:extLst>
          </p:cNvPr>
          <p:cNvPicPr>
            <a:picLocks noChangeAspect="1"/>
          </p:cNvPicPr>
          <p:nvPr/>
        </p:nvPicPr>
        <p:blipFill>
          <a:blip r:embed="rId2"/>
          <a:stretch>
            <a:fillRect/>
          </a:stretch>
        </p:blipFill>
        <p:spPr>
          <a:xfrm>
            <a:off x="460514" y="1245599"/>
            <a:ext cx="3423999" cy="2634447"/>
          </a:xfrm>
          <a:prstGeom prst="rect">
            <a:avLst/>
          </a:prstGeom>
        </p:spPr>
      </p:pic>
      <p:pic>
        <p:nvPicPr>
          <p:cNvPr id="8" name="Picture 7">
            <a:extLst>
              <a:ext uri="{FF2B5EF4-FFF2-40B4-BE49-F238E27FC236}">
                <a16:creationId xmlns:a16="http://schemas.microsoft.com/office/drawing/2014/main" id="{370CA34A-5F27-E7AA-8DCA-E71DF7C93BF2}"/>
              </a:ext>
            </a:extLst>
          </p:cNvPr>
          <p:cNvPicPr>
            <a:picLocks noChangeAspect="1"/>
          </p:cNvPicPr>
          <p:nvPr/>
        </p:nvPicPr>
        <p:blipFill>
          <a:blip r:embed="rId3"/>
          <a:stretch>
            <a:fillRect/>
          </a:stretch>
        </p:blipFill>
        <p:spPr>
          <a:xfrm>
            <a:off x="4410501" y="1245599"/>
            <a:ext cx="3522463" cy="2634447"/>
          </a:xfrm>
          <a:prstGeom prst="rect">
            <a:avLst/>
          </a:prstGeom>
        </p:spPr>
      </p:pic>
      <p:pic>
        <p:nvPicPr>
          <p:cNvPr id="12" name="Picture 11">
            <a:extLst>
              <a:ext uri="{FF2B5EF4-FFF2-40B4-BE49-F238E27FC236}">
                <a16:creationId xmlns:a16="http://schemas.microsoft.com/office/drawing/2014/main" id="{B96BA5F8-A82C-1A60-AF91-0F8401E965D6}"/>
              </a:ext>
            </a:extLst>
          </p:cNvPr>
          <p:cNvPicPr>
            <a:picLocks noChangeAspect="1"/>
          </p:cNvPicPr>
          <p:nvPr/>
        </p:nvPicPr>
        <p:blipFill>
          <a:blip r:embed="rId4"/>
          <a:stretch>
            <a:fillRect/>
          </a:stretch>
        </p:blipFill>
        <p:spPr>
          <a:xfrm>
            <a:off x="438570" y="3932258"/>
            <a:ext cx="3445943" cy="2634447"/>
          </a:xfrm>
          <a:prstGeom prst="rect">
            <a:avLst/>
          </a:prstGeom>
        </p:spPr>
      </p:pic>
      <p:pic>
        <p:nvPicPr>
          <p:cNvPr id="14" name="Picture 13">
            <a:extLst>
              <a:ext uri="{FF2B5EF4-FFF2-40B4-BE49-F238E27FC236}">
                <a16:creationId xmlns:a16="http://schemas.microsoft.com/office/drawing/2014/main" id="{545F135E-4AD4-1CB0-8464-06C77744B012}"/>
              </a:ext>
            </a:extLst>
          </p:cNvPr>
          <p:cNvPicPr>
            <a:picLocks noChangeAspect="1"/>
          </p:cNvPicPr>
          <p:nvPr/>
        </p:nvPicPr>
        <p:blipFill>
          <a:blip r:embed="rId5"/>
          <a:stretch>
            <a:fillRect/>
          </a:stretch>
        </p:blipFill>
        <p:spPr>
          <a:xfrm>
            <a:off x="4185365" y="3870496"/>
            <a:ext cx="3747599" cy="2757973"/>
          </a:xfrm>
          <a:prstGeom prst="rect">
            <a:avLst/>
          </a:prstGeom>
        </p:spPr>
      </p:pic>
      <p:pic>
        <p:nvPicPr>
          <p:cNvPr id="18" name="Picture 17">
            <a:extLst>
              <a:ext uri="{FF2B5EF4-FFF2-40B4-BE49-F238E27FC236}">
                <a16:creationId xmlns:a16="http://schemas.microsoft.com/office/drawing/2014/main" id="{CC169C5C-85AC-35D1-39EB-D4FD76787148}"/>
              </a:ext>
            </a:extLst>
          </p:cNvPr>
          <p:cNvPicPr>
            <a:picLocks noChangeAspect="1"/>
          </p:cNvPicPr>
          <p:nvPr/>
        </p:nvPicPr>
        <p:blipFill>
          <a:blip r:embed="rId6"/>
          <a:stretch>
            <a:fillRect/>
          </a:stretch>
        </p:blipFill>
        <p:spPr>
          <a:xfrm>
            <a:off x="8307488" y="1245599"/>
            <a:ext cx="3534905" cy="53828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800" b="1">
                <a:solidFill>
                  <a:srgbClr val="1F4E79"/>
                </a:solidFill>
              </a:defRPr>
            </a:pPr>
            <a:r>
              <a:rPr dirty="0">
                <a:latin typeface="Algerian" panose="04020705040A02060702" pitchFamily="82" charset="0"/>
              </a:rPr>
              <a:t>8. Validation &amp; Analysis</a:t>
            </a:r>
          </a:p>
        </p:txBody>
      </p:sp>
      <p:sp>
        <p:nvSpPr>
          <p:cNvPr id="3" name="Content Placeholder 2"/>
          <p:cNvSpPr>
            <a:spLocks noGrp="1"/>
          </p:cNvSpPr>
          <p:nvPr>
            <p:ph idx="1"/>
          </p:nvPr>
        </p:nvSpPr>
        <p:spPr/>
        <p:txBody>
          <a:bodyPr>
            <a:normAutofit fontScale="92500" lnSpcReduction="10000"/>
          </a:bodyPr>
          <a:lstStyle/>
          <a:p>
            <a:pPr>
              <a:defRPr sz="1800"/>
            </a:pPr>
            <a:r>
              <a:t>Validation 1: Energy conservation check (CO5)</a:t>
            </a:r>
          </a:p>
          <a:p>
            <a:pPr>
              <a:spcBef>
                <a:spcPts val="600"/>
              </a:spcBef>
              <a:defRPr sz="1800"/>
            </a:pPr>
            <a:r>
              <a:t>  Total energy [conserved / decays X% from damping]</a:t>
            </a:r>
          </a:p>
          <a:p>
            <a:pPr>
              <a:spcBef>
                <a:spcPts val="600"/>
              </a:spcBef>
              <a:defRPr sz="1800"/>
            </a:pPr>
            <a:r>
              <a:t>Validation 2: Comparison with analytical/published result (CO4)</a:t>
            </a:r>
          </a:p>
          <a:p>
            <a:pPr>
              <a:spcBef>
                <a:spcPts val="600"/>
              </a:spcBef>
              <a:defRPr sz="1800"/>
            </a:pPr>
            <a:r>
              <a:t>  Textbook: Ginsberg Ch X → w_n = ...; Our sim: w_n = ...</a:t>
            </a:r>
          </a:p>
          <a:p>
            <a:pPr>
              <a:spcBef>
                <a:spcPts val="600"/>
              </a:spcBef>
              <a:defRPr sz="1800"/>
            </a:pPr>
            <a:r>
              <a:t>Validation 3: Dimensional analysis / unit check</a:t>
            </a:r>
          </a:p>
          <a:p>
            <a:pPr>
              <a:spcBef>
                <a:spcPts val="600"/>
              </a:spcBef>
              <a:defRPr sz="1800"/>
            </a:pPr>
            <a:endParaRPr/>
          </a:p>
          <a:p>
            <a:pPr>
              <a:spcBef>
                <a:spcPts val="600"/>
              </a:spcBef>
              <a:defRPr sz="1800"/>
            </a:pPr>
            <a:r>
              <a:t>Sensitivity Analysis:</a:t>
            </a:r>
          </a:p>
          <a:p>
            <a:pPr>
              <a:spcBef>
                <a:spcPts val="600"/>
              </a:spcBef>
              <a:defRPr sz="1800"/>
            </a:pPr>
            <a:r>
              <a:t>  Varied [param] from [range] → [effect on natural freq/stability]</a:t>
            </a:r>
          </a:p>
          <a:p>
            <a:pPr>
              <a:spcBef>
                <a:spcPts val="600"/>
              </a:spcBef>
              <a:defRPr sz="1800"/>
            </a:pPr>
            <a:endParaRPr/>
          </a:p>
          <a:p>
            <a:pPr>
              <a:spcBef>
                <a:spcPts val="600"/>
              </a:spcBef>
              <a:defRPr sz="1800"/>
            </a:pPr>
            <a:r>
              <a:t>Limitations:</a:t>
            </a:r>
          </a:p>
          <a:p>
            <a:pPr>
              <a:spcBef>
                <a:spcPts val="600"/>
              </a:spcBef>
              <a:defRPr sz="1800"/>
            </a:pPr>
            <a:r>
              <a:t>  (1) [e.g., Rigid body limits to low-speed regime]</a:t>
            </a:r>
          </a:p>
          <a:p>
            <a:pPr>
              <a:spcBef>
                <a:spcPts val="600"/>
              </a:spcBef>
              <a:defRPr sz="1800"/>
            </a:pPr>
            <a:r>
              <a:t>  (2) [e.g., No experimental validation — simulation only]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800" b="1">
                <a:solidFill>
                  <a:srgbClr val="1F4E79"/>
                </a:solidFill>
              </a:defRPr>
            </a:pPr>
            <a:r>
              <a:rPr dirty="0">
                <a:latin typeface="Algerian" panose="04020705040A02060702" pitchFamily="82" charset="0"/>
              </a:rPr>
              <a:t>9. Conclusions &amp; Reflections</a:t>
            </a:r>
          </a:p>
        </p:txBody>
      </p:sp>
      <p:sp>
        <p:nvSpPr>
          <p:cNvPr id="3" name="Content Placeholder 2"/>
          <p:cNvSpPr>
            <a:spLocks noGrp="1"/>
          </p:cNvSpPr>
          <p:nvPr>
            <p:ph idx="1"/>
          </p:nvPr>
        </p:nvSpPr>
        <p:spPr/>
        <p:txBody>
          <a:bodyPr>
            <a:normAutofit fontScale="92500" lnSpcReduction="10000"/>
          </a:bodyPr>
          <a:lstStyle/>
          <a:p>
            <a:pPr marL="0" indent="0">
              <a:buNone/>
            </a:pPr>
            <a:r>
              <a:rPr lang="en-GB" b="1" dirty="0"/>
              <a:t>Conclusion</a:t>
            </a:r>
          </a:p>
          <a:p>
            <a:pPr marL="0" indent="0">
              <a:buNone/>
            </a:pPr>
            <a:r>
              <a:rPr lang="en-GB" dirty="0"/>
              <a:t>The 2 DOF self-balancing robot was successfully </a:t>
            </a:r>
            <a:r>
              <a:rPr lang="en-GB" dirty="0" err="1"/>
              <a:t>modeled</a:t>
            </a:r>
            <a:r>
              <a:rPr lang="en-GB" dirty="0"/>
              <a:t> as an Inverted Pendulum using Newton’s laws.</a:t>
            </a:r>
          </a:p>
          <a:p>
            <a:pPr marL="0" indent="0">
              <a:buNone/>
            </a:pPr>
            <a:r>
              <a:rPr lang="en-GB" dirty="0"/>
              <a:t>The derived nonlinear equations of motion were implemented in Python and solved using numerical methods.</a:t>
            </a:r>
          </a:p>
          <a:p>
            <a:pPr marL="0" indent="0">
              <a:buNone/>
            </a:pPr>
            <a:r>
              <a:rPr lang="en-GB" dirty="0"/>
              <a:t>Simulation results show that the system stabilizes under control, with tilt angle approaching zero.</a:t>
            </a:r>
          </a:p>
          <a:p>
            <a:pPr marL="0" indent="0">
              <a:buNone/>
            </a:pPr>
            <a:r>
              <a:rPr lang="en-GB" dirty="0"/>
              <a:t>Energy analysis confirms non-conservative </a:t>
            </a:r>
            <a:r>
              <a:rPr lang="en-GB" dirty="0" err="1"/>
              <a:t>behavior</a:t>
            </a:r>
            <a:r>
              <a:rPr lang="en-GB" dirty="0"/>
              <a:t> due to external motor torque input, and sensitivity analysis shows physically consistent response to parameter changes.</a:t>
            </a:r>
          </a:p>
          <a:p>
            <a:pPr marL="0" indent="0">
              <a:buNone/>
            </a:pPr>
            <a:r>
              <a:rPr lang="en-GB" b="1" dirty="0"/>
              <a:t>Final Outcome:</a:t>
            </a:r>
            <a:br>
              <a:rPr lang="en-GB" dirty="0"/>
            </a:br>
            <a:r>
              <a:rPr lang="en-GB" dirty="0"/>
              <a:t>The mathematical model and simulation accurately represent the real system dynamics and validate the effectiveness of the control approach.</a:t>
            </a:r>
          </a:p>
          <a:p>
            <a:pPr marL="0" indent="0">
              <a:buNone/>
              <a:defRPr sz="1800"/>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800" b="1">
                <a:solidFill>
                  <a:srgbClr val="1F4E79"/>
                </a:solidFill>
              </a:defRPr>
            </a:pPr>
            <a:r>
              <a:rPr dirty="0">
                <a:latin typeface="Algerian" panose="04020705040A02060702" pitchFamily="82" charset="0"/>
              </a:rPr>
              <a:t>10. References &amp; AI Disclosure</a:t>
            </a:r>
          </a:p>
        </p:txBody>
      </p:sp>
      <p:sp>
        <p:nvSpPr>
          <p:cNvPr id="3" name="Content Placeholder 2"/>
          <p:cNvSpPr>
            <a:spLocks noGrp="1"/>
          </p:cNvSpPr>
          <p:nvPr>
            <p:ph idx="1"/>
          </p:nvPr>
        </p:nvSpPr>
        <p:spPr/>
        <p:txBody>
          <a:bodyPr>
            <a:normAutofit lnSpcReduction="10000"/>
          </a:bodyPr>
          <a:lstStyle/>
          <a:p>
            <a:pPr marL="0" indent="0">
              <a:spcBef>
                <a:spcPts val="600"/>
              </a:spcBef>
              <a:buNone/>
              <a:defRPr sz="1800"/>
            </a:pPr>
            <a:endParaRPr dirty="0"/>
          </a:p>
          <a:p>
            <a:pPr marL="0" indent="0">
              <a:spcBef>
                <a:spcPts val="600"/>
              </a:spcBef>
              <a:buNone/>
              <a:defRPr sz="1800"/>
            </a:pPr>
            <a:r>
              <a:rPr dirty="0"/>
              <a:t>Online Resources:</a:t>
            </a:r>
          </a:p>
          <a:p>
            <a:pPr marL="0" indent="0">
              <a:spcBef>
                <a:spcPts val="600"/>
              </a:spcBef>
              <a:buNone/>
              <a:defRPr sz="1800"/>
            </a:pPr>
            <a:r>
              <a:rPr lang="en-GB" dirty="0">
                <a:hlinkClick r:id="rId3"/>
              </a:rPr>
              <a:t>https://www.ijltemas.in/</a:t>
            </a:r>
            <a:endParaRPr lang="en-GB" dirty="0"/>
          </a:p>
          <a:p>
            <a:pPr marL="0" indent="0">
              <a:spcBef>
                <a:spcPts val="600"/>
              </a:spcBef>
              <a:buNone/>
              <a:defRPr sz="1800"/>
            </a:pPr>
            <a:r>
              <a:rPr lang="en-GB" dirty="0">
                <a:hlinkClick r:id="rId4"/>
              </a:rPr>
              <a:t>https://www.researchgate.net/</a:t>
            </a:r>
            <a:endParaRPr lang="en-GB" dirty="0"/>
          </a:p>
          <a:p>
            <a:pPr marL="0" indent="0">
              <a:spcBef>
                <a:spcPts val="600"/>
              </a:spcBef>
              <a:buNone/>
              <a:defRPr sz="1800"/>
            </a:pPr>
            <a:endParaRPr lang="en-GB" dirty="0"/>
          </a:p>
          <a:p>
            <a:pPr marL="0" indent="0">
              <a:buNone/>
            </a:pPr>
            <a:endParaRPr lang="en-GB" dirty="0"/>
          </a:p>
          <a:p>
            <a:pPr marL="0" indent="0">
              <a:buNone/>
            </a:pPr>
            <a:r>
              <a:rPr lang="en-GB" dirty="0"/>
              <a:t>AI Tools (Disclosure)</a:t>
            </a:r>
          </a:p>
          <a:p>
            <a:pPr marL="0" indent="0">
              <a:buNone/>
            </a:pPr>
            <a:r>
              <a:rPr lang="en-GB" dirty="0"/>
              <a:t>Tool: ChatGPT</a:t>
            </a:r>
            <a:br>
              <a:rPr lang="en-GB" dirty="0"/>
            </a:br>
            <a:r>
              <a:rPr lang="en-GB" dirty="0"/>
              <a:t>Purpose: Assistance with Python code structure, simulation setup, and explanation of concepts</a:t>
            </a:r>
            <a:br>
              <a:rPr lang="en-GB" dirty="0"/>
            </a:br>
            <a:r>
              <a:rPr lang="en-GB" dirty="0"/>
              <a:t>NOT used for: Final derivation (done manually), FBD creation, and conceptual understanding</a:t>
            </a:r>
          </a:p>
          <a:p>
            <a:pPr marL="0" indent="0">
              <a:spcBef>
                <a:spcPts val="600"/>
              </a:spcBef>
              <a:buNone/>
              <a:defRPr sz="1800"/>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1225" y="1446433"/>
            <a:ext cx="9052778" cy="1646302"/>
          </a:xfrm>
        </p:spPr>
        <p:txBody>
          <a:bodyPr/>
          <a:lstStyle/>
          <a:p>
            <a:pPr>
              <a:defRPr sz="3600" b="1">
                <a:solidFill>
                  <a:srgbClr val="1F4E79"/>
                </a:solidFill>
              </a:defRPr>
            </a:pPr>
            <a:r>
              <a:rPr lang="en-US" sz="4800" dirty="0"/>
              <a:t>       </a:t>
            </a:r>
            <a:r>
              <a:rPr sz="4800" dirty="0"/>
              <a:t>Thank You — Questions?</a:t>
            </a:r>
          </a:p>
        </p:txBody>
      </p:sp>
      <p:sp>
        <p:nvSpPr>
          <p:cNvPr id="3" name="Subtitle 2"/>
          <p:cNvSpPr>
            <a:spLocks noGrp="1"/>
          </p:cNvSpPr>
          <p:nvPr>
            <p:ph type="subTitle" idx="1"/>
          </p:nvPr>
        </p:nvSpPr>
        <p:spPr/>
        <p:txBody>
          <a:bodyPr>
            <a:noAutofit/>
          </a:bodyPr>
          <a:lstStyle/>
          <a:p>
            <a:pPr algn="ctr">
              <a:defRPr sz="1800"/>
            </a:pPr>
            <a:r>
              <a:rPr lang="pt-BR" sz="1400" dirty="0">
                <a:solidFill>
                  <a:schemeClr val="tx1"/>
                </a:solidFill>
              </a:rPr>
              <a:t>Team: [Apurv Sambhare(H095)], [Chaitanya Sontakke(H093)]</a:t>
            </a:r>
          </a:p>
          <a:p>
            <a:pPr algn="ctr">
              <a:defRPr sz="1800"/>
            </a:pPr>
            <a:r>
              <a:rPr sz="1400" dirty="0">
                <a:solidFill>
                  <a:schemeClr val="tx1"/>
                </a:solidFill>
              </a:rPr>
              <a:t>Project: [</a:t>
            </a:r>
            <a:r>
              <a:rPr lang="en-IN" sz="1400" dirty="0">
                <a:solidFill>
                  <a:schemeClr val="tx1"/>
                </a:solidFill>
                <a:latin typeface="+mj-lt"/>
              </a:rPr>
              <a:t>2 DOF Self-Balancing Robot</a:t>
            </a:r>
            <a:r>
              <a:rPr sz="1400" dirty="0">
                <a:solidFill>
                  <a:schemeClr val="tx1"/>
                </a:solidFill>
              </a:rPr>
              <a:t>]</a:t>
            </a:r>
          </a:p>
          <a:p>
            <a:pPr algn="ctr">
              <a:defRPr sz="1800"/>
            </a:pPr>
            <a:r>
              <a:rPr sz="1400" dirty="0">
                <a:solidFill>
                  <a:schemeClr val="tx1"/>
                </a:solidFill>
              </a:rPr>
              <a:t>Category: [C]</a:t>
            </a:r>
          </a:p>
          <a:p>
            <a:pPr algn="ctr">
              <a:defRPr sz="1800"/>
            </a:pPr>
            <a:r>
              <a:rPr sz="1400" dirty="0">
                <a:solidFill>
                  <a:schemeClr val="tx1"/>
                </a:solidFill>
              </a:rPr>
              <a:t>COs: [CO1-CO5]</a:t>
            </a:r>
          </a:p>
          <a:p>
            <a:pPr algn="ctr">
              <a:defRPr sz="1800"/>
            </a:pPr>
            <a:endParaRPr sz="14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ReferenceId xmlns="b7aa8a3b-80d1-4955-8f76-a3254a33a331" xsi:nil="true"/>
    <lcf76f155ced4ddcb4097134ff3c332f xmlns="b7aa8a3b-80d1-4955-8f76-a3254a33a331">
      <Terms xmlns="http://schemas.microsoft.com/office/infopath/2007/PartnerControls"/>
    </lcf76f155ced4ddcb4097134ff3c332f>
    <TaxCatchAll xmlns="8aa28b7e-c5b6-4db8-be1f-ce18dc9d678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FE5ED340F12FF438B134E672892BFDA" ma:contentTypeVersion="12" ma:contentTypeDescription="Create a new document." ma:contentTypeScope="" ma:versionID="2c87ab58b8ec2353d2b26750d179ec7e">
  <xsd:schema xmlns:xsd="http://www.w3.org/2001/XMLSchema" xmlns:xs="http://www.w3.org/2001/XMLSchema" xmlns:p="http://schemas.microsoft.com/office/2006/metadata/properties" xmlns:ns2="b7aa8a3b-80d1-4955-8f76-a3254a33a331" xmlns:ns3="8aa28b7e-c5b6-4db8-be1f-ce18dc9d6788" targetNamespace="http://schemas.microsoft.com/office/2006/metadata/properties" ma:root="true" ma:fieldsID="69fb4eb5051183c283dc3b3a79120d25" ns2:_="" ns3:_="">
    <xsd:import namespace="b7aa8a3b-80d1-4955-8f76-a3254a33a331"/>
    <xsd:import namespace="8aa28b7e-c5b6-4db8-be1f-ce18dc9d6788"/>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aa8a3b-80d1-4955-8f76-a3254a33a331"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aa28b7e-c5b6-4db8-be1f-ce18dc9d6788"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5a5849d0-3a25-4ea2-a66f-6da2942d5ba7}" ma:internalName="TaxCatchAll" ma:showField="CatchAllData" ma:web="8aa28b7e-c5b6-4db8-be1f-ce18dc9d678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70CD32-C2AC-43A4-8663-26E188E5FFEE}">
  <ds:schemaRefs>
    <ds:schemaRef ds:uri="http://schemas.microsoft.com/office/2006/metadata/properties"/>
    <ds:schemaRef ds:uri="http://schemas.microsoft.com/office/infopath/2007/PartnerControls"/>
    <ds:schemaRef ds:uri="8ba116ed-0b03-4fad-970c-3f26ccc5a628"/>
  </ds:schemaRefs>
</ds:datastoreItem>
</file>

<file path=customXml/itemProps2.xml><?xml version="1.0" encoding="utf-8"?>
<ds:datastoreItem xmlns:ds="http://schemas.openxmlformats.org/officeDocument/2006/customXml" ds:itemID="{0C9632BA-D7F5-4A5D-BF2F-56C93138B560}">
  <ds:schemaRefs>
    <ds:schemaRef ds:uri="http://schemas.microsoft.com/sharepoint/v3/contenttype/forms"/>
  </ds:schemaRefs>
</ds:datastoreItem>
</file>

<file path=customXml/itemProps3.xml><?xml version="1.0" encoding="utf-8"?>
<ds:datastoreItem xmlns:ds="http://schemas.openxmlformats.org/officeDocument/2006/customXml" ds:itemID="{12670E2C-A0F3-4D6E-963C-6A67C049AF1B}"/>
</file>

<file path=docProps/app.xml><?xml version="1.0" encoding="utf-8"?>
<Properties xmlns="http://schemas.openxmlformats.org/officeDocument/2006/extended-properties" xmlns:vt="http://schemas.openxmlformats.org/officeDocument/2006/docPropsVTypes">
  <Template>Facet</Template>
  <TotalTime>53</TotalTime>
  <Words>1161</Words>
  <Application>Microsoft Office PowerPoint</Application>
  <PresentationFormat>Widescreen</PresentationFormat>
  <Paragraphs>136</Paragraphs>
  <Slides>14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Algerian</vt:lpstr>
      <vt:lpstr>Arial</vt:lpstr>
      <vt:lpstr>Calibri</vt:lpstr>
      <vt:lpstr>Cambria Math</vt:lpstr>
      <vt:lpstr>Trebuchet MS</vt:lpstr>
      <vt:lpstr>Wingdings 3</vt:lpstr>
      <vt:lpstr>Facet</vt:lpstr>
      <vt:lpstr>        2 DOF Self-Balancing Robot</vt:lpstr>
      <vt:lpstr> </vt:lpstr>
      <vt:lpstr>Problem Formulation &amp; Assumptions</vt:lpstr>
      <vt:lpstr>FBD-2 DOF Self-Balancing Robot</vt:lpstr>
      <vt:lpstr>PowerPoint Presentation</vt:lpstr>
      <vt:lpstr>PowerPoint Presentation</vt:lpstr>
      <vt:lpstr>PowerPoint Presentation</vt:lpstr>
      <vt:lpstr>5. Final Equations &amp; State-Space</vt:lpstr>
      <vt:lpstr>Simulation &amp; Energy Analysis</vt:lpstr>
      <vt:lpstr>PowerPoint Presentation</vt:lpstr>
      <vt:lpstr>8. Validation &amp; Analysis</vt:lpstr>
      <vt:lpstr>9. Conclusions &amp; Reflections</vt:lpstr>
      <vt:lpstr>10. References &amp; AI Disclosure</vt:lpstr>
      <vt:lpstr>       Thank You —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APURV SAMBHARE - 70042300011</cp:lastModifiedBy>
  <cp:revision>4</cp:revision>
  <dcterms:created xsi:type="dcterms:W3CDTF">2013-01-27T09:14:16Z</dcterms:created>
  <dcterms:modified xsi:type="dcterms:W3CDTF">2026-04-24T06:52:30Z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0x010100AFE5ED340F12FF438B134E672892BFDA</vt:lpwstr>
  </property>
</Properties>
</file>