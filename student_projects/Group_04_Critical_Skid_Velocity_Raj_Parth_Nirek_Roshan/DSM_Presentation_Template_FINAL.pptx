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325BD7-468A-4E7A-8ECC-B92F43DB703C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A39677-57D4-4430-B1FB-D0A1E64748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23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0:00-1:00 (1 min)</a:t>
            </a:r>
          </a:p>
          <a:p>
            <a:r>
              <a:t>FOCUS: Introduce your system and its real-world engineering relevance.</a:t>
            </a:r>
          </a:p>
          <a:p>
            <a:r>
              <a:t>TIP: Start with a compelling application, not a textbook definition.</a:t>
            </a:r>
          </a:p>
          <a:p>
            <a:r>
              <a:t>SHOW: An image or short video of the actual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1:00-2:30 (1.5 min)</a:t>
            </a:r>
          </a:p>
          <a:p>
            <a:r>
              <a:t>FOCUS: Clearly define I/O, states, parameters, DOF, and justify every assumption.</a:t>
            </a:r>
          </a:p>
          <a:p>
            <a:r>
              <a:t>TIP: Explain WHY each assumption is physically valid.</a:t>
            </a:r>
          </a:p>
          <a:p>
            <a:r>
              <a:t>BE PREPARED: You may be asked 'Why this assumption? What if it changes?'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2:30-3:45 (1.25 min)</a:t>
            </a:r>
          </a:p>
          <a:p>
            <a:r>
              <a:t>FOCUS: Walk through EVERY step of the derivation. This is the most important section.</a:t>
            </a:r>
          </a:p>
          <a:p>
            <a:r>
              <a:t>TIP: Show the algebra — don't skip to the final equation.</a:t>
            </a:r>
          </a:p>
          <a:p>
            <a:r>
              <a:t>BE PREPARED: You may be asked to explain any step in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3:45-5:00 (1.25 min)</a:t>
            </a:r>
          </a:p>
          <a:p>
            <a:r>
              <a:t>FOCUS: Present final EOM and state-space. Explain the physical meaning of EVERY term.</a:t>
            </a:r>
          </a:p>
          <a:p>
            <a:r>
              <a:t>TIP: 'c*x_dot = viscous damping force' is stronger than just showing the equation.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5:00-7:00 (2 min)</a:t>
            </a:r>
          </a:p>
          <a:p>
            <a:r>
              <a:t>FOCUS: Show your simulation setup, key code snippet, and output plots.</a:t>
            </a:r>
          </a:p>
          <a:p>
            <a:r>
              <a:t>INCLUDE: Energy vs time plot — this validates your model physically.</a:t>
            </a:r>
          </a:p>
          <a:p>
            <a:r>
              <a:t>BE PREPARED: You may be asked 'Why does the oscillation decay?' or 'How does energy change?'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7:00-8:30 (1.5 min)</a:t>
            </a:r>
          </a:p>
          <a:p>
            <a:r>
              <a:t>FOCUS: Show HOW you verified your results. Energy check, textbook comparison, sensitivity.</a:t>
            </a:r>
          </a:p>
          <a:p>
            <a:r>
              <a:t>TIP: A strong answer = 'We compared natural frequency with Ginsberg Ch.3.'</a:t>
            </a:r>
          </a:p>
          <a:p>
            <a:r>
              <a:t>A weak answer = 'It runs and produces output.'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8:30-10:00 (1.5 min)</a:t>
            </a:r>
          </a:p>
          <a:p>
            <a:r>
              <a:t>FOCUS: Be specific about what you learned and what was hardest.</a:t>
            </a:r>
          </a:p>
          <a:p>
            <a:r>
              <a:t>TIP: 'Getting the sign convention right in the Lagrangian took 3 iterations' is much stronger than 'teamwork was hard.'</a:t>
            </a:r>
          </a:p>
          <a:p>
            <a:r>
              <a:t>INCLUDE: CO self-assessment — which COs did you exercise most?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AI disclosure is MANDATORY but NOT penalized.</a:t>
            </a:r>
          </a:p>
          <a:p>
            <a:r>
              <a:t>Be honest about what tools you used and for what purpose.</a:t>
            </a:r>
          </a:p>
          <a:p>
            <a:r>
              <a:t>Good: 'Used ChatGPT for Python syntax debugging, derivation done by hand.'</a:t>
            </a:r>
          </a:p>
          <a:p>
            <a:r>
              <a:t>Non-disclosure IS penalized if uncovered during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rPr lang="en-US" sz="3600" b="1" dirty="0"/>
              <a:t>Determination of Skidding Speed of a Model Car on a Curved Path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7320" y="3895344"/>
            <a:ext cx="7287768" cy="1752600"/>
          </a:xfrm>
        </p:spPr>
        <p:txBody>
          <a:bodyPr>
            <a:normAutofit fontScale="92500"/>
          </a:bodyPr>
          <a:lstStyle/>
          <a:p>
            <a:pPr>
              <a:defRPr sz="1800"/>
            </a:pPr>
            <a:r>
              <a:rPr dirty="0"/>
              <a:t>Team: </a:t>
            </a:r>
            <a:r>
              <a:rPr lang="en-IN" dirty="0"/>
              <a:t>Roshan Jahan (25)</a:t>
            </a:r>
            <a:r>
              <a:rPr dirty="0"/>
              <a:t>, </a:t>
            </a:r>
            <a:r>
              <a:rPr lang="en-IN" dirty="0"/>
              <a:t>Parth Dorugade(15)</a:t>
            </a:r>
            <a:r>
              <a:rPr dirty="0"/>
              <a:t>, </a:t>
            </a:r>
            <a:r>
              <a:rPr lang="en-IN" dirty="0"/>
              <a:t>Raj Desai(14)</a:t>
            </a:r>
            <a:r>
              <a:rPr dirty="0"/>
              <a:t>, </a:t>
            </a:r>
            <a:r>
              <a:rPr lang="en-IN" dirty="0"/>
              <a:t>Nirek Doshi(16)</a:t>
            </a:r>
            <a:endParaRPr dirty="0"/>
          </a:p>
          <a:p>
            <a:pPr>
              <a:defRPr sz="1800"/>
            </a:pPr>
            <a:r>
              <a:rPr dirty="0"/>
              <a:t>Course: Dynamic System Modeling (702MH0C023)</a:t>
            </a:r>
          </a:p>
          <a:p>
            <a:pPr>
              <a:defRPr sz="1800"/>
            </a:pPr>
            <a:r>
              <a:rPr dirty="0" err="1"/>
              <a:t>B.Tech</a:t>
            </a:r>
            <a:r>
              <a:rPr dirty="0"/>
              <a:t> Mechatronics, Sem IV | NMIMS MPSTME Mumbai</a:t>
            </a:r>
          </a:p>
          <a:p>
            <a:pPr>
              <a:defRPr sz="1800"/>
            </a:pPr>
            <a:r>
              <a:rPr dirty="0"/>
              <a:t>Category: [A/B/C/D/E] | Complexity: [Medium/High/Very High]</a:t>
            </a:r>
          </a:p>
          <a:p>
            <a:pPr>
              <a:defRPr sz="1800"/>
            </a:pPr>
            <a:r>
              <a:rPr dirty="0"/>
              <a:t>COs Exercised: [CO1, CO2, CO3, CO4, CO5] | Date: [DD/MM/YYYY]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1. System Introduction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This project studies vehicle skidding on curved roads using a model car. 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Skidding occurs when friction is not enough to provide required centripetal force. 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Important for: 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Road safety 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Accident prevention 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Designing safe speed limits 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Problem Statement: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At what speed does a car start skidding on a curved path?</a:t>
            </a:r>
          </a:p>
          <a:p>
            <a:pPr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2. Problem Formulation &amp;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sz="2900" dirty="0">
                <a:latin typeface="Arial" panose="020B0604020202020204" pitchFamily="34" charset="0"/>
                <a:cs typeface="Arial" panose="020B0604020202020204" pitchFamily="34" charset="0"/>
              </a:rPr>
              <a:t>Inputs: Speed (v), Radius (r), Friction (</a:t>
            </a:r>
            <a:r>
              <a:rPr lang="el-GR" sz="2900" dirty="0">
                <a:latin typeface="Arial" panose="020B0604020202020204" pitchFamily="34" charset="0"/>
                <a:cs typeface="Arial" panose="020B0604020202020204" pitchFamily="34" charset="0"/>
              </a:rPr>
              <a:t>μ)</a:t>
            </a:r>
            <a:br>
              <a:rPr lang="el-GR" sz="2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900" dirty="0">
                <a:latin typeface="Arial" panose="020B0604020202020204" pitchFamily="34" charset="0"/>
                <a:cs typeface="Arial" panose="020B0604020202020204" pitchFamily="34" charset="0"/>
              </a:rPr>
              <a:t>Outputs: Skidding condition / Safe speed</a:t>
            </a:r>
          </a:p>
          <a:p>
            <a:r>
              <a:rPr lang="en-IN" sz="2900" dirty="0">
                <a:latin typeface="Arial" panose="020B0604020202020204" pitchFamily="34" charset="0"/>
                <a:cs typeface="Arial" panose="020B0604020202020204" pitchFamily="34" charset="0"/>
              </a:rPr>
              <a:t>State Variables: Velocity (v), Position</a:t>
            </a:r>
          </a:p>
          <a:p>
            <a: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  <a:t>Parameters:</a:t>
            </a:r>
          </a:p>
          <a:p>
            <a:r>
              <a:rPr lang="en-IN" sz="2900" dirty="0">
                <a:latin typeface="Arial" panose="020B0604020202020204" pitchFamily="34" charset="0"/>
                <a:cs typeface="Arial" panose="020B0604020202020204" pitchFamily="34" charset="0"/>
              </a:rPr>
              <a:t>Mass (m) </a:t>
            </a:r>
          </a:p>
          <a:p>
            <a:r>
              <a:rPr lang="en-IN" sz="2900" dirty="0">
                <a:latin typeface="Arial" panose="020B0604020202020204" pitchFamily="34" charset="0"/>
                <a:cs typeface="Arial" panose="020B0604020202020204" pitchFamily="34" charset="0"/>
              </a:rPr>
              <a:t>Radius (r) </a:t>
            </a:r>
          </a:p>
          <a:p>
            <a:r>
              <a:rPr lang="en-IN" sz="2900" dirty="0">
                <a:latin typeface="Arial" panose="020B0604020202020204" pitchFamily="34" charset="0"/>
                <a:cs typeface="Arial" panose="020B0604020202020204" pitchFamily="34" charset="0"/>
              </a:rPr>
              <a:t>Coefficient of friction (</a:t>
            </a:r>
            <a:r>
              <a:rPr lang="el-GR" sz="2900" dirty="0">
                <a:latin typeface="Arial" panose="020B0604020202020204" pitchFamily="34" charset="0"/>
                <a:cs typeface="Arial" panose="020B0604020202020204" pitchFamily="34" charset="0"/>
              </a:rPr>
              <a:t>μ) </a:t>
            </a:r>
          </a:p>
          <a:p>
            <a:r>
              <a:rPr lang="en-IN" sz="2900" dirty="0">
                <a:latin typeface="Arial" panose="020B0604020202020204" pitchFamily="34" charset="0"/>
                <a:cs typeface="Arial" panose="020B0604020202020204" pitchFamily="34" charset="0"/>
              </a:rPr>
              <a:t>Gravity (g) </a:t>
            </a:r>
          </a:p>
          <a:p>
            <a: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  <a:t>Assumptions:</a:t>
            </a:r>
          </a:p>
          <a:p>
            <a:r>
              <a:rPr lang="en-IN" sz="2900" dirty="0">
                <a:latin typeface="Arial" panose="020B0604020202020204" pitchFamily="34" charset="0"/>
                <a:cs typeface="Arial" panose="020B0604020202020204" pitchFamily="34" charset="0"/>
              </a:rPr>
              <a:t>Motion is circular </a:t>
            </a:r>
          </a:p>
          <a:p>
            <a:r>
              <a:rPr lang="en-IN" sz="2900" dirty="0">
                <a:latin typeface="Arial" panose="020B0604020202020204" pitchFamily="34" charset="0"/>
                <a:cs typeface="Arial" panose="020B0604020202020204" pitchFamily="34" charset="0"/>
              </a:rPr>
              <a:t>Surface is uniform </a:t>
            </a:r>
          </a:p>
          <a:p>
            <a:r>
              <a:rPr lang="en-IN" sz="2900" dirty="0">
                <a:latin typeface="Arial" panose="020B0604020202020204" pitchFamily="34" charset="0"/>
                <a:cs typeface="Arial" panose="020B0604020202020204" pitchFamily="34" charset="0"/>
              </a:rPr>
              <a:t>Air resistance is negligible </a:t>
            </a:r>
          </a:p>
          <a:p>
            <a:r>
              <a:rPr lang="en-IN" sz="2900" dirty="0">
                <a:latin typeface="Arial" panose="020B0604020202020204" pitchFamily="34" charset="0"/>
                <a:cs typeface="Arial" panose="020B0604020202020204" pitchFamily="34" charset="0"/>
              </a:rPr>
              <a:t>Friction is constant</a:t>
            </a:r>
          </a:p>
          <a:p>
            <a:pPr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7991856" y="1133856"/>
            <a:ext cx="914400" cy="283782"/>
          </a:xfrm>
        </p:spPr>
        <p:txBody>
          <a:bodyPr>
            <a:normAutofit fontScale="90000"/>
          </a:bodyPr>
          <a:lstStyle/>
          <a:p>
            <a:r>
              <a:rPr lang="en-IN" dirty="0"/>
              <a:t>  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3. Free Body Diagram / System Schematic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B50A37C-164D-2C42-2274-5645DC841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988213"/>
            <a:ext cx="372730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Forces acting on car: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Frictional force (towards center)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Weight (mg) downward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 reaction upward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Friction provides centripetal force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4. Mathematical Derivation (Part 1)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sz="2800" dirty="0"/>
                  <a:t>Centripetal Force: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800"/>
                        </m:ctrlPr>
                      </m:sSubPr>
                      <m:e>
                        <m:r>
                          <a:rPr lang="ar-AE" sz="28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ar-AE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ar-AE" sz="2800" b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2800" i="1"/>
                        </m:ctrlPr>
                      </m:fPr>
                      <m:num>
                        <m:r>
                          <a:rPr lang="ar-AE" sz="2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sSup>
                          <m:sSupPr>
                            <m:ctrlPr>
                              <a:rPr lang="ar-AE" sz="2800" i="1"/>
                            </m:ctrlPr>
                          </m:sSupPr>
                          <m:e>
                            <m:r>
                              <a:rPr lang="ar-AE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ar-AE" sz="2800" b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ar-AE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endParaRPr lang="ar-AE" sz="2800" dirty="0"/>
              </a:p>
              <a:p>
                <a:r>
                  <a:rPr lang="en-IN" sz="2800" dirty="0"/>
                  <a:t>Frictional Force: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800"/>
                        </m:ctrlPr>
                      </m:sSubPr>
                      <m:e>
                        <m:r>
                          <a:rPr lang="ar-AE" sz="28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ar-AE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ar-AE" sz="2800" b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8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ar-AE" sz="2800" b="0" i="1" smtClean="0">
                        <a:latin typeface="Cambria Math" panose="02040503050406030204" pitchFamily="18" charset="0"/>
                      </a:rPr>
                      <m:t>𝑚𝑔</m:t>
                    </m:r>
                  </m:oMath>
                </a14:m>
                <a:endParaRPr lang="ar-AE" sz="2800" dirty="0"/>
              </a:p>
              <a:p>
                <a:r>
                  <a:rPr lang="en-IN" sz="2800" dirty="0"/>
                  <a:t>At skidding point: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ar-AE" sz="2800"/>
                        </m:ctrlPr>
                      </m:fPr>
                      <m:num>
                        <m:r>
                          <a:rPr lang="ar-AE" sz="2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sSup>
                          <m:sSupPr>
                            <m:ctrlPr>
                              <a:rPr lang="ar-AE" sz="2800" i="1"/>
                            </m:ctrlPr>
                          </m:sSupPr>
                          <m:e>
                            <m:r>
                              <a:rPr lang="ar-AE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ar-AE" sz="2800" b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ar-AE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ar-AE" sz="2800" b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8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ar-AE" sz="2800" b="0" i="1" smtClean="0">
                        <a:latin typeface="Cambria Math" panose="02040503050406030204" pitchFamily="18" charset="0"/>
                      </a:rPr>
                      <m:t>𝑚𝑔</m:t>
                    </m:r>
                  </m:oMath>
                </a14:m>
                <a:endParaRPr lang="ar-AE" sz="2800" dirty="0"/>
              </a:p>
              <a:p>
                <a:pPr>
                  <a:defRPr sz="1800"/>
                </a:pPr>
                <a:endParaRPr sz="28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33" t="-13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5. Final Equations &amp; State-Space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sz="2400" dirty="0"/>
                  <a:t>After simplifying:</a:t>
                </a:r>
              </a:p>
              <a:p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b="0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ar-AE" sz="2400" i="1"/>
                        </m:ctrlPr>
                      </m:radPr>
                      <m:deg/>
                      <m:e>
                        <m:r>
                          <a:rPr lang="ar-AE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ar-AE" sz="2400" b="0" i="1" smtClean="0">
                            <a:latin typeface="Cambria Math" panose="02040503050406030204" pitchFamily="18" charset="0"/>
                          </a:rPr>
                          <m:t>𝑔𝑟</m:t>
                        </m:r>
                      </m:e>
                    </m:rad>
                  </m:oMath>
                </a14:m>
                <a:endParaRPr lang="ar-AE" sz="2400" dirty="0"/>
              </a:p>
              <a:p>
                <a:r>
                  <a:rPr lang="en-IN" sz="2400" dirty="0"/>
                  <a:t>Meaning:</a:t>
                </a:r>
              </a:p>
              <a:p>
                <a:r>
                  <a:rPr lang="en-IN" sz="2400" dirty="0"/>
                  <a:t>Speed increases with radius </a:t>
                </a:r>
              </a:p>
              <a:p>
                <a:r>
                  <a:rPr lang="en-IN" sz="2400" dirty="0"/>
                  <a:t>Speed increases with friction </a:t>
                </a:r>
              </a:p>
              <a:p>
                <a:r>
                  <a:rPr lang="en-IN" sz="2400" dirty="0"/>
                  <a:t>Low friction → skidding happens earlier</a:t>
                </a:r>
              </a:p>
              <a:p>
                <a:pPr>
                  <a:defRPr sz="1800"/>
                </a:pPr>
                <a:endParaRPr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6. Simulation &amp; Energy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Tools: Python 3.x + NumPy + SciPy + Matplotlib [+ PyBullet]</a:t>
            </a:r>
          </a:p>
          <a:p>
            <a:pPr>
              <a:spcBef>
                <a:spcPts val="600"/>
              </a:spcBef>
              <a:defRPr sz="1800"/>
            </a:pPr>
            <a:r>
              <a:t>ODE Solver: scipy.integrate.solve_ivp (RK45/BDF)</a:t>
            </a:r>
          </a:p>
          <a:p>
            <a:pPr>
              <a:spcBef>
                <a:spcPts val="600"/>
              </a:spcBef>
              <a:defRPr sz="1800"/>
            </a:pPr>
            <a:r>
              <a:t>Parameters: dt=..., T_total=..., ICs=[...]</a:t>
            </a:r>
          </a:p>
          <a:p>
            <a:pPr>
              <a:spcBef>
                <a:spcPts val="600"/>
              </a:spcBef>
              <a:defRPr sz="1800"/>
            </a:pPr>
            <a:endParaRPr/>
          </a:p>
          <a:p>
            <a:pPr>
              <a:spcBef>
                <a:spcPts val="600"/>
              </a:spcBef>
              <a:defRPr sz="1800"/>
            </a:pPr>
            <a:r>
              <a:t>[INSERT: Key code snippet — ODE function]</a:t>
            </a:r>
          </a:p>
          <a:p>
            <a:pPr>
              <a:spcBef>
                <a:spcPts val="600"/>
              </a:spcBef>
              <a:defRPr sz="1800"/>
            </a:pPr>
            <a:r>
              <a:t>[INSERT: Time response plot (states vs time)]</a:t>
            </a:r>
          </a:p>
          <a:p>
            <a:pPr>
              <a:spcBef>
                <a:spcPts val="600"/>
              </a:spcBef>
              <a:defRPr sz="1800"/>
            </a:pPr>
            <a:r>
              <a:t>[INSERT: Energy vs time plot — CO5 validation]</a:t>
            </a:r>
          </a:p>
          <a:p>
            <a:pPr>
              <a:spcBef>
                <a:spcPts val="600"/>
              </a:spcBef>
              <a:defRPr sz="1800"/>
            </a:pPr>
            <a:endParaRPr/>
          </a:p>
          <a:p>
            <a:pPr>
              <a:spcBef>
                <a:spcPts val="600"/>
              </a:spcBef>
              <a:defRPr sz="1800"/>
            </a:pPr>
            <a:r>
              <a:t>Energy Check (CO5):</a:t>
            </a:r>
          </a:p>
          <a:p>
            <a:pPr>
              <a:spcBef>
                <a:spcPts val="600"/>
              </a:spcBef>
              <a:defRPr sz="1800"/>
            </a:pPr>
            <a:r>
              <a:t>  Total energy E(t) = T(t) + V(t) = [conserved / decays due to damping]</a:t>
            </a:r>
          </a:p>
          <a:p>
            <a:pPr>
              <a:spcBef>
                <a:spcPts val="600"/>
              </a:spcBef>
              <a:defRPr sz="1800"/>
            </a:pPr>
            <a:r>
              <a:t>  Power dissipated P = c*(dx/dt)^2 = [value] 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7. Simulation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[INSERT simulation output plots]</a:t>
            </a:r>
            <a:br/>
            <a:br/>
            <a:r>
              <a:t>REQUIRED (minimum):</a:t>
            </a:r>
            <a:br/>
            <a:r>
              <a:t>- Time response: all states vs time (labels, units, legend)</a:t>
            </a:r>
            <a:br/>
            <a:r>
              <a:t>- Energy vs time: T(t), V(t), E(t) on same plot (CO5 validation)</a:t>
            </a:r>
            <a:br/>
            <a:r>
              <a:t>- Parameter variation: effect of changing key parameter</a:t>
            </a:r>
            <a:br/>
            <a:br/>
            <a:r>
              <a:t>[OPTIONAL but valuable]:</a:t>
            </a:r>
            <a:br/>
            <a:r>
              <a:t>- Phase portrait: velocity vs position</a:t>
            </a:r>
            <a:br/>
            <a:r>
              <a:t>- PyBullet 3D animation screenshot</a:t>
            </a:r>
            <a:br/>
            <a:r>
              <a:t>- Power dissipation vs time (CO5)</a:t>
            </a:r>
            <a:br/>
            <a:r>
              <a:t>- Bode/frequency response (Cat E projects)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8. Validation &amp;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IN" sz="3000" dirty="0"/>
                  <a:t>Validation:</a:t>
                </a:r>
              </a:p>
              <a:p>
                <a:r>
                  <a:rPr lang="en-IN" sz="2200" dirty="0"/>
                  <a:t>Energy decreases due to friction (not conserved) </a:t>
                </a:r>
              </a:p>
              <a:p>
                <a:r>
                  <a:rPr lang="en-IN" sz="2200" dirty="0"/>
                  <a:t>Experimental results ≈ theoretical: </a:t>
                </a:r>
                <a14:m>
                  <m:oMath xmlns:m="http://schemas.openxmlformats.org/officeDocument/2006/math">
                    <m:r>
                      <a:rPr lang="en-IN" sz="22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200" b="0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ar-AE" sz="2200" i="1"/>
                        </m:ctrlPr>
                      </m:radPr>
                      <m:deg/>
                      <m:e>
                        <m:r>
                          <a:rPr lang="ar-AE" sz="22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ar-AE" sz="2200" b="0" i="1" smtClean="0">
                            <a:latin typeface="Cambria Math" panose="02040503050406030204" pitchFamily="18" charset="0"/>
                          </a:rPr>
                          <m:t>𝑔𝑟</m:t>
                        </m:r>
                      </m:e>
                    </m:rad>
                  </m:oMath>
                </a14:m>
                <a:endParaRPr lang="ar-AE" sz="2200" dirty="0"/>
              </a:p>
              <a:p>
                <a:r>
                  <a:rPr lang="en-IN" sz="2200" dirty="0"/>
                  <a:t>Units verified → dimensionally correct </a:t>
                </a:r>
              </a:p>
              <a:p>
                <a:r>
                  <a:rPr lang="en-IN" sz="3000" dirty="0"/>
                  <a:t>Sensitivity:</a:t>
                </a:r>
              </a:p>
              <a:p>
                <a:r>
                  <a:rPr lang="en-IN" sz="2200" dirty="0"/>
                  <a:t>↑ Radius → ↑ Safe speed </a:t>
                </a:r>
              </a:p>
              <a:p>
                <a:r>
                  <a:rPr lang="en-IN" sz="2200" dirty="0"/>
                  <a:t>↑ Friction → ↑ Stability </a:t>
                </a:r>
              </a:p>
              <a:p>
                <a:r>
                  <a:rPr lang="en-IN" sz="3000" dirty="0"/>
                  <a:t>Limitations:</a:t>
                </a:r>
              </a:p>
              <a:p>
                <a:r>
                  <a:rPr lang="en-IN" sz="2200" dirty="0"/>
                  <a:t>Constant friction assumed </a:t>
                </a:r>
              </a:p>
              <a:p>
                <a:r>
                  <a:rPr lang="en-IN" sz="2200" dirty="0"/>
                  <a:t>Small-scale model </a:t>
                </a:r>
              </a:p>
              <a:p>
                <a:r>
                  <a:rPr lang="en-IN" sz="2200" dirty="0"/>
                  <a:t>Measurement errors</a:t>
                </a:r>
              </a:p>
              <a:p>
                <a:pPr>
                  <a:defRPr sz="1800"/>
                </a:pPr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481" t="-2695" b="-14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9. Conclusions &amp; Reflections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Conclusion:</a:t>
            </a:r>
          </a:p>
          <a:p>
            <a:r>
              <a:rPr lang="en-US" sz="2000" dirty="0"/>
              <a:t>Skidding depends on speed, friction, and radius </a:t>
            </a:r>
          </a:p>
          <a:p>
            <a:r>
              <a:rPr lang="en-US" sz="2000" dirty="0"/>
              <a:t>Higher friction → safer motion </a:t>
            </a:r>
          </a:p>
          <a:p>
            <a:r>
              <a:rPr lang="en-US" sz="2000" dirty="0"/>
              <a:t>Lower friction → higher risk </a:t>
            </a:r>
          </a:p>
          <a:p>
            <a:r>
              <a:rPr lang="en-US" sz="2800" dirty="0"/>
              <a:t>Applications: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Road design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Speed limit planning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Tire manufacturing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Accident prevention</a:t>
            </a:r>
          </a:p>
          <a:p>
            <a:pPr>
              <a:defRPr sz="1800"/>
            </a:pPr>
            <a:endParaRPr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10. References &amp; AI Disclosure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Slide 11: References &amp; AI Disclosure</a:t>
            </a:r>
          </a:p>
          <a:p>
            <a:r>
              <a:rPr lang="en-US" sz="2000" dirty="0"/>
              <a:t>References:</a:t>
            </a:r>
          </a:p>
          <a:p>
            <a:r>
              <a:rPr lang="en-US" sz="2000" dirty="0"/>
              <a:t>NCERT Physics </a:t>
            </a:r>
          </a:p>
          <a:p>
            <a:r>
              <a:rPr lang="en-US" sz="2000" dirty="0"/>
              <a:t>Circular motion resources </a:t>
            </a:r>
          </a:p>
          <a:p>
            <a:r>
              <a:rPr lang="en-US" sz="2000" dirty="0"/>
              <a:t>Internet sources </a:t>
            </a:r>
          </a:p>
          <a:p>
            <a:r>
              <a:rPr lang="en-US" sz="2000" dirty="0"/>
              <a:t>AI Usage(Claude, GPT):</a:t>
            </a:r>
          </a:p>
          <a:p>
            <a:r>
              <a:rPr lang="en-US" sz="2000" dirty="0"/>
              <a:t>Used for formatting &amp; explanation </a:t>
            </a:r>
          </a:p>
          <a:p>
            <a:r>
              <a:rPr lang="en-US" sz="2000" dirty="0"/>
              <a:t>Not used for derivations</a:t>
            </a:r>
          </a:p>
          <a:p>
            <a:pPr>
              <a:defRPr sz="1800"/>
            </a:pPr>
            <a:endParaRPr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Thank You — Questions?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pPr>
              <a:defRPr sz="1800"/>
            </a:pPr>
            <a:r>
              <a:t>Team: [Name 1], [Name 2], [Name 3], [Name 4]</a:t>
            </a:r>
          </a:p>
          <a:p>
            <a:pPr>
              <a:defRPr sz="1800"/>
            </a:pPr>
            <a:r>
              <a:t>Project: [Project Title]</a:t>
            </a:r>
          </a:p>
          <a:p>
            <a:pPr>
              <a:defRPr sz="1800"/>
            </a:pPr>
            <a:r>
              <a:t>Category: [A/B/C/D/E]</a:t>
            </a:r>
          </a:p>
          <a:p>
            <a:pPr>
              <a:defRPr sz="1800"/>
            </a:pPr>
            <a:r>
              <a:t>COs: [CO1-CO5]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[ALL members prepared for Q&amp;A — evaluators may direct to specific members]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E5ED340F12FF438B134E672892BFDA" ma:contentTypeVersion="12" ma:contentTypeDescription="Create a new document." ma:contentTypeScope="" ma:versionID="2c87ab58b8ec2353d2b26750d179ec7e">
  <xsd:schema xmlns:xsd="http://www.w3.org/2001/XMLSchema" xmlns:xs="http://www.w3.org/2001/XMLSchema" xmlns:p="http://schemas.microsoft.com/office/2006/metadata/properties" xmlns:ns2="b7aa8a3b-80d1-4955-8f76-a3254a33a331" xmlns:ns3="8aa28b7e-c5b6-4db8-be1f-ce18dc9d6788" targetNamespace="http://schemas.microsoft.com/office/2006/metadata/properties" ma:root="true" ma:fieldsID="69fb4eb5051183c283dc3b3a79120d25" ns2:_="" ns3:_="">
    <xsd:import namespace="b7aa8a3b-80d1-4955-8f76-a3254a33a331"/>
    <xsd:import namespace="8aa28b7e-c5b6-4db8-be1f-ce18dc9d6788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aa8a3b-80d1-4955-8f76-a3254a33a331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d765a431-9415-4219-9cd0-5363948861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a28b7e-c5b6-4db8-be1f-ce18dc9d6788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5a5849d0-3a25-4ea2-a66f-6da2942d5ba7}" ma:internalName="TaxCatchAll" ma:showField="CatchAllData" ma:web="8aa28b7e-c5b6-4db8-be1f-ce18dc9d678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b7aa8a3b-80d1-4955-8f76-a3254a33a331" xsi:nil="true"/>
    <lcf76f155ced4ddcb4097134ff3c332f xmlns="b7aa8a3b-80d1-4955-8f76-a3254a33a331">
      <Terms xmlns="http://schemas.microsoft.com/office/infopath/2007/PartnerControls"/>
    </lcf76f155ced4ddcb4097134ff3c332f>
    <TaxCatchAll xmlns="8aa28b7e-c5b6-4db8-be1f-ce18dc9d678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DFB93D4-01F4-4507-98AB-ECBD929C5C6E}"/>
</file>

<file path=customXml/itemProps2.xml><?xml version="1.0" encoding="utf-8"?>
<ds:datastoreItem xmlns:ds="http://schemas.openxmlformats.org/officeDocument/2006/customXml" ds:itemID="{7E70CD32-C2AC-43A4-8663-26E188E5FFEE}">
  <ds:schemaRefs>
    <ds:schemaRef ds:uri="http://schemas.microsoft.com/office/2006/metadata/properties"/>
    <ds:schemaRef ds:uri="http://schemas.microsoft.com/office/infopath/2007/PartnerControls"/>
    <ds:schemaRef ds:uri="8ba116ed-0b03-4fad-970c-3f26ccc5a628"/>
  </ds:schemaRefs>
</ds:datastoreItem>
</file>

<file path=customXml/itemProps3.xml><?xml version="1.0" encoding="utf-8"?>
<ds:datastoreItem xmlns:ds="http://schemas.openxmlformats.org/officeDocument/2006/customXml" ds:itemID="{0C9632BA-D7F5-4A5D-BF2F-56C93138B56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1136</Words>
  <Application>Microsoft Office PowerPoint</Application>
  <PresentationFormat>Widescreen</PresentationFormat>
  <Paragraphs>132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 Math</vt:lpstr>
      <vt:lpstr>Office Theme</vt:lpstr>
      <vt:lpstr>Determination of Skidding Speed of a Model Car on a Curved Path</vt:lpstr>
      <vt:lpstr>1. System Introduction &amp; Motivation</vt:lpstr>
      <vt:lpstr>2. Problem Formulation &amp; Assumptions</vt:lpstr>
      <vt:lpstr>  </vt:lpstr>
      <vt:lpstr>4. Mathematical Derivation (Part 1)</vt:lpstr>
      <vt:lpstr>5. Final Equations &amp; State-Space</vt:lpstr>
      <vt:lpstr>6. Simulation &amp; Energy Analysis</vt:lpstr>
      <vt:lpstr>PowerPoint Presentation</vt:lpstr>
      <vt:lpstr>8. Validation &amp; Analysis</vt:lpstr>
      <vt:lpstr>9. Conclusions &amp; Reflections</vt:lpstr>
      <vt:lpstr>10. References &amp; AI Disclosure</vt:lpstr>
      <vt:lpstr>Thank You — 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Parth D</cp:lastModifiedBy>
  <cp:revision>2</cp:revision>
  <dcterms:created xsi:type="dcterms:W3CDTF">2013-01-27T09:14:16Z</dcterms:created>
  <dcterms:modified xsi:type="dcterms:W3CDTF">2026-04-20T06:15:27Z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0x010100AFE5ED340F12FF438B134E672892BFDA</vt:lpwstr>
  </property>
</Properties>
</file>