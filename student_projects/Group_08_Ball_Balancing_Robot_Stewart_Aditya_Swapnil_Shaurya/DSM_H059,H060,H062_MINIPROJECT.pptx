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2F0513-FD4D-4660-8B05-A99AAC531E50}" v="90" dt="2026-04-19T15:13:05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2011C-295A-41EF-A2C8-3E187BA4752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0444A-4EF3-48C5-B8F6-99DBE9EBA0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77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ID_controll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ewart_platform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790434" cy="1470025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lang="en-IN" dirty="0"/>
              <a:t>Dynamic Modelling of a Ball Balancing Stewart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1589" y="3968393"/>
            <a:ext cx="6888822" cy="1752600"/>
          </a:xfrm>
        </p:spPr>
        <p:txBody>
          <a:bodyPr/>
          <a:lstStyle/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Aditya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Rajkotia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Shaurya S. Salian, Swapnil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Rajuri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Dynamic System Modeling (702MH0C023)</a:t>
            </a:r>
          </a:p>
          <a:p>
            <a:pPr>
              <a:defRPr sz="18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Mechatronics, Sem IV | NMIMS MPSTME Mumbai</a:t>
            </a: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Complexity: High</a:t>
            </a: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 Exercised: CO1, CO2, CO3, CO4, CO5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04/2026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11121775" cy="4708525"/>
          </a:xfrm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system?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/>
              <a:t>A Stewart platform simulation that tilts using servo control to balance a ball via a PID feedback loop.</a:t>
            </a:r>
          </a:p>
          <a:p>
            <a:pPr marL="0" indent="0" algn="ctr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does it matter?</a:t>
            </a:r>
          </a:p>
          <a:p>
            <a:pPr algn="ctr"/>
            <a:r>
              <a:rPr lang="en-US" sz="2400" dirty="0"/>
              <a:t>Demonstrates key concepts in </a:t>
            </a:r>
            <a:r>
              <a:rPr lang="en-US" sz="2400" b="1" dirty="0"/>
              <a:t>control systems, robotics, and real-time stabilization</a:t>
            </a:r>
            <a:r>
              <a:rPr lang="en-US" sz="2400" dirty="0"/>
              <a:t> used in practical engineering applications.</a:t>
            </a:r>
          </a:p>
          <a:p>
            <a:pPr marL="0" indent="0" algn="ctr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/>
              <a:t>Develop a control system that maintains the ball at the center by dynamically correcting its position under external disturbances.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Problem Formulation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417638"/>
            <a:ext cx="11121775" cy="5353032"/>
          </a:xfrm>
        </p:spPr>
        <p:txBody>
          <a:bodyPr>
            <a:normAutofit fontScale="77500" lnSpcReduction="20000"/>
          </a:bodyPr>
          <a:lstStyle/>
          <a:p>
            <a:r>
              <a:rPr lang="en-IN" sz="1600" b="1" dirty="0"/>
              <a:t>Inputs:</a:t>
            </a:r>
            <a:br>
              <a:rPr lang="en-IN" sz="1600" dirty="0"/>
            </a:br>
            <a:r>
              <a:rPr lang="en-IN" sz="1600" dirty="0"/>
              <a:t>u = [</a:t>
            </a:r>
            <a:r>
              <a:rPr lang="el-GR" sz="1600" dirty="0"/>
              <a:t>α (</a:t>
            </a:r>
            <a:r>
              <a:rPr lang="en-IN" sz="1600" dirty="0"/>
              <a:t>tilt about x-axis), </a:t>
            </a:r>
            <a:r>
              <a:rPr lang="el-GR" sz="1600" dirty="0"/>
              <a:t>β (</a:t>
            </a:r>
            <a:r>
              <a:rPr lang="en-IN" sz="1600" dirty="0"/>
              <a:t>tilt about y-axis)]</a:t>
            </a:r>
            <a:br>
              <a:rPr lang="en-IN" sz="1600" dirty="0"/>
            </a:br>
            <a:r>
              <a:rPr lang="en-IN" sz="1600" dirty="0"/>
              <a:t>(Controlled via PID → converted to servo angles)</a:t>
            </a:r>
          </a:p>
          <a:p>
            <a:r>
              <a:rPr lang="en-IN" sz="1600" b="1" dirty="0"/>
              <a:t>Outputs:</a:t>
            </a:r>
            <a:br>
              <a:rPr lang="en-IN" sz="1600" dirty="0"/>
            </a:br>
            <a:r>
              <a:rPr lang="en-IN" sz="1600" dirty="0"/>
              <a:t>Ball position (x, y, z)</a:t>
            </a:r>
            <a:br>
              <a:rPr lang="en-IN" sz="1600" dirty="0"/>
            </a:br>
            <a:r>
              <a:rPr lang="en-IN" sz="1600" dirty="0"/>
              <a:t>Ball velocity (</a:t>
            </a:r>
            <a:r>
              <a:rPr lang="en-IN" sz="1600" dirty="0" err="1"/>
              <a:t>vx</a:t>
            </a:r>
            <a:r>
              <a:rPr lang="en-IN" sz="1600" dirty="0"/>
              <a:t>, </a:t>
            </a:r>
            <a:r>
              <a:rPr lang="en-IN" sz="1600" dirty="0" err="1"/>
              <a:t>vy</a:t>
            </a:r>
            <a:r>
              <a:rPr lang="en-IN" sz="1600" dirty="0"/>
              <a:t>, </a:t>
            </a:r>
            <a:r>
              <a:rPr lang="en-IN" sz="1600" dirty="0" err="1"/>
              <a:t>vz</a:t>
            </a:r>
            <a:r>
              <a:rPr lang="en-IN" sz="1600" dirty="0"/>
              <a:t>)</a:t>
            </a:r>
            <a:br>
              <a:rPr lang="en-IN" sz="1600" dirty="0"/>
            </a:br>
            <a:r>
              <a:rPr lang="en-IN" sz="1600" dirty="0"/>
              <a:t>Platform orientation (roll ≈ </a:t>
            </a:r>
            <a:r>
              <a:rPr lang="el-GR" sz="1600" dirty="0"/>
              <a:t>β, </a:t>
            </a:r>
            <a:r>
              <a:rPr lang="en-IN" sz="1600" dirty="0"/>
              <a:t>pitch ≈ </a:t>
            </a:r>
            <a:r>
              <a:rPr lang="el-GR" sz="1600" dirty="0"/>
              <a:t>α)</a:t>
            </a:r>
            <a:br>
              <a:rPr lang="el-GR" sz="1600" dirty="0"/>
            </a:br>
            <a:r>
              <a:rPr lang="en-IN" sz="1600" dirty="0"/>
              <a:t>Error (distance from </a:t>
            </a:r>
            <a:r>
              <a:rPr lang="en-IN" sz="1600" dirty="0" err="1"/>
              <a:t>center</a:t>
            </a:r>
            <a:r>
              <a:rPr lang="en-IN" sz="1600" dirty="0"/>
              <a:t>)</a:t>
            </a:r>
            <a:br>
              <a:rPr lang="en-IN" sz="1600" dirty="0"/>
            </a:br>
            <a:r>
              <a:rPr lang="en-IN" sz="1600" dirty="0"/>
              <a:t>Control response (tilt angles)</a:t>
            </a:r>
          </a:p>
          <a:p>
            <a:r>
              <a:rPr lang="en-IN" sz="1600" b="1" dirty="0"/>
              <a:t>State Variables:</a:t>
            </a:r>
            <a:br>
              <a:rPr lang="en-IN" sz="1600" dirty="0"/>
            </a:br>
            <a:r>
              <a:rPr lang="en-IN" sz="1600" dirty="0"/>
              <a:t>X = [x, y, </a:t>
            </a:r>
            <a:r>
              <a:rPr lang="en-IN" sz="1600" dirty="0" err="1"/>
              <a:t>vx</a:t>
            </a:r>
            <a:r>
              <a:rPr lang="en-IN" sz="1600" dirty="0"/>
              <a:t>, </a:t>
            </a:r>
            <a:r>
              <a:rPr lang="en-IN" sz="1600" dirty="0" err="1"/>
              <a:t>vy</a:t>
            </a:r>
            <a:r>
              <a:rPr lang="en-IN" sz="1600" dirty="0"/>
              <a:t>, </a:t>
            </a:r>
            <a:r>
              <a:rPr lang="el-GR" sz="1600" dirty="0"/>
              <a:t>α, β, ∫</a:t>
            </a:r>
            <a:r>
              <a:rPr lang="en-IN" sz="1600" dirty="0"/>
              <a:t>e, de/dt]</a:t>
            </a:r>
          </a:p>
          <a:p>
            <a:r>
              <a:rPr lang="en-IN" sz="1600" b="1" dirty="0"/>
              <a:t>Parameters:</a:t>
            </a:r>
            <a:br>
              <a:rPr lang="en-IN" sz="1600" dirty="0"/>
            </a:br>
            <a:r>
              <a:rPr lang="en-IN" sz="1600" dirty="0"/>
              <a:t>Ball mass ≈ 0.0027 kg</a:t>
            </a:r>
            <a:br>
              <a:rPr lang="en-IN" sz="1600" dirty="0"/>
            </a:br>
            <a:r>
              <a:rPr lang="en-IN" sz="1600" dirty="0"/>
              <a:t>Gravity = 9.81 m/s²</a:t>
            </a:r>
            <a:br>
              <a:rPr lang="en-IN" sz="1600" dirty="0"/>
            </a:br>
            <a:r>
              <a:rPr lang="en-IN" sz="1600" dirty="0"/>
              <a:t>Platform height (H₀)</a:t>
            </a:r>
            <a:br>
              <a:rPr lang="en-IN" sz="1600" dirty="0"/>
            </a:br>
            <a:r>
              <a:rPr lang="en-IN" sz="1600" dirty="0"/>
              <a:t>Friction coefficient</a:t>
            </a:r>
            <a:br>
              <a:rPr lang="en-IN" sz="1600" dirty="0"/>
            </a:br>
            <a:r>
              <a:rPr lang="en-IN" sz="1600" dirty="0"/>
              <a:t>Restitution factor</a:t>
            </a:r>
            <a:br>
              <a:rPr lang="en-IN" sz="1600" dirty="0"/>
            </a:br>
            <a:r>
              <a:rPr lang="en-IN" sz="1600" dirty="0"/>
              <a:t>PID gains (</a:t>
            </a:r>
            <a:r>
              <a:rPr lang="en-IN" sz="1600" dirty="0" err="1"/>
              <a:t>Kp</a:t>
            </a:r>
            <a:r>
              <a:rPr lang="en-IN" sz="1600" dirty="0"/>
              <a:t>, Ki, </a:t>
            </a:r>
            <a:r>
              <a:rPr lang="en-IN" sz="1600" dirty="0" err="1"/>
              <a:t>Kd</a:t>
            </a:r>
            <a:r>
              <a:rPr lang="en-IN" sz="1600" dirty="0"/>
              <a:t>)</a:t>
            </a:r>
          </a:p>
          <a:p>
            <a:r>
              <a:rPr lang="en-IN" sz="1600" b="1" dirty="0"/>
              <a:t>Forces:</a:t>
            </a:r>
            <a:br>
              <a:rPr lang="en-IN" sz="1600" dirty="0"/>
            </a:br>
            <a:r>
              <a:rPr lang="en-IN" sz="1600" dirty="0"/>
              <a:t>Gravitational force</a:t>
            </a:r>
            <a:br>
              <a:rPr lang="en-IN" sz="1600" dirty="0"/>
            </a:br>
            <a:r>
              <a:rPr lang="en-IN" sz="1600" dirty="0"/>
              <a:t>Normal reaction from platform</a:t>
            </a:r>
            <a:br>
              <a:rPr lang="en-IN" sz="1600" dirty="0"/>
            </a:br>
            <a:r>
              <a:rPr lang="en-IN" sz="1600" dirty="0"/>
              <a:t>Frictional force</a:t>
            </a:r>
            <a:br>
              <a:rPr lang="en-IN" sz="1600" dirty="0"/>
            </a:br>
            <a:r>
              <a:rPr lang="en-IN" sz="1600" dirty="0"/>
              <a:t>External disturbance forces (user input)</a:t>
            </a:r>
          </a:p>
          <a:p>
            <a:r>
              <a:rPr lang="en-IN" sz="1600" b="1" dirty="0"/>
              <a:t>DOF:</a:t>
            </a:r>
            <a:br>
              <a:rPr lang="en-IN" sz="1600" dirty="0"/>
            </a:br>
            <a:r>
              <a:rPr lang="en-IN" sz="1600" dirty="0"/>
              <a:t>DOF = 2 (ball motion on surface) + 2 (platform tilt)</a:t>
            </a:r>
            <a:br>
              <a:rPr lang="en-IN" sz="1600" dirty="0"/>
            </a:br>
            <a:r>
              <a:rPr lang="en-IN" sz="1600" dirty="0"/>
              <a:t>Translational: x, y</a:t>
            </a:r>
            <a:br>
              <a:rPr lang="en-IN" sz="1600" dirty="0"/>
            </a:br>
            <a:r>
              <a:rPr lang="en-IN" sz="1600" dirty="0"/>
              <a:t>Rotational: </a:t>
            </a:r>
            <a:r>
              <a:rPr lang="el-GR" sz="1600" dirty="0"/>
              <a:t>α (</a:t>
            </a:r>
            <a:r>
              <a:rPr lang="en-IN" sz="1600" dirty="0"/>
              <a:t>pitch), </a:t>
            </a:r>
            <a:r>
              <a:rPr lang="el-GR" sz="1600" dirty="0"/>
              <a:t>β (</a:t>
            </a:r>
            <a:r>
              <a:rPr lang="en-IN" sz="1600" dirty="0"/>
              <a:t>roll)</a:t>
            </a:r>
          </a:p>
          <a:p>
            <a:r>
              <a:rPr lang="en-IN" sz="1600" b="1" dirty="0"/>
              <a:t>Key Assumptions (JUSTIFIED):</a:t>
            </a:r>
            <a:br>
              <a:rPr lang="en-IN" sz="1600" dirty="0"/>
            </a:br>
            <a:r>
              <a:rPr lang="en-IN" sz="1600" dirty="0"/>
              <a:t>(1) Platform behaves as a rigid body</a:t>
            </a:r>
            <a:br>
              <a:rPr lang="en-IN" sz="1600" dirty="0"/>
            </a:br>
            <a:r>
              <a:rPr lang="en-IN" sz="1600" dirty="0"/>
              <a:t>(2) Small-angle tilt approximation</a:t>
            </a:r>
            <a:br>
              <a:rPr lang="en-IN" sz="1600" dirty="0"/>
            </a:br>
            <a:r>
              <a:rPr lang="en-IN" sz="1600" dirty="0"/>
              <a:t>(3) Rolling with limited slip (friction </a:t>
            </a:r>
            <a:r>
              <a:rPr lang="en-IN" sz="1600" dirty="0" err="1"/>
              <a:t>modeled</a:t>
            </a:r>
            <a:r>
              <a:rPr lang="en-IN" sz="1600" dirty="0"/>
              <a:t>)</a:t>
            </a:r>
            <a:br>
              <a:rPr lang="en-IN" sz="1600" dirty="0"/>
            </a:br>
            <a:r>
              <a:rPr lang="en-IN" sz="1600" dirty="0"/>
              <a:t>(4) Ideal actuator response (instant tilt change)</a:t>
            </a:r>
            <a:br>
              <a:rPr lang="en-IN" sz="1600" dirty="0"/>
            </a:br>
            <a:r>
              <a:rPr lang="en-IN" sz="1600" dirty="0"/>
              <a:t>(5) Uniform gravity, no air resistance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2265" y="393125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3. Free Body Diagram / System Schematic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8E2C8-8293-F3A2-E658-BCF81E8AD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597"/>
            <a:ext cx="6070656" cy="4851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9A8A6F-6275-F7E0-D5A9-5A7D105D7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56" y="1362597"/>
            <a:ext cx="6121344" cy="4851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/>
              <a:t>4. Mathematical Derivation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00667"/>
            <a:ext cx="11203969" cy="5587809"/>
          </a:xfrm>
        </p:spPr>
        <p:txBody>
          <a:bodyPr>
            <a:norm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/>
              <a:t>Newton’s Second Law (Ball Dynamics on Inclined Plane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/>
              <a:t>Newtonian mechanics is used because the ball motion is governed by forces due to gravity and platform tilt, making it a direct and intuitive force-based model.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Apply Newton’s Second Law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1600" b="1" dirty="0"/>
              <a:t>Small Angle Approximation</a:t>
            </a:r>
          </a:p>
          <a:p>
            <a:pPr marL="0" indent="0"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IN" sz="1600" b="1" dirty="0"/>
              <a:t>Similarly for y-direction</a:t>
            </a:r>
          </a:p>
          <a:p>
            <a:pPr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ar-A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I</a:t>
            </a:r>
            <a:r>
              <a:rPr lang="en-IN" sz="1600" b="1" dirty="0"/>
              <a:t>nclude Control (PID Controller)</a:t>
            </a:r>
            <a:endParaRPr lang="ar-AE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ar-AE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Solution: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283844-E718-F02C-A21B-308735C49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383" y="2127789"/>
            <a:ext cx="2133600" cy="5932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ECE1E9-C802-1ACD-1BE9-0C907E766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603" y="3080238"/>
            <a:ext cx="1143160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7EB1C-D489-6B82-49D0-BA9F76B0F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867" y="3989561"/>
            <a:ext cx="1000265" cy="495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07532D-E635-F122-2A75-493976E5FF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5316" y="4927464"/>
            <a:ext cx="2607734" cy="693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EB98E0-4C95-8883-B50E-B9616E08BB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3202" y="5969000"/>
            <a:ext cx="2785596" cy="7819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Final Equations &amp; State-Space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IN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6-DOF Model:</a:t>
                </a:r>
                <a:endParaRPr lang="en-IN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400" i="1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̇"/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acc>
                      <m:r>
                        <a:rPr lang="ar-AE" sz="3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r>
                        <a:rPr lang="ar-AE" sz="3400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ar-AE" sz="3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r>
                        <a:rPr lang="ar-AE" sz="3400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ar-AE" sz="3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ar-AE" sz="3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IN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Space (1 DOF):</a:t>
                </a:r>
                <a:endParaRPr lang="en-IN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sz="3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ar-AE" sz="3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𝐵𝑢</m:t>
                      </m:r>
                    </m:oMath>
                  </m:oMathPara>
                </a14:m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34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ar-AE" sz="340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ar-AE" sz="3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34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ar-AE" sz="3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34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34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ar-AE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3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Physical Meaning:</a:t>
                </a:r>
              </a:p>
              <a:p>
                <a:pPr marL="0" indent="0">
                  <a:buNone/>
                </a:pPr>
                <a:endParaRPr lang="en-IN" sz="3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3400" i="1">
                        <a:latin typeface="Cambria Math" panose="02040503050406030204" pitchFamily="18" charset="0"/>
                      </a:rPr>
                      <m:t>𝐷𝑢</m:t>
                    </m:r>
                  </m:oMath>
                </a14:m>
                <a:r>
                  <a:rPr lang="en-IN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drag force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3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propulsion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sz="3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ar-AE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4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</m:oMath>
                </a14:m>
                <a:r>
                  <a:rPr lang="ar-AE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</a:t>
                </a:r>
                <a:r>
                  <a:rPr lang="en-IN" sz="3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buoyancy effect</a:t>
                </a:r>
              </a:p>
              <a:p>
                <a:pPr>
                  <a:defRPr sz="1800"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2291" b="-14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/>
              <a:t>6. Simulation &amp; Energy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734800" cy="5257800"/>
              </a:xfrm>
            </p:spPr>
            <p:txBody>
              <a:bodyPr>
                <a:noAutofit/>
              </a:bodyPr>
              <a:lstStyle/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Tools:</a:t>
                </a:r>
                <a:b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</a:t>
                </a:r>
                <a:r>
                  <a:rPr lang="en-IN" sz="1800" dirty="0"/>
                  <a:t>Python, NumPy, </a:t>
                </a:r>
                <a:r>
                  <a:rPr lang="en-IN" sz="1800" dirty="0" err="1"/>
                  <a:t>PyBullet</a:t>
                </a:r>
                <a:endParaRPr lang="en-IN" sz="1800" dirty="0"/>
              </a:p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Solver:</a:t>
                </a:r>
                <a:b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</a:t>
                </a:r>
                <a:r>
                  <a:rPr lang="en-US" sz="1800" dirty="0"/>
                  <a:t>Real-time physics simulation (</a:t>
                </a:r>
                <a:r>
                  <a:rPr lang="en-US" sz="1800" dirty="0" err="1"/>
                  <a:t>PyBullet</a:t>
                </a:r>
                <a:r>
                  <a:rPr lang="en-US" sz="1800" dirty="0"/>
                  <a:t> engine)</a:t>
                </a:r>
              </a:p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Equations:</a:t>
                </a: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Kinetic Energy: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𝐾𝐸</m:t>
                      </m:r>
                      <m:r>
                        <a:rPr lang="en-IN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sz="1800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180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ar-AE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Potential Energy: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</a:rPr>
                        <m:t>𝑃𝐸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b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Observation:</a:t>
                </a:r>
              </a:p>
              <a:p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734800" cy="5257800"/>
              </a:xfrm>
              <a:blipFill>
                <a:blip r:embed="rId3"/>
                <a:stretch>
                  <a:fillRect l="-312" t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FEDBD970-E60C-4954-2040-20C6250E4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6627" y="5120149"/>
            <a:ext cx="6058746" cy="9526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37706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/>
              <a:t>7. Simulation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37F4D-B7A3-1A82-CB3F-C4FCB34E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72066"/>
            <a:ext cx="12192001" cy="5985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468"/>
            <a:ext cx="11183420" cy="5694832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 Comparison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Validation (CO5)</a:t>
            </a:r>
            <a:b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Analysis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EA4B8-1940-5A8D-B23D-0D8E9C3E8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259" y="1346903"/>
            <a:ext cx="5239481" cy="933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6282C1-C13C-01A9-99F7-6A8E60AA5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76" y="2815170"/>
            <a:ext cx="3640666" cy="9544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6B2CD9-E744-BCE4-D6C2-B7E286BEB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84" y="4157666"/>
            <a:ext cx="3988850" cy="9736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E4AE35-72D1-686A-B7CD-14B1C617F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6068" y="5642048"/>
            <a:ext cx="4288284" cy="901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11162872" cy="5322209"/>
          </a:xfrm>
        </p:spPr>
        <p:txBody>
          <a:bodyPr>
            <a:no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ROV dynamics follow a first-order thrust–drag model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decreases due to hydrodynamic drag losses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captures realistic underwater behaviour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accurate force modelling (drag + buoyancy)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assumptions impact system response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analysis validates physical correctness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correct sign conventions in derivation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simulation with theoretical results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 buoyancy and drag accurately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Self-Assessment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(Kinematics): ✓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(FBD): ✓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(Forces): ✓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(Laws &amp; Derivation): ✓ 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(Energy Analysis): 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406D4-6388-FEB9-54EE-3503E9BAA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707" y="1589025"/>
            <a:ext cx="5096586" cy="8859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262245-493C-4980-0D4E-3B43B5E79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127" y="2943157"/>
            <a:ext cx="5515745" cy="971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A40C70-35B1-A5FC-685F-14200F3DE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496" y="4124263"/>
            <a:ext cx="5249008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52598" cy="47286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 References:</a:t>
            </a:r>
          </a:p>
          <a:p>
            <a:pPr marL="0" indent="0" algn="ctr">
              <a:buNone/>
            </a:pPr>
            <a:r>
              <a:rPr lang="en-IN" sz="1900" dirty="0"/>
              <a:t>[1] Ginsberg, J. (2008). </a:t>
            </a:r>
            <a:r>
              <a:rPr lang="en-IN" sz="1900" i="1" dirty="0"/>
              <a:t>Engineering Dynamics</a:t>
            </a:r>
            <a:r>
              <a:rPr lang="en-IN" sz="1900" dirty="0"/>
              <a:t>. Cambridge University Press. </a:t>
            </a:r>
          </a:p>
          <a:p>
            <a:pPr marL="0" indent="0" algn="ctr">
              <a:buNone/>
            </a:pPr>
            <a:r>
              <a:rPr lang="en-IN" sz="1900" dirty="0"/>
              <a:t>[2] Ogata, K. (2010). </a:t>
            </a:r>
            <a:r>
              <a:rPr lang="en-IN" sz="1900" i="1" dirty="0"/>
              <a:t>Modern Control Engineering</a:t>
            </a:r>
            <a:r>
              <a:rPr lang="en-IN" sz="1900" dirty="0"/>
              <a:t>. Prentice Hall. </a:t>
            </a:r>
          </a:p>
          <a:p>
            <a:pPr marL="0" indent="0" algn="ctr">
              <a:buNone/>
            </a:pPr>
            <a:r>
              <a:rPr lang="en-IN" sz="1900" dirty="0"/>
              <a:t>[3] Siciliano, B. et al. (2010). </a:t>
            </a:r>
            <a:r>
              <a:rPr lang="en-IN" sz="1900" i="1" dirty="0"/>
              <a:t>Robotics: Modelling, Planning and Control</a:t>
            </a:r>
            <a:r>
              <a:rPr lang="en-IN" sz="1900" dirty="0"/>
              <a:t>. Springer. </a:t>
            </a:r>
          </a:p>
          <a:p>
            <a:pPr>
              <a:spcBef>
                <a:spcPts val="600"/>
              </a:spcBef>
              <a:defRPr sz="18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Resources: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hlinkClick r:id="rId3"/>
              </a:rPr>
              <a:t>https://en.wikipedia.org/wiki/PID_controller</a:t>
            </a:r>
            <a:r>
              <a:rPr lang="en-IN" sz="1800" dirty="0"/>
              <a:t> </a:t>
            </a:r>
          </a:p>
          <a:p>
            <a:pPr marL="0" indent="0" algn="ctr">
              <a:buNone/>
            </a:pPr>
            <a:r>
              <a:rPr lang="en-IN" sz="1800" dirty="0">
                <a:hlinkClick r:id="rId4"/>
              </a:rPr>
              <a:t>https://en.wikipedia.org/wiki/Stewart_platform</a:t>
            </a:r>
            <a:r>
              <a:rPr lang="en-IN" sz="1800" dirty="0"/>
              <a:t> 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 ChatGPT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Anti-Gravity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None/>
              <a:defRPr sz="18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syntax debugging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Classifying content according to rubrics, Formatting presentation and word 	documents.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used for: Derivation done by hand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FBD Diagram drawn by hand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50013"/>
            <a:ext cx="10820400" cy="2209801"/>
          </a:xfrm>
        </p:spPr>
        <p:txBody>
          <a:bodyPr/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— 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0"/>
            <a:ext cx="10820400" cy="220980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Aditya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Rajkotia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Shaurya S. Salian, Swapnil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Rajuri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Project: </a:t>
            </a:r>
            <a:r>
              <a:rPr lang="en-IN" sz="2400" dirty="0"/>
              <a:t>Dynamic Modelling of a Ball Balancing Stewart Platform</a:t>
            </a: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COs: CO1-CO5</a:t>
            </a:r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4e4a6ae84bd6460c7f5bb12ca08fb79b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dad97b1bfed5a3964b6f7fde8b00b5db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2085CE-9C7E-4AC0-943B-441C533A82EB}"/>
</file>

<file path=customXml/itemProps2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schemas.microsoft.com/office/infopath/2007/PartnerControls"/>
    <ds:schemaRef ds:uri="8ba116ed-0b03-4fad-970c-3f26ccc5a628"/>
  </ds:schemaRefs>
</ds:datastoreItem>
</file>

<file path=customXml/itemProps3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1281</Words>
  <Application>Microsoft Office PowerPoint</Application>
  <PresentationFormat>Widescreen</PresentationFormat>
  <Paragraphs>138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Times New Roman</vt:lpstr>
      <vt:lpstr>Office Theme</vt:lpstr>
      <vt:lpstr>Dynamic Modelling of a Ball Balancing Stewart Platform</vt:lpstr>
      <vt:lpstr>1. System Introduction &amp; Motivation</vt:lpstr>
      <vt:lpstr>2. Problem Formulation &amp; Assumptions</vt:lpstr>
      <vt:lpstr>PowerPoint Presentation</vt:lpstr>
      <vt:lpstr>4. Mathematical Derivation (Part 1)</vt:lpstr>
      <vt:lpstr>5. Final Equations &amp; State-Space</vt:lpstr>
      <vt:lpstr>6. Simulation &amp; Energy Analysis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Shaurya</dc:creator>
  <cp:keywords/>
  <dc:description>generated using python-pptx</dc:description>
  <cp:lastModifiedBy>Shaurya Salian</cp:lastModifiedBy>
  <cp:revision>6</cp:revision>
  <dcterms:created xsi:type="dcterms:W3CDTF">2013-01-27T09:14:16Z</dcterms:created>
  <dcterms:modified xsi:type="dcterms:W3CDTF">2026-04-19T15:15:13Z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