
<file path=[Content_Types].xml><?xml version="1.0" encoding="utf-8"?>
<Types xmlns="http://schemas.openxmlformats.org/package/2006/content-types">
  <Default Extension="fntdata" ContentType="application/x-fontdata"/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8229600" cx="14630400"/>
  <p:notesSz cx="8229600" cy="14630400"/>
  <p:embeddedFontLst>
    <p:embeddedFont>
      <p:font typeface="Funnel Sans"/>
      <p:regular r:id="rId18"/>
      <p:bold r:id="rId19"/>
      <p:italic r:id="rId20"/>
      <p:boldItalic r:id="rId21"/>
    </p:embeddedFont>
    <p:embeddedFont>
      <p:font typeface="Montserrat"/>
      <p:regular r:id="rId22"/>
      <p:bold r:id="rId23"/>
      <p:italic r:id="rId24"/>
      <p:boldItalic r:id="rId25"/>
    </p:embeddedFont>
    <p:embeddedFont>
      <p:font typeface="Source Sans 3"/>
      <p:regular r:id="rId26"/>
      <p:bold r:id="rId27"/>
      <p:italic r:id="rId28"/>
      <p:boldItalic r:id="rId29"/>
    </p:embeddedFont>
    <p:embeddedFont>
      <p:font typeface="Montserrat Light"/>
      <p:regular r:id="rId30"/>
      <p:bold r:id="rId31"/>
      <p:italic r:id="rId32"/>
      <p:boldItalic r:id="rId33"/>
    </p:embeddedFont>
    <p:embeddedFont>
      <p:font typeface="Mona Sans SemiBold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font" Target="fonts/SourceSans3-regular.fntdata"/><Relationship Id="rId13" Type="http://schemas.openxmlformats.org/officeDocument/2006/relationships/slide" Target="slides/slide9.xml"/><Relationship Id="rId18" Type="http://schemas.openxmlformats.org/officeDocument/2006/relationships/font" Target="fonts/FunnelSans-regular.fntdata"/><Relationship Id="rId39" Type="http://schemas.openxmlformats.org/officeDocument/2006/relationships/customXml" Target="../customXml/item2.xml"/><Relationship Id="rId21" Type="http://schemas.openxmlformats.org/officeDocument/2006/relationships/font" Target="fonts/FunnelSans-boldItalic.fntdata"/><Relationship Id="rId34" Type="http://schemas.openxmlformats.org/officeDocument/2006/relationships/font" Target="fonts/MonaSansSemiBold-regular.fntdata"/><Relationship Id="rId25" Type="http://schemas.openxmlformats.org/officeDocument/2006/relationships/font" Target="fonts/Montserrat-boldItalic.fntdata"/><Relationship Id="rId7" Type="http://schemas.openxmlformats.org/officeDocument/2006/relationships/slide" Target="slides/slide3.xml"/><Relationship Id="rId33" Type="http://schemas.openxmlformats.org/officeDocument/2006/relationships/font" Target="fonts/MontserratLight-boldItalic.fntdata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8" Type="http://schemas.openxmlformats.org/officeDocument/2006/relationships/customXml" Target="../customXml/item1.xml"/><Relationship Id="rId20" Type="http://schemas.openxmlformats.org/officeDocument/2006/relationships/font" Target="fonts/FunnelSans-italic.fntdata"/><Relationship Id="rId2" Type="http://schemas.openxmlformats.org/officeDocument/2006/relationships/presProps" Target="presProps.xml"/><Relationship Id="rId29" Type="http://schemas.openxmlformats.org/officeDocument/2006/relationships/font" Target="fonts/SourceSans3-boldItalic.fntdata"/><Relationship Id="rId16" Type="http://schemas.openxmlformats.org/officeDocument/2006/relationships/slide" Target="slides/slide12.xml"/><Relationship Id="rId24" Type="http://schemas.openxmlformats.org/officeDocument/2006/relationships/font" Target="fonts/Montserrat-italic.fntdata"/><Relationship Id="rId1" Type="http://schemas.openxmlformats.org/officeDocument/2006/relationships/theme" Target="theme/theme2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32" Type="http://schemas.openxmlformats.org/officeDocument/2006/relationships/font" Target="fonts/MontserratLight-italic.fntdata"/><Relationship Id="rId37" Type="http://schemas.openxmlformats.org/officeDocument/2006/relationships/font" Target="fonts/MonaSansSemiBold-boldItalic.fntdata"/><Relationship Id="rId40" Type="http://schemas.openxmlformats.org/officeDocument/2006/relationships/customXml" Target="../customXml/item3.xml"/><Relationship Id="rId23" Type="http://schemas.openxmlformats.org/officeDocument/2006/relationships/font" Target="fonts/Montserrat-bold.fntdata"/><Relationship Id="rId28" Type="http://schemas.openxmlformats.org/officeDocument/2006/relationships/font" Target="fonts/SourceSans3-italic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36" Type="http://schemas.openxmlformats.org/officeDocument/2006/relationships/font" Target="fonts/MonaSansSemiBold-italic.fntdata"/><Relationship Id="rId31" Type="http://schemas.openxmlformats.org/officeDocument/2006/relationships/font" Target="fonts/MontserratLight-bold.fntdata"/><Relationship Id="rId10" Type="http://schemas.openxmlformats.org/officeDocument/2006/relationships/slide" Target="slides/slide6.xml"/><Relationship Id="rId19" Type="http://schemas.openxmlformats.org/officeDocument/2006/relationships/font" Target="fonts/FunnelSans-bold.fntdata"/><Relationship Id="rId22" Type="http://schemas.openxmlformats.org/officeDocument/2006/relationships/font" Target="fonts/Montserrat-regular.fntdata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7" Type="http://schemas.openxmlformats.org/officeDocument/2006/relationships/font" Target="fonts/SourceSans3-bold.fntdata"/><Relationship Id="rId30" Type="http://schemas.openxmlformats.org/officeDocument/2006/relationships/font" Target="fonts/MontserratLight-regular.fntdata"/><Relationship Id="rId35" Type="http://schemas.openxmlformats.org/officeDocument/2006/relationships/font" Target="fonts/MonaSansSemiBold-bold.fntdata"/><Relationship Id="rId14" Type="http://schemas.openxmlformats.org/officeDocument/2006/relationships/slide" Target="slides/slide10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0:notes"/>
          <p:cNvSpPr/>
          <p:nvPr>
            <p:ph idx="2" type="sldImg"/>
          </p:nvPr>
        </p:nvSpPr>
        <p:spPr>
          <a:xfrm>
            <a:off x="1097280" y="1828800"/>
            <a:ext cx="8778300" cy="493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3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0:notes"/>
          <p:cNvSpPr txBox="1"/>
          <p:nvPr>
            <p:ph idx="1" type="body"/>
          </p:nvPr>
        </p:nvSpPr>
        <p:spPr>
          <a:xfrm>
            <a:off x="1097280" y="7040880"/>
            <a:ext cx="8778300" cy="57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25" lIns="146275" spcFirstLastPara="1" rIns="146275" wrap="square" tIns="731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p10:notes"/>
          <p:cNvSpPr txBox="1"/>
          <p:nvPr>
            <p:ph idx="12" type="sldNum"/>
          </p:nvPr>
        </p:nvSpPr>
        <p:spPr>
          <a:xfrm>
            <a:off x="6215381" y="13896341"/>
            <a:ext cx="4755000" cy="733800"/>
          </a:xfrm>
          <a:prstGeom prst="rect">
            <a:avLst/>
          </a:prstGeom>
          <a:noFill/>
          <a:ln>
            <a:noFill/>
          </a:ln>
        </p:spPr>
        <p:txBody>
          <a:bodyPr anchorCtr="0" anchor="b" bIns="73125" lIns="146275" spcFirstLastPara="1" rIns="146275" wrap="square" tIns="731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fld id="{00000000-1234-1234-1234-123412341234}" type="slidenum"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3:notes"/>
          <p:cNvSpPr/>
          <p:nvPr>
            <p:ph idx="2" type="sldImg"/>
          </p:nvPr>
        </p:nvSpPr>
        <p:spPr>
          <a:xfrm>
            <a:off x="1371850" y="1097275"/>
            <a:ext cx="54867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13:notes"/>
          <p:cNvSpPr txBox="1"/>
          <p:nvPr>
            <p:ph idx="1" type="body"/>
          </p:nvPr>
        </p:nvSpPr>
        <p:spPr>
          <a:xfrm>
            <a:off x="822950" y="6949425"/>
            <a:ext cx="6583800" cy="65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" name="Google Shape;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" name="Google Shape;9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" name="Google Shape;13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" name="Google Shape;17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1" name="Google Shape;21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" name="Google Shape;25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9" name="Google Shape;29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3" name="Google Shape;33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6" name="Google Shape;36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8" name="Google Shape;38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" name="Google Shape;4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2" name="Google Shape;42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" name="Google Shape;4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6" name="Google Shape;46;p1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.png"/><Relationship Id="rId10" Type="http://schemas.openxmlformats.org/officeDocument/2006/relationships/image" Target="../media/image16.png"/><Relationship Id="rId13" Type="http://schemas.openxmlformats.org/officeDocument/2006/relationships/image" Target="../media/image3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9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image" Target="../media/image15.png"/><Relationship Id="rId8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27.png"/><Relationship Id="rId9" Type="http://schemas.openxmlformats.org/officeDocument/2006/relationships/image" Target="../media/image3.png"/><Relationship Id="rId5" Type="http://schemas.openxmlformats.org/officeDocument/2006/relationships/image" Target="../media/image17.png"/><Relationship Id="rId6" Type="http://schemas.openxmlformats.org/officeDocument/2006/relationships/image" Target="../media/image22.png"/><Relationship Id="rId7" Type="http://schemas.openxmlformats.org/officeDocument/2006/relationships/image" Target="../media/image28.png"/><Relationship Id="rId8" Type="http://schemas.openxmlformats.org/officeDocument/2006/relationships/image" Target="../media/image3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0.png"/><Relationship Id="rId4" Type="http://schemas.openxmlformats.org/officeDocument/2006/relationships/image" Target="../media/image38.png"/><Relationship Id="rId5" Type="http://schemas.openxmlformats.org/officeDocument/2006/relationships/image" Target="../media/image20.png"/><Relationship Id="rId6" Type="http://schemas.openxmlformats.org/officeDocument/2006/relationships/image" Target="../media/image30.png"/><Relationship Id="rId7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21.png"/><Relationship Id="rId5" Type="http://schemas.openxmlformats.org/officeDocument/2006/relationships/image" Target="../media/image29.png"/><Relationship Id="rId6" Type="http://schemas.openxmlformats.org/officeDocument/2006/relationships/image" Target="../media/image31.png"/><Relationship Id="rId7" Type="http://schemas.openxmlformats.org/officeDocument/2006/relationships/image" Target="../media/image25.png"/><Relationship Id="rId8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42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7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2E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53" name="Google Shape;5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348" y="170021"/>
            <a:ext cx="5259705" cy="788955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/>
          <p:nvPr/>
        </p:nvSpPr>
        <p:spPr>
          <a:xfrm>
            <a:off x="6280190" y="1257895"/>
            <a:ext cx="7556421" cy="2126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450"/>
              <a:buFont typeface="Mona Sans SemiBold"/>
              <a:buNone/>
            </a:pPr>
            <a:r>
              <a:rPr b="1" i="0" lang="en-US" sz="445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Dynamic System Modeling of Quadruped Robot </a:t>
            </a:r>
            <a:r>
              <a:rPr b="1" i="0" lang="en-US" sz="4450" u="none" cap="none" strike="noStrike">
                <a:solidFill>
                  <a:srgbClr val="D4D6DD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(2-DOF Per Leg)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6280190" y="3724394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B.Tech Mechatronics · Sem IV · 702MH0C023 · NMIMS MPSTME Mumbai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6280190" y="4342448"/>
            <a:ext cx="7556421" cy="2629138"/>
          </a:xfrm>
          <a:prstGeom prst="roundRect">
            <a:avLst>
              <a:gd fmla="val 3624" name="adj"/>
            </a:avLst>
          </a:prstGeom>
          <a:solidFill>
            <a:srgbClr val="E2E4E9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6287810" y="4350068"/>
            <a:ext cx="3770590" cy="1306949"/>
          </a:xfrm>
          <a:prstGeom prst="roundRect">
            <a:avLst>
              <a:gd fmla="val 7289" name="adj"/>
            </a:avLst>
          </a:prstGeom>
          <a:solidFill>
            <a:srgbClr val="E2E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6514624" y="457688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 SemiBold"/>
              <a:buNone/>
            </a:pPr>
            <a:r>
              <a:rPr b="1" i="0" lang="en-US" sz="22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Team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6514624" y="5067300"/>
            <a:ext cx="331696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H009 · H012 · H033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10058400" y="4350068"/>
            <a:ext cx="3770590" cy="1306949"/>
          </a:xfrm>
          <a:prstGeom prst="rect">
            <a:avLst/>
          </a:prstGeom>
          <a:solidFill>
            <a:srgbClr val="E2E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10058400" y="4350068"/>
            <a:ext cx="30480" cy="1306949"/>
          </a:xfrm>
          <a:prstGeom prst="roundRect">
            <a:avLst>
              <a:gd fmla="val 312558" name="adj"/>
            </a:avLst>
          </a:prstGeom>
          <a:solidFill>
            <a:srgbClr val="C8CA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10285214" y="457688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 SemiBold"/>
              <a:buNone/>
            </a:pPr>
            <a:r>
              <a:rPr b="1" i="0" lang="en-US" sz="22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Category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10285214" y="5067300"/>
            <a:ext cx="3316962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lang="en-US" sz="1750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A</a:t>
            </a: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High Complexity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6287810" y="5657017"/>
            <a:ext cx="7541181" cy="1306949"/>
          </a:xfrm>
          <a:prstGeom prst="rect">
            <a:avLst/>
          </a:prstGeom>
          <a:solidFill>
            <a:srgbClr val="E2E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6287810" y="5657017"/>
            <a:ext cx="7541181" cy="30480"/>
          </a:xfrm>
          <a:prstGeom prst="roundRect">
            <a:avLst>
              <a:gd fmla="val 312558" name="adj"/>
            </a:avLst>
          </a:prstGeom>
          <a:solidFill>
            <a:srgbClr val="C8CA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6514624" y="588383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 SemiBold"/>
              <a:buNone/>
            </a:pPr>
            <a:r>
              <a:rPr b="1" i="0" lang="en-US" sz="22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COs Exercised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6514624" y="6374249"/>
            <a:ext cx="7087553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CO1 through CO5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29309" y="7650718"/>
            <a:ext cx="1687743" cy="578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>
            <a:off x="793790" y="877253"/>
            <a:ext cx="9204365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450"/>
              <a:buFont typeface="Mona Sans SemiBold"/>
              <a:buNone/>
            </a:pPr>
            <a:r>
              <a:rPr b="1" i="0" lang="en-US" sz="445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System Introduction &amp; Motivation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5" name="Google Shape;7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536627"/>
            <a:ext cx="4205168" cy="420516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/>
          <p:nvPr/>
        </p:nvSpPr>
        <p:spPr>
          <a:xfrm>
            <a:off x="5559981" y="2153007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200"/>
              <a:buFont typeface="Mona Sans SemiBold"/>
              <a:buNone/>
            </a:pPr>
            <a:r>
              <a:rPr b="1" i="0" lang="en-US" sz="220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What is the System?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5559981" y="2734151"/>
            <a:ext cx="828413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A quadruped robot (inspired by Unitree Go1) with </a:t>
            </a:r>
            <a:r>
              <a:rPr b="1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2 degrees of freedom per leg</a:t>
            </a: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hip joint angle θi,1 and knee joint angle θi,2 — operating in the sagittal plane.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5559981" y="3642770"/>
            <a:ext cx="31206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200"/>
              <a:buFont typeface="Mona Sans SemiBold"/>
              <a:buNone/>
            </a:pPr>
            <a:r>
              <a:rPr b="1" i="0" lang="en-US" sz="220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Engineering Relevance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5559981" y="4423814"/>
            <a:ext cx="8284200" cy="12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Legged locomotion over unstructured terrain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Search-and-rescue and field robotics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Adaptive gait planning and stability control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5559981" y="5770364"/>
            <a:ext cx="8284131" cy="1326713"/>
          </a:xfrm>
          <a:prstGeom prst="roundRect">
            <a:avLst>
              <a:gd fmla="val 7181" name="adj"/>
            </a:avLst>
          </a:prstGeom>
          <a:solidFill>
            <a:srgbClr val="D4D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1" name="Google Shape;8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86795" y="6122075"/>
            <a:ext cx="28348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/>
          <p:nvPr/>
        </p:nvSpPr>
        <p:spPr>
          <a:xfrm>
            <a:off x="6297097" y="6053852"/>
            <a:ext cx="73203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Funnel Sans"/>
              <a:buNone/>
            </a:pPr>
            <a:r>
              <a:rPr b="1" i="0" lang="en-US" sz="175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PBL Question:</a:t>
            </a:r>
            <a:r>
              <a:rPr b="0" i="0" lang="en-US" sz="175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 How do we mathematically model the dynamic behaviour of a 2-DOF robotic leg under ground reaction forces?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829309" y="7650718"/>
            <a:ext cx="1687743" cy="578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/>
          <p:nvPr/>
        </p:nvSpPr>
        <p:spPr>
          <a:xfrm>
            <a:off x="793800" y="640502"/>
            <a:ext cx="101028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450"/>
              <a:buFont typeface="Mona Sans SemiBold"/>
              <a:buNone/>
            </a:pPr>
            <a:r>
              <a:rPr b="1" i="0" lang="en-US" sz="445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Problem Formulation &amp; Assumptions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793790" y="2382868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200"/>
              <a:buFont typeface="Mona Sans SemiBold"/>
              <a:buNone/>
            </a:pPr>
            <a:r>
              <a:rPr b="1" i="0" lang="en-US" sz="220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System Variables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793790" y="2905720"/>
            <a:ext cx="3008948" cy="1821537"/>
          </a:xfrm>
          <a:prstGeom prst="roundRect">
            <a:avLst>
              <a:gd fmla="val 5230" name="adj"/>
            </a:avLst>
          </a:prstGeom>
          <a:solidFill>
            <a:srgbClr val="FFFFFF">
              <a:alpha val="94901"/>
            </a:srgbClr>
          </a:solidFill>
          <a:ln cap="flat" cmpd="sng" w="3047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1051084" y="3163014"/>
            <a:ext cx="249435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 SemiBold"/>
              <a:buNone/>
            </a:pPr>
            <a:r>
              <a:rPr b="1" i="0" lang="en-US" sz="22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Inputs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1051084" y="3744158"/>
            <a:ext cx="249435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Joint torques τhip, τknee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4029551" y="2905720"/>
            <a:ext cx="3008948" cy="1821537"/>
          </a:xfrm>
          <a:prstGeom prst="roundRect">
            <a:avLst>
              <a:gd fmla="val 5230" name="adj"/>
            </a:avLst>
          </a:prstGeom>
          <a:solidFill>
            <a:srgbClr val="FFFFFF">
              <a:alpha val="94901"/>
            </a:srgbClr>
          </a:solidFill>
          <a:ln cap="flat" cmpd="sng" w="3047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4286845" y="3163014"/>
            <a:ext cx="249435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 SemiBold"/>
              <a:buNone/>
            </a:pPr>
            <a:r>
              <a:rPr b="1" i="0" lang="en-US" sz="22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Outputs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4286845" y="3744158"/>
            <a:ext cx="249435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θi,1(t) and θi,2(t) — hip &amp; knee angles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793790" y="4954072"/>
            <a:ext cx="3008948" cy="1458635"/>
          </a:xfrm>
          <a:prstGeom prst="roundRect">
            <a:avLst>
              <a:gd fmla="val 6531" name="adj"/>
            </a:avLst>
          </a:prstGeom>
          <a:solidFill>
            <a:srgbClr val="FFFFFF">
              <a:alpha val="94901"/>
            </a:srgbClr>
          </a:solidFill>
          <a:ln cap="flat" cmpd="sng" w="3047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1051084" y="5211366"/>
            <a:ext cx="249435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 SemiBold"/>
              <a:buNone/>
            </a:pPr>
            <a:r>
              <a:rPr b="1" i="0" lang="en-US" sz="22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States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1051084" y="5792510"/>
            <a:ext cx="249435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θi,1, θ̇i,1, θi,2, θ̇i,2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4029551" y="4954072"/>
            <a:ext cx="3008948" cy="1458635"/>
          </a:xfrm>
          <a:prstGeom prst="roundRect">
            <a:avLst>
              <a:gd fmla="val 6531" name="adj"/>
            </a:avLst>
          </a:prstGeom>
          <a:solidFill>
            <a:srgbClr val="FFFFFF">
              <a:alpha val="94901"/>
            </a:srgbClr>
          </a:solidFill>
          <a:ln cap="flat" cmpd="sng" w="3047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4286845" y="5211366"/>
            <a:ext cx="249435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200"/>
              <a:buFont typeface="Mona Sans SemiBold"/>
              <a:buNone/>
            </a:pPr>
            <a:r>
              <a:rPr b="1" i="0" lang="en-US" sz="22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Parameters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4286845" y="5792510"/>
            <a:ext cx="2494359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m, L1, L2, I1, I2, c, g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7599521" y="2296239"/>
            <a:ext cx="3215759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200"/>
              <a:buFont typeface="Mona Sans SemiBold"/>
              <a:buNone/>
            </a:pPr>
            <a:r>
              <a:rPr b="1" i="0" lang="en-US" sz="220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Modelling Assumptions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7599521" y="2877383"/>
            <a:ext cx="6244709" cy="2131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1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Rigid links</a:t>
            </a: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no structural deformation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1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Planar (sagittal) motion only</a:t>
            </a: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2-DOF justified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1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Viscous damping</a:t>
            </a: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at each joint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1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No-slip foot contact</a:t>
            </a: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with ground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Point mass approximation for link inertia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7599521" y="5264229"/>
            <a:ext cx="6244709" cy="1689616"/>
          </a:xfrm>
          <a:prstGeom prst="roundRect">
            <a:avLst>
              <a:gd fmla="val 5638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6335" y="5615940"/>
            <a:ext cx="28348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/>
          <p:nvPr/>
        </p:nvSpPr>
        <p:spPr>
          <a:xfrm>
            <a:off x="8336637" y="5547717"/>
            <a:ext cx="5280779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Funnel Sans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DOF = 2 per leg, confirmed by restricting motion to the sagittal plane — a standard simplification for gait analysis.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29309" y="7650718"/>
            <a:ext cx="1687743" cy="578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2E4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6193393" y="629722"/>
            <a:ext cx="7730014" cy="1262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3950"/>
              <a:buFont typeface="Mona Sans SemiBold"/>
              <a:buNone/>
            </a:pPr>
            <a:r>
              <a:rPr b="1" i="0" lang="en-US" sz="395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Free Body Diagram — 2-DOF Leg</a:t>
            </a:r>
            <a:endParaRPr b="0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6193393" y="2162056"/>
            <a:ext cx="7730014" cy="1148120"/>
          </a:xfrm>
          <a:prstGeom prst="roundRect">
            <a:avLst>
              <a:gd fmla="val 7390" name="adj"/>
            </a:avLst>
          </a:prstGeom>
          <a:solidFill>
            <a:srgbClr val="E2E4E9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6402943" y="2371606"/>
            <a:ext cx="2525197" cy="315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950"/>
              <a:buFont typeface="Mona Sans SemiBold"/>
              <a:buNone/>
            </a:pPr>
            <a:r>
              <a:rPr b="1" i="0" lang="en-US" sz="195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Hip Joint (θi,1)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6402943" y="2795111"/>
            <a:ext cx="7310914" cy="305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50"/>
              <a:buFont typeface="Funnel Sans"/>
              <a:buNone/>
            </a:pPr>
            <a:r>
              <a:rPr b="0" i="0" lang="en-US" sz="15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Torque τhip applied. Upper link L1, mass m1. Gravity acts at link centroid.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6193393" y="3490079"/>
            <a:ext cx="7730014" cy="1148120"/>
          </a:xfrm>
          <a:prstGeom prst="roundRect">
            <a:avLst>
              <a:gd fmla="val 7390" name="adj"/>
            </a:avLst>
          </a:prstGeom>
          <a:solidFill>
            <a:srgbClr val="E2E4E9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6402943" y="3699629"/>
            <a:ext cx="2525197" cy="315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950"/>
              <a:buFont typeface="Mona Sans SemiBold"/>
              <a:buNone/>
            </a:pPr>
            <a:r>
              <a:rPr b="1" i="0" lang="en-US" sz="195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Knee Joint (θi,2)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6402943" y="4123134"/>
            <a:ext cx="7310914" cy="305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50"/>
              <a:buFont typeface="Funnel Sans"/>
              <a:buNone/>
            </a:pPr>
            <a:r>
              <a:rPr b="0" i="0" lang="en-US" sz="15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Torque τknee applied. Lower link L2, mass m2. Coupled via hip kinematics.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6193393" y="4818102"/>
            <a:ext cx="7730014" cy="1453634"/>
          </a:xfrm>
          <a:prstGeom prst="roundRect">
            <a:avLst>
              <a:gd fmla="val 5837" name="adj"/>
            </a:avLst>
          </a:prstGeom>
          <a:solidFill>
            <a:srgbClr val="E2E4E9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6402943" y="5027652"/>
            <a:ext cx="2525197" cy="315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950"/>
              <a:buFont typeface="Mona Sans SemiBold"/>
              <a:buNone/>
            </a:pPr>
            <a:r>
              <a:rPr b="1" i="0" lang="en-US" sz="195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Ground Reaction Ni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6402943" y="5451158"/>
            <a:ext cx="7310914" cy="611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50"/>
              <a:buFont typeface="Funnel Sans"/>
              <a:buNone/>
            </a:pPr>
            <a:r>
              <a:rPr b="0" i="0" lang="en-US" sz="15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Vertical reaction force at foot contact point. Acts upward, opposing gravity-induced sag.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6193393" y="6451640"/>
            <a:ext cx="7730014" cy="1148120"/>
          </a:xfrm>
          <a:prstGeom prst="roundRect">
            <a:avLst>
              <a:gd fmla="val 7390" name="adj"/>
            </a:avLst>
          </a:prstGeom>
          <a:solidFill>
            <a:srgbClr val="E2E4E9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6402943" y="6661190"/>
            <a:ext cx="2525197" cy="315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950"/>
              <a:buFont typeface="Mona Sans SemiBold"/>
              <a:buNone/>
            </a:pPr>
            <a:r>
              <a:rPr b="1" i="0" lang="en-US" sz="195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Coordinate Frame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6402943" y="7084695"/>
            <a:ext cx="7310914" cy="305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50"/>
              <a:buFont typeface="Funnel Sans"/>
              <a:buNone/>
            </a:pPr>
            <a:r>
              <a:rPr b="0" i="0" lang="en-US" sz="15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Origin at hip joint. Angles measured from vertical. Clockwise positive convention.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29309" y="7650718"/>
            <a:ext cx="1687743" cy="578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5486400" cy="822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/>
          <p:nvPr/>
        </p:nvSpPr>
        <p:spPr>
          <a:xfrm>
            <a:off x="744260" y="596503"/>
            <a:ext cx="12054364" cy="664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150"/>
              <a:buFont typeface="Mona Sans SemiBold"/>
              <a:buNone/>
            </a:pPr>
            <a:r>
              <a:rPr b="1" i="0" lang="en-US" sz="415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Mathematical Derivation — Lagrangian Method</a:t>
            </a:r>
            <a:endParaRPr b="0" i="0" sz="4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4260" y="2443877"/>
            <a:ext cx="8360688" cy="31372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7" name="Google Shape;1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84363" y="3243003"/>
            <a:ext cx="431861" cy="43186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/>
          <p:nvPr/>
        </p:nvSpPr>
        <p:spPr>
          <a:xfrm>
            <a:off x="7499602" y="4698105"/>
            <a:ext cx="1261035" cy="485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00"/>
              <a:buFont typeface="Mona Sans SemiBold"/>
              <a:buNone/>
            </a:pPr>
            <a:r>
              <a:rPr b="1" i="0" lang="en-US" sz="15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Euler–Lagrange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9" name="Google Shape;13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3346" y="3243812"/>
            <a:ext cx="431861" cy="43186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/>
          <p:nvPr/>
        </p:nvSpPr>
        <p:spPr>
          <a:xfrm>
            <a:off x="5910353" y="4819566"/>
            <a:ext cx="1261035" cy="242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00"/>
              <a:buFont typeface="Mona Sans SemiBold"/>
              <a:buNone/>
            </a:pPr>
            <a:r>
              <a:rPr b="1" i="0" lang="en-US" sz="15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L = T − V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1" name="Google Shape;14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22735" y="3243812"/>
            <a:ext cx="431861" cy="431861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/>
          <p:nvPr/>
        </p:nvSpPr>
        <p:spPr>
          <a:xfrm>
            <a:off x="4329741" y="4819566"/>
            <a:ext cx="1261035" cy="242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00"/>
              <a:buFont typeface="Mona Sans SemiBold"/>
              <a:buNone/>
            </a:pPr>
            <a:r>
              <a:rPr b="1" i="0" lang="en-US" sz="15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Potential V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3" name="Google Shape;14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42122" y="3243812"/>
            <a:ext cx="431861" cy="431861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/>
          <p:nvPr/>
        </p:nvSpPr>
        <p:spPr>
          <a:xfrm>
            <a:off x="2749129" y="4819566"/>
            <a:ext cx="1261035" cy="242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00"/>
              <a:buFont typeface="Mona Sans SemiBold"/>
              <a:buNone/>
            </a:pPr>
            <a:r>
              <a:rPr b="1" i="0" lang="en-US" sz="15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Kinetic 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5" name="Google Shape;14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52873" y="3243812"/>
            <a:ext cx="431861" cy="43186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/>
          <p:nvPr/>
        </p:nvSpPr>
        <p:spPr>
          <a:xfrm>
            <a:off x="1133968" y="4819566"/>
            <a:ext cx="1261035" cy="242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00"/>
              <a:buFont typeface="Mona Sans SemiBold"/>
              <a:buNone/>
            </a:pPr>
            <a:r>
              <a:rPr b="1" i="0" lang="en-US" sz="15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q = [θ1, θ2]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744260" y="5805368"/>
            <a:ext cx="8360688" cy="988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650"/>
              <a:buFont typeface="Funnel Sans"/>
              <a:buNone/>
            </a:pPr>
            <a:r>
              <a:rPr b="0" i="0" lang="en-US" sz="16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The Lagrangian approach is preferred over Newton-Euler here because it naturally avoids computing internal joint constraint forces, yielding compact equations of motion directly.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9631204" y="1759267"/>
            <a:ext cx="2658070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050"/>
              <a:buFont typeface="Mona Sans SemiBold"/>
              <a:buNone/>
            </a:pPr>
            <a:r>
              <a:rPr b="1" i="0" lang="en-US" sz="205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Why Lagrangian?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9631204" y="2290882"/>
            <a:ext cx="4262438" cy="659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650"/>
              <a:buFont typeface="Funnel Sans"/>
              <a:buNone/>
            </a:pPr>
            <a:r>
              <a:rPr b="0" i="0" lang="en-US" sz="16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Avoids explicit constraint force computation at joints — ideal for multi-link systems.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9631204" y="3149322"/>
            <a:ext cx="2658070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050"/>
              <a:buFont typeface="Mona Sans SemiBold"/>
              <a:buNone/>
            </a:pPr>
            <a:r>
              <a:rPr b="1" i="0" lang="en-US" sz="205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Key Expressions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9631204" y="3733919"/>
            <a:ext cx="4262438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7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Calibri"/>
              <a:buNone/>
            </a:pPr>
            <a:r>
              <a:t/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2" name="Google Shape;152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31204" y="3733919"/>
            <a:ext cx="4262438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/>
          <p:nvPr/>
        </p:nvSpPr>
        <p:spPr>
          <a:xfrm>
            <a:off x="9631204" y="4567238"/>
            <a:ext cx="4262438" cy="1287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7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Calibri"/>
              <a:buNone/>
            </a:pPr>
            <a:r>
              <a:t/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4" name="Google Shape;154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31204" y="4567238"/>
            <a:ext cx="4262438" cy="128706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/>
          <p:nvPr/>
        </p:nvSpPr>
        <p:spPr>
          <a:xfrm>
            <a:off x="9631204" y="6106597"/>
            <a:ext cx="4262438" cy="370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7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Calibri"/>
              <a:buNone/>
            </a:pPr>
            <a:r>
              <a:t/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6" name="Google Shape;156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31204" y="6106597"/>
            <a:ext cx="4262438" cy="37016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/>
          <p:nvPr/>
        </p:nvSpPr>
        <p:spPr>
          <a:xfrm>
            <a:off x="9631204" y="6729055"/>
            <a:ext cx="4262438" cy="6517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7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Calibri"/>
              <a:buNone/>
            </a:pPr>
            <a:r>
              <a:t/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8" name="Google Shape;158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31204" y="6729055"/>
            <a:ext cx="4262438" cy="651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2829309" y="7650718"/>
            <a:ext cx="1687743" cy="578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/>
          <p:nvPr/>
        </p:nvSpPr>
        <p:spPr>
          <a:xfrm>
            <a:off x="863800" y="294202"/>
            <a:ext cx="8740800" cy="7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Montserrat"/>
              <a:buNone/>
            </a:pPr>
            <a:r>
              <a:rPr b="1" i="0" lang="en-US" sz="36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Step-by-Step Lagrangian Derivation</a:t>
            </a:r>
            <a:endParaRPr b="0" i="0" sz="36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863798" y="1635204"/>
            <a:ext cx="4104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875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Montserrat Light"/>
              <a:buNone/>
            </a:pPr>
            <a:r>
              <a:rPr b="0" i="0" lang="en-US" sz="1600" u="none" cap="none" strike="noStrike">
                <a:solidFill>
                  <a:srgbClr val="3D383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01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863798" y="1960959"/>
            <a:ext cx="4170900" cy="22800"/>
          </a:xfrm>
          <a:prstGeom prst="rect">
            <a:avLst/>
          </a:prstGeom>
          <a:solidFill>
            <a:srgbClr val="2D2E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863798" y="2109192"/>
            <a:ext cx="38568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Define Generalised Coordinates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863798" y="2647117"/>
            <a:ext cx="41709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3798" y="2647117"/>
            <a:ext cx="4170998" cy="1051203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8"/>
          <p:cNvSpPr/>
          <p:nvPr/>
        </p:nvSpPr>
        <p:spPr>
          <a:xfrm>
            <a:off x="5229701" y="1635204"/>
            <a:ext cx="4104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875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Montserrat Light"/>
              <a:buNone/>
            </a:pPr>
            <a:r>
              <a:rPr b="0" i="0" lang="en-US" sz="1600" u="none" cap="none" strike="noStrike">
                <a:solidFill>
                  <a:srgbClr val="3D383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5229701" y="1960959"/>
            <a:ext cx="4170900" cy="22800"/>
          </a:xfrm>
          <a:prstGeom prst="rect">
            <a:avLst/>
          </a:prstGeom>
          <a:solidFill>
            <a:srgbClr val="2D2E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8"/>
          <p:cNvSpPr/>
          <p:nvPr/>
        </p:nvSpPr>
        <p:spPr>
          <a:xfrm>
            <a:off x="5229701" y="2109192"/>
            <a:ext cx="2331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Kinetic Energy T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5229701" y="2647117"/>
            <a:ext cx="4170900" cy="9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5" name="Google Shape;17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9701" y="2647117"/>
            <a:ext cx="4170998" cy="974646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/>
          <p:nvPr/>
        </p:nvSpPr>
        <p:spPr>
          <a:xfrm>
            <a:off x="9595604" y="1635204"/>
            <a:ext cx="4104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875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Montserrat Light"/>
              <a:buNone/>
            </a:pPr>
            <a:r>
              <a:rPr b="0" i="0" lang="en-US" sz="1600" u="none" cap="none" strike="noStrike">
                <a:solidFill>
                  <a:srgbClr val="3D383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03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9595604" y="1960959"/>
            <a:ext cx="4170900" cy="22800"/>
          </a:xfrm>
          <a:prstGeom prst="rect">
            <a:avLst/>
          </a:prstGeom>
          <a:solidFill>
            <a:srgbClr val="2D2E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9595604" y="2109192"/>
            <a:ext cx="23316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Potential Energy V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9595604" y="2647117"/>
            <a:ext cx="4170900" cy="7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0" name="Google Shape;18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95604" y="2647117"/>
            <a:ext cx="4170998" cy="71604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/>
          <p:nvPr/>
        </p:nvSpPr>
        <p:spPr>
          <a:xfrm>
            <a:off x="863798" y="4047053"/>
            <a:ext cx="4104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875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Montserrat Light"/>
              <a:buNone/>
            </a:pPr>
            <a:r>
              <a:rPr b="0" i="0" lang="en-US" sz="1600" u="none" cap="none" strike="noStrike">
                <a:solidFill>
                  <a:srgbClr val="3D383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04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863798" y="4372808"/>
            <a:ext cx="6354000" cy="22800"/>
          </a:xfrm>
          <a:prstGeom prst="rect">
            <a:avLst/>
          </a:prstGeom>
          <a:solidFill>
            <a:srgbClr val="2D2E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863798" y="4521041"/>
            <a:ext cx="24519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Lagrangian L = T − V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863798" y="5058966"/>
            <a:ext cx="63540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5" name="Google Shape;18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3798" y="5058966"/>
            <a:ext cx="6353887" cy="72461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/>
          <p:nvPr/>
        </p:nvSpPr>
        <p:spPr>
          <a:xfrm>
            <a:off x="7412593" y="4047053"/>
            <a:ext cx="4104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875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600"/>
              <a:buFont typeface="Montserrat Light"/>
              <a:buNone/>
            </a:pPr>
            <a:r>
              <a:rPr b="0" i="0" lang="en-US" sz="1600" u="none" cap="none" strike="noStrike">
                <a:solidFill>
                  <a:srgbClr val="3D383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05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7412593" y="4372808"/>
            <a:ext cx="6354000" cy="22800"/>
          </a:xfrm>
          <a:prstGeom prst="rect">
            <a:avLst/>
          </a:prstGeom>
          <a:solidFill>
            <a:srgbClr val="2D2E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7412593" y="4521041"/>
            <a:ext cx="31989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800"/>
              <a:buFont typeface="Montserrat"/>
              <a:buNone/>
            </a:pPr>
            <a:r>
              <a:rPr b="1" i="0" lang="en-US" sz="18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Euler–Lagrange Equations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7412593" y="5058966"/>
            <a:ext cx="6354000" cy="10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7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0" name="Google Shape;19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12593" y="5058966"/>
            <a:ext cx="6354008" cy="1011317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/>
          <p:nvPr/>
        </p:nvSpPr>
        <p:spPr>
          <a:xfrm>
            <a:off x="863798" y="6443305"/>
            <a:ext cx="12902700" cy="1123800"/>
          </a:xfrm>
          <a:prstGeom prst="roundRect">
            <a:avLst>
              <a:gd fmla="val 2739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2" name="Google Shape;19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8943" y="6733461"/>
            <a:ext cx="256461" cy="20514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/>
          <p:nvPr/>
        </p:nvSpPr>
        <p:spPr>
          <a:xfrm>
            <a:off x="1530548" y="6689408"/>
            <a:ext cx="12030900" cy="5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68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Source Sans 3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Euler–Lagrange framework is preferred over Newtonian mechanics here because it systematically handles coupling between joints through energy formulation, eliminating the need to compute internal constraint forces explicitly.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829309" y="7650718"/>
            <a:ext cx="1687743" cy="578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"/>
          <p:cNvSpPr/>
          <p:nvPr/>
        </p:nvSpPr>
        <p:spPr>
          <a:xfrm>
            <a:off x="793790" y="220096"/>
            <a:ext cx="111900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450"/>
              <a:buFont typeface="Mona Sans SemiBold"/>
              <a:buNone/>
            </a:pPr>
            <a:r>
              <a:rPr b="1" i="0" lang="en-US" sz="445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Equations of Motion &amp; State-Space Form</a:t>
            </a:r>
            <a:endParaRPr b="0" i="0" sz="4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793790" y="1960126"/>
            <a:ext cx="584942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200"/>
              <a:buFont typeface="Mona Sans SemiBold"/>
              <a:buNone/>
            </a:pPr>
            <a:r>
              <a:rPr b="1" i="0" lang="en-US" sz="220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Decoupled EOMs (Simplified Planar Model)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793790" y="2654617"/>
            <a:ext cx="13042821" cy="631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3" name="Google Shape;20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654617"/>
            <a:ext cx="13042821" cy="631746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/>
          <p:nvPr/>
        </p:nvSpPr>
        <p:spPr>
          <a:xfrm>
            <a:off x="793790" y="3573423"/>
            <a:ext cx="13042821" cy="6317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5" name="Google Shape;20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3573423"/>
            <a:ext cx="13042821" cy="631746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9"/>
          <p:cNvSpPr/>
          <p:nvPr/>
        </p:nvSpPr>
        <p:spPr>
          <a:xfrm>
            <a:off x="793800" y="4789250"/>
            <a:ext cx="3899100" cy="8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200"/>
              <a:buFont typeface="Mona Sans SemiBold"/>
              <a:buNone/>
            </a:pPr>
            <a:r>
              <a:rPr b="1" i="0" lang="en-US" sz="220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State-Space Representation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793790" y="5360432"/>
            <a:ext cx="6244709" cy="4008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8" name="Google Shape;20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5875557"/>
            <a:ext cx="6244710" cy="400883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/>
          <p:cNvSpPr/>
          <p:nvPr/>
        </p:nvSpPr>
        <p:spPr>
          <a:xfrm>
            <a:off x="793790" y="5875563"/>
            <a:ext cx="62448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0" name="Google Shape;21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3790" y="6390675"/>
            <a:ext cx="6244710" cy="400883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"/>
          <p:cNvSpPr/>
          <p:nvPr/>
        </p:nvSpPr>
        <p:spPr>
          <a:xfrm>
            <a:off x="7599521" y="4719042"/>
            <a:ext cx="4336137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200"/>
              <a:buFont typeface="Mona Sans SemiBold"/>
              <a:buNone/>
            </a:pPr>
            <a:r>
              <a:rPr b="1" i="0" lang="en-US" sz="220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Physical Interpretation of Terms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7599525" y="5519400"/>
            <a:ext cx="6244800" cy="19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1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I·θ̈</a:t>
            </a: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inertial resistance to angular acceleration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1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c·θ̇</a:t>
            </a: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viscous damping energy dissipation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1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mgL/2·sinθ</a:t>
            </a: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gravitational restoring torque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50"/>
              <a:buFont typeface="Funnel Sans"/>
              <a:buChar char="•"/>
            </a:pPr>
            <a:r>
              <a:rPr b="1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τ</a:t>
            </a:r>
            <a:r>
              <a:rPr b="0" i="0" lang="en-US" sz="17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actuator input driving the joint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3" name="Google Shape;21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829309" y="7650718"/>
            <a:ext cx="1687743" cy="578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"/>
          <p:cNvSpPr/>
          <p:nvPr/>
        </p:nvSpPr>
        <p:spPr>
          <a:xfrm>
            <a:off x="863798" y="1003578"/>
            <a:ext cx="114699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50"/>
              <a:buFont typeface="Montserrat"/>
              <a:buNone/>
            </a:pPr>
            <a:r>
              <a:rPr b="1" i="0" lang="en-US" sz="38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Derivation Continued — Equations of Motion</a:t>
            </a:r>
            <a:endParaRPr b="0" i="0" sz="3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863798" y="2048947"/>
            <a:ext cx="4317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00"/>
              <a:buFont typeface="Montserrat Light"/>
              <a:buNone/>
            </a:pPr>
            <a:r>
              <a:rPr b="0" i="0" lang="en-US" sz="1700" u="none" cap="none" strike="noStrike">
                <a:solidFill>
                  <a:srgbClr val="3D383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01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863798" y="2385417"/>
            <a:ext cx="4156800" cy="30600"/>
          </a:xfrm>
          <a:prstGeom prst="rect">
            <a:avLst/>
          </a:prstGeom>
          <a:solidFill>
            <a:srgbClr val="2D2E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863798" y="2554248"/>
            <a:ext cx="41511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Expand ∂L/∂θ̇₁ (Hip Momentum)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863798" y="3134201"/>
            <a:ext cx="4156800" cy="14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4" name="Google Shape;22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3798" y="3134201"/>
            <a:ext cx="4156949" cy="1400413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/>
          <p:nvPr/>
        </p:nvSpPr>
        <p:spPr>
          <a:xfrm>
            <a:off x="5236607" y="2048947"/>
            <a:ext cx="4317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00"/>
              <a:buFont typeface="Montserrat Light"/>
              <a:buNone/>
            </a:pPr>
            <a:r>
              <a:rPr b="0" i="0" lang="en-US" sz="1700" u="none" cap="none" strike="noStrike">
                <a:solidFill>
                  <a:srgbClr val="3D383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02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5236607" y="2385417"/>
            <a:ext cx="4157100" cy="30600"/>
          </a:xfrm>
          <a:prstGeom prst="rect">
            <a:avLst/>
          </a:prstGeom>
          <a:solidFill>
            <a:srgbClr val="2D2E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5236607" y="2554248"/>
            <a:ext cx="34740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Gravitational Partial ∂L/∂θ₁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5236607" y="3134201"/>
            <a:ext cx="4157100" cy="10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29" name="Google Shape;22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6607" y="3134201"/>
            <a:ext cx="4157067" cy="1024414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/>
          <p:nvPr/>
        </p:nvSpPr>
        <p:spPr>
          <a:xfrm>
            <a:off x="9609534" y="2048947"/>
            <a:ext cx="4317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00"/>
              <a:buFont typeface="Montserrat Light"/>
              <a:buNone/>
            </a:pPr>
            <a:r>
              <a:rPr b="0" i="0" lang="en-US" sz="1700" u="none" cap="none" strike="noStrike">
                <a:solidFill>
                  <a:srgbClr val="3D383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03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9609534" y="2385417"/>
            <a:ext cx="4157100" cy="30600"/>
          </a:xfrm>
          <a:prstGeom prst="rect">
            <a:avLst/>
          </a:prstGeom>
          <a:solidFill>
            <a:srgbClr val="2D2E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9609534" y="2554248"/>
            <a:ext cx="38544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Hip EOM — Full Coupled Form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9609534" y="3134201"/>
            <a:ext cx="4157100" cy="11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4" name="Google Shape;23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09534" y="3134201"/>
            <a:ext cx="4157067" cy="1125736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/>
          <p:cNvSpPr/>
          <p:nvPr/>
        </p:nvSpPr>
        <p:spPr>
          <a:xfrm>
            <a:off x="863798" y="4912400"/>
            <a:ext cx="4317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00"/>
              <a:buFont typeface="Montserrat Light"/>
              <a:buNone/>
            </a:pPr>
            <a:r>
              <a:rPr b="0" i="0" lang="en-US" sz="1700" u="none" cap="none" strike="noStrike">
                <a:solidFill>
                  <a:srgbClr val="3D383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04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863798" y="5248870"/>
            <a:ext cx="6343500" cy="30600"/>
          </a:xfrm>
          <a:prstGeom prst="rect">
            <a:avLst/>
          </a:prstGeom>
          <a:solidFill>
            <a:srgbClr val="2D2E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863798" y="5417701"/>
            <a:ext cx="49329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Knee EOM — Simplified (Small Angles)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863798" y="5997654"/>
            <a:ext cx="63435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39" name="Google Shape;23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3798" y="5997654"/>
            <a:ext cx="6343412" cy="750094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0"/>
          <p:cNvSpPr/>
          <p:nvPr/>
        </p:nvSpPr>
        <p:spPr>
          <a:xfrm>
            <a:off x="7423071" y="4912400"/>
            <a:ext cx="4317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700"/>
              <a:buFont typeface="Montserrat Light"/>
              <a:buNone/>
            </a:pPr>
            <a:r>
              <a:rPr b="0" i="0" lang="en-US" sz="1700" u="none" cap="none" strike="noStrike">
                <a:solidFill>
                  <a:srgbClr val="3D383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05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7423071" y="5248870"/>
            <a:ext cx="6343500" cy="30600"/>
          </a:xfrm>
          <a:prstGeom prst="rect">
            <a:avLst/>
          </a:prstGeom>
          <a:solidFill>
            <a:srgbClr val="2D2E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7423071" y="5417701"/>
            <a:ext cx="34998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3D3838"/>
              </a:buClr>
              <a:buSzPts val="1900"/>
              <a:buFont typeface="Montserrat"/>
              <a:buNone/>
            </a:pPr>
            <a:r>
              <a:rPr b="1" i="0" lang="en-US" sz="1900" u="none" cap="none" strike="noStrike">
                <a:solidFill>
                  <a:srgbClr val="3D3838"/>
                </a:solidFill>
                <a:latin typeface="Montserrat"/>
                <a:ea typeface="Montserrat"/>
                <a:cs typeface="Montserrat"/>
                <a:sym typeface="Montserrat"/>
              </a:rPr>
              <a:t>State-Space Form ẋ = f(x, u)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7423071" y="5997654"/>
            <a:ext cx="63435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44" name="Google Shape;24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423071" y="6010029"/>
            <a:ext cx="6343532" cy="1066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829309" y="7650718"/>
            <a:ext cx="1687743" cy="578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1"/>
          <p:cNvSpPr/>
          <p:nvPr/>
        </p:nvSpPr>
        <p:spPr>
          <a:xfrm>
            <a:off x="744250" y="297004"/>
            <a:ext cx="9163200" cy="11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150"/>
              <a:buFont typeface="Mona Sans SemiBold"/>
              <a:buNone/>
            </a:pPr>
            <a:r>
              <a:rPr b="1" i="0" lang="en-US" sz="415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Simulation Setup &amp; Energy Analysis</a:t>
            </a:r>
            <a:endParaRPr b="0" i="0" sz="4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744260" y="1925122"/>
            <a:ext cx="2658070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050"/>
              <a:buFont typeface="Mona Sans SemiBold"/>
              <a:buNone/>
            </a:pPr>
            <a:r>
              <a:rPr b="1" i="0" lang="en-US" sz="205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Simulation Stack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744260" y="2481620"/>
            <a:ext cx="6311622" cy="1332190"/>
          </a:xfrm>
          <a:prstGeom prst="roundRect">
            <a:avLst>
              <a:gd fmla="val 8237" name="adj"/>
            </a:avLst>
          </a:prstGeom>
          <a:solidFill>
            <a:srgbClr val="FFFFFF">
              <a:alpha val="94901"/>
            </a:srgbClr>
          </a:solidFill>
          <a:ln cap="flat" cmpd="sng" w="22850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721400" y="2481620"/>
            <a:ext cx="91440" cy="1332190"/>
          </a:xfrm>
          <a:prstGeom prst="roundRect">
            <a:avLst>
              <a:gd fmla="val 97674" name="adj"/>
            </a:avLst>
          </a:prstGeom>
          <a:solidFill>
            <a:srgbClr val="37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1048345" y="2717125"/>
            <a:ext cx="2718911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050"/>
              <a:buFont typeface="Mona Sans SemiBold"/>
              <a:buNone/>
            </a:pPr>
            <a:r>
              <a:rPr b="1" i="0" lang="en-US" sz="205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Language &amp; Libraries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1048345" y="3248739"/>
            <a:ext cx="5772031" cy="32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650"/>
              <a:buFont typeface="Funnel Sans"/>
              <a:buNone/>
            </a:pPr>
            <a:r>
              <a:rPr b="0" i="0" lang="en-US" sz="16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Python 3.x · NumPy · SciPy · Matplotlib · PyBullet (optional)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744260" y="4013121"/>
            <a:ext cx="6311622" cy="1332190"/>
          </a:xfrm>
          <a:prstGeom prst="roundRect">
            <a:avLst>
              <a:gd fmla="val 8237" name="adj"/>
            </a:avLst>
          </a:prstGeom>
          <a:solidFill>
            <a:srgbClr val="FFFFFF">
              <a:alpha val="94901"/>
            </a:srgbClr>
          </a:solidFill>
          <a:ln cap="flat" cmpd="sng" w="22850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721400" y="4013121"/>
            <a:ext cx="91440" cy="1332190"/>
          </a:xfrm>
          <a:prstGeom prst="roundRect">
            <a:avLst>
              <a:gd fmla="val 97674" name="adj"/>
            </a:avLst>
          </a:prstGeom>
          <a:solidFill>
            <a:srgbClr val="37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1048345" y="4248626"/>
            <a:ext cx="2658070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050"/>
              <a:buFont typeface="Mona Sans SemiBold"/>
              <a:buNone/>
            </a:pPr>
            <a:r>
              <a:rPr b="1" i="0" lang="en-US" sz="205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ODE Solver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1048345" y="4780240"/>
            <a:ext cx="5772031" cy="32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scipy.integrate.solve_ivp</a:t>
            </a:r>
            <a:r>
              <a:rPr b="0" i="0" lang="en-US" sz="16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with RK45 adaptive step-size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744260" y="5544622"/>
            <a:ext cx="6311622" cy="1332190"/>
          </a:xfrm>
          <a:prstGeom prst="roundRect">
            <a:avLst>
              <a:gd fmla="val 8237" name="adj"/>
            </a:avLst>
          </a:prstGeom>
          <a:solidFill>
            <a:srgbClr val="FFFFFF">
              <a:alpha val="94901"/>
            </a:srgbClr>
          </a:solidFill>
          <a:ln cap="flat" cmpd="sng" w="22850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721400" y="5544622"/>
            <a:ext cx="91440" cy="1332190"/>
          </a:xfrm>
          <a:prstGeom prst="roundRect">
            <a:avLst>
              <a:gd fmla="val 97674" name="adj"/>
            </a:avLst>
          </a:prstGeom>
          <a:solidFill>
            <a:srgbClr val="373B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1"/>
          <p:cNvSpPr/>
          <p:nvPr/>
        </p:nvSpPr>
        <p:spPr>
          <a:xfrm>
            <a:off x="1048345" y="5780127"/>
            <a:ext cx="2658070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050"/>
              <a:buFont typeface="Mona Sans SemiBold"/>
              <a:buNone/>
            </a:pPr>
            <a:r>
              <a:rPr b="1" i="0" lang="en-US" sz="205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Parameters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1048345" y="6311741"/>
            <a:ext cx="5772031" cy="329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650"/>
              <a:buFont typeface="Funnel Sans"/>
              <a:buNone/>
            </a:pPr>
            <a:r>
              <a:rPr b="0" i="0" lang="en-US" sz="16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L1=L2=0.2 m · m1=m2=0.5 kg · c=0.1 Ns/m · dt=0.01 s · T=5 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7582138" y="1925122"/>
            <a:ext cx="2658070" cy="3323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050"/>
              <a:buFont typeface="Mona Sans SemiBold"/>
              <a:buNone/>
            </a:pPr>
            <a:r>
              <a:rPr b="1" i="0" lang="en-US" sz="205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Energy Tracking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7582138" y="2509718"/>
            <a:ext cx="6311622" cy="362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7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Calibri"/>
              <a:buNone/>
            </a:pPr>
            <a:r>
              <a:t/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7" name="Google Shape;26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2138" y="2509718"/>
            <a:ext cx="6311622" cy="36254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1"/>
          <p:cNvSpPr/>
          <p:nvPr/>
        </p:nvSpPr>
        <p:spPr>
          <a:xfrm>
            <a:off x="7582138" y="3124557"/>
            <a:ext cx="6311622" cy="580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75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Calibri"/>
              <a:buNone/>
            </a:pPr>
            <a:r>
              <a:t/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9" name="Google Shape;26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82138" y="3124557"/>
            <a:ext cx="6311622" cy="580073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1"/>
          <p:cNvSpPr/>
          <p:nvPr/>
        </p:nvSpPr>
        <p:spPr>
          <a:xfrm>
            <a:off x="7582138" y="3956923"/>
            <a:ext cx="6311622" cy="988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650"/>
              <a:buFont typeface="Funnel Sans"/>
              <a:buNone/>
            </a:pPr>
            <a:r>
              <a:rPr b="0" i="0" lang="en-US" sz="165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Total mechanical energy is monitored over the simulation window. In the undamped case, E(t) remains constant, confirming numerical accuracy. Under damping, E(t) decays monotonically.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7582138" y="5169813"/>
            <a:ext cx="6311622" cy="2073116"/>
          </a:xfrm>
          <a:prstGeom prst="roundRect">
            <a:avLst>
              <a:gd fmla="val 4308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7571542" y="5169813"/>
            <a:ext cx="6332815" cy="2073116"/>
          </a:xfrm>
          <a:prstGeom prst="roundRect">
            <a:avLst>
              <a:gd fmla="val 1539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1"/>
          <p:cNvSpPr/>
          <p:nvPr/>
        </p:nvSpPr>
        <p:spPr>
          <a:xfrm>
            <a:off x="7837289" y="5382458"/>
            <a:ext cx="5801320" cy="1647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def leg_ode(t, x, params):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th1, w1, th2, w2 = x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# EOM for hip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# EOM for knee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4545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650"/>
              <a:buFont typeface="Consolas"/>
              <a:buNone/>
            </a:pPr>
            <a:r>
              <a:rPr b="0" i="0" lang="en-US" sz="1650" u="none" cap="none" strike="noStrike">
                <a:solidFill>
                  <a:srgbClr val="52586B"/>
                </a:solidFill>
                <a:highlight>
                  <a:srgbClr val="F2F2F2"/>
                </a:highlight>
                <a:latin typeface="Consolas"/>
                <a:ea typeface="Consolas"/>
                <a:cs typeface="Consolas"/>
                <a:sym typeface="Consolas"/>
              </a:rPr>
              <a:t> return [w1, dw1, w2, dw2]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829309" y="7650718"/>
            <a:ext cx="1687743" cy="578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9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"/>
          <p:cNvSpPr/>
          <p:nvPr/>
        </p:nvSpPr>
        <p:spPr>
          <a:xfrm>
            <a:off x="0" y="0"/>
            <a:ext cx="14630400" cy="1097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438912" y="146304"/>
            <a:ext cx="13752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Calibri"/>
              <a:buNone/>
            </a:pPr>
            <a:r>
              <a:rPr b="1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Simulation Results — Plots &amp; Visualisation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2"/>
          <p:cNvSpPr/>
          <p:nvPr/>
        </p:nvSpPr>
        <p:spPr>
          <a:xfrm>
            <a:off x="438912" y="1199693"/>
            <a:ext cx="6583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① θ vs Time  (Hip &amp; Knee)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608" y="1638605"/>
            <a:ext cx="6730200" cy="292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2"/>
          <p:cNvSpPr/>
          <p:nvPr/>
        </p:nvSpPr>
        <p:spPr>
          <a:xfrm>
            <a:off x="7607808" y="1199693"/>
            <a:ext cx="6583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② Energy vs Time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1504" y="1638605"/>
            <a:ext cx="6730200" cy="292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2"/>
          <p:cNvSpPr/>
          <p:nvPr/>
        </p:nvSpPr>
        <p:spPr>
          <a:xfrm>
            <a:off x="438912" y="4652467"/>
            <a:ext cx="6583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③ Phase Portrait  (Hip: θ₁ vs θ̇₁)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2608" y="5091379"/>
            <a:ext cx="6730200" cy="27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2"/>
          <p:cNvSpPr/>
          <p:nvPr/>
        </p:nvSpPr>
        <p:spPr>
          <a:xfrm>
            <a:off x="7607808" y="4652467"/>
            <a:ext cx="6583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④ Damping c vs Settling Time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61504" y="5091379"/>
            <a:ext cx="6730200" cy="270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3"/>
          <p:cNvSpPr/>
          <p:nvPr/>
        </p:nvSpPr>
        <p:spPr>
          <a:xfrm>
            <a:off x="769025" y="198000"/>
            <a:ext cx="8536200" cy="11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4300"/>
              <a:buFont typeface="Mona Sans SemiBold"/>
              <a:buNone/>
            </a:pPr>
            <a:r>
              <a:rPr b="1" i="0" lang="en-US" sz="430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Validation &amp; Sensitivity Analysis</a:t>
            </a:r>
            <a:endParaRPr b="0" i="0" sz="4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3"/>
          <p:cNvSpPr/>
          <p:nvPr/>
        </p:nvSpPr>
        <p:spPr>
          <a:xfrm>
            <a:off x="769025" y="1848675"/>
            <a:ext cx="52206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150"/>
              <a:buFont typeface="Mona Sans SemiBold"/>
              <a:buNone/>
            </a:pPr>
            <a:r>
              <a:rPr b="1" i="0" lang="en-US" sz="215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Three-Layer Validation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7" name="Google Shape;29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416" y="2431375"/>
            <a:ext cx="329565" cy="32956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3"/>
          <p:cNvSpPr/>
          <p:nvPr/>
        </p:nvSpPr>
        <p:spPr>
          <a:xfrm>
            <a:off x="1522456" y="2300839"/>
            <a:ext cx="27732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150"/>
              <a:buFont typeface="Mona Sans SemiBold"/>
              <a:buNone/>
            </a:pPr>
            <a:r>
              <a:rPr b="1" i="0" lang="en-US" sz="215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Energy Conservation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3"/>
          <p:cNvSpPr/>
          <p:nvPr/>
        </p:nvSpPr>
        <p:spPr>
          <a:xfrm>
            <a:off x="1483043" y="2980611"/>
            <a:ext cx="5564148" cy="1038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00"/>
              <a:buFont typeface="Funnel Sans"/>
              <a:buNone/>
            </a:pPr>
            <a:r>
              <a:rPr b="0" i="0" lang="en-US" sz="17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Total energy conserved (undamped) and monotonically decays (damped) — confirms correct EOM implementation ✓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0" name="Google Shape;30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416" y="4451390"/>
            <a:ext cx="329565" cy="32956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3"/>
          <p:cNvSpPr/>
          <p:nvPr/>
        </p:nvSpPr>
        <p:spPr>
          <a:xfrm>
            <a:off x="1483043" y="4271553"/>
            <a:ext cx="33867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150"/>
              <a:buFont typeface="Mona Sans SemiBold"/>
              <a:buNone/>
            </a:pPr>
            <a:r>
              <a:rPr b="1" i="0" lang="en-US" sz="215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Natural Frequency Check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3"/>
          <p:cNvSpPr/>
          <p:nvPr/>
        </p:nvSpPr>
        <p:spPr>
          <a:xfrm>
            <a:off x="1483043" y="5107063"/>
            <a:ext cx="5564100" cy="6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00"/>
              <a:buFont typeface="Funnel Sans"/>
              <a:buNone/>
            </a:pPr>
            <a:r>
              <a:rPr b="0" i="0" lang="en-US" sz="17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Analytical ωn = √(mgL/2I) compared against simulation FFT result — values match within 2% ✓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3" name="Google Shape;30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416" y="6125289"/>
            <a:ext cx="329565" cy="32956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3"/>
          <p:cNvSpPr/>
          <p:nvPr/>
        </p:nvSpPr>
        <p:spPr>
          <a:xfrm>
            <a:off x="1483043" y="6118503"/>
            <a:ext cx="2851904" cy="343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2150"/>
              <a:buFont typeface="Mona Sans SemiBold"/>
              <a:buNone/>
            </a:pPr>
            <a:r>
              <a:rPr b="1" i="0" lang="en-US" sz="215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Dimensional Analysis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3"/>
          <p:cNvSpPr/>
          <p:nvPr/>
        </p:nvSpPr>
        <p:spPr>
          <a:xfrm>
            <a:off x="1483043" y="6887400"/>
            <a:ext cx="5564100" cy="6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00"/>
              <a:buFont typeface="Funnel Sans"/>
              <a:buNone/>
            </a:pPr>
            <a:r>
              <a:rPr b="0" i="0" lang="en-US" sz="17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All EOM terms verified in N·m — no unit inconsistencies detected ✓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3"/>
          <p:cNvSpPr/>
          <p:nvPr/>
        </p:nvSpPr>
        <p:spPr>
          <a:xfrm>
            <a:off x="7590905" y="2409397"/>
            <a:ext cx="27468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150"/>
              <a:buFont typeface="Mona Sans SemiBold"/>
              <a:buNone/>
            </a:pPr>
            <a:r>
              <a:rPr b="1" i="0" lang="en-US" sz="215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Sensitivity Study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3"/>
          <p:cNvSpPr/>
          <p:nvPr/>
        </p:nvSpPr>
        <p:spPr>
          <a:xfrm>
            <a:off x="7590843" y="3079444"/>
            <a:ext cx="6278100" cy="10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00"/>
              <a:buFont typeface="Funnel Sans"/>
              <a:buNone/>
            </a:pPr>
            <a:r>
              <a:rPr b="0" i="0" lang="en-US" sz="17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Lower link length L2 varied from </a:t>
            </a:r>
            <a:r>
              <a:rPr b="1" i="0" lang="en-US" sz="17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0.1 m → 0.3 m</a:t>
            </a:r>
            <a:r>
              <a:rPr b="0" i="0" lang="en-US" sz="17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. Longer links reduce oscillation frequency and increase gravitational torque load.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3"/>
          <p:cNvSpPr/>
          <p:nvPr/>
        </p:nvSpPr>
        <p:spPr>
          <a:xfrm>
            <a:off x="7590830" y="4444553"/>
            <a:ext cx="27468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2150"/>
              <a:buFont typeface="Mona Sans SemiBold"/>
              <a:buNone/>
            </a:pPr>
            <a:r>
              <a:rPr b="1" i="0" lang="en-US" sz="215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Known Limitations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3"/>
          <p:cNvSpPr/>
          <p:nvPr/>
        </p:nvSpPr>
        <p:spPr>
          <a:xfrm>
            <a:off x="7590868" y="5012112"/>
            <a:ext cx="6278100" cy="19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00"/>
              <a:buFont typeface="Funnel Sans"/>
              <a:buChar char="•"/>
            </a:pPr>
            <a:r>
              <a:rPr b="0" i="0" lang="en-US" sz="17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Rigid body assumption — no link flexibility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00"/>
              <a:buFont typeface="Funnel Sans"/>
              <a:buChar char="•"/>
            </a:pPr>
            <a:r>
              <a:rPr b="0" i="0" lang="en-US" sz="17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No terrain interaction or foot-slip modelled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00"/>
              <a:buFont typeface="Funnel Sans"/>
              <a:buChar char="•"/>
            </a:pPr>
            <a:r>
              <a:rPr b="0" i="0" lang="en-US" sz="17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Cross-coupling between hip and knee omitted in simplified EOM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700"/>
              <a:buFont typeface="Funnel Sans"/>
              <a:buChar char="•"/>
            </a:pPr>
            <a:r>
              <a:rPr b="0" i="0" lang="en-US" sz="17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2D sagittal plane only — no lateral dynamics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0" name="Google Shape;31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29309" y="7650718"/>
            <a:ext cx="1687743" cy="578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4"/>
          <p:cNvSpPr/>
          <p:nvPr/>
        </p:nvSpPr>
        <p:spPr>
          <a:xfrm>
            <a:off x="682228" y="613172"/>
            <a:ext cx="8985528" cy="609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3800"/>
              <a:buFont typeface="Mona Sans SemiBold"/>
              <a:buNone/>
            </a:pPr>
            <a:r>
              <a:rPr b="1" i="0" lang="en-US" sz="380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Conclusions, Reflections &amp; References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4"/>
          <p:cNvSpPr/>
          <p:nvPr/>
        </p:nvSpPr>
        <p:spPr>
          <a:xfrm>
            <a:off x="682215" y="2111044"/>
            <a:ext cx="24366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1900"/>
              <a:buFont typeface="Mona Sans SemiBold"/>
              <a:buNone/>
            </a:pPr>
            <a:r>
              <a:rPr b="1" i="0" lang="en-US" sz="190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Key Findings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4"/>
          <p:cNvSpPr/>
          <p:nvPr/>
        </p:nvSpPr>
        <p:spPr>
          <a:xfrm>
            <a:off x="682228" y="2645033"/>
            <a:ext cx="6395100" cy="15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00"/>
              <a:buFont typeface="Funnel Sans"/>
              <a:buChar char="•"/>
            </a:pPr>
            <a:r>
              <a:rPr b="0" i="0" lang="en-US" sz="15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The 2-DOF Lagrangian model </a:t>
            </a:r>
            <a:r>
              <a:rPr b="1" i="0" lang="en-US" sz="15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accurately captures joint dynamics</a:t>
            </a:r>
            <a:r>
              <a:rPr b="0" i="0" lang="en-US" sz="15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with energy decay under damping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00"/>
              <a:buFont typeface="Funnel Sans"/>
              <a:buChar char="•"/>
            </a:pPr>
            <a:r>
              <a:rPr b="0" i="0" lang="en-US" sz="15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Most challenging: </a:t>
            </a:r>
            <a:r>
              <a:rPr b="1" i="0" lang="en-US" sz="15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CO4</a:t>
            </a:r>
            <a:r>
              <a:rPr b="0" i="0" lang="en-US" sz="15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deriving and interpreting coupled EOMs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00"/>
              <a:buFont typeface="Funnel Sans"/>
              <a:buChar char="•"/>
            </a:pPr>
            <a:r>
              <a:rPr b="0" i="0" lang="en-US" sz="15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Future improvement: include hip-knee cross-coupling terms for full accuracy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4"/>
          <p:cNvSpPr/>
          <p:nvPr/>
        </p:nvSpPr>
        <p:spPr>
          <a:xfrm>
            <a:off x="682228" y="4441053"/>
            <a:ext cx="24366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1900"/>
              <a:buFont typeface="Mona Sans SemiBold"/>
              <a:buNone/>
            </a:pPr>
            <a:r>
              <a:rPr b="1" i="0" lang="en-US" sz="190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CO Self-Assessment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4"/>
          <p:cNvSpPr/>
          <p:nvPr/>
        </p:nvSpPr>
        <p:spPr>
          <a:xfrm>
            <a:off x="7560588" y="1640919"/>
            <a:ext cx="2436614" cy="304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373B48"/>
              </a:buClr>
              <a:buSzPts val="1900"/>
              <a:buFont typeface="Mona Sans SemiBold"/>
              <a:buNone/>
            </a:pPr>
            <a:r>
              <a:rPr b="1" i="0" lang="en-US" sz="1900" u="none" cap="none" strike="noStrike">
                <a:solidFill>
                  <a:srgbClr val="373B48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References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7560588" y="2112883"/>
            <a:ext cx="6395204" cy="12768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00"/>
              <a:buFont typeface="Funnel Sans"/>
              <a:buChar char="•"/>
            </a:pPr>
            <a:r>
              <a:rPr b="0" i="0" lang="en-US" sz="15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Ginsberg, J. (2008). </a:t>
            </a:r>
            <a:r>
              <a:rPr b="0" i="1" lang="en-US" sz="15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Engineering Dynamics.</a:t>
            </a:r>
            <a:r>
              <a:rPr b="0" i="0" lang="en-US" sz="15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Cambridge University Press.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00"/>
              <a:buFont typeface="Funnel Sans"/>
              <a:buChar char="•"/>
            </a:pPr>
            <a:r>
              <a:rPr b="0" i="0" lang="en-US" sz="15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Unitree Robotics — Go1 Technical Documentation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500"/>
              <a:buFont typeface="Funnel Sans"/>
              <a:buChar char="•"/>
            </a:pPr>
            <a:r>
              <a:rPr b="0" i="1" lang="en-US" sz="15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Scientific Reports</a:t>
            </a:r>
            <a:r>
              <a:rPr b="0" i="0" lang="en-US" sz="1500" u="none" cap="none" strike="noStrike">
                <a:solidFill>
                  <a:srgbClr val="52586B"/>
                </a:solidFill>
                <a:latin typeface="Funnel Sans"/>
                <a:ea typeface="Funnel Sans"/>
                <a:cs typeface="Funnel Sans"/>
                <a:sym typeface="Funnel Sans"/>
              </a:rPr>
              <a:t> — "Patterns in quadruped robot locomotion"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7560588" y="3578066"/>
            <a:ext cx="6395204" cy="1333976"/>
          </a:xfrm>
          <a:prstGeom prst="roundRect">
            <a:avLst>
              <a:gd fmla="val 6137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23" name="Google Shape;32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55493" y="3872032"/>
            <a:ext cx="243602" cy="19490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4"/>
          <p:cNvSpPr/>
          <p:nvPr/>
        </p:nvSpPr>
        <p:spPr>
          <a:xfrm>
            <a:off x="8194000" y="3794165"/>
            <a:ext cx="5566886" cy="869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Funnel Sans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AI Disclosure:</a:t>
            </a:r>
            <a:r>
              <a:rPr b="0" i="0" lang="en-US" sz="1500" u="none" cap="none" strike="noStrike">
                <a:solidFill>
                  <a:srgbClr val="000000"/>
                </a:solidFill>
                <a:latin typeface="Funnel Sans"/>
                <a:ea typeface="Funnel Sans"/>
                <a:cs typeface="Funnel Sans"/>
                <a:sym typeface="Funnel Sans"/>
              </a:rPr>
              <a:t> Claude AI was equation formatting only. All mathematical derivations were performed by hand by the project team.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7560588" y="5149096"/>
            <a:ext cx="6395204" cy="14526"/>
          </a:xfrm>
          <a:prstGeom prst="rect">
            <a:avLst/>
          </a:prstGeom>
          <a:solidFill>
            <a:srgbClr val="52586B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4"/>
          <p:cNvSpPr/>
          <p:nvPr/>
        </p:nvSpPr>
        <p:spPr>
          <a:xfrm>
            <a:off x="7560588" y="5400675"/>
            <a:ext cx="6395204" cy="289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4"/>
          <p:cNvSpPr/>
          <p:nvPr/>
        </p:nvSpPr>
        <p:spPr>
          <a:xfrm>
            <a:off x="682228" y="6029682"/>
            <a:ext cx="3190875" cy="709613"/>
          </a:xfrm>
          <a:prstGeom prst="roundRect">
            <a:avLst>
              <a:gd fmla="val 11537" name="adj"/>
            </a:avLst>
          </a:prstGeom>
          <a:solidFill>
            <a:srgbClr val="E2E4E9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4"/>
          <p:cNvSpPr/>
          <p:nvPr/>
        </p:nvSpPr>
        <p:spPr>
          <a:xfrm>
            <a:off x="884753" y="6232208"/>
            <a:ext cx="2436614" cy="304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900"/>
              <a:buFont typeface="Mona Sans SemiBold"/>
              <a:buNone/>
            </a:pPr>
            <a:r>
              <a:rPr b="1" i="0" lang="en-US" sz="19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CO1 ✓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4"/>
          <p:cNvSpPr/>
          <p:nvPr/>
        </p:nvSpPr>
        <p:spPr>
          <a:xfrm>
            <a:off x="4040505" y="6029682"/>
            <a:ext cx="3190994" cy="709613"/>
          </a:xfrm>
          <a:prstGeom prst="roundRect">
            <a:avLst>
              <a:gd fmla="val 11537" name="adj"/>
            </a:avLst>
          </a:prstGeom>
          <a:solidFill>
            <a:srgbClr val="E2E4E9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4"/>
          <p:cNvSpPr/>
          <p:nvPr/>
        </p:nvSpPr>
        <p:spPr>
          <a:xfrm>
            <a:off x="4243030" y="6232208"/>
            <a:ext cx="2436614" cy="304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900"/>
              <a:buFont typeface="Mona Sans SemiBold"/>
              <a:buNone/>
            </a:pPr>
            <a:r>
              <a:rPr b="1" i="0" lang="en-US" sz="19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CO2 ✓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4"/>
          <p:cNvSpPr/>
          <p:nvPr/>
        </p:nvSpPr>
        <p:spPr>
          <a:xfrm>
            <a:off x="7398901" y="6029682"/>
            <a:ext cx="3190875" cy="709613"/>
          </a:xfrm>
          <a:prstGeom prst="roundRect">
            <a:avLst>
              <a:gd fmla="val 11537" name="adj"/>
            </a:avLst>
          </a:prstGeom>
          <a:solidFill>
            <a:srgbClr val="E2E4E9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4"/>
          <p:cNvSpPr/>
          <p:nvPr/>
        </p:nvSpPr>
        <p:spPr>
          <a:xfrm>
            <a:off x="7601426" y="6232208"/>
            <a:ext cx="2436614" cy="304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900"/>
              <a:buFont typeface="Mona Sans SemiBold"/>
              <a:buNone/>
            </a:pPr>
            <a:r>
              <a:rPr b="1" i="0" lang="en-US" sz="19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CO3 ✓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4"/>
          <p:cNvSpPr/>
          <p:nvPr/>
        </p:nvSpPr>
        <p:spPr>
          <a:xfrm>
            <a:off x="10757178" y="6029682"/>
            <a:ext cx="3190994" cy="709613"/>
          </a:xfrm>
          <a:prstGeom prst="roundRect">
            <a:avLst>
              <a:gd fmla="val 11537" name="adj"/>
            </a:avLst>
          </a:prstGeom>
          <a:solidFill>
            <a:srgbClr val="E2E4E9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24"/>
          <p:cNvSpPr/>
          <p:nvPr/>
        </p:nvSpPr>
        <p:spPr>
          <a:xfrm>
            <a:off x="10959703" y="6232208"/>
            <a:ext cx="2436614" cy="304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900"/>
              <a:buFont typeface="Mona Sans SemiBold"/>
              <a:buNone/>
            </a:pPr>
            <a:r>
              <a:rPr b="1" i="0" lang="en-US" sz="19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CO4 ✓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4"/>
          <p:cNvSpPr/>
          <p:nvPr/>
        </p:nvSpPr>
        <p:spPr>
          <a:xfrm>
            <a:off x="682228" y="6906697"/>
            <a:ext cx="13265944" cy="709613"/>
          </a:xfrm>
          <a:prstGeom prst="roundRect">
            <a:avLst>
              <a:gd fmla="val 11537" name="adj"/>
            </a:avLst>
          </a:prstGeom>
          <a:solidFill>
            <a:srgbClr val="E2E4E9"/>
          </a:solidFill>
          <a:ln cap="flat" cmpd="sng" w="9525">
            <a:solidFill>
              <a:srgbClr val="C8CA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24"/>
          <p:cNvSpPr/>
          <p:nvPr/>
        </p:nvSpPr>
        <p:spPr>
          <a:xfrm>
            <a:off x="884753" y="7109222"/>
            <a:ext cx="2436614" cy="304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52586B"/>
              </a:buClr>
              <a:buSzPts val="1900"/>
              <a:buFont typeface="Mona Sans SemiBold"/>
              <a:buNone/>
            </a:pPr>
            <a:r>
              <a:rPr b="1" i="0" lang="en-US" sz="1900" u="none" cap="none" strike="noStrike">
                <a:solidFill>
                  <a:srgbClr val="52586B"/>
                </a:solidFill>
                <a:latin typeface="Mona Sans SemiBold"/>
                <a:ea typeface="Mona Sans SemiBold"/>
                <a:cs typeface="Mona Sans SemiBold"/>
                <a:sym typeface="Mona Sans SemiBold"/>
              </a:rPr>
              <a:t>CO5 ✓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7" name="Google Shape;33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29309" y="7650718"/>
            <a:ext cx="1687743" cy="578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5"/>
          <p:cNvSpPr/>
          <p:nvPr/>
        </p:nvSpPr>
        <p:spPr>
          <a:xfrm>
            <a:off x="10692300" y="7437575"/>
            <a:ext cx="3873600" cy="69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5"/>
          <p:cNvSpPr txBox="1"/>
          <p:nvPr/>
        </p:nvSpPr>
        <p:spPr>
          <a:xfrm>
            <a:off x="3564000" y="3098850"/>
            <a:ext cx="71283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</a:t>
            </a:r>
            <a:endParaRPr b="1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</a:t>
            </a:r>
            <a:endParaRPr b="1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E5ED340F12FF438B134E672892BFDA" ma:contentTypeVersion="12" ma:contentTypeDescription="Create a new document." ma:contentTypeScope="" ma:versionID="2c87ab58b8ec2353d2b26750d179ec7e">
  <xsd:schema xmlns:xsd="http://www.w3.org/2001/XMLSchema" xmlns:xs="http://www.w3.org/2001/XMLSchema" xmlns:p="http://schemas.microsoft.com/office/2006/metadata/properties" xmlns:ns2="b7aa8a3b-80d1-4955-8f76-a3254a33a331" xmlns:ns3="8aa28b7e-c5b6-4db8-be1f-ce18dc9d6788" targetNamespace="http://schemas.microsoft.com/office/2006/metadata/properties" ma:root="true" ma:fieldsID="69fb4eb5051183c283dc3b3a79120d25" ns2:_="" ns3:_="">
    <xsd:import namespace="b7aa8a3b-80d1-4955-8f76-a3254a33a331"/>
    <xsd:import namespace="8aa28b7e-c5b6-4db8-be1f-ce18dc9d6788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aa8a3b-80d1-4955-8f76-a3254a33a331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d765a431-9415-4219-9cd0-5363948861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a28b7e-c5b6-4db8-be1f-ce18dc9d6788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5a5849d0-3a25-4ea2-a66f-6da2942d5ba7}" ma:internalName="TaxCatchAll" ma:showField="CatchAllData" ma:web="8aa28b7e-c5b6-4db8-be1f-ce18dc9d67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b7aa8a3b-80d1-4955-8f76-a3254a33a331" xsi:nil="true"/>
    <lcf76f155ced4ddcb4097134ff3c332f xmlns="b7aa8a3b-80d1-4955-8f76-a3254a33a331">
      <Terms xmlns="http://schemas.microsoft.com/office/infopath/2007/PartnerControls"/>
    </lcf76f155ced4ddcb4097134ff3c332f>
    <TaxCatchAll xmlns="8aa28b7e-c5b6-4db8-be1f-ce18dc9d6788" xsi:nil="true"/>
  </documentManagement>
</p:properties>
</file>

<file path=customXml/itemProps1.xml><?xml version="1.0" encoding="utf-8"?>
<ds:datastoreItem xmlns:ds="http://schemas.openxmlformats.org/officeDocument/2006/customXml" ds:itemID="{405F0B7C-0AAC-488A-8931-982BCA68BE18}"/>
</file>

<file path=customXml/itemProps2.xml><?xml version="1.0" encoding="utf-8"?>
<ds:datastoreItem xmlns:ds="http://schemas.openxmlformats.org/officeDocument/2006/customXml" ds:itemID="{60F3C809-78CD-43B4-9D9E-EA5B67086475}"/>
</file>

<file path=customXml/itemProps3.xml><?xml version="1.0" encoding="utf-8"?>
<ds:datastoreItem xmlns:ds="http://schemas.openxmlformats.org/officeDocument/2006/customXml" ds:itemID="{242CE82D-85D4-4D5E-8DC6-973DCFAF8D85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0x010100AFE5ED340F12FF438B134E672892BFDA</vt:lpwstr>
  </property>
</Properties>
</file>