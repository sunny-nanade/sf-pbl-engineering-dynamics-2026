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slide for the biped project presentation.</a:t>
            </a:r>
          </a:p>
          <a:p>
            <a:endParaRPr/>
          </a:p>
          <a:p>
            <a:r>
              <a:t>[Sources]</a:t>
            </a:r>
          </a:p>
          <a:p>
            <a:r>
              <a:t>- Reference presentation format: DSM_H035,40,46,47_MINIPROJECT.pptx</a:t>
            </a:r>
          </a:p>
          <a:p>
            <a:r>
              <a:t>- Local project repository: Biped-Pybullet-main</a:t>
            </a:r>
          </a:p>
          <a:p>
            <a:r>
              <a:t>- Local generated reports: Biped_System_Identification_Report.docx, Biped_Validation_Analysis_Report.docx, Biped_Euler_Lagrange_Model_Report.docx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problem as a dynamic systems analysis task built on top of the simulator.</a:t>
            </a:r>
          </a:p>
          <a:p>
            <a:endParaRPr/>
          </a:p>
          <a:p>
            <a:r>
              <a:t>[Sources]</a:t>
            </a:r>
          </a:p>
          <a:p>
            <a:r>
              <a:t>- Local project repository: Biped-Pybullet-main</a:t>
            </a:r>
          </a:p>
          <a:p>
            <a:r>
              <a:t>- biped.urdf and mesh/inertial data from the local project workspace</a:t>
            </a:r>
          </a:p>
          <a:p>
            <a:r>
              <a:t>- PyBullet simulation outputs in Simulation_analysis/*.csv and *.png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Clarify how the project balances a detailed robot model with grouped validation signals.</a:t>
            </a:r>
          </a:p>
          <a:p>
            <a:endParaRPr/>
          </a:p>
          <a:p>
            <a:r>
              <a:t>[Sources]</a:t>
            </a:r>
          </a:p>
          <a:p>
            <a:r>
              <a:t>- Local project repository: Biped-Pybullet-main</a:t>
            </a:r>
          </a:p>
          <a:p>
            <a:r>
              <a:t>- biped.urdf and mesh/inertial data from the local project workspace</a:t>
            </a:r>
          </a:p>
          <a:p>
            <a:r>
              <a:t>- PyBullet simulation outputs in Simulation_analysis/*.csv and *.png</a:t>
            </a:r>
          </a:p>
          <a:p>
            <a:r>
              <a:t>- Local generated reports: Biped_System_Identification_Report.docx, Biped_Validation_Analysis_Report.docx, Biped_Euler_Lagrange_Model_Report.docx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the free body diagram and connect it to the generalized coordinates used in the derivation.</a:t>
            </a:r>
          </a:p>
          <a:p>
            <a:endParaRPr/>
          </a:p>
          <a:p>
            <a:r>
              <a:t>[Sources]</a:t>
            </a:r>
          </a:p>
          <a:p>
            <a:r>
              <a:t>- Local generated reports: Biped_System_Identification_Report.docx, Biped_Validation_Analysis_Report.docx, Biped_Euler_Lagrange_Model_Report.docx</a:t>
            </a:r>
          </a:p>
          <a:p>
            <a:r>
              <a:t>- Local project repository: Biped-Pybullet-main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clearly that the project uses Euler-Lagrange mechanics and connect the energies to the simulator parameters.</a:t>
            </a:r>
          </a:p>
          <a:p>
            <a:endParaRPr/>
          </a:p>
          <a:p>
            <a:r>
              <a:t>[Sources]</a:t>
            </a:r>
          </a:p>
          <a:p>
            <a:r>
              <a:t>- biped.urdf and mesh/inertial data from the local project workspace</a:t>
            </a:r>
          </a:p>
          <a:p>
            <a:r>
              <a:t>- Local generated reports: Biped_System_Identification_Report.docx, Biped_Validation_Analysis_Report.docx, Biped_Euler_Lagrange_Model_Report.docx</a:t>
            </a:r>
          </a:p>
          <a:p>
            <a:r>
              <a:t>- Local project repository: Biped-Pybullet-main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the manipulator equation and first-order state-space form used to explain the dynamics.</a:t>
            </a:r>
          </a:p>
          <a:p>
            <a:endParaRPr/>
          </a:p>
          <a:p>
            <a:r>
              <a:t>[Sources]</a:t>
            </a:r>
          </a:p>
          <a:p>
            <a:r>
              <a:t>- Local generated reports: Biped_System_Identification_Report.docx, Biped_Validation_Analysis_Report.docx, Biped_Euler_Lagrange_Model_Report.docx</a:t>
            </a:r>
          </a:p>
          <a:p>
            <a:r>
              <a:t>- Local project repository: Biped-Pybullet-main</a:t>
            </a:r>
          </a:p>
          <a:p>
            <a:r>
              <a:t>- PyBullet simulation outputs in Simulation_analysis/*.csv and *.png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 what signals are collected and show walk-based energy metrics as the main example.</a:t>
            </a:r>
          </a:p>
          <a:p>
            <a:endParaRPr/>
          </a:p>
          <a:p>
            <a:r>
              <a:t>[Sources]</a:t>
            </a:r>
          </a:p>
          <a:p>
            <a:r>
              <a:t>- PyBullet simulation outputs in Simulation_analysis/*.csv and *.png</a:t>
            </a:r>
          </a:p>
          <a:p>
            <a:r>
              <a:t>- Local generated reports: Biped_System_Identification_Report.docx, Biped_Validation_Analysis_Report.docx, Biped_Euler_Lagrange_Model_Report.docx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Scenario comparison slide built from actual PyBullet scene screenshots for walk, squat, jump without twist, and jump with twist.</a:t>
            </a:r>
          </a:p>
          <a:p>
            <a:endParaRPr/>
          </a:p>
          <a:p>
            <a:r>
              <a:t>[Sources]</a:t>
            </a:r>
          </a:p>
          <a:p>
            <a:r>
              <a:t>- PyBullet simulation outputs in Simulation_analysis/*.csv and *.png</a:t>
            </a:r>
          </a:p>
          <a:p>
            <a:r>
              <a:t>- Local project repository: Biped-Pybullet-main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the saved dashboard views for the four action classes.</a:t>
            </a:r>
          </a:p>
          <a:p>
            <a:endParaRPr/>
          </a:p>
          <a:p>
            <a:r>
              <a:t>[Sources]</a:t>
            </a:r>
          </a:p>
          <a:p>
            <a:r>
              <a:t>- PyBullet simulation outputs in Simulation_analysis/*.csv and *.png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durations and grouped observations to describe the validation stage honestly and clearly.</a:t>
            </a:r>
          </a:p>
          <a:p>
            <a:endParaRPr/>
          </a:p>
          <a:p>
            <a:r>
              <a:t>[Sources]</a:t>
            </a:r>
          </a:p>
          <a:p>
            <a:r>
              <a:t>- PyBullet simulation outputs in Simulation_analysis/*.csv and *.png</a:t>
            </a:r>
          </a:p>
          <a:p>
            <a:r>
              <a:t>- Local generated reports: Biped_System_Identification_Report.docx, Biped_Validation_Analysis_Report.docx, Biped_Euler_Lagrange_Model_Report.docx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 technical arc and point to next-step improvements.</a:t>
            </a:r>
          </a:p>
          <a:p>
            <a:endParaRPr/>
          </a:p>
          <a:p>
            <a:r>
              <a:t>[Sources]</a:t>
            </a:r>
          </a:p>
          <a:p>
            <a:r>
              <a:t>- Local project repository: Biped-Pybullet-main</a:t>
            </a:r>
          </a:p>
          <a:p>
            <a:r>
              <a:t>- Local generated reports: Biped_System_Identification_Report.docx, Biped_Validation_Analysis_Report.docx, Biped_Euler_Lagrange_Model_Report.docx</a:t>
            </a:r>
          </a:p>
          <a:p>
            <a:r>
              <a:t>- PyBullet simulation outputs in Simulation_analysis/*.csv and *.png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Cite the local sources and provide a short, honest AI disclosure.</a:t>
            </a:r>
          </a:p>
          <a:p>
            <a:endParaRPr/>
          </a:p>
          <a:p>
            <a:r>
              <a:t>[Sources]</a:t>
            </a:r>
          </a:p>
          <a:p>
            <a:r>
              <a:t>- Reference presentation format: DSM_H035,40,46,47_MINIPROJECT.pptx</a:t>
            </a:r>
          </a:p>
          <a:p>
            <a:r>
              <a:t>- Local project repository: Biped-Pybullet-main</a:t>
            </a:r>
          </a:p>
          <a:p>
            <a:r>
              <a:t>- PyBullet simulation outputs in Simulation_analysis/*.csv and *.png</a:t>
            </a:r>
          </a:p>
          <a:p>
            <a:r>
              <a:t>- Local generated reports: Biped_System_Identification_Report.docx, Biped_Validation_Analysis_Report.docx, Biped_Euler_Lagrange_Model_Report.docx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slide.</a:t>
            </a:r>
          </a:p>
          <a:p>
            <a:endParaRPr/>
          </a:p>
          <a:p>
            <a:r>
              <a:t>[Sources]</a:t>
            </a:r>
          </a:p>
          <a:p>
            <a:r>
              <a:t>- Reference presentation format: DSM_H035,40,46,47_MINIPROJECT.pptx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FAE2668-4D61-46B0-A211-5A8D5BE1EDFA}"/>
              </a:ext>
            </a:extLst>
          </p:cNvPr>
          <p:cNvSpPr>
            <a:spLocks noGrp="1"/>
          </p:cNvSpPr>
          <p:nvPr>
            <p:ph type="ctrTitle"/>
          </p:nvPr>
        </p:nvSpPr>
        <p:spPr>
          <a:xfrm>
            <a:off x="1524000" y="1122363"/>
            <a:ext cx="9144000" cy="2387600"/>
          </a:xfrm>
        </p:spPr>
        <p:txBody>
          <a:bodyPr anchor="b"/>
          <a:lstStyle>
            <a:lvl1pPr algn="ctr">
              <a:buNone/>
              <a:defRPr sz="6000"/>
            </a:lvl1pPr>
          </a:lstStyle>
          <a:p>
            <a:endParaRPr/>
          </a:p>
        </p:txBody>
      </p:sp>
      <p:sp>
        <p:nvSpPr>
          <p:cNvPr id="2" name="Subtitle 2">
            <a:extLst>
              <a:ext uri="{FF2B5EF4-FFF2-40B4-BE49-F238E27FC236}">
                <a16:creationId xmlns:a16="http://schemas.microsoft.com/office/drawing/2014/main" id="{2C481CFA-AB9C-4CF1-A2E6-19EE289E27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3" name="Date Placeholder 3">
            <a:extLst>
              <a:ext uri="{FF2B5EF4-FFF2-40B4-BE49-F238E27FC236}">
                <a16:creationId xmlns:a16="http://schemas.microsoft.com/office/drawing/2014/main" id="{053943D2-3237-4572-BAE5-7615798F0B77}"/>
              </a:ext>
            </a:extLst>
          </p:cNvPr>
          <p:cNvSpPr>
            <a:spLocks noGrp="1"/>
          </p:cNvSpPr>
          <p:nvPr>
            <p:ph type="dt" idx="10"/>
          </p:nvPr>
        </p:nvSpPr>
        <p:spPr/>
        <p:txBody>
          <a:bodyPr/>
          <a:lstStyle/>
          <a:p>
            <a:endParaRPr/>
          </a:p>
        </p:txBody>
      </p:sp>
      <p:sp>
        <p:nvSpPr>
          <p:cNvPr id="4" name="Footer Placeholder 4">
            <a:extLst>
              <a:ext uri="{FF2B5EF4-FFF2-40B4-BE49-F238E27FC236}">
                <a16:creationId xmlns:a16="http://schemas.microsoft.com/office/drawing/2014/main" id="{54261CD8-66BA-4C97-9CF5-2463D8ED5F55}"/>
              </a:ext>
            </a:extLst>
          </p:cNvPr>
          <p:cNvSpPr>
            <a:spLocks noGrp="1"/>
          </p:cNvSpPr>
          <p:nvPr>
            <p:ph type="ftr" idx="11"/>
          </p:nvPr>
        </p:nvSpPr>
        <p:spPr/>
        <p:txBody>
          <a:bodyPr/>
          <a:lstStyle/>
          <a:p>
            <a:endParaRPr/>
          </a:p>
        </p:txBody>
      </p:sp>
      <p:sp>
        <p:nvSpPr>
          <p:cNvPr id="5"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7878AB1-7E86-4A54-A536-533F57347472}"/>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0FF2133A-2994-4371-A2FE-DAD3AF5463FF}"/>
              </a:ext>
            </a:extLst>
          </p:cNvPr>
          <p:cNvSpPr>
            <a:spLocks noGrp="1"/>
          </p:cNvSpPr>
          <p:nvPr/>
        </p:nvSpPr>
        <p:spPr>
          <a:xfrm>
            <a:off x="0" y="0"/>
            <a:ext cx="12192000" cy="6858000"/>
          </a:xfrm>
          <a:prstGeom prst="rect">
            <a:avLst/>
          </a:prstGeom>
          <a:solidFill>
            <a:srgbClr val="FFFFFF">
              <a:alpha val="80000"/>
            </a:srgbClr>
          </a:solidFill>
          <a:ln w="0">
            <a:solidFill>
              <a:srgbClr val="000000">
                <a:alpha val="0"/>
              </a:srgbClr>
            </a:solidFill>
            <a:prstDash val="solid"/>
          </a:ln>
        </p:spPr>
        <p:txBody>
          <a:bodyPr/>
          <a:lstStyle/>
          <a:p>
            <a:endParaRPr lang="en-IN"/>
          </a:p>
        </p:txBody>
      </p:sp>
      <p:sp>
        <p:nvSpPr>
          <p:cNvPr id="4" name="Rectangle 3">
            <a:extLst>
              <a:ext uri="{FF2B5EF4-FFF2-40B4-BE49-F238E27FC236}">
                <a16:creationId xmlns:a16="http://schemas.microsoft.com/office/drawing/2014/main" id="{8C718C09-5F0A-4197-BAD3-ACC315B0F0E7}"/>
              </a:ext>
            </a:extLst>
          </p:cNvPr>
          <p:cNvSpPr>
            <a:spLocks noGrp="1"/>
          </p:cNvSpPr>
          <p:nvPr/>
        </p:nvSpPr>
        <p:spPr>
          <a:xfrm>
            <a:off x="609600" y="800100"/>
            <a:ext cx="66675" cy="4667250"/>
          </a:xfrm>
          <a:prstGeom prst="rect">
            <a:avLst/>
          </a:prstGeom>
          <a:solidFill>
            <a:srgbClr val="27C47D"/>
          </a:solidFill>
          <a:ln w="0">
            <a:solidFill>
              <a:srgbClr val="000000">
                <a:alpha val="0"/>
              </a:srgbClr>
            </a:solidFill>
            <a:prstDash val="solid"/>
          </a:ln>
        </p:spPr>
        <p:txBody>
          <a:bodyPr/>
          <a:lstStyle/>
          <a:p>
            <a:endParaRPr lang="en-IN"/>
          </a:p>
        </p:txBody>
      </p:sp>
      <p:sp>
        <p:nvSpPr>
          <p:cNvPr id="6" name="Rectangle 5">
            <a:extLst>
              <a:ext uri="{FF2B5EF4-FFF2-40B4-BE49-F238E27FC236}">
                <a16:creationId xmlns:a16="http://schemas.microsoft.com/office/drawing/2014/main" id="{4367B930-9644-4B6A-AB3C-38AEB4760B80}"/>
              </a:ext>
            </a:extLst>
          </p:cNvPr>
          <p:cNvSpPr>
            <a:spLocks noGrp="1"/>
          </p:cNvSpPr>
          <p:nvPr/>
        </p:nvSpPr>
        <p:spPr>
          <a:xfrm>
            <a:off x="781050" y="1143000"/>
            <a:ext cx="742950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01214"/>
                </a:solidFill>
              </a:defRPr>
            </a:pPr>
            <a:r>
              <a:rPr sz="3150" b="1" dirty="0">
                <a:solidFill>
                  <a:srgbClr val="101214"/>
                </a:solidFill>
              </a:rPr>
              <a:t>Dynamic Analysis of</a:t>
            </a:r>
          </a:p>
          <a:p>
            <a:pPr algn="l">
              <a:defRPr sz="3150" b="1">
                <a:solidFill>
                  <a:srgbClr val="101214"/>
                </a:solidFill>
              </a:defRPr>
            </a:pPr>
            <a:r>
              <a:rPr sz="3150" b="1" dirty="0">
                <a:solidFill>
                  <a:srgbClr val="101214"/>
                </a:solidFill>
              </a:rPr>
              <a:t>a 12-DOF</a:t>
            </a:r>
            <a:r>
              <a:rPr lang="en-IN" sz="3150" b="1" dirty="0">
                <a:solidFill>
                  <a:srgbClr val="101214"/>
                </a:solidFill>
              </a:rPr>
              <a:t> Humanoid</a:t>
            </a:r>
            <a:r>
              <a:rPr sz="3150" b="1" dirty="0">
                <a:solidFill>
                  <a:srgbClr val="101214"/>
                </a:solidFill>
              </a:rPr>
              <a:t> Biped Robot Using Euler-Lagrange Mechanics</a:t>
            </a:r>
          </a:p>
        </p:txBody>
      </p:sp>
      <p:sp>
        <p:nvSpPr>
          <p:cNvPr id="8" name="Rectangle: Rounded Corners 7">
            <a:extLst>
              <a:ext uri="{FF2B5EF4-FFF2-40B4-BE49-F238E27FC236}">
                <a16:creationId xmlns:a16="http://schemas.microsoft.com/office/drawing/2014/main" id="{72E9B543-1BC0-461B-AD90-928422CAB540}"/>
              </a:ext>
            </a:extLst>
          </p:cNvPr>
          <p:cNvSpPr>
            <a:spLocks noGrp="1"/>
          </p:cNvSpPr>
          <p:nvPr/>
        </p:nvSpPr>
        <p:spPr>
          <a:xfrm>
            <a:off x="819150" y="4057650"/>
            <a:ext cx="4476750" cy="1409700"/>
          </a:xfrm>
          <a:prstGeom prst="roundRect">
            <a:avLst>
              <a:gd name="adj" fmla="val 5405"/>
            </a:avLst>
          </a:prstGeom>
          <a:solidFill>
            <a:srgbClr val="F7F4ED">
              <a:alpha val="96078"/>
            </a:srgbClr>
          </a:solidFill>
          <a:ln w="11430">
            <a:solidFill>
              <a:srgbClr val="101214"/>
            </a:solidFill>
            <a:prstDash val="solid"/>
          </a:ln>
        </p:spPr>
        <p:txBody>
          <a:bodyPr/>
          <a:lstStyle/>
          <a:p>
            <a:endParaRPr lang="en-IN"/>
          </a:p>
        </p:txBody>
      </p:sp>
      <p:sp>
        <p:nvSpPr>
          <p:cNvPr id="9" name="Rectangle 8">
            <a:extLst>
              <a:ext uri="{FF2B5EF4-FFF2-40B4-BE49-F238E27FC236}">
                <a16:creationId xmlns:a16="http://schemas.microsoft.com/office/drawing/2014/main" id="{8D547307-D247-4A20-88B0-F0A0DC2D5F84}"/>
              </a:ext>
            </a:extLst>
          </p:cNvPr>
          <p:cNvSpPr>
            <a:spLocks noGrp="1"/>
          </p:cNvSpPr>
          <p:nvPr/>
        </p:nvSpPr>
        <p:spPr>
          <a:xfrm>
            <a:off x="1066800" y="4267200"/>
            <a:ext cx="609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16B49"/>
                </a:solidFill>
              </a:defRPr>
            </a:pPr>
            <a:r>
              <a:rPr sz="1050" b="1">
                <a:solidFill>
                  <a:srgbClr val="116B49"/>
                </a:solidFill>
              </a:rPr>
              <a:t>By:</a:t>
            </a:r>
          </a:p>
        </p:txBody>
      </p:sp>
      <p:sp>
        <p:nvSpPr>
          <p:cNvPr id="10" name="Rectangle 9">
            <a:extLst>
              <a:ext uri="{FF2B5EF4-FFF2-40B4-BE49-F238E27FC236}">
                <a16:creationId xmlns:a16="http://schemas.microsoft.com/office/drawing/2014/main" id="{6BFE534F-1296-4967-AA72-5CDDC00FD091}"/>
              </a:ext>
            </a:extLst>
          </p:cNvPr>
          <p:cNvSpPr>
            <a:spLocks noGrp="1"/>
          </p:cNvSpPr>
          <p:nvPr/>
        </p:nvSpPr>
        <p:spPr>
          <a:xfrm>
            <a:off x="1066800" y="4533900"/>
            <a:ext cx="314325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01214"/>
                </a:solidFill>
              </a:defRPr>
            </a:pPr>
            <a:r>
              <a:rPr sz="1275" b="1">
                <a:solidFill>
                  <a:srgbClr val="101214"/>
                </a:solidFill>
              </a:rPr>
              <a:t>Daaris Ahmed H003</a:t>
            </a:r>
          </a:p>
          <a:p>
            <a:pPr algn="l">
              <a:defRPr sz="1275" b="1">
                <a:solidFill>
                  <a:srgbClr val="101214"/>
                </a:solidFill>
              </a:defRPr>
            </a:pPr>
            <a:r>
              <a:rPr sz="1275" b="1">
                <a:solidFill>
                  <a:srgbClr val="101214"/>
                </a:solidFill>
              </a:rPr>
              <a:t>Hushan Bhimani H006</a:t>
            </a:r>
          </a:p>
          <a:p>
            <a:pPr algn="l">
              <a:defRPr sz="1275" b="1">
                <a:solidFill>
                  <a:srgbClr val="101214"/>
                </a:solidFill>
              </a:defRPr>
            </a:pPr>
            <a:r>
              <a:rPr sz="1275" b="1">
                <a:solidFill>
                  <a:srgbClr val="101214"/>
                </a:solidFill>
              </a:rPr>
              <a:t>Aryan Hiware H024</a:t>
            </a:r>
          </a:p>
          <a:p>
            <a:pPr algn="l">
              <a:defRPr sz="1275" b="1">
                <a:solidFill>
                  <a:srgbClr val="101214"/>
                </a:solidFill>
              </a:defRPr>
            </a:pPr>
            <a:r>
              <a:rPr sz="1275" b="1">
                <a:solidFill>
                  <a:srgbClr val="101214"/>
                </a:solidFill>
              </a:rPr>
              <a:t>Jerome Jose H029</a:t>
            </a:r>
          </a:p>
        </p:txBody>
      </p:sp>
      <p:sp>
        <p:nvSpPr>
          <p:cNvPr id="11" name="Rectangle: Rounded Corners 10">
            <a:extLst>
              <a:ext uri="{FF2B5EF4-FFF2-40B4-BE49-F238E27FC236}">
                <a16:creationId xmlns:a16="http://schemas.microsoft.com/office/drawing/2014/main" id="{17B7491A-9724-43D8-88C8-3FD4659B5F56}"/>
              </a:ext>
            </a:extLst>
          </p:cNvPr>
          <p:cNvSpPr>
            <a:spLocks noGrp="1"/>
          </p:cNvSpPr>
          <p:nvPr/>
        </p:nvSpPr>
        <p:spPr>
          <a:xfrm>
            <a:off x="8382000" y="1047750"/>
            <a:ext cx="3048000" cy="4171950"/>
          </a:xfrm>
          <a:prstGeom prst="roundRect">
            <a:avLst>
              <a:gd name="adj" fmla="val 2500"/>
            </a:avLst>
          </a:prstGeom>
          <a:solidFill>
            <a:srgbClr val="FFFFFF"/>
          </a:solidFill>
          <a:ln w="11430">
            <a:solidFill>
              <a:srgbClr val="101214"/>
            </a:solidFill>
            <a:prstDash val="solid"/>
          </a:ln>
        </p:spPr>
        <p:txBody>
          <a:bodyPr/>
          <a:lstStyle/>
          <a:p>
            <a:endParaRPr lang="en-IN"/>
          </a:p>
        </p:txBody>
      </p:sp>
      <p:sp>
        <p:nvSpPr>
          <p:cNvPr id="12" name="Rectangle 11">
            <a:extLst>
              <a:ext uri="{FF2B5EF4-FFF2-40B4-BE49-F238E27FC236}">
                <a16:creationId xmlns:a16="http://schemas.microsoft.com/office/drawing/2014/main" id="{CBFE5EC0-B2EC-4D49-B62D-3B89081F17A9}"/>
              </a:ext>
            </a:extLst>
          </p:cNvPr>
          <p:cNvSpPr>
            <a:spLocks noGrp="1"/>
          </p:cNvSpPr>
          <p:nvPr/>
        </p:nvSpPr>
        <p:spPr>
          <a:xfrm>
            <a:off x="8629650" y="1257300"/>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Project Snapshot</a:t>
            </a:r>
          </a:p>
        </p:txBody>
      </p:sp>
      <p:sp>
        <p:nvSpPr>
          <p:cNvPr id="13" name="Rectangle 12">
            <a:extLst>
              <a:ext uri="{FF2B5EF4-FFF2-40B4-BE49-F238E27FC236}">
                <a16:creationId xmlns:a16="http://schemas.microsoft.com/office/drawing/2014/main" id="{7B2EF580-FB07-4948-BFE4-C44333897715}"/>
              </a:ext>
            </a:extLst>
          </p:cNvPr>
          <p:cNvSpPr>
            <a:spLocks noGrp="1"/>
          </p:cNvSpPr>
          <p:nvPr/>
        </p:nvSpPr>
        <p:spPr>
          <a:xfrm>
            <a:off x="8629650" y="1638300"/>
            <a:ext cx="2381250" cy="1676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Robot model: 12 actuated joints</a:t>
            </a:r>
          </a:p>
          <a:p>
            <a:pPr algn="l">
              <a:defRPr sz="1200" b="0">
                <a:solidFill>
                  <a:srgbClr val="101214"/>
                </a:solidFill>
              </a:defRPr>
            </a:pPr>
            <a:r>
              <a:rPr sz="1200" b="0">
                <a:solidFill>
                  <a:srgbClr val="101214"/>
                </a:solidFill>
              </a:rPr>
              <a:t>• Per leg: hip yaw, hip roll, hip pitch, knee pitch, ankle pitch, ankle roll</a:t>
            </a:r>
          </a:p>
          <a:p>
            <a:pPr algn="l">
              <a:defRPr sz="1200" b="0">
                <a:solidFill>
                  <a:srgbClr val="101214"/>
                </a:solidFill>
              </a:defRPr>
            </a:pPr>
            <a:r>
              <a:rPr sz="1200" b="0">
                <a:solidFill>
                  <a:srgbClr val="101214"/>
                </a:solidFill>
              </a:rPr>
              <a:t>• Total mass from URDF: 5.956 kg</a:t>
            </a:r>
          </a:p>
          <a:p>
            <a:pPr algn="l">
              <a:defRPr sz="1200" b="0">
                <a:solidFill>
                  <a:srgbClr val="101214"/>
                </a:solidFill>
              </a:defRPr>
            </a:pPr>
            <a:r>
              <a:rPr sz="1200" b="0">
                <a:solidFill>
                  <a:srgbClr val="101214"/>
                </a:solidFill>
              </a:rPr>
              <a:t>• Simulation step: 1/240 s</a:t>
            </a:r>
          </a:p>
          <a:p>
            <a:pPr algn="l">
              <a:defRPr sz="1200" b="0">
                <a:solidFill>
                  <a:srgbClr val="101214"/>
                </a:solidFill>
              </a:defRPr>
            </a:pPr>
            <a:r>
              <a:rPr sz="1200" b="0">
                <a:solidFill>
                  <a:srgbClr val="101214"/>
                </a:solidFill>
              </a:rPr>
              <a:t>• Modeling basis: Euler-Lagrange, not Newtonian force balance</a:t>
            </a:r>
          </a:p>
        </p:txBody>
      </p:sp>
    </p:spTree>
    <p:extLst>
      <p:ext uri="{BB962C8B-B14F-4D97-AF65-F5344CB8AC3E}">
        <p14:creationId xmlns:p14="http://schemas.microsoft.com/office/powerpoint/2010/main" val="631573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34"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A671AFFE-79DD-4CA5-BAE5-BBFB01E70E38}"/>
              </a:ext>
            </a:extLst>
          </p:cNvPr>
          <p:cNvSpPr>
            <a:spLocks noGrp="1"/>
          </p:cNvSpPr>
          <p:nvPr/>
        </p:nvSpPr>
        <p:spPr>
          <a:xfrm>
            <a:off x="0" y="0"/>
            <a:ext cx="12192000" cy="6858000"/>
          </a:xfrm>
          <a:prstGeom prst="rect">
            <a:avLst/>
          </a:prstGeom>
          <a:solidFill>
            <a:srgbClr val="FFFFFF">
              <a:alpha val="72941"/>
            </a:srgbClr>
          </a:solidFill>
          <a:ln w="0">
            <a:solidFill>
              <a:srgbClr val="000000">
                <a:alpha val="0"/>
              </a:srgbClr>
            </a:solidFill>
            <a:prstDash val="solid"/>
          </a:ln>
        </p:spPr>
        <p:txBody>
          <a:bodyPr/>
          <a:lstStyle/>
          <a:p>
            <a:endParaRPr lang="en-IN"/>
          </a:p>
        </p:txBody>
      </p:sp>
      <p:sp>
        <p:nvSpPr>
          <p:cNvPr id="4" name="Rectangle 3">
            <a:extLst>
              <a:ext uri="{FF2B5EF4-FFF2-40B4-BE49-F238E27FC236}">
                <a16:creationId xmlns:a16="http://schemas.microsoft.com/office/drawing/2014/main" id="{29C4C3F1-BA68-4674-9A37-1C4D6B8C0100}"/>
              </a:ext>
            </a:extLst>
          </p:cNvPr>
          <p:cNvSpPr>
            <a:spLocks noGrp="1"/>
          </p:cNvSpPr>
          <p:nvPr/>
        </p:nvSpPr>
        <p:spPr>
          <a:xfrm>
            <a:off x="609600" y="323850"/>
            <a:ext cx="409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16B49"/>
                </a:solidFill>
              </a:defRPr>
            </a:pPr>
            <a:r>
              <a:rPr sz="975" b="1">
                <a:solidFill>
                  <a:srgbClr val="116B49"/>
                </a:solidFill>
              </a:rPr>
              <a:t>SECTION 01</a:t>
            </a:r>
          </a:p>
        </p:txBody>
      </p:sp>
      <p:sp>
        <p:nvSpPr>
          <p:cNvPr id="5" name="Rectangle 4">
            <a:extLst>
              <a:ext uri="{FF2B5EF4-FFF2-40B4-BE49-F238E27FC236}">
                <a16:creationId xmlns:a16="http://schemas.microsoft.com/office/drawing/2014/main" id="{482AEC21-A936-46DD-91C9-6B68E585F9C8}"/>
              </a:ext>
            </a:extLst>
          </p:cNvPr>
          <p:cNvSpPr>
            <a:spLocks noGrp="1"/>
          </p:cNvSpPr>
          <p:nvPr/>
        </p:nvSpPr>
        <p:spPr>
          <a:xfrm>
            <a:off x="10610850" y="32385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16B49"/>
                </a:solidFill>
              </a:defRPr>
            </a:pPr>
            <a:r>
              <a:rPr sz="975" b="1">
                <a:solidFill>
                  <a:srgbClr val="116B49"/>
                </a:solidFill>
              </a:rPr>
              <a:t>02 / 13</a:t>
            </a:r>
          </a:p>
        </p:txBody>
      </p:sp>
      <p:sp>
        <p:nvSpPr>
          <p:cNvPr id="6" name="Rectangle 5">
            <a:extLst>
              <a:ext uri="{FF2B5EF4-FFF2-40B4-BE49-F238E27FC236}">
                <a16:creationId xmlns:a16="http://schemas.microsoft.com/office/drawing/2014/main" id="{C175D3C5-79CF-4152-AC79-E4C560406799}"/>
              </a:ext>
            </a:extLst>
          </p:cNvPr>
          <p:cNvSpPr>
            <a:spLocks noGrp="1"/>
          </p:cNvSpPr>
          <p:nvPr/>
        </p:nvSpPr>
        <p:spPr>
          <a:xfrm>
            <a:off x="609600" y="609600"/>
            <a:ext cx="10972800" cy="19050"/>
          </a:xfrm>
          <a:prstGeom prst="rect">
            <a:avLst/>
          </a:prstGeom>
          <a:solidFill>
            <a:srgbClr val="101214"/>
          </a:solidFill>
          <a:ln w="0">
            <a:solidFill>
              <a:srgbClr val="000000">
                <a:alpha val="0"/>
              </a:srgbClr>
            </a:solidFill>
            <a:prstDash val="solid"/>
          </a:ln>
        </p:spPr>
        <p:txBody>
          <a:bodyPr/>
          <a:lstStyle/>
          <a:p>
            <a:endParaRPr lang="en-IN"/>
          </a:p>
        </p:txBody>
      </p:sp>
      <p:sp>
        <p:nvSpPr>
          <p:cNvPr id="7" name="Oval 6">
            <a:extLst>
              <a:ext uri="{FF2B5EF4-FFF2-40B4-BE49-F238E27FC236}">
                <a16:creationId xmlns:a16="http://schemas.microsoft.com/office/drawing/2014/main" id="{B918C20C-EE88-4E43-95EE-81B53332440C}"/>
              </a:ext>
            </a:extLst>
          </p:cNvPr>
          <p:cNvSpPr>
            <a:spLocks noGrp="1"/>
          </p:cNvSpPr>
          <p:nvPr/>
        </p:nvSpPr>
        <p:spPr>
          <a:xfrm>
            <a:off x="542925" y="542925"/>
            <a:ext cx="152400" cy="152400"/>
          </a:xfrm>
          <a:prstGeom prst="ellipse">
            <a:avLst/>
          </a:prstGeom>
          <a:solidFill>
            <a:srgbClr val="27C47D"/>
          </a:solidFill>
          <a:ln w="19050">
            <a:solidFill>
              <a:srgbClr val="101214"/>
            </a:solidFill>
            <a:prstDash val="solid"/>
          </a:ln>
        </p:spPr>
        <p:txBody>
          <a:bodyPr/>
          <a:lstStyle/>
          <a:p>
            <a:endParaRPr lang="en-IN"/>
          </a:p>
        </p:txBody>
      </p:sp>
      <p:sp>
        <p:nvSpPr>
          <p:cNvPr id="8" name="Rectangle 7">
            <a:extLst>
              <a:ext uri="{FF2B5EF4-FFF2-40B4-BE49-F238E27FC236}">
                <a16:creationId xmlns:a16="http://schemas.microsoft.com/office/drawing/2014/main" id="{2B7817B2-DCE6-4A74-9C6C-3ABB1F01A450}"/>
              </a:ext>
            </a:extLst>
          </p:cNvPr>
          <p:cNvSpPr>
            <a:spLocks noGrp="1"/>
          </p:cNvSpPr>
          <p:nvPr/>
        </p:nvSpPr>
        <p:spPr>
          <a:xfrm>
            <a:off x="609600" y="81915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01214"/>
                </a:solidFill>
              </a:defRPr>
            </a:pPr>
            <a:r>
              <a:rPr sz="2550" b="1">
                <a:solidFill>
                  <a:srgbClr val="101214"/>
                </a:solidFill>
              </a:rPr>
              <a:t>1. System Introduction &amp; Motivation</a:t>
            </a:r>
          </a:p>
        </p:txBody>
      </p:sp>
      <p:sp>
        <p:nvSpPr>
          <p:cNvPr id="9" name="Rectangle 8">
            <a:extLst>
              <a:ext uri="{FF2B5EF4-FFF2-40B4-BE49-F238E27FC236}">
                <a16:creationId xmlns:a16="http://schemas.microsoft.com/office/drawing/2014/main" id="{54482031-147D-456B-A51C-D809AA44B232}"/>
              </a:ext>
            </a:extLst>
          </p:cNvPr>
          <p:cNvSpPr>
            <a:spLocks noGrp="1"/>
          </p:cNvSpPr>
          <p:nvPr/>
        </p:nvSpPr>
        <p:spPr>
          <a:xfrm>
            <a:off x="628650" y="1619250"/>
            <a:ext cx="7239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30363A"/>
                </a:solidFill>
              </a:defRPr>
            </a:pPr>
            <a:r>
              <a:rPr sz="1350" b="0">
                <a:solidFill>
                  <a:srgbClr val="30363A"/>
                </a:solidFill>
              </a:rPr>
              <a:t>The project studies the lower-body dynamics of a simulated humanoid biped and focuses on analysis-ready outputs rather than animation alone.</a:t>
            </a:r>
          </a:p>
        </p:txBody>
      </p:sp>
      <p:sp>
        <p:nvSpPr>
          <p:cNvPr id="10" name="Rectangle: Rounded Corners 9">
            <a:extLst>
              <a:ext uri="{FF2B5EF4-FFF2-40B4-BE49-F238E27FC236}">
                <a16:creationId xmlns:a16="http://schemas.microsoft.com/office/drawing/2014/main" id="{6EDB2E55-261A-4F23-89B1-9EDC067E061C}"/>
              </a:ext>
            </a:extLst>
          </p:cNvPr>
          <p:cNvSpPr>
            <a:spLocks noGrp="1"/>
          </p:cNvSpPr>
          <p:nvPr/>
        </p:nvSpPr>
        <p:spPr>
          <a:xfrm>
            <a:off x="781050" y="2457450"/>
            <a:ext cx="3333750" cy="2381250"/>
          </a:xfrm>
          <a:prstGeom prst="roundRect">
            <a:avLst>
              <a:gd name="adj" fmla="val 3200"/>
            </a:avLst>
          </a:prstGeom>
          <a:solidFill>
            <a:srgbClr val="F7F4ED">
              <a:alpha val="96078"/>
            </a:srgbClr>
          </a:solidFill>
          <a:ln w="11430">
            <a:solidFill>
              <a:srgbClr val="101214"/>
            </a:solidFill>
            <a:prstDash val="solid"/>
          </a:ln>
        </p:spPr>
        <p:txBody>
          <a:bodyPr/>
          <a:lstStyle/>
          <a:p>
            <a:endParaRPr lang="en-IN"/>
          </a:p>
        </p:txBody>
      </p:sp>
      <p:sp>
        <p:nvSpPr>
          <p:cNvPr id="11" name="Rectangle 10">
            <a:extLst>
              <a:ext uri="{FF2B5EF4-FFF2-40B4-BE49-F238E27FC236}">
                <a16:creationId xmlns:a16="http://schemas.microsoft.com/office/drawing/2014/main" id="{996A17FD-48B3-4995-9445-A0180AE4E137}"/>
              </a:ext>
            </a:extLst>
          </p:cNvPr>
          <p:cNvSpPr>
            <a:spLocks noGrp="1"/>
          </p:cNvSpPr>
          <p:nvPr/>
        </p:nvSpPr>
        <p:spPr>
          <a:xfrm>
            <a:off x="781050" y="2457450"/>
            <a:ext cx="76200" cy="2381250"/>
          </a:xfrm>
          <a:prstGeom prst="rect">
            <a:avLst/>
          </a:prstGeom>
          <a:solidFill>
            <a:srgbClr val="27C47D"/>
          </a:solidFill>
          <a:ln w="0">
            <a:solidFill>
              <a:srgbClr val="000000">
                <a:alpha val="0"/>
              </a:srgbClr>
            </a:solidFill>
            <a:prstDash val="solid"/>
          </a:ln>
        </p:spPr>
        <p:txBody>
          <a:bodyPr/>
          <a:lstStyle/>
          <a:p>
            <a:endParaRPr lang="en-IN"/>
          </a:p>
        </p:txBody>
      </p:sp>
      <p:sp>
        <p:nvSpPr>
          <p:cNvPr id="12" name="Oval 11">
            <a:extLst>
              <a:ext uri="{FF2B5EF4-FFF2-40B4-BE49-F238E27FC236}">
                <a16:creationId xmlns:a16="http://schemas.microsoft.com/office/drawing/2014/main" id="{307345E6-3856-4998-98A7-CA86F5878BAD}"/>
              </a:ext>
            </a:extLst>
          </p:cNvPr>
          <p:cNvSpPr>
            <a:spLocks noGrp="1"/>
          </p:cNvSpPr>
          <p:nvPr/>
        </p:nvSpPr>
        <p:spPr>
          <a:xfrm>
            <a:off x="971550" y="2667000"/>
            <a:ext cx="514350" cy="514350"/>
          </a:xfrm>
          <a:prstGeom prst="ellipse">
            <a:avLst/>
          </a:prstGeom>
          <a:solidFill>
            <a:srgbClr val="F7F4ED">
              <a:alpha val="96078"/>
            </a:srgbClr>
          </a:solidFill>
          <a:ln w="11430">
            <a:solidFill>
              <a:srgbClr val="101214"/>
            </a:solidFill>
            <a:prstDash val="solid"/>
          </a:ln>
        </p:spPr>
        <p:txBody>
          <a:bodyPr/>
          <a:lstStyle/>
          <a:p>
            <a:endParaRPr lang="en-IN"/>
          </a:p>
        </p:txBody>
      </p:sp>
      <p:sp>
        <p:nvSpPr>
          <p:cNvPr id="13" name="Rectangle: Rounded Corners 12">
            <a:extLst>
              <a:ext uri="{FF2B5EF4-FFF2-40B4-BE49-F238E27FC236}">
                <a16:creationId xmlns:a16="http://schemas.microsoft.com/office/drawing/2014/main" id="{81082DD7-713A-4069-AA57-D8ADCFA9D42B}"/>
              </a:ext>
            </a:extLst>
          </p:cNvPr>
          <p:cNvSpPr>
            <a:spLocks noGrp="1"/>
          </p:cNvSpPr>
          <p:nvPr/>
        </p:nvSpPr>
        <p:spPr>
          <a:xfrm>
            <a:off x="1095375" y="2809875"/>
            <a:ext cx="247650" cy="123825"/>
          </a:xfrm>
          <a:prstGeom prst="roundRect">
            <a:avLst>
              <a:gd name="adj" fmla="val 50000"/>
            </a:avLst>
          </a:prstGeom>
          <a:solidFill>
            <a:srgbClr val="27C47D"/>
          </a:solidFill>
          <a:ln w="9525">
            <a:solidFill>
              <a:srgbClr val="101214"/>
            </a:solidFill>
            <a:prstDash val="solid"/>
          </a:ln>
        </p:spPr>
        <p:txBody>
          <a:bodyPr/>
          <a:lstStyle/>
          <a:p>
            <a:endParaRPr lang="en-IN"/>
          </a:p>
        </p:txBody>
      </p:sp>
      <p:sp>
        <p:nvSpPr>
          <p:cNvPr id="14" name="Rectangle: Rounded Corners 13">
            <a:extLst>
              <a:ext uri="{FF2B5EF4-FFF2-40B4-BE49-F238E27FC236}">
                <a16:creationId xmlns:a16="http://schemas.microsoft.com/office/drawing/2014/main" id="{E02C225B-7366-412E-996F-8C7AAA66D801}"/>
              </a:ext>
            </a:extLst>
          </p:cNvPr>
          <p:cNvSpPr>
            <a:spLocks noGrp="1"/>
          </p:cNvSpPr>
          <p:nvPr/>
        </p:nvSpPr>
        <p:spPr>
          <a:xfrm>
            <a:off x="1143000" y="2895600"/>
            <a:ext cx="247650" cy="123825"/>
          </a:xfrm>
          <a:prstGeom prst="roundRect">
            <a:avLst>
              <a:gd name="adj" fmla="val 50000"/>
            </a:avLst>
          </a:prstGeom>
          <a:solidFill>
            <a:srgbClr val="D7A83D"/>
          </a:solidFill>
          <a:ln w="9525">
            <a:solidFill>
              <a:srgbClr val="101214"/>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4B2ACF4A-F95B-4B20-9F28-B645A7935386}"/>
              </a:ext>
            </a:extLst>
          </p:cNvPr>
          <p:cNvSpPr>
            <a:spLocks noGrp="1"/>
          </p:cNvSpPr>
          <p:nvPr/>
        </p:nvSpPr>
        <p:spPr>
          <a:xfrm>
            <a:off x="1190625" y="2981325"/>
            <a:ext cx="190500" cy="95250"/>
          </a:xfrm>
          <a:prstGeom prst="roundRect">
            <a:avLst>
              <a:gd name="adj" fmla="val 50000"/>
            </a:avLst>
          </a:prstGeom>
          <a:solidFill>
            <a:srgbClr val="E86F5B"/>
          </a:solidFill>
          <a:ln w="9525">
            <a:solidFill>
              <a:srgbClr val="101214"/>
            </a:solidFill>
            <a:prstDash val="solid"/>
          </a:ln>
        </p:spPr>
        <p:txBody>
          <a:bodyPr/>
          <a:lstStyle/>
          <a:p>
            <a:endParaRPr lang="en-IN"/>
          </a:p>
        </p:txBody>
      </p:sp>
      <p:sp>
        <p:nvSpPr>
          <p:cNvPr id="16" name="Rectangle 15">
            <a:extLst>
              <a:ext uri="{FF2B5EF4-FFF2-40B4-BE49-F238E27FC236}">
                <a16:creationId xmlns:a16="http://schemas.microsoft.com/office/drawing/2014/main" id="{3E46D165-BE39-496F-8C36-E1B8A6D2DBD4}"/>
              </a:ext>
            </a:extLst>
          </p:cNvPr>
          <p:cNvSpPr>
            <a:spLocks noGrp="1"/>
          </p:cNvSpPr>
          <p:nvPr/>
        </p:nvSpPr>
        <p:spPr>
          <a:xfrm>
            <a:off x="1581150" y="2667000"/>
            <a:ext cx="2343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16B49"/>
                </a:solidFill>
              </a:defRPr>
            </a:pPr>
            <a:r>
              <a:rPr sz="1050" b="1">
                <a:solidFill>
                  <a:srgbClr val="116B49"/>
                </a:solidFill>
              </a:rPr>
              <a:t>System</a:t>
            </a:r>
          </a:p>
        </p:txBody>
      </p:sp>
      <p:sp>
        <p:nvSpPr>
          <p:cNvPr id="17" name="Rectangle 16">
            <a:extLst>
              <a:ext uri="{FF2B5EF4-FFF2-40B4-BE49-F238E27FC236}">
                <a16:creationId xmlns:a16="http://schemas.microsoft.com/office/drawing/2014/main" id="{0DDC7929-C269-4E6F-8AEF-0A3D355FA7B4}"/>
              </a:ext>
            </a:extLst>
          </p:cNvPr>
          <p:cNvSpPr>
            <a:spLocks noGrp="1"/>
          </p:cNvSpPr>
          <p:nvPr/>
        </p:nvSpPr>
        <p:spPr>
          <a:xfrm>
            <a:off x="1009650" y="3276600"/>
            <a:ext cx="287655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A PyBullet humanoid lower body is modeled from URDF link masses, inertias, and joint limits. Each leg carries six actuated joints, while the analysis groups behavior into Hip, Knee, and Ankle levels.</a:t>
            </a:r>
          </a:p>
        </p:txBody>
      </p:sp>
      <p:sp>
        <p:nvSpPr>
          <p:cNvPr id="18" name="Rectangle: Rounded Corners 17">
            <a:extLst>
              <a:ext uri="{FF2B5EF4-FFF2-40B4-BE49-F238E27FC236}">
                <a16:creationId xmlns:a16="http://schemas.microsoft.com/office/drawing/2014/main" id="{9E36388A-8346-41D7-B427-AC06C3E1CCC1}"/>
              </a:ext>
            </a:extLst>
          </p:cNvPr>
          <p:cNvSpPr>
            <a:spLocks noGrp="1"/>
          </p:cNvSpPr>
          <p:nvPr/>
        </p:nvSpPr>
        <p:spPr>
          <a:xfrm>
            <a:off x="4400550" y="2457450"/>
            <a:ext cx="3333750" cy="2381250"/>
          </a:xfrm>
          <a:prstGeom prst="roundRect">
            <a:avLst>
              <a:gd name="adj" fmla="val 3200"/>
            </a:avLst>
          </a:prstGeom>
          <a:solidFill>
            <a:srgbClr val="F7F4ED">
              <a:alpha val="96078"/>
            </a:srgbClr>
          </a:solidFill>
          <a:ln w="11430">
            <a:solidFill>
              <a:srgbClr val="101214"/>
            </a:solidFill>
            <a:prstDash val="solid"/>
          </a:ln>
        </p:spPr>
        <p:txBody>
          <a:bodyPr/>
          <a:lstStyle/>
          <a:p>
            <a:endParaRPr lang="en-IN"/>
          </a:p>
        </p:txBody>
      </p:sp>
      <p:sp>
        <p:nvSpPr>
          <p:cNvPr id="19" name="Rectangle 18">
            <a:extLst>
              <a:ext uri="{FF2B5EF4-FFF2-40B4-BE49-F238E27FC236}">
                <a16:creationId xmlns:a16="http://schemas.microsoft.com/office/drawing/2014/main" id="{C69F0317-B744-4DCB-A026-900E07C2807A}"/>
              </a:ext>
            </a:extLst>
          </p:cNvPr>
          <p:cNvSpPr>
            <a:spLocks noGrp="1"/>
          </p:cNvSpPr>
          <p:nvPr/>
        </p:nvSpPr>
        <p:spPr>
          <a:xfrm>
            <a:off x="4400550" y="2457450"/>
            <a:ext cx="76200" cy="2381250"/>
          </a:xfrm>
          <a:prstGeom prst="rect">
            <a:avLst/>
          </a:prstGeom>
          <a:solidFill>
            <a:srgbClr val="D7A83D"/>
          </a:solidFill>
          <a:ln w="0">
            <a:solidFill>
              <a:srgbClr val="000000">
                <a:alpha val="0"/>
              </a:srgbClr>
            </a:solidFill>
            <a:prstDash val="solid"/>
          </a:ln>
        </p:spPr>
        <p:txBody>
          <a:bodyPr/>
          <a:lstStyle/>
          <a:p>
            <a:endParaRPr lang="en-IN"/>
          </a:p>
        </p:txBody>
      </p:sp>
      <p:sp>
        <p:nvSpPr>
          <p:cNvPr id="20" name="Oval 19">
            <a:extLst>
              <a:ext uri="{FF2B5EF4-FFF2-40B4-BE49-F238E27FC236}">
                <a16:creationId xmlns:a16="http://schemas.microsoft.com/office/drawing/2014/main" id="{8C579A45-4873-4EF5-80F1-9AC4C1C88578}"/>
              </a:ext>
            </a:extLst>
          </p:cNvPr>
          <p:cNvSpPr>
            <a:spLocks noGrp="1"/>
          </p:cNvSpPr>
          <p:nvPr/>
        </p:nvSpPr>
        <p:spPr>
          <a:xfrm>
            <a:off x="4591050" y="2667000"/>
            <a:ext cx="514350" cy="514350"/>
          </a:xfrm>
          <a:prstGeom prst="ellipse">
            <a:avLst/>
          </a:prstGeom>
          <a:solidFill>
            <a:srgbClr val="F7F4ED">
              <a:alpha val="96078"/>
            </a:srgbClr>
          </a:solidFill>
          <a:ln w="11430">
            <a:solidFill>
              <a:srgbClr val="101214"/>
            </a:solidFill>
            <a:prstDash val="solid"/>
          </a:ln>
        </p:spPr>
        <p:txBody>
          <a:bodyPr/>
          <a:lstStyle/>
          <a:p>
            <a:endParaRPr lang="en-IN"/>
          </a:p>
        </p:txBody>
      </p:sp>
      <p:sp>
        <p:nvSpPr>
          <p:cNvPr id="21" name="Rectangle 20">
            <a:extLst>
              <a:ext uri="{FF2B5EF4-FFF2-40B4-BE49-F238E27FC236}">
                <a16:creationId xmlns:a16="http://schemas.microsoft.com/office/drawing/2014/main" id="{FF941F6E-DDA5-4005-A8A0-F98A11C25AFD}"/>
              </a:ext>
            </a:extLst>
          </p:cNvPr>
          <p:cNvSpPr>
            <a:spLocks noGrp="1"/>
          </p:cNvSpPr>
          <p:nvPr/>
        </p:nvSpPr>
        <p:spPr>
          <a:xfrm>
            <a:off x="4743450" y="2943225"/>
            <a:ext cx="57150" cy="114300"/>
          </a:xfrm>
          <a:prstGeom prst="rect">
            <a:avLst/>
          </a:prstGeom>
          <a:solidFill>
            <a:srgbClr val="D7A83D"/>
          </a:solidFill>
          <a:ln w="0">
            <a:solidFill>
              <a:srgbClr val="000000">
                <a:alpha val="0"/>
              </a:srgbClr>
            </a:solidFill>
            <a:prstDash val="solid"/>
          </a:ln>
        </p:spPr>
        <p:txBody>
          <a:bodyPr/>
          <a:lstStyle/>
          <a:p>
            <a:endParaRPr lang="en-IN"/>
          </a:p>
        </p:txBody>
      </p:sp>
      <p:sp>
        <p:nvSpPr>
          <p:cNvPr id="22" name="Rectangle 21">
            <a:extLst>
              <a:ext uri="{FF2B5EF4-FFF2-40B4-BE49-F238E27FC236}">
                <a16:creationId xmlns:a16="http://schemas.microsoft.com/office/drawing/2014/main" id="{C2B5E66D-BF3A-499D-95E6-71CAD32E047E}"/>
              </a:ext>
            </a:extLst>
          </p:cNvPr>
          <p:cNvSpPr>
            <a:spLocks noGrp="1"/>
          </p:cNvSpPr>
          <p:nvPr/>
        </p:nvSpPr>
        <p:spPr>
          <a:xfrm>
            <a:off x="4829175" y="2867025"/>
            <a:ext cx="57150" cy="190500"/>
          </a:xfrm>
          <a:prstGeom prst="rect">
            <a:avLst/>
          </a:prstGeom>
          <a:solidFill>
            <a:srgbClr val="D7A83D"/>
          </a:solidFill>
          <a:ln w="0">
            <a:solidFill>
              <a:srgbClr val="000000">
                <a:alpha val="0"/>
              </a:srgbClr>
            </a:solidFill>
            <a:prstDash val="solid"/>
          </a:ln>
        </p:spPr>
        <p:txBody>
          <a:bodyPr/>
          <a:lstStyle/>
          <a:p>
            <a:endParaRPr lang="en-IN"/>
          </a:p>
        </p:txBody>
      </p:sp>
      <p:sp>
        <p:nvSpPr>
          <p:cNvPr id="23" name="Rectangle 22">
            <a:extLst>
              <a:ext uri="{FF2B5EF4-FFF2-40B4-BE49-F238E27FC236}">
                <a16:creationId xmlns:a16="http://schemas.microsoft.com/office/drawing/2014/main" id="{8FDDE7C3-C8FD-4EC0-922F-5047725ACFB9}"/>
              </a:ext>
            </a:extLst>
          </p:cNvPr>
          <p:cNvSpPr>
            <a:spLocks noGrp="1"/>
          </p:cNvSpPr>
          <p:nvPr/>
        </p:nvSpPr>
        <p:spPr>
          <a:xfrm>
            <a:off x="4914900" y="2800350"/>
            <a:ext cx="57150" cy="257175"/>
          </a:xfrm>
          <a:prstGeom prst="rect">
            <a:avLst/>
          </a:prstGeom>
          <a:solidFill>
            <a:srgbClr val="D7A83D"/>
          </a:solidFill>
          <a:ln w="0">
            <a:solidFill>
              <a:srgbClr val="000000">
                <a:alpha val="0"/>
              </a:srgbClr>
            </a:solidFill>
            <a:prstDash val="solid"/>
          </a:ln>
        </p:spPr>
        <p:txBody>
          <a:bodyPr/>
          <a:lstStyle/>
          <a:p>
            <a:endParaRPr lang="en-IN"/>
          </a:p>
        </p:txBody>
      </p:sp>
      <p:sp>
        <p:nvSpPr>
          <p:cNvPr id="24" name="Rectangle 23">
            <a:extLst>
              <a:ext uri="{FF2B5EF4-FFF2-40B4-BE49-F238E27FC236}">
                <a16:creationId xmlns:a16="http://schemas.microsoft.com/office/drawing/2014/main" id="{7EC5AB3F-6E58-4D9A-BF2E-1A1DAC491FA5}"/>
              </a:ext>
            </a:extLst>
          </p:cNvPr>
          <p:cNvSpPr>
            <a:spLocks noGrp="1"/>
          </p:cNvSpPr>
          <p:nvPr/>
        </p:nvSpPr>
        <p:spPr>
          <a:xfrm>
            <a:off x="5200650" y="2667000"/>
            <a:ext cx="2343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16B49"/>
                </a:solidFill>
              </a:defRPr>
            </a:pPr>
            <a:r>
              <a:rPr sz="1050" b="1">
                <a:solidFill>
                  <a:srgbClr val="116B49"/>
                </a:solidFill>
              </a:rPr>
              <a:t>Motivation</a:t>
            </a:r>
          </a:p>
        </p:txBody>
      </p:sp>
      <p:sp>
        <p:nvSpPr>
          <p:cNvPr id="25" name="Rectangle 24">
            <a:extLst>
              <a:ext uri="{FF2B5EF4-FFF2-40B4-BE49-F238E27FC236}">
                <a16:creationId xmlns:a16="http://schemas.microsoft.com/office/drawing/2014/main" id="{2F06FEF7-6971-441D-A1CE-AD1BE6B0663C}"/>
              </a:ext>
            </a:extLst>
          </p:cNvPr>
          <p:cNvSpPr>
            <a:spLocks noGrp="1"/>
          </p:cNvSpPr>
          <p:nvPr/>
        </p:nvSpPr>
        <p:spPr>
          <a:xfrm>
            <a:off x="4629150" y="3276600"/>
            <a:ext cx="287655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Dynamic systems analysis needs measurable signals such as GRF, joint stress proxies, angles, torques, and energies. The project turns the simulator into a repeatable validation environment for those signals.</a:t>
            </a:r>
          </a:p>
        </p:txBody>
      </p:sp>
      <p:sp>
        <p:nvSpPr>
          <p:cNvPr id="26" name="Rectangle: Rounded Corners 25">
            <a:extLst>
              <a:ext uri="{FF2B5EF4-FFF2-40B4-BE49-F238E27FC236}">
                <a16:creationId xmlns:a16="http://schemas.microsoft.com/office/drawing/2014/main" id="{9DF6DB91-6523-48F5-9201-9C5BD40DA092}"/>
              </a:ext>
            </a:extLst>
          </p:cNvPr>
          <p:cNvSpPr>
            <a:spLocks noGrp="1"/>
          </p:cNvSpPr>
          <p:nvPr/>
        </p:nvSpPr>
        <p:spPr>
          <a:xfrm>
            <a:off x="8020050" y="2457450"/>
            <a:ext cx="3390900" cy="2381250"/>
          </a:xfrm>
          <a:prstGeom prst="roundRect">
            <a:avLst>
              <a:gd name="adj" fmla="val 3200"/>
            </a:avLst>
          </a:prstGeom>
          <a:solidFill>
            <a:srgbClr val="F7F4ED">
              <a:alpha val="96078"/>
            </a:srgbClr>
          </a:solidFill>
          <a:ln w="11430">
            <a:solidFill>
              <a:srgbClr val="101214"/>
            </a:solidFill>
            <a:prstDash val="solid"/>
          </a:ln>
        </p:spPr>
        <p:txBody>
          <a:bodyPr/>
          <a:lstStyle/>
          <a:p>
            <a:endParaRPr lang="en-IN"/>
          </a:p>
        </p:txBody>
      </p:sp>
      <p:sp>
        <p:nvSpPr>
          <p:cNvPr id="27" name="Rectangle 26">
            <a:extLst>
              <a:ext uri="{FF2B5EF4-FFF2-40B4-BE49-F238E27FC236}">
                <a16:creationId xmlns:a16="http://schemas.microsoft.com/office/drawing/2014/main" id="{A0B5F62A-722B-4541-ACBA-183DE0C4FDB9}"/>
              </a:ext>
            </a:extLst>
          </p:cNvPr>
          <p:cNvSpPr>
            <a:spLocks noGrp="1"/>
          </p:cNvSpPr>
          <p:nvPr/>
        </p:nvSpPr>
        <p:spPr>
          <a:xfrm>
            <a:off x="8020050" y="2457450"/>
            <a:ext cx="76200" cy="2381250"/>
          </a:xfrm>
          <a:prstGeom prst="rect">
            <a:avLst/>
          </a:prstGeom>
          <a:solidFill>
            <a:srgbClr val="E86F5B"/>
          </a:solidFill>
          <a:ln w="0">
            <a:solidFill>
              <a:srgbClr val="000000">
                <a:alpha val="0"/>
              </a:srgbClr>
            </a:solidFill>
            <a:prstDash val="solid"/>
          </a:ln>
        </p:spPr>
        <p:txBody>
          <a:bodyPr/>
          <a:lstStyle/>
          <a:p>
            <a:endParaRPr lang="en-IN"/>
          </a:p>
        </p:txBody>
      </p:sp>
      <p:sp>
        <p:nvSpPr>
          <p:cNvPr id="28" name="Oval 27">
            <a:extLst>
              <a:ext uri="{FF2B5EF4-FFF2-40B4-BE49-F238E27FC236}">
                <a16:creationId xmlns:a16="http://schemas.microsoft.com/office/drawing/2014/main" id="{7D45011F-C7A9-45C7-B77D-CEFA94AA265E}"/>
              </a:ext>
            </a:extLst>
          </p:cNvPr>
          <p:cNvSpPr>
            <a:spLocks noGrp="1"/>
          </p:cNvSpPr>
          <p:nvPr/>
        </p:nvSpPr>
        <p:spPr>
          <a:xfrm>
            <a:off x="8210550" y="2667000"/>
            <a:ext cx="514350" cy="514350"/>
          </a:xfrm>
          <a:prstGeom prst="ellipse">
            <a:avLst/>
          </a:prstGeom>
          <a:solidFill>
            <a:srgbClr val="F7F4ED">
              <a:alpha val="96078"/>
            </a:srgbClr>
          </a:solidFill>
          <a:ln w="11430">
            <a:solidFill>
              <a:srgbClr val="101214"/>
            </a:solidFill>
            <a:prstDash val="solid"/>
          </a:ln>
        </p:spPr>
        <p:txBody>
          <a:bodyPr/>
          <a:lstStyle/>
          <a:p>
            <a:endParaRPr lang="en-IN"/>
          </a:p>
        </p:txBody>
      </p:sp>
      <p:sp>
        <p:nvSpPr>
          <p:cNvPr id="29" name="Oval 28">
            <a:extLst>
              <a:ext uri="{FF2B5EF4-FFF2-40B4-BE49-F238E27FC236}">
                <a16:creationId xmlns:a16="http://schemas.microsoft.com/office/drawing/2014/main" id="{2457630E-9F5E-4166-A7A0-44A08BB420DE}"/>
              </a:ext>
            </a:extLst>
          </p:cNvPr>
          <p:cNvSpPr>
            <a:spLocks noGrp="1"/>
          </p:cNvSpPr>
          <p:nvPr/>
        </p:nvSpPr>
        <p:spPr>
          <a:xfrm>
            <a:off x="8334375" y="2838450"/>
            <a:ext cx="95250" cy="95250"/>
          </a:xfrm>
          <a:prstGeom prst="ellipse">
            <a:avLst/>
          </a:prstGeom>
          <a:solidFill>
            <a:srgbClr val="E86F5B"/>
          </a:solidFill>
          <a:ln w="9525">
            <a:solidFill>
              <a:srgbClr val="101214"/>
            </a:solidFill>
            <a:prstDash val="solid"/>
          </a:ln>
        </p:spPr>
        <p:txBody>
          <a:bodyPr/>
          <a:lstStyle/>
          <a:p>
            <a:endParaRPr lang="en-IN"/>
          </a:p>
        </p:txBody>
      </p:sp>
      <p:sp>
        <p:nvSpPr>
          <p:cNvPr id="30" name="Oval 29">
            <a:extLst>
              <a:ext uri="{FF2B5EF4-FFF2-40B4-BE49-F238E27FC236}">
                <a16:creationId xmlns:a16="http://schemas.microsoft.com/office/drawing/2014/main" id="{E9957A85-FE29-4747-BB17-4C08DD4A0815}"/>
              </a:ext>
            </a:extLst>
          </p:cNvPr>
          <p:cNvSpPr>
            <a:spLocks noGrp="1"/>
          </p:cNvSpPr>
          <p:nvPr/>
        </p:nvSpPr>
        <p:spPr>
          <a:xfrm>
            <a:off x="8505825" y="2924175"/>
            <a:ext cx="95250" cy="95250"/>
          </a:xfrm>
          <a:prstGeom prst="ellipse">
            <a:avLst/>
          </a:prstGeom>
          <a:solidFill>
            <a:srgbClr val="E86F5B"/>
          </a:solidFill>
          <a:ln w="9525">
            <a:solidFill>
              <a:srgbClr val="101214"/>
            </a:solidFill>
            <a:prstDash val="solid"/>
          </a:ln>
        </p:spPr>
        <p:txBody>
          <a:bodyPr/>
          <a:lstStyle/>
          <a:p>
            <a:endParaRPr lang="en-IN"/>
          </a:p>
        </p:txBody>
      </p:sp>
      <p:sp>
        <p:nvSpPr>
          <p:cNvPr id="31" name="Rectangle 30">
            <a:extLst>
              <a:ext uri="{FF2B5EF4-FFF2-40B4-BE49-F238E27FC236}">
                <a16:creationId xmlns:a16="http://schemas.microsoft.com/office/drawing/2014/main" id="{EFEF9C0A-0ADA-4B9C-AB1D-40D400C66F71}"/>
              </a:ext>
            </a:extLst>
          </p:cNvPr>
          <p:cNvSpPr>
            <a:spLocks noGrp="1"/>
          </p:cNvSpPr>
          <p:nvPr/>
        </p:nvSpPr>
        <p:spPr>
          <a:xfrm>
            <a:off x="8420100" y="2905125"/>
            <a:ext cx="180975" cy="28575"/>
          </a:xfrm>
          <a:prstGeom prst="rect">
            <a:avLst/>
          </a:prstGeom>
          <a:solidFill>
            <a:srgbClr val="101214"/>
          </a:solidFill>
          <a:ln w="0">
            <a:solidFill>
              <a:srgbClr val="000000">
                <a:alpha val="0"/>
              </a:srgbClr>
            </a:solidFill>
            <a:prstDash val="solid"/>
          </a:ln>
        </p:spPr>
        <p:txBody>
          <a:bodyPr/>
          <a:lstStyle/>
          <a:p>
            <a:endParaRPr lang="en-IN"/>
          </a:p>
        </p:txBody>
      </p:sp>
      <p:sp>
        <p:nvSpPr>
          <p:cNvPr id="32" name="Rectangle 31">
            <a:extLst>
              <a:ext uri="{FF2B5EF4-FFF2-40B4-BE49-F238E27FC236}">
                <a16:creationId xmlns:a16="http://schemas.microsoft.com/office/drawing/2014/main" id="{565CFD86-3EC9-42BC-A754-3C1303AB788D}"/>
              </a:ext>
            </a:extLst>
          </p:cNvPr>
          <p:cNvSpPr>
            <a:spLocks noGrp="1"/>
          </p:cNvSpPr>
          <p:nvPr/>
        </p:nvSpPr>
        <p:spPr>
          <a:xfrm>
            <a:off x="8820150" y="2667000"/>
            <a:ext cx="2400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16B49"/>
                </a:solidFill>
              </a:defRPr>
            </a:pPr>
            <a:r>
              <a:rPr sz="1050" b="1">
                <a:solidFill>
                  <a:srgbClr val="116B49"/>
                </a:solidFill>
              </a:rPr>
              <a:t>Outcome</a:t>
            </a:r>
          </a:p>
        </p:txBody>
      </p:sp>
      <p:sp>
        <p:nvSpPr>
          <p:cNvPr id="33" name="Rectangle 32">
            <a:extLst>
              <a:ext uri="{FF2B5EF4-FFF2-40B4-BE49-F238E27FC236}">
                <a16:creationId xmlns:a16="http://schemas.microsoft.com/office/drawing/2014/main" id="{EC61406D-AA08-40B4-BBC5-78FB8C2CD971}"/>
              </a:ext>
            </a:extLst>
          </p:cNvPr>
          <p:cNvSpPr>
            <a:spLocks noGrp="1"/>
          </p:cNvSpPr>
          <p:nvPr/>
        </p:nvSpPr>
        <p:spPr>
          <a:xfrm>
            <a:off x="8248650" y="3276600"/>
            <a:ext cx="29337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Instead of only watching the robot move, we collect and save plots for walk, squat, jump without twist, and jump with twist. Those plots are then used to validate trends against the Euler-Lagrange model.</a:t>
            </a:r>
          </a:p>
        </p:txBody>
      </p:sp>
    </p:spTree>
    <p:extLst>
      <p:ext uri="{BB962C8B-B14F-4D97-AF65-F5344CB8AC3E}">
        <p14:creationId xmlns:p14="http://schemas.microsoft.com/office/powerpoint/2010/main" val="417858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33"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56761D82-0118-45E6-B66C-4D8D0F77C038}"/>
              </a:ext>
            </a:extLst>
          </p:cNvPr>
          <p:cNvSpPr>
            <a:spLocks noGrp="1"/>
          </p:cNvSpPr>
          <p:nvPr/>
        </p:nvSpPr>
        <p:spPr>
          <a:xfrm>
            <a:off x="0" y="0"/>
            <a:ext cx="12192000" cy="6858000"/>
          </a:xfrm>
          <a:prstGeom prst="rect">
            <a:avLst/>
          </a:prstGeom>
          <a:solidFill>
            <a:srgbClr val="FFFFFF">
              <a:alpha val="72941"/>
            </a:srgbClr>
          </a:solidFill>
          <a:ln w="0">
            <a:solidFill>
              <a:srgbClr val="000000">
                <a:alpha val="0"/>
              </a:srgbClr>
            </a:solidFill>
            <a:prstDash val="solid"/>
          </a:ln>
        </p:spPr>
        <p:txBody>
          <a:bodyPr/>
          <a:lstStyle/>
          <a:p>
            <a:endParaRPr lang="en-IN"/>
          </a:p>
        </p:txBody>
      </p:sp>
      <p:sp>
        <p:nvSpPr>
          <p:cNvPr id="4" name="Rectangle 3">
            <a:extLst>
              <a:ext uri="{FF2B5EF4-FFF2-40B4-BE49-F238E27FC236}">
                <a16:creationId xmlns:a16="http://schemas.microsoft.com/office/drawing/2014/main" id="{8052759A-3C3F-4FC9-9019-E5499D27C19F}"/>
              </a:ext>
            </a:extLst>
          </p:cNvPr>
          <p:cNvSpPr>
            <a:spLocks noGrp="1"/>
          </p:cNvSpPr>
          <p:nvPr/>
        </p:nvSpPr>
        <p:spPr>
          <a:xfrm>
            <a:off x="609600" y="323850"/>
            <a:ext cx="409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16B49"/>
                </a:solidFill>
              </a:defRPr>
            </a:pPr>
            <a:r>
              <a:rPr sz="975" b="1">
                <a:solidFill>
                  <a:srgbClr val="116B49"/>
                </a:solidFill>
              </a:rPr>
              <a:t>SECTION 02</a:t>
            </a:r>
          </a:p>
        </p:txBody>
      </p:sp>
      <p:sp>
        <p:nvSpPr>
          <p:cNvPr id="5" name="Rectangle 4">
            <a:extLst>
              <a:ext uri="{FF2B5EF4-FFF2-40B4-BE49-F238E27FC236}">
                <a16:creationId xmlns:a16="http://schemas.microsoft.com/office/drawing/2014/main" id="{CDE7AA7A-7FB9-4A4E-A8F9-A30F0BDFEB25}"/>
              </a:ext>
            </a:extLst>
          </p:cNvPr>
          <p:cNvSpPr>
            <a:spLocks noGrp="1"/>
          </p:cNvSpPr>
          <p:nvPr/>
        </p:nvSpPr>
        <p:spPr>
          <a:xfrm>
            <a:off x="10610850" y="32385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16B49"/>
                </a:solidFill>
              </a:defRPr>
            </a:pPr>
            <a:r>
              <a:rPr sz="975" b="1">
                <a:solidFill>
                  <a:srgbClr val="116B49"/>
                </a:solidFill>
              </a:rPr>
              <a:t>03 / 13</a:t>
            </a:r>
          </a:p>
        </p:txBody>
      </p:sp>
      <p:sp>
        <p:nvSpPr>
          <p:cNvPr id="6" name="Rectangle 5">
            <a:extLst>
              <a:ext uri="{FF2B5EF4-FFF2-40B4-BE49-F238E27FC236}">
                <a16:creationId xmlns:a16="http://schemas.microsoft.com/office/drawing/2014/main" id="{E885EBD7-EAB4-481D-A699-7E1F3EBAD3A0}"/>
              </a:ext>
            </a:extLst>
          </p:cNvPr>
          <p:cNvSpPr>
            <a:spLocks noGrp="1"/>
          </p:cNvSpPr>
          <p:nvPr/>
        </p:nvSpPr>
        <p:spPr>
          <a:xfrm>
            <a:off x="609600" y="609600"/>
            <a:ext cx="10972800" cy="19050"/>
          </a:xfrm>
          <a:prstGeom prst="rect">
            <a:avLst/>
          </a:prstGeom>
          <a:solidFill>
            <a:srgbClr val="101214"/>
          </a:solidFill>
          <a:ln w="0">
            <a:solidFill>
              <a:srgbClr val="000000">
                <a:alpha val="0"/>
              </a:srgbClr>
            </a:solidFill>
            <a:prstDash val="solid"/>
          </a:ln>
        </p:spPr>
        <p:txBody>
          <a:bodyPr/>
          <a:lstStyle/>
          <a:p>
            <a:endParaRPr lang="en-IN"/>
          </a:p>
        </p:txBody>
      </p:sp>
      <p:sp>
        <p:nvSpPr>
          <p:cNvPr id="7" name="Oval 6">
            <a:extLst>
              <a:ext uri="{FF2B5EF4-FFF2-40B4-BE49-F238E27FC236}">
                <a16:creationId xmlns:a16="http://schemas.microsoft.com/office/drawing/2014/main" id="{B5CA74D7-2976-4CCE-A3DE-0432F52A64F5}"/>
              </a:ext>
            </a:extLst>
          </p:cNvPr>
          <p:cNvSpPr>
            <a:spLocks noGrp="1"/>
          </p:cNvSpPr>
          <p:nvPr/>
        </p:nvSpPr>
        <p:spPr>
          <a:xfrm>
            <a:off x="542925" y="542925"/>
            <a:ext cx="152400" cy="152400"/>
          </a:xfrm>
          <a:prstGeom prst="ellipse">
            <a:avLst/>
          </a:prstGeom>
          <a:solidFill>
            <a:srgbClr val="27C47D"/>
          </a:solidFill>
          <a:ln w="19050">
            <a:solidFill>
              <a:srgbClr val="101214"/>
            </a:solidFill>
            <a:prstDash val="solid"/>
          </a:ln>
        </p:spPr>
        <p:txBody>
          <a:bodyPr/>
          <a:lstStyle/>
          <a:p>
            <a:endParaRPr lang="en-IN"/>
          </a:p>
        </p:txBody>
      </p:sp>
      <p:sp>
        <p:nvSpPr>
          <p:cNvPr id="8" name="Rectangle 7">
            <a:extLst>
              <a:ext uri="{FF2B5EF4-FFF2-40B4-BE49-F238E27FC236}">
                <a16:creationId xmlns:a16="http://schemas.microsoft.com/office/drawing/2014/main" id="{440325F2-2BCC-419B-8924-F094E1EBF7B4}"/>
              </a:ext>
            </a:extLst>
          </p:cNvPr>
          <p:cNvSpPr>
            <a:spLocks noGrp="1"/>
          </p:cNvSpPr>
          <p:nvPr/>
        </p:nvSpPr>
        <p:spPr>
          <a:xfrm>
            <a:off x="609600" y="81915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01214"/>
                </a:solidFill>
              </a:defRPr>
            </a:pPr>
            <a:r>
              <a:rPr sz="2550" b="1">
                <a:solidFill>
                  <a:srgbClr val="101214"/>
                </a:solidFill>
              </a:rPr>
              <a:t>2. Problem Formulation &amp; Assumptions</a:t>
            </a:r>
          </a:p>
        </p:txBody>
      </p:sp>
      <p:sp>
        <p:nvSpPr>
          <p:cNvPr id="9" name="Rectangle 8">
            <a:extLst>
              <a:ext uri="{FF2B5EF4-FFF2-40B4-BE49-F238E27FC236}">
                <a16:creationId xmlns:a16="http://schemas.microsoft.com/office/drawing/2014/main" id="{5E7DFDE6-F0BD-4833-97FC-58BA2F51BC15}"/>
              </a:ext>
            </a:extLst>
          </p:cNvPr>
          <p:cNvSpPr>
            <a:spLocks noGrp="1"/>
          </p:cNvSpPr>
          <p:nvPr/>
        </p:nvSpPr>
        <p:spPr>
          <a:xfrm>
            <a:off x="628650" y="1619250"/>
            <a:ext cx="7239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30363A"/>
                </a:solidFill>
              </a:defRPr>
            </a:pPr>
            <a:r>
              <a:rPr sz="1350" b="0">
                <a:solidFill>
                  <a:srgbClr val="30363A"/>
                </a:solidFill>
              </a:rPr>
              <a:t>The model combines a detailed URDF robot with grouped validation channels so that the simulation remains interpretable at the report level.</a:t>
            </a:r>
          </a:p>
        </p:txBody>
      </p:sp>
      <p:sp>
        <p:nvSpPr>
          <p:cNvPr id="10" name="Rectangle: Rounded Corners 9">
            <a:extLst>
              <a:ext uri="{FF2B5EF4-FFF2-40B4-BE49-F238E27FC236}">
                <a16:creationId xmlns:a16="http://schemas.microsoft.com/office/drawing/2014/main" id="{88A40B24-EF8B-40CF-BEEF-AE717501B7D5}"/>
              </a:ext>
            </a:extLst>
          </p:cNvPr>
          <p:cNvSpPr>
            <a:spLocks noGrp="1"/>
          </p:cNvSpPr>
          <p:nvPr/>
        </p:nvSpPr>
        <p:spPr>
          <a:xfrm>
            <a:off x="781050" y="2362200"/>
            <a:ext cx="5143500" cy="3048000"/>
          </a:xfrm>
          <a:prstGeom prst="roundRect">
            <a:avLst>
              <a:gd name="adj" fmla="val 2500"/>
            </a:avLst>
          </a:prstGeom>
          <a:solidFill>
            <a:srgbClr val="FFFFFF"/>
          </a:solidFill>
          <a:ln w="11430">
            <a:solidFill>
              <a:srgbClr val="101214"/>
            </a:solidFill>
            <a:prstDash val="solid"/>
          </a:ln>
        </p:spPr>
        <p:txBody>
          <a:bodyPr/>
          <a:lstStyle/>
          <a:p>
            <a:endParaRPr lang="en-IN"/>
          </a:p>
        </p:txBody>
      </p:sp>
      <p:sp>
        <p:nvSpPr>
          <p:cNvPr id="11" name="Rectangle 10">
            <a:extLst>
              <a:ext uri="{FF2B5EF4-FFF2-40B4-BE49-F238E27FC236}">
                <a16:creationId xmlns:a16="http://schemas.microsoft.com/office/drawing/2014/main" id="{4809B669-6D6A-4AE3-8FCB-A59D95FB9211}"/>
              </a:ext>
            </a:extLst>
          </p:cNvPr>
          <p:cNvSpPr>
            <a:spLocks noGrp="1"/>
          </p:cNvSpPr>
          <p:nvPr/>
        </p:nvSpPr>
        <p:spPr>
          <a:xfrm>
            <a:off x="781050" y="2362200"/>
            <a:ext cx="5143500" cy="57150"/>
          </a:xfrm>
          <a:prstGeom prst="rect">
            <a:avLst/>
          </a:prstGeom>
          <a:solidFill>
            <a:srgbClr val="27C47D"/>
          </a:solidFill>
          <a:ln w="0">
            <a:solidFill>
              <a:srgbClr val="000000">
                <a:alpha val="0"/>
              </a:srgbClr>
            </a:solidFill>
            <a:prstDash val="solid"/>
          </a:ln>
        </p:spPr>
        <p:txBody>
          <a:bodyPr/>
          <a:lstStyle/>
          <a:p>
            <a:endParaRPr lang="en-IN"/>
          </a:p>
        </p:txBody>
      </p:sp>
      <p:sp>
        <p:nvSpPr>
          <p:cNvPr id="12" name="Rectangle 11">
            <a:extLst>
              <a:ext uri="{FF2B5EF4-FFF2-40B4-BE49-F238E27FC236}">
                <a16:creationId xmlns:a16="http://schemas.microsoft.com/office/drawing/2014/main" id="{E8E3ACF8-3737-40AC-84A2-FE8FE830D694}"/>
              </a:ext>
            </a:extLst>
          </p:cNvPr>
          <p:cNvSpPr>
            <a:spLocks noGrp="1"/>
          </p:cNvSpPr>
          <p:nvPr/>
        </p:nvSpPr>
        <p:spPr>
          <a:xfrm>
            <a:off x="990600" y="2533650"/>
            <a:ext cx="4724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Formulation</a:t>
            </a:r>
          </a:p>
        </p:txBody>
      </p:sp>
      <p:sp>
        <p:nvSpPr>
          <p:cNvPr id="13" name="Rectangle 12">
            <a:extLst>
              <a:ext uri="{FF2B5EF4-FFF2-40B4-BE49-F238E27FC236}">
                <a16:creationId xmlns:a16="http://schemas.microsoft.com/office/drawing/2014/main" id="{6AEBDBD8-70A6-41B9-A342-0C3F8406E01A}"/>
              </a:ext>
            </a:extLst>
          </p:cNvPr>
          <p:cNvSpPr>
            <a:spLocks noGrp="1"/>
          </p:cNvSpPr>
          <p:nvPr/>
        </p:nvSpPr>
        <p:spPr>
          <a:xfrm>
            <a:off x="990600" y="2895600"/>
            <a:ext cx="4724400" cy="2362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Generalized coordinates are taken from the biped joint coordinates, with one leg often represented by q = [q1 ... q6]^T for derivation.</a:t>
            </a:r>
          </a:p>
          <a:p>
            <a:pPr algn="l">
              <a:defRPr sz="1200" b="0">
                <a:solidFill>
                  <a:srgbClr val="101214"/>
                </a:solidFill>
              </a:defRPr>
            </a:pPr>
            <a:r>
              <a:rPr sz="1200" b="0">
                <a:solidFill>
                  <a:srgbClr val="101214"/>
                </a:solidFill>
              </a:rPr>
              <a:t>• Dynamic behavior is analyzed through total ground reaction force, joint stress proxy, joint angle, joint torque, kinetic energy, potential energy, and total energy.</a:t>
            </a:r>
          </a:p>
          <a:p>
            <a:pPr algn="l">
              <a:defRPr sz="1200" b="0">
                <a:solidFill>
                  <a:srgbClr val="101214"/>
                </a:solidFill>
              </a:defRPr>
            </a:pPr>
            <a:r>
              <a:rPr sz="1200" b="0">
                <a:solidFill>
                  <a:srgbClr val="101214"/>
                </a:solidFill>
              </a:rPr>
              <a:t>• Validation plots are saved after simulation closure so every action produces a stable analysis folder output.</a:t>
            </a:r>
          </a:p>
        </p:txBody>
      </p:sp>
      <p:sp>
        <p:nvSpPr>
          <p:cNvPr id="14" name="Rectangle: Rounded Corners 13">
            <a:extLst>
              <a:ext uri="{FF2B5EF4-FFF2-40B4-BE49-F238E27FC236}">
                <a16:creationId xmlns:a16="http://schemas.microsoft.com/office/drawing/2014/main" id="{C6F748B4-2F33-4752-ADAA-CB8DAC1E0688}"/>
              </a:ext>
            </a:extLst>
          </p:cNvPr>
          <p:cNvSpPr>
            <a:spLocks noGrp="1"/>
          </p:cNvSpPr>
          <p:nvPr/>
        </p:nvSpPr>
        <p:spPr>
          <a:xfrm>
            <a:off x="6286500" y="2362200"/>
            <a:ext cx="1619250" cy="1390650"/>
          </a:xfrm>
          <a:prstGeom prst="roundRect">
            <a:avLst>
              <a:gd name="adj" fmla="val 5479"/>
            </a:avLst>
          </a:prstGeom>
          <a:solidFill>
            <a:srgbClr val="F7F4ED">
              <a:alpha val="96078"/>
            </a:srgbClr>
          </a:solidFill>
          <a:ln w="11430">
            <a:solidFill>
              <a:srgbClr val="101214"/>
            </a:solidFill>
            <a:prstDash val="solid"/>
          </a:ln>
        </p:spPr>
        <p:txBody>
          <a:bodyPr/>
          <a:lstStyle/>
          <a:p>
            <a:endParaRPr lang="en-IN"/>
          </a:p>
        </p:txBody>
      </p:sp>
      <p:sp>
        <p:nvSpPr>
          <p:cNvPr id="15" name="Rectangle 14">
            <a:extLst>
              <a:ext uri="{FF2B5EF4-FFF2-40B4-BE49-F238E27FC236}">
                <a16:creationId xmlns:a16="http://schemas.microsoft.com/office/drawing/2014/main" id="{2F0E1552-0E1D-4F9D-867C-E51CD019BF1A}"/>
              </a:ext>
            </a:extLst>
          </p:cNvPr>
          <p:cNvSpPr>
            <a:spLocks noGrp="1"/>
          </p:cNvSpPr>
          <p:nvPr/>
        </p:nvSpPr>
        <p:spPr>
          <a:xfrm>
            <a:off x="6286500" y="2362200"/>
            <a:ext cx="1619250" cy="66675"/>
          </a:xfrm>
          <a:prstGeom prst="rect">
            <a:avLst/>
          </a:prstGeom>
          <a:solidFill>
            <a:srgbClr val="27C47D"/>
          </a:solidFill>
          <a:ln w="0">
            <a:solidFill>
              <a:srgbClr val="000000">
                <a:alpha val="0"/>
              </a:srgbClr>
            </a:solidFill>
            <a:prstDash val="solid"/>
          </a:ln>
        </p:spPr>
        <p:txBody>
          <a:bodyPr/>
          <a:lstStyle/>
          <a:p>
            <a:endParaRPr lang="en-IN"/>
          </a:p>
        </p:txBody>
      </p:sp>
      <p:sp>
        <p:nvSpPr>
          <p:cNvPr id="16" name="Rectangle 15">
            <a:extLst>
              <a:ext uri="{FF2B5EF4-FFF2-40B4-BE49-F238E27FC236}">
                <a16:creationId xmlns:a16="http://schemas.microsoft.com/office/drawing/2014/main" id="{68B1F727-E867-47D7-A3B0-919C64517505}"/>
              </a:ext>
            </a:extLst>
          </p:cNvPr>
          <p:cNvSpPr>
            <a:spLocks noGrp="1"/>
          </p:cNvSpPr>
          <p:nvPr/>
        </p:nvSpPr>
        <p:spPr>
          <a:xfrm>
            <a:off x="6496050" y="2533650"/>
            <a:ext cx="12001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1214"/>
                </a:solidFill>
              </a:defRPr>
            </a:pPr>
            <a:r>
              <a:rPr sz="2250" b="1">
                <a:solidFill>
                  <a:srgbClr val="101214"/>
                </a:solidFill>
              </a:rPr>
              <a:t>12</a:t>
            </a:r>
          </a:p>
        </p:txBody>
      </p:sp>
      <p:sp>
        <p:nvSpPr>
          <p:cNvPr id="17" name="Rectangle 16">
            <a:extLst>
              <a:ext uri="{FF2B5EF4-FFF2-40B4-BE49-F238E27FC236}">
                <a16:creationId xmlns:a16="http://schemas.microsoft.com/office/drawing/2014/main" id="{370787A5-BF5D-403C-A243-AADE35105A6A}"/>
              </a:ext>
            </a:extLst>
          </p:cNvPr>
          <p:cNvSpPr>
            <a:spLocks noGrp="1"/>
          </p:cNvSpPr>
          <p:nvPr/>
        </p:nvSpPr>
        <p:spPr>
          <a:xfrm>
            <a:off x="6515100" y="3067050"/>
            <a:ext cx="11620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30363A"/>
                </a:solidFill>
              </a:defRPr>
            </a:pPr>
            <a:r>
              <a:rPr sz="1125" b="0">
                <a:solidFill>
                  <a:srgbClr val="30363A"/>
                </a:solidFill>
              </a:rPr>
              <a:t>Actuated joints</a:t>
            </a:r>
          </a:p>
        </p:txBody>
      </p:sp>
      <p:sp>
        <p:nvSpPr>
          <p:cNvPr id="18" name="Rectangle 17">
            <a:extLst>
              <a:ext uri="{FF2B5EF4-FFF2-40B4-BE49-F238E27FC236}">
                <a16:creationId xmlns:a16="http://schemas.microsoft.com/office/drawing/2014/main" id="{DE360E14-A30F-4FC9-BC15-5D3F9BBBA60F}"/>
              </a:ext>
            </a:extLst>
          </p:cNvPr>
          <p:cNvSpPr>
            <a:spLocks noGrp="1"/>
          </p:cNvSpPr>
          <p:nvPr/>
        </p:nvSpPr>
        <p:spPr>
          <a:xfrm>
            <a:off x="6515100" y="3409950"/>
            <a:ext cx="1162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687076"/>
                </a:solidFill>
              </a:defRPr>
            </a:pPr>
            <a:r>
              <a:rPr sz="750" b="0">
                <a:solidFill>
                  <a:srgbClr val="687076"/>
                </a:solidFill>
              </a:rPr>
              <a:t>6 per leg</a:t>
            </a:r>
          </a:p>
        </p:txBody>
      </p:sp>
      <p:sp>
        <p:nvSpPr>
          <p:cNvPr id="19" name="Rectangle: Rounded Corners 18">
            <a:extLst>
              <a:ext uri="{FF2B5EF4-FFF2-40B4-BE49-F238E27FC236}">
                <a16:creationId xmlns:a16="http://schemas.microsoft.com/office/drawing/2014/main" id="{C9613372-E051-4495-B930-713E0F5A5689}"/>
              </a:ext>
            </a:extLst>
          </p:cNvPr>
          <p:cNvSpPr>
            <a:spLocks noGrp="1"/>
          </p:cNvSpPr>
          <p:nvPr/>
        </p:nvSpPr>
        <p:spPr>
          <a:xfrm>
            <a:off x="8096250" y="2362200"/>
            <a:ext cx="1619250" cy="1390650"/>
          </a:xfrm>
          <a:prstGeom prst="roundRect">
            <a:avLst>
              <a:gd name="adj" fmla="val 5479"/>
            </a:avLst>
          </a:prstGeom>
          <a:solidFill>
            <a:srgbClr val="F7F4ED">
              <a:alpha val="96078"/>
            </a:srgbClr>
          </a:solidFill>
          <a:ln w="11430">
            <a:solidFill>
              <a:srgbClr val="101214"/>
            </a:solidFill>
            <a:prstDash val="solid"/>
          </a:ln>
        </p:spPr>
        <p:txBody>
          <a:bodyPr/>
          <a:lstStyle/>
          <a:p>
            <a:endParaRPr lang="en-IN"/>
          </a:p>
        </p:txBody>
      </p:sp>
      <p:sp>
        <p:nvSpPr>
          <p:cNvPr id="20" name="Rectangle 19">
            <a:extLst>
              <a:ext uri="{FF2B5EF4-FFF2-40B4-BE49-F238E27FC236}">
                <a16:creationId xmlns:a16="http://schemas.microsoft.com/office/drawing/2014/main" id="{E0929D50-9D46-4486-9DEF-70C4016800EB}"/>
              </a:ext>
            </a:extLst>
          </p:cNvPr>
          <p:cNvSpPr>
            <a:spLocks noGrp="1"/>
          </p:cNvSpPr>
          <p:nvPr/>
        </p:nvSpPr>
        <p:spPr>
          <a:xfrm>
            <a:off x="8096250" y="2362200"/>
            <a:ext cx="1619250" cy="66675"/>
          </a:xfrm>
          <a:prstGeom prst="rect">
            <a:avLst/>
          </a:prstGeom>
          <a:solidFill>
            <a:srgbClr val="D7A83D"/>
          </a:solidFill>
          <a:ln w="0">
            <a:solidFill>
              <a:srgbClr val="000000">
                <a:alpha val="0"/>
              </a:srgbClr>
            </a:solidFill>
            <a:prstDash val="solid"/>
          </a:ln>
        </p:spPr>
        <p:txBody>
          <a:bodyPr/>
          <a:lstStyle/>
          <a:p>
            <a:endParaRPr lang="en-IN"/>
          </a:p>
        </p:txBody>
      </p:sp>
      <p:sp>
        <p:nvSpPr>
          <p:cNvPr id="21" name="Rectangle 20">
            <a:extLst>
              <a:ext uri="{FF2B5EF4-FFF2-40B4-BE49-F238E27FC236}">
                <a16:creationId xmlns:a16="http://schemas.microsoft.com/office/drawing/2014/main" id="{F9494B91-37DB-4DC1-A6E4-0D5E0748F93C}"/>
              </a:ext>
            </a:extLst>
          </p:cNvPr>
          <p:cNvSpPr>
            <a:spLocks noGrp="1"/>
          </p:cNvSpPr>
          <p:nvPr/>
        </p:nvSpPr>
        <p:spPr>
          <a:xfrm>
            <a:off x="8305800" y="2533650"/>
            <a:ext cx="12001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1214"/>
                </a:solidFill>
              </a:defRPr>
            </a:pPr>
            <a:r>
              <a:rPr sz="2250" b="1">
                <a:solidFill>
                  <a:srgbClr val="101214"/>
                </a:solidFill>
              </a:rPr>
              <a:t>5.96 kg</a:t>
            </a:r>
          </a:p>
        </p:txBody>
      </p:sp>
      <p:sp>
        <p:nvSpPr>
          <p:cNvPr id="22" name="Rectangle 21">
            <a:extLst>
              <a:ext uri="{FF2B5EF4-FFF2-40B4-BE49-F238E27FC236}">
                <a16:creationId xmlns:a16="http://schemas.microsoft.com/office/drawing/2014/main" id="{B8D3980F-1AE7-4E01-A187-82C18E599544}"/>
              </a:ext>
            </a:extLst>
          </p:cNvPr>
          <p:cNvSpPr>
            <a:spLocks noGrp="1"/>
          </p:cNvSpPr>
          <p:nvPr/>
        </p:nvSpPr>
        <p:spPr>
          <a:xfrm>
            <a:off x="8324850" y="3067050"/>
            <a:ext cx="11620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30363A"/>
                </a:solidFill>
              </a:defRPr>
            </a:pPr>
            <a:r>
              <a:rPr sz="1125" b="0">
                <a:solidFill>
                  <a:srgbClr val="30363A"/>
                </a:solidFill>
              </a:rPr>
              <a:t>Total robot mass</a:t>
            </a:r>
          </a:p>
        </p:txBody>
      </p:sp>
      <p:sp>
        <p:nvSpPr>
          <p:cNvPr id="23" name="Rectangle 22">
            <a:extLst>
              <a:ext uri="{FF2B5EF4-FFF2-40B4-BE49-F238E27FC236}">
                <a16:creationId xmlns:a16="http://schemas.microsoft.com/office/drawing/2014/main" id="{33ADD793-D288-4227-86DD-C128F487836A}"/>
              </a:ext>
            </a:extLst>
          </p:cNvPr>
          <p:cNvSpPr>
            <a:spLocks noGrp="1"/>
          </p:cNvSpPr>
          <p:nvPr/>
        </p:nvSpPr>
        <p:spPr>
          <a:xfrm>
            <a:off x="8324850" y="3409950"/>
            <a:ext cx="1162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687076"/>
                </a:solidFill>
              </a:defRPr>
            </a:pPr>
            <a:r>
              <a:rPr sz="750" b="0">
                <a:solidFill>
                  <a:srgbClr val="687076"/>
                </a:solidFill>
              </a:rPr>
              <a:t>from URDF inertial data</a:t>
            </a:r>
          </a:p>
        </p:txBody>
      </p:sp>
      <p:sp>
        <p:nvSpPr>
          <p:cNvPr id="24" name="Rectangle: Rounded Corners 23">
            <a:extLst>
              <a:ext uri="{FF2B5EF4-FFF2-40B4-BE49-F238E27FC236}">
                <a16:creationId xmlns:a16="http://schemas.microsoft.com/office/drawing/2014/main" id="{CBADB050-050B-4029-BF4E-9D98B4BD1547}"/>
              </a:ext>
            </a:extLst>
          </p:cNvPr>
          <p:cNvSpPr>
            <a:spLocks noGrp="1"/>
          </p:cNvSpPr>
          <p:nvPr/>
        </p:nvSpPr>
        <p:spPr>
          <a:xfrm>
            <a:off x="9906000" y="2362200"/>
            <a:ext cx="1619250" cy="1390650"/>
          </a:xfrm>
          <a:prstGeom prst="roundRect">
            <a:avLst>
              <a:gd name="adj" fmla="val 5479"/>
            </a:avLst>
          </a:prstGeom>
          <a:solidFill>
            <a:srgbClr val="F7F4ED">
              <a:alpha val="96078"/>
            </a:srgbClr>
          </a:solidFill>
          <a:ln w="11430">
            <a:solidFill>
              <a:srgbClr val="101214"/>
            </a:solidFill>
            <a:prstDash val="solid"/>
          </a:ln>
        </p:spPr>
        <p:txBody>
          <a:bodyPr/>
          <a:lstStyle/>
          <a:p>
            <a:endParaRPr lang="en-IN"/>
          </a:p>
        </p:txBody>
      </p:sp>
      <p:sp>
        <p:nvSpPr>
          <p:cNvPr id="25" name="Rectangle 24">
            <a:extLst>
              <a:ext uri="{FF2B5EF4-FFF2-40B4-BE49-F238E27FC236}">
                <a16:creationId xmlns:a16="http://schemas.microsoft.com/office/drawing/2014/main" id="{2A773E66-5F45-4D65-8942-2468FF5865C0}"/>
              </a:ext>
            </a:extLst>
          </p:cNvPr>
          <p:cNvSpPr>
            <a:spLocks noGrp="1"/>
          </p:cNvSpPr>
          <p:nvPr/>
        </p:nvSpPr>
        <p:spPr>
          <a:xfrm>
            <a:off x="9906000" y="2362200"/>
            <a:ext cx="1619250" cy="66675"/>
          </a:xfrm>
          <a:prstGeom prst="rect">
            <a:avLst/>
          </a:prstGeom>
          <a:solidFill>
            <a:srgbClr val="E86F5B"/>
          </a:solidFill>
          <a:ln w="0">
            <a:solidFill>
              <a:srgbClr val="000000">
                <a:alpha val="0"/>
              </a:srgbClr>
            </a:solidFill>
            <a:prstDash val="solid"/>
          </a:ln>
        </p:spPr>
        <p:txBody>
          <a:bodyPr/>
          <a:lstStyle/>
          <a:p>
            <a:endParaRPr lang="en-IN"/>
          </a:p>
        </p:txBody>
      </p:sp>
      <p:sp>
        <p:nvSpPr>
          <p:cNvPr id="26" name="Rectangle 25">
            <a:extLst>
              <a:ext uri="{FF2B5EF4-FFF2-40B4-BE49-F238E27FC236}">
                <a16:creationId xmlns:a16="http://schemas.microsoft.com/office/drawing/2014/main" id="{CF143F81-AC83-4436-B159-0C04AE77632C}"/>
              </a:ext>
            </a:extLst>
          </p:cNvPr>
          <p:cNvSpPr>
            <a:spLocks noGrp="1"/>
          </p:cNvSpPr>
          <p:nvPr/>
        </p:nvSpPr>
        <p:spPr>
          <a:xfrm>
            <a:off x="10115550" y="2533650"/>
            <a:ext cx="12001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1214"/>
                </a:solidFill>
              </a:defRPr>
            </a:pPr>
            <a:r>
              <a:rPr sz="2250" b="1">
                <a:solidFill>
                  <a:srgbClr val="101214"/>
                </a:solidFill>
              </a:rPr>
              <a:t>240 Hz</a:t>
            </a:r>
          </a:p>
        </p:txBody>
      </p:sp>
      <p:sp>
        <p:nvSpPr>
          <p:cNvPr id="27" name="Rectangle 26">
            <a:extLst>
              <a:ext uri="{FF2B5EF4-FFF2-40B4-BE49-F238E27FC236}">
                <a16:creationId xmlns:a16="http://schemas.microsoft.com/office/drawing/2014/main" id="{D1DBBD2F-98B1-4A05-81E4-B5758D36523C}"/>
              </a:ext>
            </a:extLst>
          </p:cNvPr>
          <p:cNvSpPr>
            <a:spLocks noGrp="1"/>
          </p:cNvSpPr>
          <p:nvPr/>
        </p:nvSpPr>
        <p:spPr>
          <a:xfrm>
            <a:off x="10134600" y="3067050"/>
            <a:ext cx="11620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30363A"/>
                </a:solidFill>
              </a:defRPr>
            </a:pPr>
            <a:r>
              <a:rPr sz="1125" b="0">
                <a:solidFill>
                  <a:srgbClr val="30363A"/>
                </a:solidFill>
              </a:rPr>
              <a:t>Simulation rate</a:t>
            </a:r>
          </a:p>
        </p:txBody>
      </p:sp>
      <p:sp>
        <p:nvSpPr>
          <p:cNvPr id="28" name="Rectangle 27">
            <a:extLst>
              <a:ext uri="{FF2B5EF4-FFF2-40B4-BE49-F238E27FC236}">
                <a16:creationId xmlns:a16="http://schemas.microsoft.com/office/drawing/2014/main" id="{930114EA-E65D-43D5-8AA9-650FA6B8ABC1}"/>
              </a:ext>
            </a:extLst>
          </p:cNvPr>
          <p:cNvSpPr>
            <a:spLocks noGrp="1"/>
          </p:cNvSpPr>
          <p:nvPr/>
        </p:nvSpPr>
        <p:spPr>
          <a:xfrm>
            <a:off x="10134600" y="3409950"/>
            <a:ext cx="1162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687076"/>
                </a:solidFill>
              </a:defRPr>
            </a:pPr>
            <a:r>
              <a:rPr sz="750" b="0">
                <a:solidFill>
                  <a:srgbClr val="687076"/>
                </a:solidFill>
              </a:rPr>
              <a:t>dt = 1/240 s</a:t>
            </a:r>
          </a:p>
        </p:txBody>
      </p:sp>
      <p:sp>
        <p:nvSpPr>
          <p:cNvPr id="29" name="Rectangle: Rounded Corners 28">
            <a:extLst>
              <a:ext uri="{FF2B5EF4-FFF2-40B4-BE49-F238E27FC236}">
                <a16:creationId xmlns:a16="http://schemas.microsoft.com/office/drawing/2014/main" id="{1676213E-45C6-4204-AE8B-26AF7CDF88E5}"/>
              </a:ext>
            </a:extLst>
          </p:cNvPr>
          <p:cNvSpPr>
            <a:spLocks noGrp="1"/>
          </p:cNvSpPr>
          <p:nvPr/>
        </p:nvSpPr>
        <p:spPr>
          <a:xfrm>
            <a:off x="6286500" y="4000500"/>
            <a:ext cx="5238750" cy="1409700"/>
          </a:xfrm>
          <a:prstGeom prst="roundRect">
            <a:avLst>
              <a:gd name="adj" fmla="val 5405"/>
            </a:avLst>
          </a:prstGeom>
          <a:solidFill>
            <a:srgbClr val="FFFFFF"/>
          </a:solidFill>
          <a:ln w="11430">
            <a:solidFill>
              <a:srgbClr val="101214"/>
            </a:solidFill>
            <a:prstDash val="solid"/>
          </a:ln>
        </p:spPr>
        <p:txBody>
          <a:bodyPr/>
          <a:lstStyle/>
          <a:p>
            <a:endParaRPr lang="en-IN"/>
          </a:p>
        </p:txBody>
      </p:sp>
      <p:sp>
        <p:nvSpPr>
          <p:cNvPr id="30" name="Rectangle 29">
            <a:extLst>
              <a:ext uri="{FF2B5EF4-FFF2-40B4-BE49-F238E27FC236}">
                <a16:creationId xmlns:a16="http://schemas.microsoft.com/office/drawing/2014/main" id="{A1E36B0D-0B90-44EA-955B-2FD47FE7A1AF}"/>
              </a:ext>
            </a:extLst>
          </p:cNvPr>
          <p:cNvSpPr>
            <a:spLocks noGrp="1"/>
          </p:cNvSpPr>
          <p:nvPr/>
        </p:nvSpPr>
        <p:spPr>
          <a:xfrm>
            <a:off x="6286500" y="4000500"/>
            <a:ext cx="5238750" cy="57150"/>
          </a:xfrm>
          <a:prstGeom prst="rect">
            <a:avLst/>
          </a:prstGeom>
          <a:solidFill>
            <a:srgbClr val="D7A83D"/>
          </a:solidFill>
          <a:ln w="0">
            <a:solidFill>
              <a:srgbClr val="000000">
                <a:alpha val="0"/>
              </a:srgbClr>
            </a:solidFill>
            <a:prstDash val="solid"/>
          </a:ln>
        </p:spPr>
        <p:txBody>
          <a:bodyPr/>
          <a:lstStyle/>
          <a:p>
            <a:endParaRPr lang="en-IN"/>
          </a:p>
        </p:txBody>
      </p:sp>
      <p:sp>
        <p:nvSpPr>
          <p:cNvPr id="31" name="Rectangle 30">
            <a:extLst>
              <a:ext uri="{FF2B5EF4-FFF2-40B4-BE49-F238E27FC236}">
                <a16:creationId xmlns:a16="http://schemas.microsoft.com/office/drawing/2014/main" id="{F287E4FC-07C5-4EAD-9AB2-CB1E0728D520}"/>
              </a:ext>
            </a:extLst>
          </p:cNvPr>
          <p:cNvSpPr>
            <a:spLocks noGrp="1"/>
          </p:cNvSpPr>
          <p:nvPr/>
        </p:nvSpPr>
        <p:spPr>
          <a:xfrm>
            <a:off x="6496050" y="4171950"/>
            <a:ext cx="48196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Assumptions</a:t>
            </a:r>
          </a:p>
        </p:txBody>
      </p:sp>
      <p:sp>
        <p:nvSpPr>
          <p:cNvPr id="32" name="Rectangle 31">
            <a:extLst>
              <a:ext uri="{FF2B5EF4-FFF2-40B4-BE49-F238E27FC236}">
                <a16:creationId xmlns:a16="http://schemas.microsoft.com/office/drawing/2014/main" id="{40CC9BE3-020E-4FF3-A62D-58DA411A4111}"/>
              </a:ext>
            </a:extLst>
          </p:cNvPr>
          <p:cNvSpPr>
            <a:spLocks noGrp="1"/>
          </p:cNvSpPr>
          <p:nvPr/>
        </p:nvSpPr>
        <p:spPr>
          <a:xfrm>
            <a:off x="6496050" y="4533900"/>
            <a:ext cx="481965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Euler-Lagrange mechanics are used for derivation; Newtonian joint-force balance is not the primary framework.</a:t>
            </a:r>
          </a:p>
          <a:p>
            <a:pPr algn="l">
              <a:defRPr sz="1200" b="0">
                <a:solidFill>
                  <a:srgbClr val="101214"/>
                </a:solidFill>
              </a:defRPr>
            </a:pPr>
            <a:r>
              <a:rPr sz="1200" b="0">
                <a:solidFill>
                  <a:srgbClr val="101214"/>
                </a:solidFill>
              </a:rPr>
              <a:t>• Hip, Knee, and Ankle are grouped for validation plots, even though the full simulation has more detailed joint coordinates.</a:t>
            </a:r>
          </a:p>
          <a:p>
            <a:pPr algn="l">
              <a:defRPr sz="1200" b="0">
                <a:solidFill>
                  <a:srgbClr val="101214"/>
                </a:solidFill>
              </a:defRPr>
            </a:pPr>
            <a:r>
              <a:rPr sz="1200" b="0">
                <a:solidFill>
                  <a:srgbClr val="101214"/>
                </a:solidFill>
              </a:rPr>
              <a:t>• Stress is represented by a PyBullet reaction-force magnitude proxy because material stress data are not available in the URDF.</a:t>
            </a:r>
          </a:p>
        </p:txBody>
      </p:sp>
    </p:spTree>
    <p:extLst>
      <p:ext uri="{BB962C8B-B14F-4D97-AF65-F5344CB8AC3E}">
        <p14:creationId xmlns:p14="http://schemas.microsoft.com/office/powerpoint/2010/main" val="484556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068B312A-7726-41BB-84D1-74703B399BA0}"/>
              </a:ext>
            </a:extLst>
          </p:cNvPr>
          <p:cNvSpPr>
            <a:spLocks noGrp="1"/>
          </p:cNvSpPr>
          <p:nvPr/>
        </p:nvSpPr>
        <p:spPr>
          <a:xfrm>
            <a:off x="0" y="0"/>
            <a:ext cx="12192000" cy="6858000"/>
          </a:xfrm>
          <a:prstGeom prst="rect">
            <a:avLst/>
          </a:prstGeom>
          <a:solidFill>
            <a:srgbClr val="FFFFFF">
              <a:alpha val="72941"/>
            </a:srgbClr>
          </a:solidFill>
          <a:ln w="0">
            <a:solidFill>
              <a:srgbClr val="000000">
                <a:alpha val="0"/>
              </a:srgbClr>
            </a:solidFill>
            <a:prstDash val="solid"/>
          </a:ln>
        </p:spPr>
        <p:txBody>
          <a:bodyPr/>
          <a:lstStyle/>
          <a:p>
            <a:endParaRPr lang="en-IN"/>
          </a:p>
        </p:txBody>
      </p:sp>
      <p:sp>
        <p:nvSpPr>
          <p:cNvPr id="4" name="Rectangle 3">
            <a:extLst>
              <a:ext uri="{FF2B5EF4-FFF2-40B4-BE49-F238E27FC236}">
                <a16:creationId xmlns:a16="http://schemas.microsoft.com/office/drawing/2014/main" id="{FDF887DE-ED46-4AE4-B783-6A7A24B9AB23}"/>
              </a:ext>
            </a:extLst>
          </p:cNvPr>
          <p:cNvSpPr>
            <a:spLocks noGrp="1"/>
          </p:cNvSpPr>
          <p:nvPr/>
        </p:nvSpPr>
        <p:spPr>
          <a:xfrm>
            <a:off x="609600" y="323850"/>
            <a:ext cx="409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16B49"/>
                </a:solidFill>
              </a:defRPr>
            </a:pPr>
            <a:r>
              <a:rPr sz="975" b="1">
                <a:solidFill>
                  <a:srgbClr val="116B49"/>
                </a:solidFill>
              </a:rPr>
              <a:t>SECTION 03</a:t>
            </a:r>
          </a:p>
        </p:txBody>
      </p:sp>
      <p:sp>
        <p:nvSpPr>
          <p:cNvPr id="5" name="Rectangle 4">
            <a:extLst>
              <a:ext uri="{FF2B5EF4-FFF2-40B4-BE49-F238E27FC236}">
                <a16:creationId xmlns:a16="http://schemas.microsoft.com/office/drawing/2014/main" id="{F8352A26-10AB-4843-B2D4-3F40B3F8322E}"/>
              </a:ext>
            </a:extLst>
          </p:cNvPr>
          <p:cNvSpPr>
            <a:spLocks noGrp="1"/>
          </p:cNvSpPr>
          <p:nvPr/>
        </p:nvSpPr>
        <p:spPr>
          <a:xfrm>
            <a:off x="10610850" y="32385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16B49"/>
                </a:solidFill>
              </a:defRPr>
            </a:pPr>
            <a:r>
              <a:rPr sz="975" b="1">
                <a:solidFill>
                  <a:srgbClr val="116B49"/>
                </a:solidFill>
              </a:rPr>
              <a:t>04 / 13</a:t>
            </a:r>
          </a:p>
        </p:txBody>
      </p:sp>
      <p:sp>
        <p:nvSpPr>
          <p:cNvPr id="6" name="Rectangle 5">
            <a:extLst>
              <a:ext uri="{FF2B5EF4-FFF2-40B4-BE49-F238E27FC236}">
                <a16:creationId xmlns:a16="http://schemas.microsoft.com/office/drawing/2014/main" id="{BA887E68-9964-4F05-A1C7-DB4F88795456}"/>
              </a:ext>
            </a:extLst>
          </p:cNvPr>
          <p:cNvSpPr>
            <a:spLocks noGrp="1"/>
          </p:cNvSpPr>
          <p:nvPr/>
        </p:nvSpPr>
        <p:spPr>
          <a:xfrm>
            <a:off x="609600" y="609600"/>
            <a:ext cx="10972800" cy="19050"/>
          </a:xfrm>
          <a:prstGeom prst="rect">
            <a:avLst/>
          </a:prstGeom>
          <a:solidFill>
            <a:srgbClr val="101214"/>
          </a:solidFill>
          <a:ln w="0">
            <a:solidFill>
              <a:srgbClr val="000000">
                <a:alpha val="0"/>
              </a:srgbClr>
            </a:solidFill>
            <a:prstDash val="solid"/>
          </a:ln>
        </p:spPr>
        <p:txBody>
          <a:bodyPr/>
          <a:lstStyle/>
          <a:p>
            <a:endParaRPr lang="en-IN"/>
          </a:p>
        </p:txBody>
      </p:sp>
      <p:sp>
        <p:nvSpPr>
          <p:cNvPr id="7" name="Oval 6">
            <a:extLst>
              <a:ext uri="{FF2B5EF4-FFF2-40B4-BE49-F238E27FC236}">
                <a16:creationId xmlns:a16="http://schemas.microsoft.com/office/drawing/2014/main" id="{BE46D809-6676-42FB-96D0-C79A7846B817}"/>
              </a:ext>
            </a:extLst>
          </p:cNvPr>
          <p:cNvSpPr>
            <a:spLocks noGrp="1"/>
          </p:cNvSpPr>
          <p:nvPr/>
        </p:nvSpPr>
        <p:spPr>
          <a:xfrm>
            <a:off x="542925" y="542925"/>
            <a:ext cx="152400" cy="152400"/>
          </a:xfrm>
          <a:prstGeom prst="ellipse">
            <a:avLst/>
          </a:prstGeom>
          <a:solidFill>
            <a:srgbClr val="27C47D"/>
          </a:solidFill>
          <a:ln w="19050">
            <a:solidFill>
              <a:srgbClr val="101214"/>
            </a:solidFill>
            <a:prstDash val="solid"/>
          </a:ln>
        </p:spPr>
        <p:txBody>
          <a:bodyPr/>
          <a:lstStyle/>
          <a:p>
            <a:endParaRPr lang="en-IN"/>
          </a:p>
        </p:txBody>
      </p:sp>
      <p:sp>
        <p:nvSpPr>
          <p:cNvPr id="8" name="Rectangle 7">
            <a:extLst>
              <a:ext uri="{FF2B5EF4-FFF2-40B4-BE49-F238E27FC236}">
                <a16:creationId xmlns:a16="http://schemas.microsoft.com/office/drawing/2014/main" id="{1DB193CB-2B4A-4573-95B3-85363DF7EADA}"/>
              </a:ext>
            </a:extLst>
          </p:cNvPr>
          <p:cNvSpPr>
            <a:spLocks noGrp="1"/>
          </p:cNvSpPr>
          <p:nvPr/>
        </p:nvSpPr>
        <p:spPr>
          <a:xfrm>
            <a:off x="609600" y="81915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01214"/>
                </a:solidFill>
              </a:defRPr>
            </a:pPr>
            <a:r>
              <a:rPr sz="2550" b="1">
                <a:solidFill>
                  <a:srgbClr val="101214"/>
                </a:solidFill>
              </a:rPr>
              <a:t>3. Free Body Diagram / System Schematic</a:t>
            </a:r>
          </a:p>
        </p:txBody>
      </p:sp>
      <p:sp>
        <p:nvSpPr>
          <p:cNvPr id="9" name="Rectangle 8">
            <a:extLst>
              <a:ext uri="{FF2B5EF4-FFF2-40B4-BE49-F238E27FC236}">
                <a16:creationId xmlns:a16="http://schemas.microsoft.com/office/drawing/2014/main" id="{8A095961-B89E-4D60-BB6D-EC51197D42B2}"/>
              </a:ext>
            </a:extLst>
          </p:cNvPr>
          <p:cNvSpPr>
            <a:spLocks noGrp="1"/>
          </p:cNvSpPr>
          <p:nvPr/>
        </p:nvSpPr>
        <p:spPr>
          <a:xfrm>
            <a:off x="628650" y="1619250"/>
            <a:ext cx="7239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30363A"/>
                </a:solidFill>
              </a:defRPr>
            </a:pPr>
            <a:r>
              <a:rPr sz="1350" b="0">
                <a:solidFill>
                  <a:srgbClr val="30363A"/>
                </a:solidFill>
              </a:rPr>
              <a:t>The project uses a Lagrangian-style free body diagram to define generalized coordinates, grouped masses, and external contact effects.</a:t>
            </a:r>
          </a:p>
        </p:txBody>
      </p:sp>
      <p:sp>
        <p:nvSpPr>
          <p:cNvPr id="10" name="Rectangle: Rounded Corners 9">
            <a:extLst>
              <a:ext uri="{FF2B5EF4-FFF2-40B4-BE49-F238E27FC236}">
                <a16:creationId xmlns:a16="http://schemas.microsoft.com/office/drawing/2014/main" id="{7F1354C2-D3D8-45DC-810A-D622A1DEE60D}"/>
              </a:ext>
            </a:extLst>
          </p:cNvPr>
          <p:cNvSpPr>
            <a:spLocks noGrp="1"/>
          </p:cNvSpPr>
          <p:nvPr/>
        </p:nvSpPr>
        <p:spPr>
          <a:xfrm>
            <a:off x="762000" y="2038350"/>
            <a:ext cx="4857750" cy="4171950"/>
          </a:xfrm>
          <a:prstGeom prst="roundRect">
            <a:avLst>
              <a:gd name="adj" fmla="val 1826"/>
            </a:avLst>
          </a:prstGeom>
          <a:solidFill>
            <a:srgbClr val="FFFFFF"/>
          </a:solidFill>
          <a:ln w="11430">
            <a:solidFill>
              <a:srgbClr val="101214"/>
            </a:solidFill>
            <a:prstDash val="solid"/>
          </a:ln>
        </p:spPr>
        <p:txBody>
          <a:bodyPr/>
          <a:lstStyle/>
          <a:p>
            <a:endParaRPr lang="en-IN"/>
          </a:p>
        </p:txBody>
      </p:sp>
      <p:sp>
        <p:nvSpPr>
          <p:cNvPr id="13" name="Rectangle: Rounded Corners 12">
            <a:extLst>
              <a:ext uri="{FF2B5EF4-FFF2-40B4-BE49-F238E27FC236}">
                <a16:creationId xmlns:a16="http://schemas.microsoft.com/office/drawing/2014/main" id="{2C1C6A16-D0E4-4D9A-AD38-59CCD0B20241}"/>
              </a:ext>
            </a:extLst>
          </p:cNvPr>
          <p:cNvSpPr>
            <a:spLocks noGrp="1"/>
          </p:cNvSpPr>
          <p:nvPr/>
        </p:nvSpPr>
        <p:spPr>
          <a:xfrm>
            <a:off x="5905500" y="2095500"/>
            <a:ext cx="5524500" cy="1714500"/>
          </a:xfrm>
          <a:prstGeom prst="roundRect">
            <a:avLst>
              <a:gd name="adj" fmla="val 4444"/>
            </a:avLst>
          </a:prstGeom>
          <a:solidFill>
            <a:srgbClr val="FFFFFF"/>
          </a:solidFill>
          <a:ln w="11430">
            <a:solidFill>
              <a:srgbClr val="101214"/>
            </a:solidFill>
            <a:prstDash val="solid"/>
          </a:ln>
        </p:spPr>
        <p:txBody>
          <a:bodyPr/>
          <a:lstStyle/>
          <a:p>
            <a:endParaRPr lang="en-IN"/>
          </a:p>
        </p:txBody>
      </p:sp>
      <p:sp>
        <p:nvSpPr>
          <p:cNvPr id="14" name="Rectangle 13">
            <a:extLst>
              <a:ext uri="{FF2B5EF4-FFF2-40B4-BE49-F238E27FC236}">
                <a16:creationId xmlns:a16="http://schemas.microsoft.com/office/drawing/2014/main" id="{41BABB45-BF03-4C4F-8FD7-27730BB1905A}"/>
              </a:ext>
            </a:extLst>
          </p:cNvPr>
          <p:cNvSpPr>
            <a:spLocks noGrp="1"/>
          </p:cNvSpPr>
          <p:nvPr/>
        </p:nvSpPr>
        <p:spPr>
          <a:xfrm>
            <a:off x="5905500" y="2095500"/>
            <a:ext cx="5524500" cy="57150"/>
          </a:xfrm>
          <a:prstGeom prst="rect">
            <a:avLst/>
          </a:prstGeom>
          <a:solidFill>
            <a:srgbClr val="27C47D"/>
          </a:solidFill>
          <a:ln w="0">
            <a:solidFill>
              <a:srgbClr val="000000">
                <a:alpha val="0"/>
              </a:srgbClr>
            </a:solidFill>
            <a:prstDash val="solid"/>
          </a:ln>
        </p:spPr>
        <p:txBody>
          <a:bodyPr/>
          <a:lstStyle/>
          <a:p>
            <a:endParaRPr lang="en-IN"/>
          </a:p>
        </p:txBody>
      </p:sp>
      <p:sp>
        <p:nvSpPr>
          <p:cNvPr id="15" name="Rectangle 14">
            <a:extLst>
              <a:ext uri="{FF2B5EF4-FFF2-40B4-BE49-F238E27FC236}">
                <a16:creationId xmlns:a16="http://schemas.microsoft.com/office/drawing/2014/main" id="{C66E473F-A751-4C2E-8CE1-784789D32D3D}"/>
              </a:ext>
            </a:extLst>
          </p:cNvPr>
          <p:cNvSpPr>
            <a:spLocks noGrp="1"/>
          </p:cNvSpPr>
          <p:nvPr/>
        </p:nvSpPr>
        <p:spPr>
          <a:xfrm>
            <a:off x="6115050" y="2266950"/>
            <a:ext cx="5105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Generalized Coordinates</a:t>
            </a:r>
          </a:p>
        </p:txBody>
      </p:sp>
      <p:sp>
        <p:nvSpPr>
          <p:cNvPr id="16" name="Rectangle 15">
            <a:extLst>
              <a:ext uri="{FF2B5EF4-FFF2-40B4-BE49-F238E27FC236}">
                <a16:creationId xmlns:a16="http://schemas.microsoft.com/office/drawing/2014/main" id="{EF097016-21A6-4F0B-8503-1DC15585AADD}"/>
              </a:ext>
            </a:extLst>
          </p:cNvPr>
          <p:cNvSpPr>
            <a:spLocks noGrp="1"/>
          </p:cNvSpPr>
          <p:nvPr/>
        </p:nvSpPr>
        <p:spPr>
          <a:xfrm>
            <a:off x="6115050" y="2628900"/>
            <a:ext cx="510540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q1: hip yaw</a:t>
            </a:r>
          </a:p>
          <a:p>
            <a:pPr algn="l">
              <a:defRPr sz="1200" b="0">
                <a:solidFill>
                  <a:srgbClr val="101214"/>
                </a:solidFill>
              </a:defRPr>
            </a:pPr>
            <a:r>
              <a:rPr sz="1200" b="0">
                <a:solidFill>
                  <a:srgbClr val="101214"/>
                </a:solidFill>
              </a:rPr>
              <a:t>• q2: hip roll</a:t>
            </a:r>
          </a:p>
          <a:p>
            <a:pPr algn="l">
              <a:defRPr sz="1200" b="0">
                <a:solidFill>
                  <a:srgbClr val="101214"/>
                </a:solidFill>
              </a:defRPr>
            </a:pPr>
            <a:r>
              <a:rPr sz="1200" b="0">
                <a:solidFill>
                  <a:srgbClr val="101214"/>
                </a:solidFill>
              </a:rPr>
              <a:t>• q3: hip pitch</a:t>
            </a:r>
          </a:p>
          <a:p>
            <a:pPr algn="l">
              <a:defRPr sz="1200" b="0">
                <a:solidFill>
                  <a:srgbClr val="101214"/>
                </a:solidFill>
              </a:defRPr>
            </a:pPr>
            <a:r>
              <a:rPr sz="1200" b="0">
                <a:solidFill>
                  <a:srgbClr val="101214"/>
                </a:solidFill>
              </a:rPr>
              <a:t>• q4: knee pitch</a:t>
            </a:r>
          </a:p>
          <a:p>
            <a:pPr algn="l">
              <a:defRPr sz="1200" b="0">
                <a:solidFill>
                  <a:srgbClr val="101214"/>
                </a:solidFill>
              </a:defRPr>
            </a:pPr>
            <a:r>
              <a:rPr sz="1200" b="0">
                <a:solidFill>
                  <a:srgbClr val="101214"/>
                </a:solidFill>
              </a:rPr>
              <a:t>• q5: ankle pitch</a:t>
            </a:r>
          </a:p>
          <a:p>
            <a:pPr algn="l">
              <a:defRPr sz="1200" b="0">
                <a:solidFill>
                  <a:srgbClr val="101214"/>
                </a:solidFill>
              </a:defRPr>
            </a:pPr>
            <a:r>
              <a:rPr sz="1200" b="0">
                <a:solidFill>
                  <a:srgbClr val="101214"/>
                </a:solidFill>
              </a:rPr>
              <a:t>• q6: ankle roll</a:t>
            </a:r>
          </a:p>
        </p:txBody>
      </p:sp>
      <p:sp>
        <p:nvSpPr>
          <p:cNvPr id="17" name="Rectangle: Rounded Corners 16">
            <a:extLst>
              <a:ext uri="{FF2B5EF4-FFF2-40B4-BE49-F238E27FC236}">
                <a16:creationId xmlns:a16="http://schemas.microsoft.com/office/drawing/2014/main" id="{02CC4CEF-55E7-47D3-98FC-21AFE5EC68F5}"/>
              </a:ext>
            </a:extLst>
          </p:cNvPr>
          <p:cNvSpPr>
            <a:spLocks noGrp="1"/>
          </p:cNvSpPr>
          <p:nvPr/>
        </p:nvSpPr>
        <p:spPr>
          <a:xfrm>
            <a:off x="5905500" y="3962400"/>
            <a:ext cx="5524500" cy="2247900"/>
          </a:xfrm>
          <a:prstGeom prst="roundRect">
            <a:avLst>
              <a:gd name="adj" fmla="val 3390"/>
            </a:avLst>
          </a:prstGeom>
          <a:solidFill>
            <a:srgbClr val="FFFFFF"/>
          </a:solidFill>
          <a:ln w="11430">
            <a:solidFill>
              <a:srgbClr val="101214"/>
            </a:solidFill>
            <a:prstDash val="solid"/>
          </a:ln>
        </p:spPr>
        <p:txBody>
          <a:bodyPr/>
          <a:lstStyle/>
          <a:p>
            <a:endParaRPr lang="en-IN"/>
          </a:p>
        </p:txBody>
      </p:sp>
      <p:sp>
        <p:nvSpPr>
          <p:cNvPr id="18" name="Rectangle 17">
            <a:extLst>
              <a:ext uri="{FF2B5EF4-FFF2-40B4-BE49-F238E27FC236}">
                <a16:creationId xmlns:a16="http://schemas.microsoft.com/office/drawing/2014/main" id="{915723D1-4A67-4FF0-A4D5-C5CBDDDCBCCE}"/>
              </a:ext>
            </a:extLst>
          </p:cNvPr>
          <p:cNvSpPr>
            <a:spLocks noGrp="1"/>
          </p:cNvSpPr>
          <p:nvPr/>
        </p:nvSpPr>
        <p:spPr>
          <a:xfrm>
            <a:off x="5905500" y="3962400"/>
            <a:ext cx="5524500" cy="57150"/>
          </a:xfrm>
          <a:prstGeom prst="rect">
            <a:avLst/>
          </a:prstGeom>
          <a:solidFill>
            <a:srgbClr val="E86F5B"/>
          </a:solidFill>
          <a:ln w="0">
            <a:solidFill>
              <a:srgbClr val="000000">
                <a:alpha val="0"/>
              </a:srgbClr>
            </a:solidFill>
            <a:prstDash val="solid"/>
          </a:ln>
        </p:spPr>
        <p:txBody>
          <a:bodyPr/>
          <a:lstStyle/>
          <a:p>
            <a:endParaRPr lang="en-IN"/>
          </a:p>
        </p:txBody>
      </p:sp>
      <p:sp>
        <p:nvSpPr>
          <p:cNvPr id="19" name="Rectangle 18">
            <a:extLst>
              <a:ext uri="{FF2B5EF4-FFF2-40B4-BE49-F238E27FC236}">
                <a16:creationId xmlns:a16="http://schemas.microsoft.com/office/drawing/2014/main" id="{6A78B6B6-9BE0-492D-A07D-3653F950FD69}"/>
              </a:ext>
            </a:extLst>
          </p:cNvPr>
          <p:cNvSpPr>
            <a:spLocks noGrp="1"/>
          </p:cNvSpPr>
          <p:nvPr/>
        </p:nvSpPr>
        <p:spPr>
          <a:xfrm>
            <a:off x="6115050" y="4133850"/>
            <a:ext cx="5105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Physical Meaning</a:t>
            </a:r>
          </a:p>
        </p:txBody>
      </p:sp>
      <p:sp>
        <p:nvSpPr>
          <p:cNvPr id="20" name="Rectangle 19">
            <a:extLst>
              <a:ext uri="{FF2B5EF4-FFF2-40B4-BE49-F238E27FC236}">
                <a16:creationId xmlns:a16="http://schemas.microsoft.com/office/drawing/2014/main" id="{FB9CD142-C783-4230-A1CA-9CA9D925C9D8}"/>
              </a:ext>
            </a:extLst>
          </p:cNvPr>
          <p:cNvSpPr>
            <a:spLocks noGrp="1"/>
          </p:cNvSpPr>
          <p:nvPr/>
        </p:nvSpPr>
        <p:spPr>
          <a:xfrm>
            <a:off x="6115050" y="4495800"/>
            <a:ext cx="5105400" cy="1562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Weight acts at each link center of mass.</a:t>
            </a:r>
          </a:p>
          <a:p>
            <a:pPr algn="l">
              <a:defRPr sz="1200" b="0">
                <a:solidFill>
                  <a:srgbClr val="101214"/>
                </a:solidFill>
              </a:defRPr>
            </a:pPr>
            <a:r>
              <a:rPr sz="1200" b="0">
                <a:solidFill>
                  <a:srgbClr val="101214"/>
                </a:solidFill>
              </a:rPr>
              <a:t>• Ground reaction force acts at the foot-ground contact.</a:t>
            </a:r>
          </a:p>
          <a:p>
            <a:pPr algn="l">
              <a:defRPr sz="1200" b="0">
                <a:solidFill>
                  <a:srgbClr val="101214"/>
                </a:solidFill>
              </a:defRPr>
            </a:pPr>
            <a:r>
              <a:rPr sz="1200" b="0">
                <a:solidFill>
                  <a:srgbClr val="101214"/>
                </a:solidFill>
              </a:rPr>
              <a:t>• Generalized torques are associated with the actuated coordinates.</a:t>
            </a:r>
          </a:p>
          <a:p>
            <a:pPr algn="l">
              <a:defRPr sz="1200" b="0">
                <a:solidFill>
                  <a:srgbClr val="101214"/>
                </a:solidFill>
              </a:defRPr>
            </a:pPr>
            <a:r>
              <a:rPr sz="1200" b="0">
                <a:solidFill>
                  <a:srgbClr val="101214"/>
                </a:solidFill>
              </a:rPr>
              <a:t>• The validation stage later collapses detailed joint channels into Hip, Knee, and Ankle groups.</a:t>
            </a:r>
          </a:p>
          <a:p>
            <a:pPr algn="l">
              <a:defRPr sz="1200" b="0">
                <a:solidFill>
                  <a:srgbClr val="101214"/>
                </a:solidFill>
              </a:defRPr>
            </a:pPr>
            <a:r>
              <a:rPr sz="1200" b="0">
                <a:solidFill>
                  <a:srgbClr val="101214"/>
                </a:solidFill>
              </a:rPr>
              <a:t>• The same FBD also anchors the grouped energy interpretation used in the analysis reports.</a:t>
            </a:r>
          </a:p>
        </p:txBody>
      </p:sp>
      <p:pic>
        <p:nvPicPr>
          <p:cNvPr id="23" name="Picture 22">
            <a:extLst>
              <a:ext uri="{FF2B5EF4-FFF2-40B4-BE49-F238E27FC236}">
                <a16:creationId xmlns:a16="http://schemas.microsoft.com/office/drawing/2014/main" id="{363034B7-E844-E0E3-4BC4-445BABE9932A}"/>
              </a:ext>
            </a:extLst>
          </p:cNvPr>
          <p:cNvPicPr>
            <a:picLocks noChangeAspect="1"/>
          </p:cNvPicPr>
          <p:nvPr/>
        </p:nvPicPr>
        <p:blipFill>
          <a:blip r:embed="rId4"/>
          <a:stretch>
            <a:fillRect/>
          </a:stretch>
        </p:blipFill>
        <p:spPr>
          <a:xfrm>
            <a:off x="1826855" y="2124075"/>
            <a:ext cx="2975689" cy="3870194"/>
          </a:xfrm>
          <a:prstGeom prst="rect">
            <a:avLst/>
          </a:prstGeom>
        </p:spPr>
      </p:pic>
    </p:spTree>
    <p:extLst>
      <p:ext uri="{BB962C8B-B14F-4D97-AF65-F5344CB8AC3E}">
        <p14:creationId xmlns:p14="http://schemas.microsoft.com/office/powerpoint/2010/main" val="278424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4"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79A93B94-0013-4182-A61C-3EF614BECBCB}"/>
              </a:ext>
            </a:extLst>
          </p:cNvPr>
          <p:cNvSpPr>
            <a:spLocks noGrp="1"/>
          </p:cNvSpPr>
          <p:nvPr/>
        </p:nvSpPr>
        <p:spPr>
          <a:xfrm>
            <a:off x="0" y="0"/>
            <a:ext cx="12192000" cy="6858000"/>
          </a:xfrm>
          <a:prstGeom prst="rect">
            <a:avLst/>
          </a:prstGeom>
          <a:solidFill>
            <a:srgbClr val="FFFFFF">
              <a:alpha val="72941"/>
            </a:srgbClr>
          </a:solidFill>
          <a:ln w="0">
            <a:solidFill>
              <a:srgbClr val="000000">
                <a:alpha val="0"/>
              </a:srgbClr>
            </a:solidFill>
            <a:prstDash val="solid"/>
          </a:ln>
        </p:spPr>
        <p:txBody>
          <a:bodyPr/>
          <a:lstStyle/>
          <a:p>
            <a:endParaRPr lang="en-IN"/>
          </a:p>
        </p:txBody>
      </p:sp>
      <p:sp>
        <p:nvSpPr>
          <p:cNvPr id="4" name="Rectangle 3">
            <a:extLst>
              <a:ext uri="{FF2B5EF4-FFF2-40B4-BE49-F238E27FC236}">
                <a16:creationId xmlns:a16="http://schemas.microsoft.com/office/drawing/2014/main" id="{0C44D7E2-76EA-4A62-A477-54260B35C4BF}"/>
              </a:ext>
            </a:extLst>
          </p:cNvPr>
          <p:cNvSpPr>
            <a:spLocks noGrp="1"/>
          </p:cNvSpPr>
          <p:nvPr/>
        </p:nvSpPr>
        <p:spPr>
          <a:xfrm>
            <a:off x="609600" y="323850"/>
            <a:ext cx="409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16B49"/>
                </a:solidFill>
              </a:defRPr>
            </a:pPr>
            <a:r>
              <a:rPr sz="975" b="1">
                <a:solidFill>
                  <a:srgbClr val="116B49"/>
                </a:solidFill>
              </a:rPr>
              <a:t>SECTION 04</a:t>
            </a:r>
          </a:p>
        </p:txBody>
      </p:sp>
      <p:sp>
        <p:nvSpPr>
          <p:cNvPr id="5" name="Rectangle 4">
            <a:extLst>
              <a:ext uri="{FF2B5EF4-FFF2-40B4-BE49-F238E27FC236}">
                <a16:creationId xmlns:a16="http://schemas.microsoft.com/office/drawing/2014/main" id="{943EA431-BD07-42C8-BD0B-904E51FE08B5}"/>
              </a:ext>
            </a:extLst>
          </p:cNvPr>
          <p:cNvSpPr>
            <a:spLocks noGrp="1"/>
          </p:cNvSpPr>
          <p:nvPr/>
        </p:nvSpPr>
        <p:spPr>
          <a:xfrm>
            <a:off x="10610850" y="32385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16B49"/>
                </a:solidFill>
              </a:defRPr>
            </a:pPr>
            <a:r>
              <a:rPr sz="975" b="1">
                <a:solidFill>
                  <a:srgbClr val="116B49"/>
                </a:solidFill>
              </a:rPr>
              <a:t>05 / 13</a:t>
            </a:r>
          </a:p>
        </p:txBody>
      </p:sp>
      <p:sp>
        <p:nvSpPr>
          <p:cNvPr id="6" name="Rectangle 5">
            <a:extLst>
              <a:ext uri="{FF2B5EF4-FFF2-40B4-BE49-F238E27FC236}">
                <a16:creationId xmlns:a16="http://schemas.microsoft.com/office/drawing/2014/main" id="{51F53AD4-22E9-4230-A90E-1DCD63238E61}"/>
              </a:ext>
            </a:extLst>
          </p:cNvPr>
          <p:cNvSpPr>
            <a:spLocks noGrp="1"/>
          </p:cNvSpPr>
          <p:nvPr/>
        </p:nvSpPr>
        <p:spPr>
          <a:xfrm>
            <a:off x="609600" y="609600"/>
            <a:ext cx="10972800" cy="19050"/>
          </a:xfrm>
          <a:prstGeom prst="rect">
            <a:avLst/>
          </a:prstGeom>
          <a:solidFill>
            <a:srgbClr val="101214"/>
          </a:solidFill>
          <a:ln w="0">
            <a:solidFill>
              <a:srgbClr val="000000">
                <a:alpha val="0"/>
              </a:srgbClr>
            </a:solidFill>
            <a:prstDash val="solid"/>
          </a:ln>
        </p:spPr>
        <p:txBody>
          <a:bodyPr/>
          <a:lstStyle/>
          <a:p>
            <a:endParaRPr lang="en-IN"/>
          </a:p>
        </p:txBody>
      </p:sp>
      <p:sp>
        <p:nvSpPr>
          <p:cNvPr id="7" name="Oval 6">
            <a:extLst>
              <a:ext uri="{FF2B5EF4-FFF2-40B4-BE49-F238E27FC236}">
                <a16:creationId xmlns:a16="http://schemas.microsoft.com/office/drawing/2014/main" id="{1EEA8EEE-3A26-492E-8189-1AF366908E06}"/>
              </a:ext>
            </a:extLst>
          </p:cNvPr>
          <p:cNvSpPr>
            <a:spLocks noGrp="1"/>
          </p:cNvSpPr>
          <p:nvPr/>
        </p:nvSpPr>
        <p:spPr>
          <a:xfrm>
            <a:off x="542925" y="542925"/>
            <a:ext cx="152400" cy="152400"/>
          </a:xfrm>
          <a:prstGeom prst="ellipse">
            <a:avLst/>
          </a:prstGeom>
          <a:solidFill>
            <a:srgbClr val="27C47D"/>
          </a:solidFill>
          <a:ln w="19050">
            <a:solidFill>
              <a:srgbClr val="101214"/>
            </a:solidFill>
            <a:prstDash val="solid"/>
          </a:ln>
        </p:spPr>
        <p:txBody>
          <a:bodyPr/>
          <a:lstStyle/>
          <a:p>
            <a:endParaRPr lang="en-IN"/>
          </a:p>
        </p:txBody>
      </p:sp>
      <p:sp>
        <p:nvSpPr>
          <p:cNvPr id="8" name="Rectangle 7">
            <a:extLst>
              <a:ext uri="{FF2B5EF4-FFF2-40B4-BE49-F238E27FC236}">
                <a16:creationId xmlns:a16="http://schemas.microsoft.com/office/drawing/2014/main" id="{D0CF6E28-703D-4F3D-BBDA-CE70B7C3CBB6}"/>
              </a:ext>
            </a:extLst>
          </p:cNvPr>
          <p:cNvSpPr>
            <a:spLocks noGrp="1"/>
          </p:cNvSpPr>
          <p:nvPr/>
        </p:nvSpPr>
        <p:spPr>
          <a:xfrm>
            <a:off x="609600" y="81915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01214"/>
                </a:solidFill>
              </a:defRPr>
            </a:pPr>
            <a:r>
              <a:rPr sz="2550" b="1">
                <a:solidFill>
                  <a:srgbClr val="101214"/>
                </a:solidFill>
              </a:rPr>
              <a:t>4. Mathematical Derivation (Euler-Lagrange)</a:t>
            </a:r>
          </a:p>
        </p:txBody>
      </p:sp>
      <p:sp>
        <p:nvSpPr>
          <p:cNvPr id="9" name="Rectangle 8">
            <a:extLst>
              <a:ext uri="{FF2B5EF4-FFF2-40B4-BE49-F238E27FC236}">
                <a16:creationId xmlns:a16="http://schemas.microsoft.com/office/drawing/2014/main" id="{60EEDAAD-25A1-431C-8546-2F3E6CC1E7C5}"/>
              </a:ext>
            </a:extLst>
          </p:cNvPr>
          <p:cNvSpPr>
            <a:spLocks noGrp="1"/>
          </p:cNvSpPr>
          <p:nvPr/>
        </p:nvSpPr>
        <p:spPr>
          <a:xfrm>
            <a:off x="628650" y="1619250"/>
            <a:ext cx="7239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30363A"/>
                </a:solidFill>
              </a:defRPr>
            </a:pPr>
            <a:r>
              <a:rPr sz="1350" b="0">
                <a:solidFill>
                  <a:srgbClr val="30363A"/>
                </a:solidFill>
              </a:rPr>
              <a:t>The main derivation slides use equation snapshots taken from the project EOM document instead of typed equation blocks.</a:t>
            </a:r>
          </a:p>
        </p:txBody>
      </p:sp>
      <p:sp>
        <p:nvSpPr>
          <p:cNvPr id="10" name="Rectangle: Rounded Corners 9">
            <a:extLst>
              <a:ext uri="{FF2B5EF4-FFF2-40B4-BE49-F238E27FC236}">
                <a16:creationId xmlns:a16="http://schemas.microsoft.com/office/drawing/2014/main" id="{5CFA8505-994A-499B-8AFD-60DDF25E6929}"/>
              </a:ext>
            </a:extLst>
          </p:cNvPr>
          <p:cNvSpPr>
            <a:spLocks noGrp="1"/>
          </p:cNvSpPr>
          <p:nvPr/>
        </p:nvSpPr>
        <p:spPr>
          <a:xfrm>
            <a:off x="742950" y="2247900"/>
            <a:ext cx="5334000" cy="1809750"/>
          </a:xfrm>
          <a:prstGeom prst="roundRect">
            <a:avLst>
              <a:gd name="adj" fmla="val 4211"/>
            </a:avLst>
          </a:prstGeom>
          <a:solidFill>
            <a:srgbClr val="FFFFFF"/>
          </a:solidFill>
          <a:ln w="11430">
            <a:solidFill>
              <a:srgbClr val="101214"/>
            </a:solidFill>
            <a:prstDash val="solid"/>
          </a:ln>
        </p:spPr>
        <p:txBody>
          <a:bodyPr/>
          <a:lstStyle/>
          <a:p>
            <a:endParaRPr lang="en-IN"/>
          </a:p>
        </p:txBody>
      </p:sp>
      <p:pic>
        <p:nvPicPr>
          <p:cNvPr id="11" name="Picture 10"/>
          <p:cNvPicPr>
            <a:picLocks noChangeAspect="1"/>
          </p:cNvPicPr>
          <p:nvPr/>
        </p:nvPicPr>
        <p:blipFill>
          <a:blip r:embed="rId4"/>
          <a:srcRect t="26546" b="26546"/>
          <a:stretch>
            <a:fillRect/>
          </a:stretch>
        </p:blipFill>
        <p:spPr>
          <a:xfrm>
            <a:off x="838200" y="2343150"/>
            <a:ext cx="5143500" cy="1409700"/>
          </a:xfrm>
          <a:prstGeom prst="rect">
            <a:avLst/>
          </a:prstGeom>
        </p:spPr>
      </p:pic>
      <p:sp>
        <p:nvSpPr>
          <p:cNvPr id="13" name="Rectangle: Rounded Corners 12">
            <a:extLst>
              <a:ext uri="{FF2B5EF4-FFF2-40B4-BE49-F238E27FC236}">
                <a16:creationId xmlns:a16="http://schemas.microsoft.com/office/drawing/2014/main" id="{0C1DDC41-DA73-44FD-8610-FC081275FEDF}"/>
              </a:ext>
            </a:extLst>
          </p:cNvPr>
          <p:cNvSpPr>
            <a:spLocks noGrp="1"/>
          </p:cNvSpPr>
          <p:nvPr/>
        </p:nvSpPr>
        <p:spPr>
          <a:xfrm>
            <a:off x="742950" y="4229100"/>
            <a:ext cx="5334000" cy="1562100"/>
          </a:xfrm>
          <a:prstGeom prst="roundRect">
            <a:avLst>
              <a:gd name="adj" fmla="val 4878"/>
            </a:avLst>
          </a:prstGeom>
          <a:solidFill>
            <a:srgbClr val="FFFFFF"/>
          </a:solidFill>
          <a:ln w="11430">
            <a:solidFill>
              <a:srgbClr val="101214"/>
            </a:solidFill>
            <a:prstDash val="solid"/>
          </a:ln>
        </p:spPr>
        <p:txBody>
          <a:bodyPr/>
          <a:lstStyle/>
          <a:p>
            <a:endParaRPr lang="en-IN"/>
          </a:p>
        </p:txBody>
      </p:sp>
      <p:pic>
        <p:nvPicPr>
          <p:cNvPr id="14" name="Picture 13"/>
          <p:cNvPicPr>
            <a:picLocks noChangeAspect="1"/>
          </p:cNvPicPr>
          <p:nvPr/>
        </p:nvPicPr>
        <p:blipFill>
          <a:blip r:embed="rId5"/>
          <a:srcRect t="31890" b="31890"/>
          <a:stretch>
            <a:fillRect/>
          </a:stretch>
        </p:blipFill>
        <p:spPr>
          <a:xfrm>
            <a:off x="838200" y="4324350"/>
            <a:ext cx="5143500" cy="1162050"/>
          </a:xfrm>
          <a:prstGeom prst="rect">
            <a:avLst/>
          </a:prstGeom>
        </p:spPr>
      </p:pic>
      <p:sp>
        <p:nvSpPr>
          <p:cNvPr id="16" name="Rectangle: Rounded Corners 15">
            <a:extLst>
              <a:ext uri="{FF2B5EF4-FFF2-40B4-BE49-F238E27FC236}">
                <a16:creationId xmlns:a16="http://schemas.microsoft.com/office/drawing/2014/main" id="{BF8CB57E-9E92-43F8-B207-D32724D5289D}"/>
              </a:ext>
            </a:extLst>
          </p:cNvPr>
          <p:cNvSpPr>
            <a:spLocks noGrp="1"/>
          </p:cNvSpPr>
          <p:nvPr/>
        </p:nvSpPr>
        <p:spPr>
          <a:xfrm>
            <a:off x="6362700" y="2247900"/>
            <a:ext cx="5086350" cy="1676400"/>
          </a:xfrm>
          <a:prstGeom prst="roundRect">
            <a:avLst>
              <a:gd name="adj" fmla="val 4545"/>
            </a:avLst>
          </a:prstGeom>
          <a:solidFill>
            <a:srgbClr val="FFFFFF"/>
          </a:solidFill>
          <a:ln w="11430">
            <a:solidFill>
              <a:srgbClr val="101214"/>
            </a:solidFill>
            <a:prstDash val="solid"/>
          </a:ln>
        </p:spPr>
        <p:txBody>
          <a:bodyPr/>
          <a:lstStyle/>
          <a:p>
            <a:endParaRPr lang="en-IN"/>
          </a:p>
        </p:txBody>
      </p:sp>
      <p:sp>
        <p:nvSpPr>
          <p:cNvPr id="17" name="Rectangle 16">
            <a:extLst>
              <a:ext uri="{FF2B5EF4-FFF2-40B4-BE49-F238E27FC236}">
                <a16:creationId xmlns:a16="http://schemas.microsoft.com/office/drawing/2014/main" id="{220E7D7C-E7F3-48B8-9C68-E9D911DC17F6}"/>
              </a:ext>
            </a:extLst>
          </p:cNvPr>
          <p:cNvSpPr>
            <a:spLocks noGrp="1"/>
          </p:cNvSpPr>
          <p:nvPr/>
        </p:nvSpPr>
        <p:spPr>
          <a:xfrm>
            <a:off x="6362700" y="2247900"/>
            <a:ext cx="5086350" cy="57150"/>
          </a:xfrm>
          <a:prstGeom prst="rect">
            <a:avLst/>
          </a:prstGeom>
          <a:solidFill>
            <a:srgbClr val="27C47D"/>
          </a:solidFill>
          <a:ln w="0">
            <a:solidFill>
              <a:srgbClr val="000000">
                <a:alpha val="0"/>
              </a:srgbClr>
            </a:solidFill>
            <a:prstDash val="solid"/>
          </a:ln>
        </p:spPr>
        <p:txBody>
          <a:bodyPr/>
          <a:lstStyle/>
          <a:p>
            <a:endParaRPr lang="en-IN"/>
          </a:p>
        </p:txBody>
      </p:sp>
      <p:sp>
        <p:nvSpPr>
          <p:cNvPr id="18" name="Rectangle 17">
            <a:extLst>
              <a:ext uri="{FF2B5EF4-FFF2-40B4-BE49-F238E27FC236}">
                <a16:creationId xmlns:a16="http://schemas.microsoft.com/office/drawing/2014/main" id="{2D1C8CB7-9CEE-4234-BE47-D291A12A57EB}"/>
              </a:ext>
            </a:extLst>
          </p:cNvPr>
          <p:cNvSpPr>
            <a:spLocks noGrp="1"/>
          </p:cNvSpPr>
          <p:nvPr/>
        </p:nvSpPr>
        <p:spPr>
          <a:xfrm>
            <a:off x="6572250" y="2419350"/>
            <a:ext cx="4667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How It Maps to the Project</a:t>
            </a:r>
          </a:p>
        </p:txBody>
      </p:sp>
      <p:sp>
        <p:nvSpPr>
          <p:cNvPr id="19" name="Rectangle 18">
            <a:extLst>
              <a:ext uri="{FF2B5EF4-FFF2-40B4-BE49-F238E27FC236}">
                <a16:creationId xmlns:a16="http://schemas.microsoft.com/office/drawing/2014/main" id="{40DB3E70-3AA9-4E9F-9EFE-DB365249E838}"/>
              </a:ext>
            </a:extLst>
          </p:cNvPr>
          <p:cNvSpPr>
            <a:spLocks noGrp="1"/>
          </p:cNvSpPr>
          <p:nvPr/>
        </p:nvSpPr>
        <p:spPr>
          <a:xfrm>
            <a:off x="6572250" y="2781300"/>
            <a:ext cx="4667250" cy="990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The handwritten derivation follows the same 6-coordinate leg description used in the simulator.</a:t>
            </a:r>
          </a:p>
          <a:p>
            <a:pPr algn="l">
              <a:defRPr sz="1200" b="0">
                <a:solidFill>
                  <a:srgbClr val="101214"/>
                </a:solidFill>
              </a:defRPr>
            </a:pPr>
            <a:r>
              <a:rPr sz="1200" b="0">
                <a:solidFill>
                  <a:srgbClr val="101214"/>
                </a:solidFill>
              </a:rPr>
              <a:t>• URDF masses, centers of mass, and inertias provide the physical data used in the energy terms.</a:t>
            </a:r>
          </a:p>
          <a:p>
            <a:pPr algn="l">
              <a:defRPr sz="1200" b="0">
                <a:solidFill>
                  <a:srgbClr val="101214"/>
                </a:solidFill>
              </a:defRPr>
            </a:pPr>
            <a:r>
              <a:rPr sz="1200" b="0">
                <a:solidFill>
                  <a:srgbClr val="101214"/>
                </a:solidFill>
              </a:rPr>
              <a:t>• These expressions support the grouped energy plots used later in validation.</a:t>
            </a:r>
          </a:p>
        </p:txBody>
      </p:sp>
      <p:sp>
        <p:nvSpPr>
          <p:cNvPr id="20" name="Rectangle: Rounded Corners 19">
            <a:extLst>
              <a:ext uri="{FF2B5EF4-FFF2-40B4-BE49-F238E27FC236}">
                <a16:creationId xmlns:a16="http://schemas.microsoft.com/office/drawing/2014/main" id="{3F65714C-5CDB-4DA6-BFD4-27080B358387}"/>
              </a:ext>
            </a:extLst>
          </p:cNvPr>
          <p:cNvSpPr>
            <a:spLocks noGrp="1"/>
          </p:cNvSpPr>
          <p:nvPr/>
        </p:nvSpPr>
        <p:spPr>
          <a:xfrm>
            <a:off x="6362700" y="4095750"/>
            <a:ext cx="5086350" cy="1695450"/>
          </a:xfrm>
          <a:prstGeom prst="roundRect">
            <a:avLst>
              <a:gd name="adj" fmla="val 4494"/>
            </a:avLst>
          </a:prstGeom>
          <a:solidFill>
            <a:srgbClr val="FFFFFF"/>
          </a:solidFill>
          <a:ln w="11430">
            <a:solidFill>
              <a:srgbClr val="101214"/>
            </a:solidFill>
            <a:prstDash val="solid"/>
          </a:ln>
        </p:spPr>
        <p:txBody>
          <a:bodyPr/>
          <a:lstStyle/>
          <a:p>
            <a:endParaRPr lang="en-IN"/>
          </a:p>
        </p:txBody>
      </p:sp>
      <p:sp>
        <p:nvSpPr>
          <p:cNvPr id="21" name="Rectangle 20">
            <a:extLst>
              <a:ext uri="{FF2B5EF4-FFF2-40B4-BE49-F238E27FC236}">
                <a16:creationId xmlns:a16="http://schemas.microsoft.com/office/drawing/2014/main" id="{7D34B193-B12B-4853-BC31-548156CC0DCB}"/>
              </a:ext>
            </a:extLst>
          </p:cNvPr>
          <p:cNvSpPr>
            <a:spLocks noGrp="1"/>
          </p:cNvSpPr>
          <p:nvPr/>
        </p:nvSpPr>
        <p:spPr>
          <a:xfrm>
            <a:off x="6362700" y="4095750"/>
            <a:ext cx="5086350" cy="57150"/>
          </a:xfrm>
          <a:prstGeom prst="rect">
            <a:avLst/>
          </a:prstGeom>
          <a:solidFill>
            <a:srgbClr val="D7A83D"/>
          </a:solidFill>
          <a:ln w="0">
            <a:solidFill>
              <a:srgbClr val="000000">
                <a:alpha val="0"/>
              </a:srgbClr>
            </a:solidFill>
            <a:prstDash val="solid"/>
          </a:ln>
        </p:spPr>
        <p:txBody>
          <a:bodyPr/>
          <a:lstStyle/>
          <a:p>
            <a:endParaRPr lang="en-IN"/>
          </a:p>
        </p:txBody>
      </p:sp>
      <p:sp>
        <p:nvSpPr>
          <p:cNvPr id="22" name="Rectangle 21">
            <a:extLst>
              <a:ext uri="{FF2B5EF4-FFF2-40B4-BE49-F238E27FC236}">
                <a16:creationId xmlns:a16="http://schemas.microsoft.com/office/drawing/2014/main" id="{14B49976-F511-4533-87CD-320353353227}"/>
              </a:ext>
            </a:extLst>
          </p:cNvPr>
          <p:cNvSpPr>
            <a:spLocks noGrp="1"/>
          </p:cNvSpPr>
          <p:nvPr/>
        </p:nvSpPr>
        <p:spPr>
          <a:xfrm>
            <a:off x="6572250" y="4267200"/>
            <a:ext cx="4667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Interpretation</a:t>
            </a:r>
          </a:p>
        </p:txBody>
      </p:sp>
      <p:sp>
        <p:nvSpPr>
          <p:cNvPr id="23" name="Rectangle 22">
            <a:extLst>
              <a:ext uri="{FF2B5EF4-FFF2-40B4-BE49-F238E27FC236}">
                <a16:creationId xmlns:a16="http://schemas.microsoft.com/office/drawing/2014/main" id="{64E7D8BD-84A4-408B-872A-4F30FF829043}"/>
              </a:ext>
            </a:extLst>
          </p:cNvPr>
          <p:cNvSpPr>
            <a:spLocks noGrp="1"/>
          </p:cNvSpPr>
          <p:nvPr/>
        </p:nvSpPr>
        <p:spPr>
          <a:xfrm>
            <a:off x="6572250" y="4629150"/>
            <a:ext cx="4667250" cy="1009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Forward kinematics links the joint coordinates to the foot pose and link-center positions.</a:t>
            </a:r>
          </a:p>
          <a:p>
            <a:pPr algn="l">
              <a:defRPr sz="1200" b="0">
                <a:solidFill>
                  <a:srgbClr val="101214"/>
                </a:solidFill>
              </a:defRPr>
            </a:pPr>
            <a:r>
              <a:rPr sz="1200" b="0">
                <a:solidFill>
                  <a:srgbClr val="101214"/>
                </a:solidFill>
              </a:rPr>
              <a:t>• Energy terms define the Lagrangian and motivate the later manipulator equation.</a:t>
            </a:r>
          </a:p>
          <a:p>
            <a:pPr algn="l">
              <a:defRPr sz="1200" b="0">
                <a:solidFill>
                  <a:srgbClr val="101214"/>
                </a:solidFill>
              </a:defRPr>
            </a:pPr>
            <a:r>
              <a:rPr sz="1200" b="0">
                <a:solidFill>
                  <a:srgbClr val="101214"/>
                </a:solidFill>
              </a:rPr>
              <a:t>• The derivation is presented in Euler-Lagrange form throughout this project.</a:t>
            </a:r>
          </a:p>
        </p:txBody>
      </p:sp>
    </p:spTree>
    <p:extLst>
      <p:ext uri="{BB962C8B-B14F-4D97-AF65-F5344CB8AC3E}">
        <p14:creationId xmlns:p14="http://schemas.microsoft.com/office/powerpoint/2010/main" val="1201473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31"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071045F4-33F0-4BC5-AD75-B396329DA405}"/>
              </a:ext>
            </a:extLst>
          </p:cNvPr>
          <p:cNvSpPr>
            <a:spLocks noGrp="1"/>
          </p:cNvSpPr>
          <p:nvPr/>
        </p:nvSpPr>
        <p:spPr>
          <a:xfrm>
            <a:off x="0" y="0"/>
            <a:ext cx="12192000" cy="6858000"/>
          </a:xfrm>
          <a:prstGeom prst="rect">
            <a:avLst/>
          </a:prstGeom>
          <a:solidFill>
            <a:srgbClr val="FFFFFF">
              <a:alpha val="72941"/>
            </a:srgbClr>
          </a:solidFill>
          <a:ln w="0">
            <a:solidFill>
              <a:srgbClr val="000000">
                <a:alpha val="0"/>
              </a:srgbClr>
            </a:solidFill>
            <a:prstDash val="solid"/>
          </a:ln>
        </p:spPr>
        <p:txBody>
          <a:bodyPr/>
          <a:lstStyle/>
          <a:p>
            <a:endParaRPr lang="en-IN"/>
          </a:p>
        </p:txBody>
      </p:sp>
      <p:sp>
        <p:nvSpPr>
          <p:cNvPr id="4" name="Rectangle 3">
            <a:extLst>
              <a:ext uri="{FF2B5EF4-FFF2-40B4-BE49-F238E27FC236}">
                <a16:creationId xmlns:a16="http://schemas.microsoft.com/office/drawing/2014/main" id="{12CA3EC0-E097-48A0-B59B-3895AF80198A}"/>
              </a:ext>
            </a:extLst>
          </p:cNvPr>
          <p:cNvSpPr>
            <a:spLocks noGrp="1"/>
          </p:cNvSpPr>
          <p:nvPr/>
        </p:nvSpPr>
        <p:spPr>
          <a:xfrm>
            <a:off x="609600" y="323850"/>
            <a:ext cx="409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16B49"/>
                </a:solidFill>
              </a:defRPr>
            </a:pPr>
            <a:r>
              <a:rPr sz="975" b="1">
                <a:solidFill>
                  <a:srgbClr val="116B49"/>
                </a:solidFill>
              </a:rPr>
              <a:t>SECTION 05</a:t>
            </a:r>
          </a:p>
        </p:txBody>
      </p:sp>
      <p:sp>
        <p:nvSpPr>
          <p:cNvPr id="5" name="Rectangle 4">
            <a:extLst>
              <a:ext uri="{FF2B5EF4-FFF2-40B4-BE49-F238E27FC236}">
                <a16:creationId xmlns:a16="http://schemas.microsoft.com/office/drawing/2014/main" id="{E5B9576F-390C-48CA-8FB3-442763134950}"/>
              </a:ext>
            </a:extLst>
          </p:cNvPr>
          <p:cNvSpPr>
            <a:spLocks noGrp="1"/>
          </p:cNvSpPr>
          <p:nvPr/>
        </p:nvSpPr>
        <p:spPr>
          <a:xfrm>
            <a:off x="10610850" y="32385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16B49"/>
                </a:solidFill>
              </a:defRPr>
            </a:pPr>
            <a:r>
              <a:rPr sz="975" b="1">
                <a:solidFill>
                  <a:srgbClr val="116B49"/>
                </a:solidFill>
              </a:rPr>
              <a:t>06 / 13</a:t>
            </a:r>
          </a:p>
        </p:txBody>
      </p:sp>
      <p:sp>
        <p:nvSpPr>
          <p:cNvPr id="6" name="Rectangle 5">
            <a:extLst>
              <a:ext uri="{FF2B5EF4-FFF2-40B4-BE49-F238E27FC236}">
                <a16:creationId xmlns:a16="http://schemas.microsoft.com/office/drawing/2014/main" id="{521F00F7-B4A0-4663-8812-1C176D31A5F8}"/>
              </a:ext>
            </a:extLst>
          </p:cNvPr>
          <p:cNvSpPr>
            <a:spLocks noGrp="1"/>
          </p:cNvSpPr>
          <p:nvPr/>
        </p:nvSpPr>
        <p:spPr>
          <a:xfrm>
            <a:off x="609600" y="609600"/>
            <a:ext cx="10972800" cy="19050"/>
          </a:xfrm>
          <a:prstGeom prst="rect">
            <a:avLst/>
          </a:prstGeom>
          <a:solidFill>
            <a:srgbClr val="101214"/>
          </a:solidFill>
          <a:ln w="0">
            <a:solidFill>
              <a:srgbClr val="000000">
                <a:alpha val="0"/>
              </a:srgbClr>
            </a:solidFill>
            <a:prstDash val="solid"/>
          </a:ln>
        </p:spPr>
        <p:txBody>
          <a:bodyPr/>
          <a:lstStyle/>
          <a:p>
            <a:endParaRPr lang="en-IN"/>
          </a:p>
        </p:txBody>
      </p:sp>
      <p:sp>
        <p:nvSpPr>
          <p:cNvPr id="7" name="Oval 6">
            <a:extLst>
              <a:ext uri="{FF2B5EF4-FFF2-40B4-BE49-F238E27FC236}">
                <a16:creationId xmlns:a16="http://schemas.microsoft.com/office/drawing/2014/main" id="{BA914C02-AC6B-4BA6-9B4C-514D2FBB0569}"/>
              </a:ext>
            </a:extLst>
          </p:cNvPr>
          <p:cNvSpPr>
            <a:spLocks noGrp="1"/>
          </p:cNvSpPr>
          <p:nvPr/>
        </p:nvSpPr>
        <p:spPr>
          <a:xfrm>
            <a:off x="542925" y="542925"/>
            <a:ext cx="152400" cy="152400"/>
          </a:xfrm>
          <a:prstGeom prst="ellipse">
            <a:avLst/>
          </a:prstGeom>
          <a:solidFill>
            <a:srgbClr val="27C47D"/>
          </a:solidFill>
          <a:ln w="19050">
            <a:solidFill>
              <a:srgbClr val="101214"/>
            </a:solidFill>
            <a:prstDash val="solid"/>
          </a:ln>
        </p:spPr>
        <p:txBody>
          <a:bodyPr/>
          <a:lstStyle/>
          <a:p>
            <a:endParaRPr lang="en-IN"/>
          </a:p>
        </p:txBody>
      </p:sp>
      <p:sp>
        <p:nvSpPr>
          <p:cNvPr id="8" name="Rectangle 7">
            <a:extLst>
              <a:ext uri="{FF2B5EF4-FFF2-40B4-BE49-F238E27FC236}">
                <a16:creationId xmlns:a16="http://schemas.microsoft.com/office/drawing/2014/main" id="{6A2FAB22-80D6-42FB-ACE4-83909E6679B6}"/>
              </a:ext>
            </a:extLst>
          </p:cNvPr>
          <p:cNvSpPr>
            <a:spLocks noGrp="1"/>
          </p:cNvSpPr>
          <p:nvPr/>
        </p:nvSpPr>
        <p:spPr>
          <a:xfrm>
            <a:off x="609600" y="81915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01214"/>
                </a:solidFill>
              </a:defRPr>
            </a:pPr>
            <a:r>
              <a:rPr sz="2550" b="1">
                <a:solidFill>
                  <a:srgbClr val="101214"/>
                </a:solidFill>
              </a:rPr>
              <a:t>5. Final Equations &amp; State-Space</a:t>
            </a:r>
          </a:p>
        </p:txBody>
      </p:sp>
      <p:sp>
        <p:nvSpPr>
          <p:cNvPr id="9" name="Rectangle 8">
            <a:extLst>
              <a:ext uri="{FF2B5EF4-FFF2-40B4-BE49-F238E27FC236}">
                <a16:creationId xmlns:a16="http://schemas.microsoft.com/office/drawing/2014/main" id="{214EDFB7-01D4-4640-87CB-15F7891B514F}"/>
              </a:ext>
            </a:extLst>
          </p:cNvPr>
          <p:cNvSpPr>
            <a:spLocks noGrp="1"/>
          </p:cNvSpPr>
          <p:nvPr/>
        </p:nvSpPr>
        <p:spPr>
          <a:xfrm>
            <a:off x="628650" y="1619250"/>
            <a:ext cx="7239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30363A"/>
                </a:solidFill>
              </a:defRPr>
            </a:pPr>
            <a:r>
              <a:rPr sz="1350" b="0">
                <a:solidFill>
                  <a:srgbClr val="30363A"/>
                </a:solidFill>
              </a:rPr>
              <a:t>The final motion equations are shown using cropped equation photos from the submitted EOM PDF.</a:t>
            </a:r>
          </a:p>
        </p:txBody>
      </p:sp>
      <p:sp>
        <p:nvSpPr>
          <p:cNvPr id="10" name="Rectangle: Rounded Corners 9">
            <a:extLst>
              <a:ext uri="{FF2B5EF4-FFF2-40B4-BE49-F238E27FC236}">
                <a16:creationId xmlns:a16="http://schemas.microsoft.com/office/drawing/2014/main" id="{CEC597B8-AD9E-4A9D-8352-71A904D654C3}"/>
              </a:ext>
            </a:extLst>
          </p:cNvPr>
          <p:cNvSpPr>
            <a:spLocks noGrp="1"/>
          </p:cNvSpPr>
          <p:nvPr/>
        </p:nvSpPr>
        <p:spPr>
          <a:xfrm>
            <a:off x="685800" y="2228850"/>
            <a:ext cx="5143500" cy="1257300"/>
          </a:xfrm>
          <a:prstGeom prst="roundRect">
            <a:avLst>
              <a:gd name="adj" fmla="val 6061"/>
            </a:avLst>
          </a:prstGeom>
          <a:solidFill>
            <a:srgbClr val="FFFFFF"/>
          </a:solidFill>
          <a:ln w="11430">
            <a:solidFill>
              <a:srgbClr val="101214"/>
            </a:solidFill>
            <a:prstDash val="solid"/>
          </a:ln>
        </p:spPr>
        <p:txBody>
          <a:bodyPr/>
          <a:lstStyle/>
          <a:p>
            <a:endParaRPr lang="en-IN"/>
          </a:p>
        </p:txBody>
      </p:sp>
      <p:pic>
        <p:nvPicPr>
          <p:cNvPr id="11" name="Picture 10"/>
          <p:cNvPicPr>
            <a:picLocks noChangeAspect="1"/>
          </p:cNvPicPr>
          <p:nvPr/>
        </p:nvPicPr>
        <p:blipFill>
          <a:blip r:embed="rId4"/>
          <a:srcRect t="32692" b="32692"/>
          <a:stretch>
            <a:fillRect/>
          </a:stretch>
        </p:blipFill>
        <p:spPr>
          <a:xfrm>
            <a:off x="781050" y="2324100"/>
            <a:ext cx="4953000" cy="857250"/>
          </a:xfrm>
          <a:prstGeom prst="rect">
            <a:avLst/>
          </a:prstGeom>
        </p:spPr>
      </p:pic>
      <p:sp>
        <p:nvSpPr>
          <p:cNvPr id="12" name="Rectangle 11">
            <a:extLst>
              <a:ext uri="{FF2B5EF4-FFF2-40B4-BE49-F238E27FC236}">
                <a16:creationId xmlns:a16="http://schemas.microsoft.com/office/drawing/2014/main" id="{4847B130-0EF1-4BA3-A884-EED5F793F994}"/>
              </a:ext>
            </a:extLst>
          </p:cNvPr>
          <p:cNvSpPr>
            <a:spLocks noGrp="1"/>
          </p:cNvSpPr>
          <p:nvPr/>
        </p:nvSpPr>
        <p:spPr>
          <a:xfrm>
            <a:off x="838200" y="3238500"/>
            <a:ext cx="4838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87076"/>
                </a:solidFill>
              </a:defRPr>
            </a:pPr>
            <a:r>
              <a:rPr sz="750" b="0">
                <a:solidFill>
                  <a:srgbClr val="687076"/>
                </a:solidFill>
              </a:rPr>
              <a:t>General Euler-Lagrange equation from the EOM sheet.</a:t>
            </a:r>
          </a:p>
        </p:txBody>
      </p:sp>
      <p:sp>
        <p:nvSpPr>
          <p:cNvPr id="13" name="Rectangle: Rounded Corners 12">
            <a:extLst>
              <a:ext uri="{FF2B5EF4-FFF2-40B4-BE49-F238E27FC236}">
                <a16:creationId xmlns:a16="http://schemas.microsoft.com/office/drawing/2014/main" id="{62D024A7-0929-4864-AEE6-1F0144772B2E}"/>
              </a:ext>
            </a:extLst>
          </p:cNvPr>
          <p:cNvSpPr>
            <a:spLocks noGrp="1"/>
          </p:cNvSpPr>
          <p:nvPr/>
        </p:nvSpPr>
        <p:spPr>
          <a:xfrm>
            <a:off x="685800" y="3600450"/>
            <a:ext cx="5143500" cy="990600"/>
          </a:xfrm>
          <a:prstGeom prst="roundRect">
            <a:avLst>
              <a:gd name="adj" fmla="val 7692"/>
            </a:avLst>
          </a:prstGeom>
          <a:solidFill>
            <a:srgbClr val="FFFFFF"/>
          </a:solidFill>
          <a:ln w="11430">
            <a:solidFill>
              <a:srgbClr val="101214"/>
            </a:solidFill>
            <a:prstDash val="solid"/>
          </a:ln>
        </p:spPr>
        <p:txBody>
          <a:bodyPr/>
          <a:lstStyle/>
          <a:p>
            <a:endParaRPr lang="en-IN"/>
          </a:p>
        </p:txBody>
      </p:sp>
      <p:pic>
        <p:nvPicPr>
          <p:cNvPr id="14" name="Picture 13"/>
          <p:cNvPicPr>
            <a:picLocks noChangeAspect="1"/>
          </p:cNvPicPr>
          <p:nvPr/>
        </p:nvPicPr>
        <p:blipFill>
          <a:blip r:embed="rId5"/>
          <a:srcRect t="24347" b="24347"/>
          <a:stretch>
            <a:fillRect/>
          </a:stretch>
        </p:blipFill>
        <p:spPr>
          <a:xfrm>
            <a:off x="781050" y="3695700"/>
            <a:ext cx="4953000" cy="590550"/>
          </a:xfrm>
          <a:prstGeom prst="rect">
            <a:avLst/>
          </a:prstGeom>
        </p:spPr>
      </p:pic>
      <p:sp>
        <p:nvSpPr>
          <p:cNvPr id="15" name="Rectangle 14">
            <a:extLst>
              <a:ext uri="{FF2B5EF4-FFF2-40B4-BE49-F238E27FC236}">
                <a16:creationId xmlns:a16="http://schemas.microsoft.com/office/drawing/2014/main" id="{7D653260-FBAF-4507-8FE0-55102F06F564}"/>
              </a:ext>
            </a:extLst>
          </p:cNvPr>
          <p:cNvSpPr>
            <a:spLocks noGrp="1"/>
          </p:cNvSpPr>
          <p:nvPr/>
        </p:nvSpPr>
        <p:spPr>
          <a:xfrm>
            <a:off x="838200" y="4343400"/>
            <a:ext cx="4838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87076"/>
                </a:solidFill>
              </a:defRPr>
            </a:pPr>
            <a:r>
              <a:rPr sz="750" b="0">
                <a:solidFill>
                  <a:srgbClr val="687076"/>
                </a:solidFill>
              </a:rPr>
              <a:t>Generalized force relation with actuator and contact contribution.</a:t>
            </a:r>
          </a:p>
        </p:txBody>
      </p:sp>
      <p:sp>
        <p:nvSpPr>
          <p:cNvPr id="16" name="Rectangle: Rounded Corners 15">
            <a:extLst>
              <a:ext uri="{FF2B5EF4-FFF2-40B4-BE49-F238E27FC236}">
                <a16:creationId xmlns:a16="http://schemas.microsoft.com/office/drawing/2014/main" id="{5668EF0C-2359-4B94-BE78-305EDC20E796}"/>
              </a:ext>
            </a:extLst>
          </p:cNvPr>
          <p:cNvSpPr>
            <a:spLocks noGrp="1"/>
          </p:cNvSpPr>
          <p:nvPr/>
        </p:nvSpPr>
        <p:spPr>
          <a:xfrm>
            <a:off x="685800" y="4705350"/>
            <a:ext cx="5143500" cy="876300"/>
          </a:xfrm>
          <a:prstGeom prst="roundRect">
            <a:avLst>
              <a:gd name="adj" fmla="val 8696"/>
            </a:avLst>
          </a:prstGeom>
          <a:solidFill>
            <a:srgbClr val="FFFFFF"/>
          </a:solidFill>
          <a:ln w="11430">
            <a:solidFill>
              <a:srgbClr val="101214"/>
            </a:solidFill>
            <a:prstDash val="solid"/>
          </a:ln>
        </p:spPr>
        <p:txBody>
          <a:bodyPr/>
          <a:lstStyle/>
          <a:p>
            <a:endParaRPr lang="en-IN"/>
          </a:p>
        </p:txBody>
      </p:sp>
      <p:pic>
        <p:nvPicPr>
          <p:cNvPr id="17" name="Picture 16"/>
          <p:cNvPicPr>
            <a:picLocks noChangeAspect="1"/>
          </p:cNvPicPr>
          <p:nvPr/>
        </p:nvPicPr>
        <p:blipFill>
          <a:blip r:embed="rId6"/>
          <a:stretch/>
        </p:blipFill>
        <p:spPr>
          <a:xfrm>
            <a:off x="2292178" y="4800600"/>
            <a:ext cx="1930743" cy="476250"/>
          </a:xfrm>
          <a:prstGeom prst="rect">
            <a:avLst/>
          </a:prstGeom>
        </p:spPr>
      </p:pic>
      <p:sp>
        <p:nvSpPr>
          <p:cNvPr id="18" name="Rectangle 17">
            <a:extLst>
              <a:ext uri="{FF2B5EF4-FFF2-40B4-BE49-F238E27FC236}">
                <a16:creationId xmlns:a16="http://schemas.microsoft.com/office/drawing/2014/main" id="{7CBF0F5E-7A3D-4479-A9A5-F8C4B7D78906}"/>
              </a:ext>
            </a:extLst>
          </p:cNvPr>
          <p:cNvSpPr>
            <a:spLocks noGrp="1"/>
          </p:cNvSpPr>
          <p:nvPr/>
        </p:nvSpPr>
        <p:spPr>
          <a:xfrm>
            <a:off x="838200" y="5334000"/>
            <a:ext cx="4838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87076"/>
                </a:solidFill>
              </a:defRPr>
            </a:pPr>
            <a:r>
              <a:rPr sz="750" b="0">
                <a:solidFill>
                  <a:srgbClr val="687076"/>
                </a:solidFill>
              </a:rPr>
              <a:t>Manipulator-form dynamics relation from the EOM sheet.</a:t>
            </a:r>
          </a:p>
        </p:txBody>
      </p:sp>
      <p:sp>
        <p:nvSpPr>
          <p:cNvPr id="19" name="Rectangle: Rounded Corners 18">
            <a:extLst>
              <a:ext uri="{FF2B5EF4-FFF2-40B4-BE49-F238E27FC236}">
                <a16:creationId xmlns:a16="http://schemas.microsoft.com/office/drawing/2014/main" id="{06DBA68E-E2C5-4568-97E2-3FCA13D19731}"/>
              </a:ext>
            </a:extLst>
          </p:cNvPr>
          <p:cNvSpPr>
            <a:spLocks noGrp="1"/>
          </p:cNvSpPr>
          <p:nvPr/>
        </p:nvSpPr>
        <p:spPr>
          <a:xfrm>
            <a:off x="6191250" y="2228850"/>
            <a:ext cx="5257800" cy="1485900"/>
          </a:xfrm>
          <a:prstGeom prst="roundRect">
            <a:avLst>
              <a:gd name="adj" fmla="val 5128"/>
            </a:avLst>
          </a:prstGeom>
          <a:solidFill>
            <a:srgbClr val="FFFFFF"/>
          </a:solidFill>
          <a:ln w="11430">
            <a:solidFill>
              <a:srgbClr val="101214"/>
            </a:solidFill>
            <a:prstDash val="solid"/>
          </a:ln>
        </p:spPr>
        <p:txBody>
          <a:bodyPr/>
          <a:lstStyle/>
          <a:p>
            <a:endParaRPr lang="en-IN"/>
          </a:p>
        </p:txBody>
      </p:sp>
      <p:sp>
        <p:nvSpPr>
          <p:cNvPr id="20" name="Rectangle 19">
            <a:extLst>
              <a:ext uri="{FF2B5EF4-FFF2-40B4-BE49-F238E27FC236}">
                <a16:creationId xmlns:a16="http://schemas.microsoft.com/office/drawing/2014/main" id="{06E39A68-F5FC-4244-B6EB-6347A84ED9AB}"/>
              </a:ext>
            </a:extLst>
          </p:cNvPr>
          <p:cNvSpPr>
            <a:spLocks noGrp="1"/>
          </p:cNvSpPr>
          <p:nvPr/>
        </p:nvSpPr>
        <p:spPr>
          <a:xfrm>
            <a:off x="6191250" y="2228850"/>
            <a:ext cx="5257800" cy="57150"/>
          </a:xfrm>
          <a:prstGeom prst="rect">
            <a:avLst/>
          </a:prstGeom>
          <a:solidFill>
            <a:srgbClr val="27C47D"/>
          </a:solidFill>
          <a:ln w="0">
            <a:solidFill>
              <a:srgbClr val="000000">
                <a:alpha val="0"/>
              </a:srgbClr>
            </a:solidFill>
            <a:prstDash val="solid"/>
          </a:ln>
        </p:spPr>
        <p:txBody>
          <a:bodyPr/>
          <a:lstStyle/>
          <a:p>
            <a:endParaRPr lang="en-IN"/>
          </a:p>
        </p:txBody>
      </p:sp>
      <p:sp>
        <p:nvSpPr>
          <p:cNvPr id="21" name="Rectangle 20">
            <a:extLst>
              <a:ext uri="{FF2B5EF4-FFF2-40B4-BE49-F238E27FC236}">
                <a16:creationId xmlns:a16="http://schemas.microsoft.com/office/drawing/2014/main" id="{C7917488-640F-4070-A10B-DEA87490B604}"/>
              </a:ext>
            </a:extLst>
          </p:cNvPr>
          <p:cNvSpPr>
            <a:spLocks noGrp="1"/>
          </p:cNvSpPr>
          <p:nvPr/>
        </p:nvSpPr>
        <p:spPr>
          <a:xfrm>
            <a:off x="6400800" y="2400300"/>
            <a:ext cx="4838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Physical Meaning</a:t>
            </a:r>
          </a:p>
        </p:txBody>
      </p:sp>
      <p:sp>
        <p:nvSpPr>
          <p:cNvPr id="22" name="Rectangle 21">
            <a:extLst>
              <a:ext uri="{FF2B5EF4-FFF2-40B4-BE49-F238E27FC236}">
                <a16:creationId xmlns:a16="http://schemas.microsoft.com/office/drawing/2014/main" id="{30538652-6E8D-41E8-B811-40EDC699DE71}"/>
              </a:ext>
            </a:extLst>
          </p:cNvPr>
          <p:cNvSpPr>
            <a:spLocks noGrp="1"/>
          </p:cNvSpPr>
          <p:nvPr/>
        </p:nvSpPr>
        <p:spPr>
          <a:xfrm>
            <a:off x="6400800" y="2762250"/>
            <a:ext cx="483870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The first relation gives the coordinate-wise Euler-Lagrange form.</a:t>
            </a:r>
          </a:p>
          <a:p>
            <a:pPr algn="l">
              <a:defRPr sz="1200" b="0">
                <a:solidFill>
                  <a:srgbClr val="101214"/>
                </a:solidFill>
              </a:defRPr>
            </a:pPr>
            <a:r>
              <a:rPr sz="1200" b="0">
                <a:solidFill>
                  <a:srgbClr val="101214"/>
                </a:solidFill>
              </a:rPr>
              <a:t>• The generalized-force expression adds actuator, damping, friction, and contact terms.</a:t>
            </a:r>
          </a:p>
          <a:p>
            <a:pPr algn="l">
              <a:defRPr sz="1200" b="0">
                <a:solidFill>
                  <a:srgbClr val="101214"/>
                </a:solidFill>
              </a:defRPr>
            </a:pPr>
            <a:r>
              <a:rPr sz="1200" b="0">
                <a:solidFill>
                  <a:srgbClr val="101214"/>
                </a:solidFill>
              </a:rPr>
              <a:t>• The manipulator form summarizes the full multibody dynamics compactly.</a:t>
            </a:r>
          </a:p>
        </p:txBody>
      </p:sp>
      <p:sp>
        <p:nvSpPr>
          <p:cNvPr id="23" name="Rectangle: Rounded Corners 22">
            <a:extLst>
              <a:ext uri="{FF2B5EF4-FFF2-40B4-BE49-F238E27FC236}">
                <a16:creationId xmlns:a16="http://schemas.microsoft.com/office/drawing/2014/main" id="{253A5177-1137-4FE3-A355-F3D4F7B21FEE}"/>
              </a:ext>
            </a:extLst>
          </p:cNvPr>
          <p:cNvSpPr>
            <a:spLocks noGrp="1"/>
          </p:cNvSpPr>
          <p:nvPr/>
        </p:nvSpPr>
        <p:spPr>
          <a:xfrm>
            <a:off x="6191250" y="3886200"/>
            <a:ext cx="5257800" cy="1714500"/>
          </a:xfrm>
          <a:prstGeom prst="roundRect">
            <a:avLst>
              <a:gd name="adj" fmla="val 4444"/>
            </a:avLst>
          </a:prstGeom>
          <a:solidFill>
            <a:srgbClr val="FFFFFF"/>
          </a:solidFill>
          <a:ln w="11430">
            <a:solidFill>
              <a:srgbClr val="101214"/>
            </a:solidFill>
            <a:prstDash val="solid"/>
          </a:ln>
        </p:spPr>
        <p:txBody>
          <a:bodyPr/>
          <a:lstStyle/>
          <a:p>
            <a:endParaRPr lang="en-IN"/>
          </a:p>
        </p:txBody>
      </p:sp>
      <p:sp>
        <p:nvSpPr>
          <p:cNvPr id="24" name="Rectangle 23">
            <a:extLst>
              <a:ext uri="{FF2B5EF4-FFF2-40B4-BE49-F238E27FC236}">
                <a16:creationId xmlns:a16="http://schemas.microsoft.com/office/drawing/2014/main" id="{FF48543F-FA06-4BEC-80FC-2E830D6AC32A}"/>
              </a:ext>
            </a:extLst>
          </p:cNvPr>
          <p:cNvSpPr>
            <a:spLocks noGrp="1"/>
          </p:cNvSpPr>
          <p:nvPr/>
        </p:nvSpPr>
        <p:spPr>
          <a:xfrm>
            <a:off x="6191250" y="3886200"/>
            <a:ext cx="5257800" cy="57150"/>
          </a:xfrm>
          <a:prstGeom prst="rect">
            <a:avLst/>
          </a:prstGeom>
          <a:solidFill>
            <a:srgbClr val="D7A83D"/>
          </a:solidFill>
          <a:ln w="0">
            <a:solidFill>
              <a:srgbClr val="000000">
                <a:alpha val="0"/>
              </a:srgbClr>
            </a:solidFill>
            <a:prstDash val="solid"/>
          </a:ln>
        </p:spPr>
        <p:txBody>
          <a:bodyPr/>
          <a:lstStyle/>
          <a:p>
            <a:endParaRPr lang="en-IN"/>
          </a:p>
        </p:txBody>
      </p:sp>
      <p:sp>
        <p:nvSpPr>
          <p:cNvPr id="25" name="Rectangle 24">
            <a:extLst>
              <a:ext uri="{FF2B5EF4-FFF2-40B4-BE49-F238E27FC236}">
                <a16:creationId xmlns:a16="http://schemas.microsoft.com/office/drawing/2014/main" id="{5A601D6E-62AF-4228-9D2E-35CC46B5E9A4}"/>
              </a:ext>
            </a:extLst>
          </p:cNvPr>
          <p:cNvSpPr>
            <a:spLocks noGrp="1"/>
          </p:cNvSpPr>
          <p:nvPr/>
        </p:nvSpPr>
        <p:spPr>
          <a:xfrm>
            <a:off x="6400800" y="4057650"/>
            <a:ext cx="4838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Contact and Constraints</a:t>
            </a:r>
          </a:p>
        </p:txBody>
      </p:sp>
      <p:sp>
        <p:nvSpPr>
          <p:cNvPr id="26" name="Rectangle 25">
            <a:extLst>
              <a:ext uri="{FF2B5EF4-FFF2-40B4-BE49-F238E27FC236}">
                <a16:creationId xmlns:a16="http://schemas.microsoft.com/office/drawing/2014/main" id="{44DFED84-FFC3-40EC-84F2-F39438448B69}"/>
              </a:ext>
            </a:extLst>
          </p:cNvPr>
          <p:cNvSpPr>
            <a:spLocks noGrp="1"/>
          </p:cNvSpPr>
          <p:nvPr/>
        </p:nvSpPr>
        <p:spPr>
          <a:xfrm>
            <a:off x="6400800" y="4419600"/>
            <a:ext cx="483870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Ground contact enters the equations through the Jacobian-transpose force mapping.</a:t>
            </a:r>
          </a:p>
          <a:p>
            <a:pPr algn="l">
              <a:defRPr sz="1200" b="0">
                <a:solidFill>
                  <a:srgbClr val="101214"/>
                </a:solidFill>
              </a:defRPr>
            </a:pPr>
            <a:r>
              <a:rPr sz="1200" b="0">
                <a:solidFill>
                  <a:srgbClr val="101214"/>
                </a:solidFill>
              </a:rPr>
              <a:t>• This matches the ground-reaction interpretation used in the simulation analysis.</a:t>
            </a:r>
          </a:p>
          <a:p>
            <a:pPr algn="l">
              <a:defRPr sz="1200" b="0">
                <a:solidFill>
                  <a:srgbClr val="101214"/>
                </a:solidFill>
              </a:defRPr>
            </a:pPr>
            <a:r>
              <a:rPr sz="1200" b="0">
                <a:solidFill>
                  <a:srgbClr val="101214"/>
                </a:solidFill>
              </a:rPr>
              <a:t>• The same framework is compatible with walk, squat, and jump cases.</a:t>
            </a:r>
          </a:p>
        </p:txBody>
      </p:sp>
      <p:sp>
        <p:nvSpPr>
          <p:cNvPr id="27" name="Rectangle: Rounded Corners 26">
            <a:extLst>
              <a:ext uri="{FF2B5EF4-FFF2-40B4-BE49-F238E27FC236}">
                <a16:creationId xmlns:a16="http://schemas.microsoft.com/office/drawing/2014/main" id="{041CC7E4-DFC7-4C70-B23B-D5C3F97E2A4A}"/>
              </a:ext>
            </a:extLst>
          </p:cNvPr>
          <p:cNvSpPr>
            <a:spLocks noGrp="1"/>
          </p:cNvSpPr>
          <p:nvPr/>
        </p:nvSpPr>
        <p:spPr>
          <a:xfrm>
            <a:off x="6191250" y="5772150"/>
            <a:ext cx="4000500" cy="704850"/>
          </a:xfrm>
          <a:prstGeom prst="roundRect">
            <a:avLst>
              <a:gd name="adj" fmla="val 10811"/>
            </a:avLst>
          </a:prstGeom>
          <a:solidFill>
            <a:srgbClr val="FFFFFF"/>
          </a:solidFill>
          <a:ln w="11430">
            <a:solidFill>
              <a:srgbClr val="101214"/>
            </a:solidFill>
            <a:prstDash val="solid"/>
          </a:ln>
        </p:spPr>
        <p:txBody>
          <a:bodyPr/>
          <a:lstStyle/>
          <a:p>
            <a:endParaRPr lang="en-IN"/>
          </a:p>
        </p:txBody>
      </p:sp>
      <p:pic>
        <p:nvPicPr>
          <p:cNvPr id="28" name="Picture 27"/>
          <p:cNvPicPr>
            <a:picLocks noChangeAspect="1"/>
          </p:cNvPicPr>
          <p:nvPr/>
        </p:nvPicPr>
        <p:blipFill>
          <a:blip r:embed="rId7"/>
          <a:stretch/>
        </p:blipFill>
        <p:spPr>
          <a:xfrm>
            <a:off x="7915532" y="5867400"/>
            <a:ext cx="551935" cy="304800"/>
          </a:xfrm>
          <a:prstGeom prst="rect">
            <a:avLst/>
          </a:prstGeom>
        </p:spPr>
      </p:pic>
      <p:sp>
        <p:nvSpPr>
          <p:cNvPr id="29" name="Rectangle 28">
            <a:extLst>
              <a:ext uri="{FF2B5EF4-FFF2-40B4-BE49-F238E27FC236}">
                <a16:creationId xmlns:a16="http://schemas.microsoft.com/office/drawing/2014/main" id="{B7B2D97E-91FF-421A-82E9-0D16435454D6}"/>
              </a:ext>
            </a:extLst>
          </p:cNvPr>
          <p:cNvSpPr>
            <a:spLocks noGrp="1"/>
          </p:cNvSpPr>
          <p:nvPr/>
        </p:nvSpPr>
        <p:spPr>
          <a:xfrm>
            <a:off x="6343650" y="6229350"/>
            <a:ext cx="3695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87076"/>
                </a:solidFill>
              </a:defRPr>
            </a:pPr>
            <a:r>
              <a:rPr sz="750" b="0">
                <a:solidFill>
                  <a:srgbClr val="687076"/>
                </a:solidFill>
              </a:rPr>
              <a:t>Contact-force mapping from the EOM sheet.</a:t>
            </a:r>
          </a:p>
        </p:txBody>
      </p:sp>
      <p:sp>
        <p:nvSpPr>
          <p:cNvPr id="30" name="Rectangle 29">
            <a:extLst>
              <a:ext uri="{FF2B5EF4-FFF2-40B4-BE49-F238E27FC236}">
                <a16:creationId xmlns:a16="http://schemas.microsoft.com/office/drawing/2014/main" id="{6A8DC366-DB42-4744-BA06-C8D04F01D865}"/>
              </a:ext>
            </a:extLst>
          </p:cNvPr>
          <p:cNvSpPr>
            <a:spLocks noGrp="1"/>
          </p:cNvSpPr>
          <p:nvPr/>
        </p:nvSpPr>
        <p:spPr>
          <a:xfrm>
            <a:off x="10382250" y="5848350"/>
            <a:ext cx="10668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01214"/>
                </a:solidFill>
              </a:defRPr>
            </a:pPr>
            <a:r>
              <a:rPr sz="1350" b="1">
                <a:solidFill>
                  <a:srgbClr val="101214"/>
                </a:solidFill>
              </a:rPr>
              <a:t>n = 12 DOF</a:t>
            </a:r>
          </a:p>
          <a:p>
            <a:pPr algn="ctr">
              <a:defRPr sz="1350" b="1">
                <a:solidFill>
                  <a:srgbClr val="101214"/>
                </a:solidFill>
              </a:defRPr>
            </a:pPr>
            <a:r>
              <a:rPr sz="1350" b="1">
                <a:solidFill>
                  <a:srgbClr val="101214"/>
                </a:solidFill>
              </a:rPr>
              <a:t>4 validation actions</a:t>
            </a:r>
          </a:p>
        </p:txBody>
      </p:sp>
    </p:spTree>
    <p:extLst>
      <p:ext uri="{BB962C8B-B14F-4D97-AF65-F5344CB8AC3E}">
        <p14:creationId xmlns:p14="http://schemas.microsoft.com/office/powerpoint/2010/main" val="543599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38"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4788C344-7F34-4089-BE76-84C58C1670F4}"/>
              </a:ext>
            </a:extLst>
          </p:cNvPr>
          <p:cNvSpPr>
            <a:spLocks noGrp="1"/>
          </p:cNvSpPr>
          <p:nvPr/>
        </p:nvSpPr>
        <p:spPr>
          <a:xfrm>
            <a:off x="0" y="0"/>
            <a:ext cx="12192000" cy="6858000"/>
          </a:xfrm>
          <a:prstGeom prst="rect">
            <a:avLst/>
          </a:prstGeom>
          <a:solidFill>
            <a:srgbClr val="FFFFFF">
              <a:alpha val="72941"/>
            </a:srgbClr>
          </a:solidFill>
          <a:ln w="0">
            <a:solidFill>
              <a:srgbClr val="000000">
                <a:alpha val="0"/>
              </a:srgbClr>
            </a:solidFill>
            <a:prstDash val="solid"/>
          </a:ln>
        </p:spPr>
        <p:txBody>
          <a:bodyPr/>
          <a:lstStyle/>
          <a:p>
            <a:endParaRPr lang="en-IN"/>
          </a:p>
        </p:txBody>
      </p:sp>
      <p:sp>
        <p:nvSpPr>
          <p:cNvPr id="4" name="Rectangle 3">
            <a:extLst>
              <a:ext uri="{FF2B5EF4-FFF2-40B4-BE49-F238E27FC236}">
                <a16:creationId xmlns:a16="http://schemas.microsoft.com/office/drawing/2014/main" id="{DF639437-1958-4049-B8D0-9A28D76517A5}"/>
              </a:ext>
            </a:extLst>
          </p:cNvPr>
          <p:cNvSpPr>
            <a:spLocks noGrp="1"/>
          </p:cNvSpPr>
          <p:nvPr/>
        </p:nvSpPr>
        <p:spPr>
          <a:xfrm>
            <a:off x="609600" y="323850"/>
            <a:ext cx="409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16B49"/>
                </a:solidFill>
              </a:defRPr>
            </a:pPr>
            <a:r>
              <a:rPr sz="975" b="1">
                <a:solidFill>
                  <a:srgbClr val="116B49"/>
                </a:solidFill>
              </a:rPr>
              <a:t>SECTION 06</a:t>
            </a:r>
          </a:p>
        </p:txBody>
      </p:sp>
      <p:sp>
        <p:nvSpPr>
          <p:cNvPr id="5" name="Rectangle 4">
            <a:extLst>
              <a:ext uri="{FF2B5EF4-FFF2-40B4-BE49-F238E27FC236}">
                <a16:creationId xmlns:a16="http://schemas.microsoft.com/office/drawing/2014/main" id="{816A71B5-CCEB-4EED-AD52-87F37A6284A1}"/>
              </a:ext>
            </a:extLst>
          </p:cNvPr>
          <p:cNvSpPr>
            <a:spLocks noGrp="1"/>
          </p:cNvSpPr>
          <p:nvPr/>
        </p:nvSpPr>
        <p:spPr>
          <a:xfrm>
            <a:off x="10610850" y="32385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16B49"/>
                </a:solidFill>
              </a:defRPr>
            </a:pPr>
            <a:r>
              <a:rPr sz="975" b="1">
                <a:solidFill>
                  <a:srgbClr val="116B49"/>
                </a:solidFill>
              </a:rPr>
              <a:t>07 / 13</a:t>
            </a:r>
          </a:p>
        </p:txBody>
      </p:sp>
      <p:sp>
        <p:nvSpPr>
          <p:cNvPr id="6" name="Rectangle 5">
            <a:extLst>
              <a:ext uri="{FF2B5EF4-FFF2-40B4-BE49-F238E27FC236}">
                <a16:creationId xmlns:a16="http://schemas.microsoft.com/office/drawing/2014/main" id="{A768ECD5-5FE2-4596-86BF-D57CD91AAE86}"/>
              </a:ext>
            </a:extLst>
          </p:cNvPr>
          <p:cNvSpPr>
            <a:spLocks noGrp="1"/>
          </p:cNvSpPr>
          <p:nvPr/>
        </p:nvSpPr>
        <p:spPr>
          <a:xfrm>
            <a:off x="609600" y="609600"/>
            <a:ext cx="10972800" cy="19050"/>
          </a:xfrm>
          <a:prstGeom prst="rect">
            <a:avLst/>
          </a:prstGeom>
          <a:solidFill>
            <a:srgbClr val="101214"/>
          </a:solidFill>
          <a:ln w="0">
            <a:solidFill>
              <a:srgbClr val="000000">
                <a:alpha val="0"/>
              </a:srgbClr>
            </a:solidFill>
            <a:prstDash val="solid"/>
          </a:ln>
        </p:spPr>
        <p:txBody>
          <a:bodyPr/>
          <a:lstStyle/>
          <a:p>
            <a:endParaRPr lang="en-IN"/>
          </a:p>
        </p:txBody>
      </p:sp>
      <p:sp>
        <p:nvSpPr>
          <p:cNvPr id="7" name="Oval 6">
            <a:extLst>
              <a:ext uri="{FF2B5EF4-FFF2-40B4-BE49-F238E27FC236}">
                <a16:creationId xmlns:a16="http://schemas.microsoft.com/office/drawing/2014/main" id="{D2D974AE-E391-41AB-877D-DD27349445A2}"/>
              </a:ext>
            </a:extLst>
          </p:cNvPr>
          <p:cNvSpPr>
            <a:spLocks noGrp="1"/>
          </p:cNvSpPr>
          <p:nvPr/>
        </p:nvSpPr>
        <p:spPr>
          <a:xfrm>
            <a:off x="542925" y="542925"/>
            <a:ext cx="152400" cy="152400"/>
          </a:xfrm>
          <a:prstGeom prst="ellipse">
            <a:avLst/>
          </a:prstGeom>
          <a:solidFill>
            <a:srgbClr val="27C47D"/>
          </a:solidFill>
          <a:ln w="19050">
            <a:solidFill>
              <a:srgbClr val="101214"/>
            </a:solidFill>
            <a:prstDash val="solid"/>
          </a:ln>
        </p:spPr>
        <p:txBody>
          <a:bodyPr/>
          <a:lstStyle/>
          <a:p>
            <a:endParaRPr lang="en-IN"/>
          </a:p>
        </p:txBody>
      </p:sp>
      <p:sp>
        <p:nvSpPr>
          <p:cNvPr id="8" name="Rectangle 7">
            <a:extLst>
              <a:ext uri="{FF2B5EF4-FFF2-40B4-BE49-F238E27FC236}">
                <a16:creationId xmlns:a16="http://schemas.microsoft.com/office/drawing/2014/main" id="{78607881-5882-47FF-A342-0BE581808C03}"/>
              </a:ext>
            </a:extLst>
          </p:cNvPr>
          <p:cNvSpPr>
            <a:spLocks noGrp="1"/>
          </p:cNvSpPr>
          <p:nvPr/>
        </p:nvSpPr>
        <p:spPr>
          <a:xfrm>
            <a:off x="609600" y="81915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01214"/>
                </a:solidFill>
              </a:defRPr>
            </a:pPr>
            <a:r>
              <a:rPr sz="2550" b="1">
                <a:solidFill>
                  <a:srgbClr val="101214"/>
                </a:solidFill>
              </a:rPr>
              <a:t>6. Simulation &amp; Energy Analysis</a:t>
            </a:r>
          </a:p>
        </p:txBody>
      </p:sp>
      <p:sp>
        <p:nvSpPr>
          <p:cNvPr id="9" name="Rectangle 8">
            <a:extLst>
              <a:ext uri="{FF2B5EF4-FFF2-40B4-BE49-F238E27FC236}">
                <a16:creationId xmlns:a16="http://schemas.microsoft.com/office/drawing/2014/main" id="{01A5D1A7-9608-434A-9D13-34962ECD1E23}"/>
              </a:ext>
            </a:extLst>
          </p:cNvPr>
          <p:cNvSpPr>
            <a:spLocks noGrp="1"/>
          </p:cNvSpPr>
          <p:nvPr/>
        </p:nvSpPr>
        <p:spPr>
          <a:xfrm>
            <a:off x="628650" y="1619250"/>
            <a:ext cx="7239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30363A"/>
                </a:solidFill>
              </a:defRPr>
            </a:pPr>
            <a:r>
              <a:rPr sz="1350" b="0">
                <a:solidFill>
                  <a:srgbClr val="30363A"/>
                </a:solidFill>
              </a:rPr>
              <a:t>The analysis pipeline records grouped Hip, Knee, and Ankle energies together with total GRF and grouped joint signals for every action.</a:t>
            </a:r>
          </a:p>
        </p:txBody>
      </p:sp>
      <p:sp>
        <p:nvSpPr>
          <p:cNvPr id="10" name="Rectangle: Rounded Corners 9">
            <a:extLst>
              <a:ext uri="{FF2B5EF4-FFF2-40B4-BE49-F238E27FC236}">
                <a16:creationId xmlns:a16="http://schemas.microsoft.com/office/drawing/2014/main" id="{B3B58455-7025-4DDB-9A70-DD539467BD35}"/>
              </a:ext>
            </a:extLst>
          </p:cNvPr>
          <p:cNvSpPr>
            <a:spLocks noGrp="1"/>
          </p:cNvSpPr>
          <p:nvPr/>
        </p:nvSpPr>
        <p:spPr>
          <a:xfrm>
            <a:off x="781050" y="2324100"/>
            <a:ext cx="2286000" cy="1352550"/>
          </a:xfrm>
          <a:prstGeom prst="roundRect">
            <a:avLst>
              <a:gd name="adj" fmla="val 5634"/>
            </a:avLst>
          </a:prstGeom>
          <a:solidFill>
            <a:srgbClr val="F7F4ED">
              <a:alpha val="96078"/>
            </a:srgbClr>
          </a:solidFill>
          <a:ln w="11430">
            <a:solidFill>
              <a:srgbClr val="101214"/>
            </a:solidFill>
            <a:prstDash val="solid"/>
          </a:ln>
        </p:spPr>
        <p:txBody>
          <a:bodyPr/>
          <a:lstStyle/>
          <a:p>
            <a:endParaRPr lang="en-IN"/>
          </a:p>
        </p:txBody>
      </p:sp>
      <p:sp>
        <p:nvSpPr>
          <p:cNvPr id="11" name="Rectangle 10">
            <a:extLst>
              <a:ext uri="{FF2B5EF4-FFF2-40B4-BE49-F238E27FC236}">
                <a16:creationId xmlns:a16="http://schemas.microsoft.com/office/drawing/2014/main" id="{30AAEABC-CDF4-4ACC-900E-16E82EC1C08E}"/>
              </a:ext>
            </a:extLst>
          </p:cNvPr>
          <p:cNvSpPr>
            <a:spLocks noGrp="1"/>
          </p:cNvSpPr>
          <p:nvPr/>
        </p:nvSpPr>
        <p:spPr>
          <a:xfrm>
            <a:off x="781050" y="2324100"/>
            <a:ext cx="2286000" cy="66675"/>
          </a:xfrm>
          <a:prstGeom prst="rect">
            <a:avLst/>
          </a:prstGeom>
          <a:solidFill>
            <a:srgbClr val="27C47D"/>
          </a:solidFill>
          <a:ln w="0">
            <a:solidFill>
              <a:srgbClr val="000000">
                <a:alpha val="0"/>
              </a:srgbClr>
            </a:solidFill>
            <a:prstDash val="solid"/>
          </a:ln>
        </p:spPr>
        <p:txBody>
          <a:bodyPr/>
          <a:lstStyle/>
          <a:p>
            <a:endParaRPr lang="en-IN"/>
          </a:p>
        </p:txBody>
      </p:sp>
      <p:sp>
        <p:nvSpPr>
          <p:cNvPr id="12" name="Rectangle 11">
            <a:extLst>
              <a:ext uri="{FF2B5EF4-FFF2-40B4-BE49-F238E27FC236}">
                <a16:creationId xmlns:a16="http://schemas.microsoft.com/office/drawing/2014/main" id="{B538E5A6-1E78-49C5-8F18-0191214D8F28}"/>
              </a:ext>
            </a:extLst>
          </p:cNvPr>
          <p:cNvSpPr>
            <a:spLocks noGrp="1"/>
          </p:cNvSpPr>
          <p:nvPr/>
        </p:nvSpPr>
        <p:spPr>
          <a:xfrm>
            <a:off x="990600" y="2495550"/>
            <a:ext cx="18669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1214"/>
                </a:solidFill>
              </a:defRPr>
            </a:pPr>
            <a:r>
              <a:rPr sz="2250" b="1">
                <a:solidFill>
                  <a:srgbClr val="101214"/>
                </a:solidFill>
              </a:rPr>
              <a:t>2420.1 N</a:t>
            </a:r>
          </a:p>
        </p:txBody>
      </p:sp>
      <p:sp>
        <p:nvSpPr>
          <p:cNvPr id="13" name="Rectangle 12">
            <a:extLst>
              <a:ext uri="{FF2B5EF4-FFF2-40B4-BE49-F238E27FC236}">
                <a16:creationId xmlns:a16="http://schemas.microsoft.com/office/drawing/2014/main" id="{700A6970-FA2F-465A-A54D-CFB59F2995AF}"/>
              </a:ext>
            </a:extLst>
          </p:cNvPr>
          <p:cNvSpPr>
            <a:spLocks noGrp="1"/>
          </p:cNvSpPr>
          <p:nvPr/>
        </p:nvSpPr>
        <p:spPr>
          <a:xfrm>
            <a:off x="1009650" y="3028950"/>
            <a:ext cx="18288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30363A"/>
                </a:solidFill>
              </a:defRPr>
            </a:pPr>
            <a:r>
              <a:rPr sz="1125" b="0">
                <a:solidFill>
                  <a:srgbClr val="30363A"/>
                </a:solidFill>
              </a:rPr>
              <a:t>Peak total GRF in walk</a:t>
            </a:r>
          </a:p>
        </p:txBody>
      </p:sp>
      <p:sp>
        <p:nvSpPr>
          <p:cNvPr id="14" name="Rectangle 13">
            <a:extLst>
              <a:ext uri="{FF2B5EF4-FFF2-40B4-BE49-F238E27FC236}">
                <a16:creationId xmlns:a16="http://schemas.microsoft.com/office/drawing/2014/main" id="{C9B30E7B-EA21-4F24-8B02-A2B2EE467695}"/>
              </a:ext>
            </a:extLst>
          </p:cNvPr>
          <p:cNvSpPr>
            <a:spLocks noGrp="1"/>
          </p:cNvSpPr>
          <p:nvPr/>
        </p:nvSpPr>
        <p:spPr>
          <a:xfrm>
            <a:off x="1009650" y="3333750"/>
            <a:ext cx="1828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687076"/>
                </a:solidFill>
              </a:defRPr>
            </a:pPr>
            <a:r>
              <a:rPr sz="750" b="0">
                <a:solidFill>
                  <a:srgbClr val="687076"/>
                </a:solidFill>
              </a:rPr>
              <a:t>from saved analysis CSV</a:t>
            </a:r>
          </a:p>
        </p:txBody>
      </p:sp>
      <p:sp>
        <p:nvSpPr>
          <p:cNvPr id="15" name="Rectangle: Rounded Corners 14">
            <a:extLst>
              <a:ext uri="{FF2B5EF4-FFF2-40B4-BE49-F238E27FC236}">
                <a16:creationId xmlns:a16="http://schemas.microsoft.com/office/drawing/2014/main" id="{B6ACEFEF-0297-4DF7-9633-FC6AD627FD4E}"/>
              </a:ext>
            </a:extLst>
          </p:cNvPr>
          <p:cNvSpPr>
            <a:spLocks noGrp="1"/>
          </p:cNvSpPr>
          <p:nvPr/>
        </p:nvSpPr>
        <p:spPr>
          <a:xfrm>
            <a:off x="3333750" y="2324100"/>
            <a:ext cx="2286000" cy="1352550"/>
          </a:xfrm>
          <a:prstGeom prst="roundRect">
            <a:avLst>
              <a:gd name="adj" fmla="val 5634"/>
            </a:avLst>
          </a:prstGeom>
          <a:solidFill>
            <a:srgbClr val="F7F4ED">
              <a:alpha val="96078"/>
            </a:srgbClr>
          </a:solidFill>
          <a:ln w="11430">
            <a:solidFill>
              <a:srgbClr val="101214"/>
            </a:solidFill>
            <a:prstDash val="solid"/>
          </a:ln>
        </p:spPr>
        <p:txBody>
          <a:bodyPr/>
          <a:lstStyle/>
          <a:p>
            <a:endParaRPr lang="en-IN"/>
          </a:p>
        </p:txBody>
      </p:sp>
      <p:sp>
        <p:nvSpPr>
          <p:cNvPr id="16" name="Rectangle 15">
            <a:extLst>
              <a:ext uri="{FF2B5EF4-FFF2-40B4-BE49-F238E27FC236}">
                <a16:creationId xmlns:a16="http://schemas.microsoft.com/office/drawing/2014/main" id="{B0E56C8D-E23B-4D93-AA30-B32145724609}"/>
              </a:ext>
            </a:extLst>
          </p:cNvPr>
          <p:cNvSpPr>
            <a:spLocks noGrp="1"/>
          </p:cNvSpPr>
          <p:nvPr/>
        </p:nvSpPr>
        <p:spPr>
          <a:xfrm>
            <a:off x="3333750" y="2324100"/>
            <a:ext cx="2286000" cy="66675"/>
          </a:xfrm>
          <a:prstGeom prst="rect">
            <a:avLst/>
          </a:prstGeom>
          <a:solidFill>
            <a:srgbClr val="D7A83D"/>
          </a:solidFill>
          <a:ln w="0">
            <a:solidFill>
              <a:srgbClr val="000000">
                <a:alpha val="0"/>
              </a:srgbClr>
            </a:solidFill>
            <a:prstDash val="solid"/>
          </a:ln>
        </p:spPr>
        <p:txBody>
          <a:bodyPr/>
          <a:lstStyle/>
          <a:p>
            <a:endParaRPr lang="en-IN"/>
          </a:p>
        </p:txBody>
      </p:sp>
      <p:sp>
        <p:nvSpPr>
          <p:cNvPr id="17" name="Rectangle 16">
            <a:extLst>
              <a:ext uri="{FF2B5EF4-FFF2-40B4-BE49-F238E27FC236}">
                <a16:creationId xmlns:a16="http://schemas.microsoft.com/office/drawing/2014/main" id="{FA280005-75D4-4205-BF4F-F4DC3D0F1911}"/>
              </a:ext>
            </a:extLst>
          </p:cNvPr>
          <p:cNvSpPr>
            <a:spLocks noGrp="1"/>
          </p:cNvSpPr>
          <p:nvPr/>
        </p:nvSpPr>
        <p:spPr>
          <a:xfrm>
            <a:off x="3543300" y="2495550"/>
            <a:ext cx="18669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1214"/>
                </a:solidFill>
              </a:defRPr>
            </a:pPr>
            <a:r>
              <a:rPr sz="2250" b="1">
                <a:solidFill>
                  <a:srgbClr val="101214"/>
                </a:solidFill>
              </a:rPr>
              <a:t>2.89 J</a:t>
            </a:r>
          </a:p>
        </p:txBody>
      </p:sp>
      <p:sp>
        <p:nvSpPr>
          <p:cNvPr id="18" name="Rectangle 17">
            <a:extLst>
              <a:ext uri="{FF2B5EF4-FFF2-40B4-BE49-F238E27FC236}">
                <a16:creationId xmlns:a16="http://schemas.microsoft.com/office/drawing/2014/main" id="{BA1652E4-C25F-4BEF-A02B-3BA89B472265}"/>
              </a:ext>
            </a:extLst>
          </p:cNvPr>
          <p:cNvSpPr>
            <a:spLocks noGrp="1"/>
          </p:cNvSpPr>
          <p:nvPr/>
        </p:nvSpPr>
        <p:spPr>
          <a:xfrm>
            <a:off x="3562350" y="3028950"/>
            <a:ext cx="18288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30363A"/>
                </a:solidFill>
              </a:defRPr>
            </a:pPr>
            <a:r>
              <a:rPr sz="1125" b="0">
                <a:solidFill>
                  <a:srgbClr val="30363A"/>
                </a:solidFill>
              </a:rPr>
              <a:t>Peak hip total energy</a:t>
            </a:r>
          </a:p>
        </p:txBody>
      </p:sp>
      <p:sp>
        <p:nvSpPr>
          <p:cNvPr id="19" name="Rectangle 18">
            <a:extLst>
              <a:ext uri="{FF2B5EF4-FFF2-40B4-BE49-F238E27FC236}">
                <a16:creationId xmlns:a16="http://schemas.microsoft.com/office/drawing/2014/main" id="{38A32EB3-ACEF-442B-9E4B-D36F27F7B717}"/>
              </a:ext>
            </a:extLst>
          </p:cNvPr>
          <p:cNvSpPr>
            <a:spLocks noGrp="1"/>
          </p:cNvSpPr>
          <p:nvPr/>
        </p:nvSpPr>
        <p:spPr>
          <a:xfrm>
            <a:off x="3562350" y="3333750"/>
            <a:ext cx="1828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687076"/>
                </a:solidFill>
              </a:defRPr>
            </a:pPr>
            <a:r>
              <a:rPr sz="750" b="0">
                <a:solidFill>
                  <a:srgbClr val="687076"/>
                </a:solidFill>
              </a:rPr>
              <a:t>grouped Hip channel</a:t>
            </a:r>
          </a:p>
        </p:txBody>
      </p:sp>
      <p:sp>
        <p:nvSpPr>
          <p:cNvPr id="20" name="Rectangle: Rounded Corners 19">
            <a:extLst>
              <a:ext uri="{FF2B5EF4-FFF2-40B4-BE49-F238E27FC236}">
                <a16:creationId xmlns:a16="http://schemas.microsoft.com/office/drawing/2014/main" id="{51A2A5D7-7BA5-4F3F-811E-496CF23CC4C9}"/>
              </a:ext>
            </a:extLst>
          </p:cNvPr>
          <p:cNvSpPr>
            <a:spLocks noGrp="1"/>
          </p:cNvSpPr>
          <p:nvPr/>
        </p:nvSpPr>
        <p:spPr>
          <a:xfrm>
            <a:off x="5886450" y="2324100"/>
            <a:ext cx="2286000" cy="1352550"/>
          </a:xfrm>
          <a:prstGeom prst="roundRect">
            <a:avLst>
              <a:gd name="adj" fmla="val 5634"/>
            </a:avLst>
          </a:prstGeom>
          <a:solidFill>
            <a:srgbClr val="F7F4ED">
              <a:alpha val="96078"/>
            </a:srgbClr>
          </a:solidFill>
          <a:ln w="11430">
            <a:solidFill>
              <a:srgbClr val="101214"/>
            </a:solidFill>
            <a:prstDash val="solid"/>
          </a:ln>
        </p:spPr>
        <p:txBody>
          <a:bodyPr/>
          <a:lstStyle/>
          <a:p>
            <a:endParaRPr lang="en-IN"/>
          </a:p>
        </p:txBody>
      </p:sp>
      <p:sp>
        <p:nvSpPr>
          <p:cNvPr id="21" name="Rectangle 20">
            <a:extLst>
              <a:ext uri="{FF2B5EF4-FFF2-40B4-BE49-F238E27FC236}">
                <a16:creationId xmlns:a16="http://schemas.microsoft.com/office/drawing/2014/main" id="{4F0E0F05-F906-4A65-8CA9-084E9DC60926}"/>
              </a:ext>
            </a:extLst>
          </p:cNvPr>
          <p:cNvSpPr>
            <a:spLocks noGrp="1"/>
          </p:cNvSpPr>
          <p:nvPr/>
        </p:nvSpPr>
        <p:spPr>
          <a:xfrm>
            <a:off x="5886450" y="2324100"/>
            <a:ext cx="2286000" cy="66675"/>
          </a:xfrm>
          <a:prstGeom prst="rect">
            <a:avLst/>
          </a:prstGeom>
          <a:solidFill>
            <a:srgbClr val="E86F5B"/>
          </a:solidFill>
          <a:ln w="0">
            <a:solidFill>
              <a:srgbClr val="000000">
                <a:alpha val="0"/>
              </a:srgbClr>
            </a:solidFill>
            <a:prstDash val="solid"/>
          </a:ln>
        </p:spPr>
        <p:txBody>
          <a:bodyPr/>
          <a:lstStyle/>
          <a:p>
            <a:endParaRPr lang="en-IN"/>
          </a:p>
        </p:txBody>
      </p:sp>
      <p:sp>
        <p:nvSpPr>
          <p:cNvPr id="22" name="Rectangle 21">
            <a:extLst>
              <a:ext uri="{FF2B5EF4-FFF2-40B4-BE49-F238E27FC236}">
                <a16:creationId xmlns:a16="http://schemas.microsoft.com/office/drawing/2014/main" id="{95E544E6-4AF8-417F-ABA4-6C67D6B3275E}"/>
              </a:ext>
            </a:extLst>
          </p:cNvPr>
          <p:cNvSpPr>
            <a:spLocks noGrp="1"/>
          </p:cNvSpPr>
          <p:nvPr/>
        </p:nvSpPr>
        <p:spPr>
          <a:xfrm>
            <a:off x="6096000" y="2495550"/>
            <a:ext cx="18669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1214"/>
                </a:solidFill>
              </a:defRPr>
            </a:pPr>
            <a:r>
              <a:rPr sz="2250" b="1">
                <a:solidFill>
                  <a:srgbClr val="101214"/>
                </a:solidFill>
              </a:rPr>
              <a:t>0.59 J</a:t>
            </a:r>
          </a:p>
        </p:txBody>
      </p:sp>
      <p:sp>
        <p:nvSpPr>
          <p:cNvPr id="23" name="Rectangle 22">
            <a:extLst>
              <a:ext uri="{FF2B5EF4-FFF2-40B4-BE49-F238E27FC236}">
                <a16:creationId xmlns:a16="http://schemas.microsoft.com/office/drawing/2014/main" id="{3B610F18-C4FE-41DB-92A2-7B39319AC3B9}"/>
              </a:ext>
            </a:extLst>
          </p:cNvPr>
          <p:cNvSpPr>
            <a:spLocks noGrp="1"/>
          </p:cNvSpPr>
          <p:nvPr/>
        </p:nvSpPr>
        <p:spPr>
          <a:xfrm>
            <a:off x="6115050" y="3028950"/>
            <a:ext cx="18288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30363A"/>
                </a:solidFill>
              </a:defRPr>
            </a:pPr>
            <a:r>
              <a:rPr sz="1125" b="0">
                <a:solidFill>
                  <a:srgbClr val="30363A"/>
                </a:solidFill>
              </a:rPr>
              <a:t>Peak knee total energy</a:t>
            </a:r>
          </a:p>
        </p:txBody>
      </p:sp>
      <p:sp>
        <p:nvSpPr>
          <p:cNvPr id="24" name="Rectangle 23">
            <a:extLst>
              <a:ext uri="{FF2B5EF4-FFF2-40B4-BE49-F238E27FC236}">
                <a16:creationId xmlns:a16="http://schemas.microsoft.com/office/drawing/2014/main" id="{BADB3326-6EB3-4616-945F-300B3CBB04DA}"/>
              </a:ext>
            </a:extLst>
          </p:cNvPr>
          <p:cNvSpPr>
            <a:spLocks noGrp="1"/>
          </p:cNvSpPr>
          <p:nvPr/>
        </p:nvSpPr>
        <p:spPr>
          <a:xfrm>
            <a:off x="6115050" y="3333750"/>
            <a:ext cx="1828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687076"/>
                </a:solidFill>
              </a:defRPr>
            </a:pPr>
            <a:r>
              <a:rPr sz="750" b="0">
                <a:solidFill>
                  <a:srgbClr val="687076"/>
                </a:solidFill>
              </a:rPr>
              <a:t>grouped Knee channel</a:t>
            </a:r>
          </a:p>
        </p:txBody>
      </p:sp>
      <p:sp>
        <p:nvSpPr>
          <p:cNvPr id="25" name="Rectangle: Rounded Corners 24">
            <a:extLst>
              <a:ext uri="{FF2B5EF4-FFF2-40B4-BE49-F238E27FC236}">
                <a16:creationId xmlns:a16="http://schemas.microsoft.com/office/drawing/2014/main" id="{97248ABD-EBB0-4C87-ADB2-6FD1F81E9EA8}"/>
              </a:ext>
            </a:extLst>
          </p:cNvPr>
          <p:cNvSpPr>
            <a:spLocks noGrp="1"/>
          </p:cNvSpPr>
          <p:nvPr/>
        </p:nvSpPr>
        <p:spPr>
          <a:xfrm>
            <a:off x="8439150" y="2324100"/>
            <a:ext cx="2286000" cy="1352550"/>
          </a:xfrm>
          <a:prstGeom prst="roundRect">
            <a:avLst>
              <a:gd name="adj" fmla="val 5634"/>
            </a:avLst>
          </a:prstGeom>
          <a:solidFill>
            <a:srgbClr val="F7F4ED">
              <a:alpha val="96078"/>
            </a:srgbClr>
          </a:solidFill>
          <a:ln w="11430">
            <a:solidFill>
              <a:srgbClr val="101214"/>
            </a:solidFill>
            <a:prstDash val="solid"/>
          </a:ln>
        </p:spPr>
        <p:txBody>
          <a:bodyPr/>
          <a:lstStyle/>
          <a:p>
            <a:endParaRPr lang="en-IN"/>
          </a:p>
        </p:txBody>
      </p:sp>
      <p:sp>
        <p:nvSpPr>
          <p:cNvPr id="26" name="Rectangle 25">
            <a:extLst>
              <a:ext uri="{FF2B5EF4-FFF2-40B4-BE49-F238E27FC236}">
                <a16:creationId xmlns:a16="http://schemas.microsoft.com/office/drawing/2014/main" id="{81428FC7-B11A-4E33-8F93-449983F91D34}"/>
              </a:ext>
            </a:extLst>
          </p:cNvPr>
          <p:cNvSpPr>
            <a:spLocks noGrp="1"/>
          </p:cNvSpPr>
          <p:nvPr/>
        </p:nvSpPr>
        <p:spPr>
          <a:xfrm>
            <a:off x="8439150" y="2324100"/>
            <a:ext cx="2286000" cy="66675"/>
          </a:xfrm>
          <a:prstGeom prst="rect">
            <a:avLst/>
          </a:prstGeom>
          <a:solidFill>
            <a:srgbClr val="27C47D"/>
          </a:solidFill>
          <a:ln w="0">
            <a:solidFill>
              <a:srgbClr val="000000">
                <a:alpha val="0"/>
              </a:srgbClr>
            </a:solidFill>
            <a:prstDash val="solid"/>
          </a:ln>
        </p:spPr>
        <p:txBody>
          <a:bodyPr/>
          <a:lstStyle/>
          <a:p>
            <a:endParaRPr lang="en-IN"/>
          </a:p>
        </p:txBody>
      </p:sp>
      <p:sp>
        <p:nvSpPr>
          <p:cNvPr id="27" name="Rectangle 26">
            <a:extLst>
              <a:ext uri="{FF2B5EF4-FFF2-40B4-BE49-F238E27FC236}">
                <a16:creationId xmlns:a16="http://schemas.microsoft.com/office/drawing/2014/main" id="{1F49E390-4806-46C7-B842-2AB650FBC200}"/>
              </a:ext>
            </a:extLst>
          </p:cNvPr>
          <p:cNvSpPr>
            <a:spLocks noGrp="1"/>
          </p:cNvSpPr>
          <p:nvPr/>
        </p:nvSpPr>
        <p:spPr>
          <a:xfrm>
            <a:off x="8648700" y="2495550"/>
            <a:ext cx="18669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1214"/>
                </a:solidFill>
              </a:defRPr>
            </a:pPr>
            <a:r>
              <a:rPr sz="2250" b="1">
                <a:solidFill>
                  <a:srgbClr val="101214"/>
                </a:solidFill>
              </a:rPr>
              <a:t>0.47 J</a:t>
            </a:r>
          </a:p>
        </p:txBody>
      </p:sp>
      <p:sp>
        <p:nvSpPr>
          <p:cNvPr id="28" name="Rectangle 27">
            <a:extLst>
              <a:ext uri="{FF2B5EF4-FFF2-40B4-BE49-F238E27FC236}">
                <a16:creationId xmlns:a16="http://schemas.microsoft.com/office/drawing/2014/main" id="{B166D98F-A9B2-4BC8-8D80-0461632B30AE}"/>
              </a:ext>
            </a:extLst>
          </p:cNvPr>
          <p:cNvSpPr>
            <a:spLocks noGrp="1"/>
          </p:cNvSpPr>
          <p:nvPr/>
        </p:nvSpPr>
        <p:spPr>
          <a:xfrm>
            <a:off x="8667750" y="3028950"/>
            <a:ext cx="18288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30363A"/>
                </a:solidFill>
              </a:defRPr>
            </a:pPr>
            <a:r>
              <a:rPr sz="1125" b="0">
                <a:solidFill>
                  <a:srgbClr val="30363A"/>
                </a:solidFill>
              </a:rPr>
              <a:t>Peak ankle total energy</a:t>
            </a:r>
          </a:p>
        </p:txBody>
      </p:sp>
      <p:sp>
        <p:nvSpPr>
          <p:cNvPr id="29" name="Rectangle 28">
            <a:extLst>
              <a:ext uri="{FF2B5EF4-FFF2-40B4-BE49-F238E27FC236}">
                <a16:creationId xmlns:a16="http://schemas.microsoft.com/office/drawing/2014/main" id="{5D2121AF-BCD6-4856-A24B-608FAB2DE993}"/>
              </a:ext>
            </a:extLst>
          </p:cNvPr>
          <p:cNvSpPr>
            <a:spLocks noGrp="1"/>
          </p:cNvSpPr>
          <p:nvPr/>
        </p:nvSpPr>
        <p:spPr>
          <a:xfrm>
            <a:off x="8667750" y="3333750"/>
            <a:ext cx="1828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687076"/>
                </a:solidFill>
              </a:defRPr>
            </a:pPr>
            <a:r>
              <a:rPr sz="750" b="0">
                <a:solidFill>
                  <a:srgbClr val="687076"/>
                </a:solidFill>
              </a:rPr>
              <a:t>grouped Ankle channel</a:t>
            </a:r>
          </a:p>
        </p:txBody>
      </p:sp>
      <p:sp>
        <p:nvSpPr>
          <p:cNvPr id="30" name="Rectangle: Rounded Corners 29">
            <a:extLst>
              <a:ext uri="{FF2B5EF4-FFF2-40B4-BE49-F238E27FC236}">
                <a16:creationId xmlns:a16="http://schemas.microsoft.com/office/drawing/2014/main" id="{05FF107A-731F-4A61-AC19-1E3175729BAC}"/>
              </a:ext>
            </a:extLst>
          </p:cNvPr>
          <p:cNvSpPr>
            <a:spLocks noGrp="1"/>
          </p:cNvSpPr>
          <p:nvPr/>
        </p:nvSpPr>
        <p:spPr>
          <a:xfrm>
            <a:off x="781050" y="3962400"/>
            <a:ext cx="5181600" cy="1714500"/>
          </a:xfrm>
          <a:prstGeom prst="roundRect">
            <a:avLst>
              <a:gd name="adj" fmla="val 4444"/>
            </a:avLst>
          </a:prstGeom>
          <a:solidFill>
            <a:srgbClr val="FFFFFF"/>
          </a:solidFill>
          <a:ln w="11430">
            <a:solidFill>
              <a:srgbClr val="101214"/>
            </a:solidFill>
            <a:prstDash val="solid"/>
          </a:ln>
        </p:spPr>
        <p:txBody>
          <a:bodyPr/>
          <a:lstStyle/>
          <a:p>
            <a:endParaRPr lang="en-IN"/>
          </a:p>
        </p:txBody>
      </p:sp>
      <p:sp>
        <p:nvSpPr>
          <p:cNvPr id="31" name="Rectangle 30">
            <a:extLst>
              <a:ext uri="{FF2B5EF4-FFF2-40B4-BE49-F238E27FC236}">
                <a16:creationId xmlns:a16="http://schemas.microsoft.com/office/drawing/2014/main" id="{96EAD4AD-B681-45DE-BD6B-897DE7FBD538}"/>
              </a:ext>
            </a:extLst>
          </p:cNvPr>
          <p:cNvSpPr>
            <a:spLocks noGrp="1"/>
          </p:cNvSpPr>
          <p:nvPr/>
        </p:nvSpPr>
        <p:spPr>
          <a:xfrm>
            <a:off x="781050" y="3962400"/>
            <a:ext cx="5181600" cy="57150"/>
          </a:xfrm>
          <a:prstGeom prst="rect">
            <a:avLst/>
          </a:prstGeom>
          <a:solidFill>
            <a:srgbClr val="27C47D"/>
          </a:solidFill>
          <a:ln w="0">
            <a:solidFill>
              <a:srgbClr val="000000">
                <a:alpha val="0"/>
              </a:srgbClr>
            </a:solidFill>
            <a:prstDash val="solid"/>
          </a:ln>
        </p:spPr>
        <p:txBody>
          <a:bodyPr/>
          <a:lstStyle/>
          <a:p>
            <a:endParaRPr lang="en-IN"/>
          </a:p>
        </p:txBody>
      </p:sp>
      <p:sp>
        <p:nvSpPr>
          <p:cNvPr id="32" name="Rectangle 31">
            <a:extLst>
              <a:ext uri="{FF2B5EF4-FFF2-40B4-BE49-F238E27FC236}">
                <a16:creationId xmlns:a16="http://schemas.microsoft.com/office/drawing/2014/main" id="{38F9A963-9E55-46A0-93C8-EBE1A75EBF34}"/>
              </a:ext>
            </a:extLst>
          </p:cNvPr>
          <p:cNvSpPr>
            <a:spLocks noGrp="1"/>
          </p:cNvSpPr>
          <p:nvPr/>
        </p:nvSpPr>
        <p:spPr>
          <a:xfrm>
            <a:off x="990600" y="4133850"/>
            <a:ext cx="4762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Recorded Plot Families</a:t>
            </a:r>
          </a:p>
        </p:txBody>
      </p:sp>
      <p:sp>
        <p:nvSpPr>
          <p:cNvPr id="33" name="Rectangle 32">
            <a:extLst>
              <a:ext uri="{FF2B5EF4-FFF2-40B4-BE49-F238E27FC236}">
                <a16:creationId xmlns:a16="http://schemas.microsoft.com/office/drawing/2014/main" id="{C1CDC9B0-7B5B-4399-AE46-8EA750490D8A}"/>
              </a:ext>
            </a:extLst>
          </p:cNvPr>
          <p:cNvSpPr>
            <a:spLocks noGrp="1"/>
          </p:cNvSpPr>
          <p:nvPr/>
        </p:nvSpPr>
        <p:spPr>
          <a:xfrm>
            <a:off x="990600" y="4495800"/>
            <a:ext cx="476250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Total ground reaction force versus time</a:t>
            </a:r>
          </a:p>
          <a:p>
            <a:pPr algn="l">
              <a:defRPr sz="1200" b="0">
                <a:solidFill>
                  <a:srgbClr val="101214"/>
                </a:solidFill>
              </a:defRPr>
            </a:pPr>
            <a:r>
              <a:rPr sz="1200" b="0">
                <a:solidFill>
                  <a:srgbClr val="101214"/>
                </a:solidFill>
              </a:rPr>
              <a:t>• Grouped stress proxy for Hip, Knee, and Ankle</a:t>
            </a:r>
          </a:p>
          <a:p>
            <a:pPr algn="l">
              <a:defRPr sz="1200" b="0">
                <a:solidFill>
                  <a:srgbClr val="101214"/>
                </a:solidFill>
              </a:defRPr>
            </a:pPr>
            <a:r>
              <a:rPr sz="1200" b="0">
                <a:solidFill>
                  <a:srgbClr val="101214"/>
                </a:solidFill>
              </a:rPr>
              <a:t>• Grouped angle for Hip, Knee, and Ankle</a:t>
            </a:r>
          </a:p>
          <a:p>
            <a:pPr algn="l">
              <a:defRPr sz="1200" b="0">
                <a:solidFill>
                  <a:srgbClr val="101214"/>
                </a:solidFill>
              </a:defRPr>
            </a:pPr>
            <a:r>
              <a:rPr sz="1200" b="0">
                <a:solidFill>
                  <a:srgbClr val="101214"/>
                </a:solidFill>
              </a:rPr>
              <a:t>• Grouped torque for Hip, Knee, and Ankle</a:t>
            </a:r>
          </a:p>
          <a:p>
            <a:pPr algn="l">
              <a:defRPr sz="1200" b="0">
                <a:solidFill>
                  <a:srgbClr val="101214"/>
                </a:solidFill>
              </a:defRPr>
            </a:pPr>
            <a:r>
              <a:rPr sz="1200" b="0">
                <a:solidFill>
                  <a:srgbClr val="101214"/>
                </a:solidFill>
              </a:rPr>
              <a:t>• Grouped kinetic, potential, and total energy</a:t>
            </a:r>
          </a:p>
        </p:txBody>
      </p:sp>
      <p:sp>
        <p:nvSpPr>
          <p:cNvPr id="34" name="Rectangle: Rounded Corners 33">
            <a:extLst>
              <a:ext uri="{FF2B5EF4-FFF2-40B4-BE49-F238E27FC236}">
                <a16:creationId xmlns:a16="http://schemas.microsoft.com/office/drawing/2014/main" id="{2FFC02DF-4BF1-48D0-B212-BB39DE5F2342}"/>
              </a:ext>
            </a:extLst>
          </p:cNvPr>
          <p:cNvSpPr>
            <a:spLocks noGrp="1"/>
          </p:cNvSpPr>
          <p:nvPr/>
        </p:nvSpPr>
        <p:spPr>
          <a:xfrm>
            <a:off x="6229350" y="3962400"/>
            <a:ext cx="5314950" cy="1714500"/>
          </a:xfrm>
          <a:prstGeom prst="roundRect">
            <a:avLst>
              <a:gd name="adj" fmla="val 4444"/>
            </a:avLst>
          </a:prstGeom>
          <a:solidFill>
            <a:srgbClr val="FFFFFF"/>
          </a:solidFill>
          <a:ln w="11430">
            <a:solidFill>
              <a:srgbClr val="101214"/>
            </a:solidFill>
            <a:prstDash val="solid"/>
          </a:ln>
        </p:spPr>
        <p:txBody>
          <a:bodyPr/>
          <a:lstStyle/>
          <a:p>
            <a:endParaRPr lang="en-IN"/>
          </a:p>
        </p:txBody>
      </p:sp>
      <p:sp>
        <p:nvSpPr>
          <p:cNvPr id="35" name="Rectangle 34">
            <a:extLst>
              <a:ext uri="{FF2B5EF4-FFF2-40B4-BE49-F238E27FC236}">
                <a16:creationId xmlns:a16="http://schemas.microsoft.com/office/drawing/2014/main" id="{1044BBCF-DC55-46A5-875D-BCEE61CA2080}"/>
              </a:ext>
            </a:extLst>
          </p:cNvPr>
          <p:cNvSpPr>
            <a:spLocks noGrp="1"/>
          </p:cNvSpPr>
          <p:nvPr/>
        </p:nvSpPr>
        <p:spPr>
          <a:xfrm>
            <a:off x="6229350" y="3962400"/>
            <a:ext cx="5314950" cy="57150"/>
          </a:xfrm>
          <a:prstGeom prst="rect">
            <a:avLst/>
          </a:prstGeom>
          <a:solidFill>
            <a:srgbClr val="D7A83D"/>
          </a:solidFill>
          <a:ln w="0">
            <a:solidFill>
              <a:srgbClr val="000000">
                <a:alpha val="0"/>
              </a:srgbClr>
            </a:solidFill>
            <a:prstDash val="solid"/>
          </a:ln>
        </p:spPr>
        <p:txBody>
          <a:bodyPr/>
          <a:lstStyle/>
          <a:p>
            <a:endParaRPr lang="en-IN"/>
          </a:p>
        </p:txBody>
      </p:sp>
      <p:sp>
        <p:nvSpPr>
          <p:cNvPr id="36" name="Rectangle 35">
            <a:extLst>
              <a:ext uri="{FF2B5EF4-FFF2-40B4-BE49-F238E27FC236}">
                <a16:creationId xmlns:a16="http://schemas.microsoft.com/office/drawing/2014/main" id="{08091F83-604C-42F5-ADB8-E800946F07E9}"/>
              </a:ext>
            </a:extLst>
          </p:cNvPr>
          <p:cNvSpPr>
            <a:spLocks noGrp="1"/>
          </p:cNvSpPr>
          <p:nvPr/>
        </p:nvSpPr>
        <p:spPr>
          <a:xfrm>
            <a:off x="6438900" y="4133850"/>
            <a:ext cx="4895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Interpretation</a:t>
            </a:r>
          </a:p>
        </p:txBody>
      </p:sp>
      <p:sp>
        <p:nvSpPr>
          <p:cNvPr id="37" name="Rectangle 36">
            <a:extLst>
              <a:ext uri="{FF2B5EF4-FFF2-40B4-BE49-F238E27FC236}">
                <a16:creationId xmlns:a16="http://schemas.microsoft.com/office/drawing/2014/main" id="{6A3827B1-64BC-4E3C-AB68-0DFDF3BB3E0E}"/>
              </a:ext>
            </a:extLst>
          </p:cNvPr>
          <p:cNvSpPr>
            <a:spLocks noGrp="1"/>
          </p:cNvSpPr>
          <p:nvPr/>
        </p:nvSpPr>
        <p:spPr>
          <a:xfrm>
            <a:off x="6438900" y="4495800"/>
            <a:ext cx="48958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Hip energy dominates because the upper links carry more mass and larger coordinated motion.</a:t>
            </a:r>
          </a:p>
          <a:p>
            <a:pPr algn="l">
              <a:defRPr sz="1200" b="0">
                <a:solidFill>
                  <a:srgbClr val="101214"/>
                </a:solidFill>
              </a:defRPr>
            </a:pPr>
            <a:r>
              <a:rPr sz="1200" b="0">
                <a:solidFill>
                  <a:srgbClr val="101214"/>
                </a:solidFill>
              </a:rPr>
              <a:t>• Knee and ankle energy channels remain smaller but still show clear event-driven changes.</a:t>
            </a:r>
          </a:p>
          <a:p>
            <a:pPr algn="l">
              <a:defRPr sz="1200" b="0">
                <a:solidFill>
                  <a:srgbClr val="101214"/>
                </a:solidFill>
              </a:defRPr>
            </a:pPr>
            <a:r>
              <a:rPr sz="1200" b="0">
                <a:solidFill>
                  <a:srgbClr val="101214"/>
                </a:solidFill>
              </a:rPr>
              <a:t>• The energy view complements GRF and torque plots, which is why the Euler-Lagrange framing is useful.</a:t>
            </a:r>
          </a:p>
        </p:txBody>
      </p:sp>
    </p:spTree>
    <p:extLst>
      <p:ext uri="{BB962C8B-B14F-4D97-AF65-F5344CB8AC3E}">
        <p14:creationId xmlns:p14="http://schemas.microsoft.com/office/powerpoint/2010/main" val="394428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2"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30E73B43-983C-45F9-AFB1-8AE5C6A108A4}"/>
              </a:ext>
            </a:extLst>
          </p:cNvPr>
          <p:cNvSpPr>
            <a:spLocks noGrp="1"/>
          </p:cNvSpPr>
          <p:nvPr/>
        </p:nvSpPr>
        <p:spPr>
          <a:xfrm>
            <a:off x="0" y="0"/>
            <a:ext cx="12192000" cy="6858000"/>
          </a:xfrm>
          <a:prstGeom prst="rect">
            <a:avLst/>
          </a:prstGeom>
          <a:solidFill>
            <a:srgbClr val="FFFFFF">
              <a:alpha val="72941"/>
            </a:srgbClr>
          </a:solidFill>
          <a:ln w="0">
            <a:solidFill>
              <a:srgbClr val="000000">
                <a:alpha val="0"/>
              </a:srgbClr>
            </a:solidFill>
            <a:prstDash val="solid"/>
          </a:ln>
        </p:spPr>
        <p:txBody>
          <a:bodyPr/>
          <a:lstStyle/>
          <a:p>
            <a:endParaRPr lang="en-IN"/>
          </a:p>
        </p:txBody>
      </p:sp>
      <p:sp>
        <p:nvSpPr>
          <p:cNvPr id="4" name="Rectangle 3">
            <a:extLst>
              <a:ext uri="{FF2B5EF4-FFF2-40B4-BE49-F238E27FC236}">
                <a16:creationId xmlns:a16="http://schemas.microsoft.com/office/drawing/2014/main" id="{C69A13BA-3F67-4D55-9061-C12FD91E350B}"/>
              </a:ext>
            </a:extLst>
          </p:cNvPr>
          <p:cNvSpPr>
            <a:spLocks noGrp="1"/>
          </p:cNvSpPr>
          <p:nvPr/>
        </p:nvSpPr>
        <p:spPr>
          <a:xfrm>
            <a:off x="609600" y="323850"/>
            <a:ext cx="409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16B49"/>
                </a:solidFill>
              </a:defRPr>
            </a:pPr>
            <a:r>
              <a:rPr sz="975" b="1">
                <a:solidFill>
                  <a:srgbClr val="116B49"/>
                </a:solidFill>
              </a:rPr>
              <a:t>SECTION 07</a:t>
            </a:r>
          </a:p>
        </p:txBody>
      </p:sp>
      <p:sp>
        <p:nvSpPr>
          <p:cNvPr id="5" name="Rectangle 4">
            <a:extLst>
              <a:ext uri="{FF2B5EF4-FFF2-40B4-BE49-F238E27FC236}">
                <a16:creationId xmlns:a16="http://schemas.microsoft.com/office/drawing/2014/main" id="{E46C6CD3-E81E-4E12-9C96-CD828A7DAFC0}"/>
              </a:ext>
            </a:extLst>
          </p:cNvPr>
          <p:cNvSpPr>
            <a:spLocks noGrp="1"/>
          </p:cNvSpPr>
          <p:nvPr/>
        </p:nvSpPr>
        <p:spPr>
          <a:xfrm>
            <a:off x="10610850" y="32385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16B49"/>
                </a:solidFill>
              </a:defRPr>
            </a:pPr>
            <a:r>
              <a:rPr sz="975" b="1">
                <a:solidFill>
                  <a:srgbClr val="116B49"/>
                </a:solidFill>
              </a:rPr>
              <a:t>08 / 13</a:t>
            </a:r>
          </a:p>
        </p:txBody>
      </p:sp>
      <p:sp>
        <p:nvSpPr>
          <p:cNvPr id="6" name="Rectangle 5">
            <a:extLst>
              <a:ext uri="{FF2B5EF4-FFF2-40B4-BE49-F238E27FC236}">
                <a16:creationId xmlns:a16="http://schemas.microsoft.com/office/drawing/2014/main" id="{B4B4A11E-4666-44AC-B4B2-94D4D3CBA3EB}"/>
              </a:ext>
            </a:extLst>
          </p:cNvPr>
          <p:cNvSpPr>
            <a:spLocks noGrp="1"/>
          </p:cNvSpPr>
          <p:nvPr/>
        </p:nvSpPr>
        <p:spPr>
          <a:xfrm>
            <a:off x="609600" y="609600"/>
            <a:ext cx="10972800" cy="19050"/>
          </a:xfrm>
          <a:prstGeom prst="rect">
            <a:avLst/>
          </a:prstGeom>
          <a:solidFill>
            <a:srgbClr val="101214"/>
          </a:solidFill>
          <a:ln w="0">
            <a:solidFill>
              <a:srgbClr val="000000">
                <a:alpha val="0"/>
              </a:srgbClr>
            </a:solidFill>
            <a:prstDash val="solid"/>
          </a:ln>
        </p:spPr>
        <p:txBody>
          <a:bodyPr/>
          <a:lstStyle/>
          <a:p>
            <a:endParaRPr lang="en-IN"/>
          </a:p>
        </p:txBody>
      </p:sp>
      <p:sp>
        <p:nvSpPr>
          <p:cNvPr id="7" name="Oval 6">
            <a:extLst>
              <a:ext uri="{FF2B5EF4-FFF2-40B4-BE49-F238E27FC236}">
                <a16:creationId xmlns:a16="http://schemas.microsoft.com/office/drawing/2014/main" id="{C1FA53E8-2B7E-4BA4-9D48-8E811C2BDD69}"/>
              </a:ext>
            </a:extLst>
          </p:cNvPr>
          <p:cNvSpPr>
            <a:spLocks noGrp="1"/>
          </p:cNvSpPr>
          <p:nvPr/>
        </p:nvSpPr>
        <p:spPr>
          <a:xfrm>
            <a:off x="542925" y="542925"/>
            <a:ext cx="152400" cy="152400"/>
          </a:xfrm>
          <a:prstGeom prst="ellipse">
            <a:avLst/>
          </a:prstGeom>
          <a:solidFill>
            <a:srgbClr val="27C47D"/>
          </a:solidFill>
          <a:ln w="19050">
            <a:solidFill>
              <a:srgbClr val="101214"/>
            </a:solidFill>
            <a:prstDash val="solid"/>
          </a:ln>
        </p:spPr>
        <p:txBody>
          <a:bodyPr/>
          <a:lstStyle/>
          <a:p>
            <a:endParaRPr lang="en-IN"/>
          </a:p>
        </p:txBody>
      </p:sp>
      <p:sp>
        <p:nvSpPr>
          <p:cNvPr id="8" name="Rectangle 7">
            <a:extLst>
              <a:ext uri="{FF2B5EF4-FFF2-40B4-BE49-F238E27FC236}">
                <a16:creationId xmlns:a16="http://schemas.microsoft.com/office/drawing/2014/main" id="{F9FA32CF-A82E-4850-B7A5-0CD3EA1F82EC}"/>
              </a:ext>
            </a:extLst>
          </p:cNvPr>
          <p:cNvSpPr>
            <a:spLocks noGrp="1"/>
          </p:cNvSpPr>
          <p:nvPr/>
        </p:nvSpPr>
        <p:spPr>
          <a:xfrm>
            <a:off x="609600" y="81915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01214"/>
                </a:solidFill>
              </a:defRPr>
            </a:pPr>
            <a:r>
              <a:rPr sz="2550" b="1">
                <a:solidFill>
                  <a:srgbClr val="101214"/>
                </a:solidFill>
              </a:rPr>
              <a:t>7. Simulation Scenario Photos</a:t>
            </a:r>
          </a:p>
        </p:txBody>
      </p:sp>
      <p:sp>
        <p:nvSpPr>
          <p:cNvPr id="9" name="Rectangle 8">
            <a:extLst>
              <a:ext uri="{FF2B5EF4-FFF2-40B4-BE49-F238E27FC236}">
                <a16:creationId xmlns:a16="http://schemas.microsoft.com/office/drawing/2014/main" id="{10D45DD3-6C61-4ED2-A406-16753D2F5EE7}"/>
              </a:ext>
            </a:extLst>
          </p:cNvPr>
          <p:cNvSpPr>
            <a:spLocks noGrp="1"/>
          </p:cNvSpPr>
          <p:nvPr/>
        </p:nvSpPr>
        <p:spPr>
          <a:xfrm>
            <a:off x="628650" y="1619250"/>
            <a:ext cx="7239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30363A"/>
                </a:solidFill>
              </a:defRPr>
            </a:pPr>
            <a:r>
              <a:rPr sz="1350" b="0">
                <a:solidFill>
                  <a:srgbClr val="30363A"/>
                </a:solidFill>
              </a:rPr>
              <a:t>This slide shows actual PyBullet scene captures for walk, squat, jump without twist, and jump with twist.</a:t>
            </a:r>
          </a:p>
        </p:txBody>
      </p:sp>
      <p:sp>
        <p:nvSpPr>
          <p:cNvPr id="10" name="Rectangle: Rounded Corners 9">
            <a:extLst>
              <a:ext uri="{FF2B5EF4-FFF2-40B4-BE49-F238E27FC236}">
                <a16:creationId xmlns:a16="http://schemas.microsoft.com/office/drawing/2014/main" id="{21744BE5-FDDE-4CDE-80A5-88D6BF5BF548}"/>
              </a:ext>
            </a:extLst>
          </p:cNvPr>
          <p:cNvSpPr>
            <a:spLocks noGrp="1"/>
          </p:cNvSpPr>
          <p:nvPr/>
        </p:nvSpPr>
        <p:spPr>
          <a:xfrm>
            <a:off x="685800" y="2152650"/>
            <a:ext cx="5238750" cy="1714500"/>
          </a:xfrm>
          <a:prstGeom prst="roundRect">
            <a:avLst>
              <a:gd name="adj" fmla="val 4444"/>
            </a:avLst>
          </a:prstGeom>
          <a:solidFill>
            <a:srgbClr val="FFFFFF"/>
          </a:solidFill>
          <a:ln w="11430">
            <a:solidFill>
              <a:srgbClr val="101214"/>
            </a:solidFill>
            <a:prstDash val="solid"/>
          </a:ln>
        </p:spPr>
        <p:txBody>
          <a:bodyPr/>
          <a:lstStyle/>
          <a:p>
            <a:endParaRPr lang="en-IN"/>
          </a:p>
        </p:txBody>
      </p:sp>
      <p:pic>
        <p:nvPicPr>
          <p:cNvPr id="11" name="Picture 10"/>
          <p:cNvPicPr>
            <a:picLocks noChangeAspect="1"/>
          </p:cNvPicPr>
          <p:nvPr/>
        </p:nvPicPr>
        <p:blipFill>
          <a:blip r:embed="rId4"/>
          <a:srcRect t="26855" b="26855"/>
          <a:stretch>
            <a:fillRect/>
          </a:stretch>
        </p:blipFill>
        <p:spPr>
          <a:xfrm>
            <a:off x="781050" y="2247900"/>
            <a:ext cx="5048250" cy="1314450"/>
          </a:xfrm>
          <a:prstGeom prst="rect">
            <a:avLst/>
          </a:prstGeom>
        </p:spPr>
      </p:pic>
      <p:sp>
        <p:nvSpPr>
          <p:cNvPr id="12" name="Rectangle 11">
            <a:extLst>
              <a:ext uri="{FF2B5EF4-FFF2-40B4-BE49-F238E27FC236}">
                <a16:creationId xmlns:a16="http://schemas.microsoft.com/office/drawing/2014/main" id="{CFAC93B5-69D2-47A7-8354-901D0A9E879C}"/>
              </a:ext>
            </a:extLst>
          </p:cNvPr>
          <p:cNvSpPr>
            <a:spLocks noGrp="1"/>
          </p:cNvSpPr>
          <p:nvPr/>
        </p:nvSpPr>
        <p:spPr>
          <a:xfrm>
            <a:off x="838200" y="3619500"/>
            <a:ext cx="49339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87076"/>
                </a:solidFill>
              </a:defRPr>
            </a:pPr>
            <a:r>
              <a:rPr sz="750" b="0">
                <a:solidFill>
                  <a:srgbClr val="687076"/>
                </a:solidFill>
              </a:rPr>
              <a:t>Walk scenario</a:t>
            </a:r>
          </a:p>
        </p:txBody>
      </p:sp>
      <p:sp>
        <p:nvSpPr>
          <p:cNvPr id="13" name="Rectangle: Rounded Corners 12">
            <a:extLst>
              <a:ext uri="{FF2B5EF4-FFF2-40B4-BE49-F238E27FC236}">
                <a16:creationId xmlns:a16="http://schemas.microsoft.com/office/drawing/2014/main" id="{1F76EE8E-968D-44AE-8E92-7CA823E78AD8}"/>
              </a:ext>
            </a:extLst>
          </p:cNvPr>
          <p:cNvSpPr>
            <a:spLocks noGrp="1"/>
          </p:cNvSpPr>
          <p:nvPr/>
        </p:nvSpPr>
        <p:spPr>
          <a:xfrm>
            <a:off x="6248400" y="2152650"/>
            <a:ext cx="5238750" cy="1714500"/>
          </a:xfrm>
          <a:prstGeom prst="roundRect">
            <a:avLst>
              <a:gd name="adj" fmla="val 4444"/>
            </a:avLst>
          </a:prstGeom>
          <a:solidFill>
            <a:srgbClr val="FFFFFF"/>
          </a:solidFill>
          <a:ln w="11430">
            <a:solidFill>
              <a:srgbClr val="101214"/>
            </a:solidFill>
            <a:prstDash val="solid"/>
          </a:ln>
        </p:spPr>
        <p:txBody>
          <a:bodyPr/>
          <a:lstStyle/>
          <a:p>
            <a:endParaRPr lang="en-IN"/>
          </a:p>
        </p:txBody>
      </p:sp>
      <p:pic>
        <p:nvPicPr>
          <p:cNvPr id="14" name="Picture 13"/>
          <p:cNvPicPr>
            <a:picLocks noChangeAspect="1"/>
          </p:cNvPicPr>
          <p:nvPr/>
        </p:nvPicPr>
        <p:blipFill>
          <a:blip r:embed="rId5"/>
          <a:srcRect t="26855" b="26855"/>
          <a:stretch>
            <a:fillRect/>
          </a:stretch>
        </p:blipFill>
        <p:spPr>
          <a:xfrm>
            <a:off x="6343650" y="2247900"/>
            <a:ext cx="5048250" cy="1314450"/>
          </a:xfrm>
          <a:prstGeom prst="rect">
            <a:avLst/>
          </a:prstGeom>
        </p:spPr>
      </p:pic>
      <p:sp>
        <p:nvSpPr>
          <p:cNvPr id="15" name="Rectangle 14">
            <a:extLst>
              <a:ext uri="{FF2B5EF4-FFF2-40B4-BE49-F238E27FC236}">
                <a16:creationId xmlns:a16="http://schemas.microsoft.com/office/drawing/2014/main" id="{AB5AEC11-5F7A-46D4-82E0-7EE8D463FD5D}"/>
              </a:ext>
            </a:extLst>
          </p:cNvPr>
          <p:cNvSpPr>
            <a:spLocks noGrp="1"/>
          </p:cNvSpPr>
          <p:nvPr/>
        </p:nvSpPr>
        <p:spPr>
          <a:xfrm>
            <a:off x="6400800" y="3619500"/>
            <a:ext cx="49339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87076"/>
                </a:solidFill>
              </a:defRPr>
            </a:pPr>
            <a:r>
              <a:rPr sz="750" b="0">
                <a:solidFill>
                  <a:srgbClr val="687076"/>
                </a:solidFill>
              </a:rPr>
              <a:t>Squat scenario</a:t>
            </a:r>
          </a:p>
        </p:txBody>
      </p:sp>
      <p:sp>
        <p:nvSpPr>
          <p:cNvPr id="16" name="Rectangle: Rounded Corners 15">
            <a:extLst>
              <a:ext uri="{FF2B5EF4-FFF2-40B4-BE49-F238E27FC236}">
                <a16:creationId xmlns:a16="http://schemas.microsoft.com/office/drawing/2014/main" id="{21B7C76F-802B-4533-B5D6-FA7C856753F0}"/>
              </a:ext>
            </a:extLst>
          </p:cNvPr>
          <p:cNvSpPr>
            <a:spLocks noGrp="1"/>
          </p:cNvSpPr>
          <p:nvPr/>
        </p:nvSpPr>
        <p:spPr>
          <a:xfrm>
            <a:off x="685800" y="4095750"/>
            <a:ext cx="5238750" cy="1714500"/>
          </a:xfrm>
          <a:prstGeom prst="roundRect">
            <a:avLst>
              <a:gd name="adj" fmla="val 4444"/>
            </a:avLst>
          </a:prstGeom>
          <a:solidFill>
            <a:srgbClr val="FFFFFF"/>
          </a:solidFill>
          <a:ln w="11430">
            <a:solidFill>
              <a:srgbClr val="101214"/>
            </a:solidFill>
            <a:prstDash val="solid"/>
          </a:ln>
        </p:spPr>
        <p:txBody>
          <a:bodyPr/>
          <a:lstStyle/>
          <a:p>
            <a:endParaRPr lang="en-IN"/>
          </a:p>
        </p:txBody>
      </p:sp>
      <p:pic>
        <p:nvPicPr>
          <p:cNvPr id="17" name="Picture 16"/>
          <p:cNvPicPr>
            <a:picLocks noChangeAspect="1"/>
          </p:cNvPicPr>
          <p:nvPr/>
        </p:nvPicPr>
        <p:blipFill>
          <a:blip r:embed="rId6"/>
          <a:srcRect t="26855" b="26855"/>
          <a:stretch>
            <a:fillRect/>
          </a:stretch>
        </p:blipFill>
        <p:spPr>
          <a:xfrm>
            <a:off x="781050" y="4191000"/>
            <a:ext cx="5048250" cy="1314450"/>
          </a:xfrm>
          <a:prstGeom prst="rect">
            <a:avLst/>
          </a:prstGeom>
        </p:spPr>
      </p:pic>
      <p:sp>
        <p:nvSpPr>
          <p:cNvPr id="18" name="Rectangle 17">
            <a:extLst>
              <a:ext uri="{FF2B5EF4-FFF2-40B4-BE49-F238E27FC236}">
                <a16:creationId xmlns:a16="http://schemas.microsoft.com/office/drawing/2014/main" id="{F84A9880-6973-41FA-8D38-7DAB691C3866}"/>
              </a:ext>
            </a:extLst>
          </p:cNvPr>
          <p:cNvSpPr>
            <a:spLocks noGrp="1"/>
          </p:cNvSpPr>
          <p:nvPr/>
        </p:nvSpPr>
        <p:spPr>
          <a:xfrm>
            <a:off x="838200" y="5562600"/>
            <a:ext cx="49339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87076"/>
                </a:solidFill>
              </a:defRPr>
            </a:pPr>
            <a:r>
              <a:rPr sz="750" b="0">
                <a:solidFill>
                  <a:srgbClr val="687076"/>
                </a:solidFill>
              </a:rPr>
              <a:t>Jump without twist scenario</a:t>
            </a:r>
          </a:p>
        </p:txBody>
      </p:sp>
      <p:sp>
        <p:nvSpPr>
          <p:cNvPr id="19" name="Rectangle: Rounded Corners 18">
            <a:extLst>
              <a:ext uri="{FF2B5EF4-FFF2-40B4-BE49-F238E27FC236}">
                <a16:creationId xmlns:a16="http://schemas.microsoft.com/office/drawing/2014/main" id="{7832BEDA-28BC-44EF-AFDC-4C70103DD24B}"/>
              </a:ext>
            </a:extLst>
          </p:cNvPr>
          <p:cNvSpPr>
            <a:spLocks noGrp="1"/>
          </p:cNvSpPr>
          <p:nvPr/>
        </p:nvSpPr>
        <p:spPr>
          <a:xfrm>
            <a:off x="6248400" y="4095750"/>
            <a:ext cx="5238750" cy="1714500"/>
          </a:xfrm>
          <a:prstGeom prst="roundRect">
            <a:avLst>
              <a:gd name="adj" fmla="val 4444"/>
            </a:avLst>
          </a:prstGeom>
          <a:solidFill>
            <a:srgbClr val="FFFFFF"/>
          </a:solidFill>
          <a:ln w="11430">
            <a:solidFill>
              <a:srgbClr val="101214"/>
            </a:solidFill>
            <a:prstDash val="solid"/>
          </a:ln>
        </p:spPr>
        <p:txBody>
          <a:bodyPr/>
          <a:lstStyle/>
          <a:p>
            <a:endParaRPr lang="en-IN"/>
          </a:p>
        </p:txBody>
      </p:sp>
      <p:pic>
        <p:nvPicPr>
          <p:cNvPr id="20" name="Picture 19"/>
          <p:cNvPicPr>
            <a:picLocks noChangeAspect="1"/>
          </p:cNvPicPr>
          <p:nvPr/>
        </p:nvPicPr>
        <p:blipFill>
          <a:blip r:embed="rId7"/>
          <a:srcRect t="26855" b="26855"/>
          <a:stretch>
            <a:fillRect/>
          </a:stretch>
        </p:blipFill>
        <p:spPr>
          <a:xfrm>
            <a:off x="6343650" y="4191000"/>
            <a:ext cx="5048250" cy="1314450"/>
          </a:xfrm>
          <a:prstGeom prst="rect">
            <a:avLst/>
          </a:prstGeom>
        </p:spPr>
      </p:pic>
      <p:sp>
        <p:nvSpPr>
          <p:cNvPr id="21" name="Rectangle 20">
            <a:extLst>
              <a:ext uri="{FF2B5EF4-FFF2-40B4-BE49-F238E27FC236}">
                <a16:creationId xmlns:a16="http://schemas.microsoft.com/office/drawing/2014/main" id="{0E1DFC68-3D1C-4D75-8133-09BA1C1048FB}"/>
              </a:ext>
            </a:extLst>
          </p:cNvPr>
          <p:cNvSpPr>
            <a:spLocks noGrp="1"/>
          </p:cNvSpPr>
          <p:nvPr/>
        </p:nvSpPr>
        <p:spPr>
          <a:xfrm>
            <a:off x="6400800" y="5562600"/>
            <a:ext cx="49339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87076"/>
                </a:solidFill>
              </a:defRPr>
            </a:pPr>
            <a:r>
              <a:rPr sz="750" b="0">
                <a:solidFill>
                  <a:srgbClr val="687076"/>
                </a:solidFill>
              </a:rPr>
              <a:t>Jump with twist scenario</a:t>
            </a:r>
          </a:p>
        </p:txBody>
      </p:sp>
    </p:spTree>
    <p:extLst>
      <p:ext uri="{BB962C8B-B14F-4D97-AF65-F5344CB8AC3E}">
        <p14:creationId xmlns:p14="http://schemas.microsoft.com/office/powerpoint/2010/main" val="990579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2"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5E80F267-738F-4367-83E6-D93D5FBD6FE8}"/>
              </a:ext>
            </a:extLst>
          </p:cNvPr>
          <p:cNvSpPr>
            <a:spLocks noGrp="1"/>
          </p:cNvSpPr>
          <p:nvPr/>
        </p:nvSpPr>
        <p:spPr>
          <a:xfrm>
            <a:off x="0" y="0"/>
            <a:ext cx="12192000" cy="6858000"/>
          </a:xfrm>
          <a:prstGeom prst="rect">
            <a:avLst/>
          </a:prstGeom>
          <a:solidFill>
            <a:srgbClr val="FFFFFF">
              <a:alpha val="72941"/>
            </a:srgbClr>
          </a:solidFill>
          <a:ln w="0">
            <a:solidFill>
              <a:srgbClr val="000000">
                <a:alpha val="0"/>
              </a:srgbClr>
            </a:solidFill>
            <a:prstDash val="solid"/>
          </a:ln>
        </p:spPr>
        <p:txBody>
          <a:bodyPr/>
          <a:lstStyle/>
          <a:p>
            <a:endParaRPr lang="en-IN"/>
          </a:p>
        </p:txBody>
      </p:sp>
      <p:sp>
        <p:nvSpPr>
          <p:cNvPr id="4" name="Rectangle 3">
            <a:extLst>
              <a:ext uri="{FF2B5EF4-FFF2-40B4-BE49-F238E27FC236}">
                <a16:creationId xmlns:a16="http://schemas.microsoft.com/office/drawing/2014/main" id="{D4AFC9C2-D486-4F04-B1B1-250EF03E202B}"/>
              </a:ext>
            </a:extLst>
          </p:cNvPr>
          <p:cNvSpPr>
            <a:spLocks noGrp="1"/>
          </p:cNvSpPr>
          <p:nvPr/>
        </p:nvSpPr>
        <p:spPr>
          <a:xfrm>
            <a:off x="609600" y="323850"/>
            <a:ext cx="409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16B49"/>
                </a:solidFill>
              </a:defRPr>
            </a:pPr>
            <a:r>
              <a:rPr sz="975" b="1">
                <a:solidFill>
                  <a:srgbClr val="116B49"/>
                </a:solidFill>
              </a:rPr>
              <a:t>SECTION 08</a:t>
            </a:r>
          </a:p>
        </p:txBody>
      </p:sp>
      <p:sp>
        <p:nvSpPr>
          <p:cNvPr id="5" name="Rectangle 4">
            <a:extLst>
              <a:ext uri="{FF2B5EF4-FFF2-40B4-BE49-F238E27FC236}">
                <a16:creationId xmlns:a16="http://schemas.microsoft.com/office/drawing/2014/main" id="{F056C2CF-08FE-4DD8-88A4-543B563F4B46}"/>
              </a:ext>
            </a:extLst>
          </p:cNvPr>
          <p:cNvSpPr>
            <a:spLocks noGrp="1"/>
          </p:cNvSpPr>
          <p:nvPr/>
        </p:nvSpPr>
        <p:spPr>
          <a:xfrm>
            <a:off x="10610850" y="32385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16B49"/>
                </a:solidFill>
              </a:defRPr>
            </a:pPr>
            <a:r>
              <a:rPr sz="975" b="1">
                <a:solidFill>
                  <a:srgbClr val="116B49"/>
                </a:solidFill>
              </a:rPr>
              <a:t>09 / 13</a:t>
            </a:r>
          </a:p>
        </p:txBody>
      </p:sp>
      <p:sp>
        <p:nvSpPr>
          <p:cNvPr id="6" name="Rectangle 5">
            <a:extLst>
              <a:ext uri="{FF2B5EF4-FFF2-40B4-BE49-F238E27FC236}">
                <a16:creationId xmlns:a16="http://schemas.microsoft.com/office/drawing/2014/main" id="{C24ABD9B-0DFC-4F27-BA83-D74FA31BF42F}"/>
              </a:ext>
            </a:extLst>
          </p:cNvPr>
          <p:cNvSpPr>
            <a:spLocks noGrp="1"/>
          </p:cNvSpPr>
          <p:nvPr/>
        </p:nvSpPr>
        <p:spPr>
          <a:xfrm>
            <a:off x="609600" y="609600"/>
            <a:ext cx="10972800" cy="19050"/>
          </a:xfrm>
          <a:prstGeom prst="rect">
            <a:avLst/>
          </a:prstGeom>
          <a:solidFill>
            <a:srgbClr val="101214"/>
          </a:solidFill>
          <a:ln w="0">
            <a:solidFill>
              <a:srgbClr val="000000">
                <a:alpha val="0"/>
              </a:srgbClr>
            </a:solidFill>
            <a:prstDash val="solid"/>
          </a:ln>
        </p:spPr>
        <p:txBody>
          <a:bodyPr/>
          <a:lstStyle/>
          <a:p>
            <a:endParaRPr lang="en-IN"/>
          </a:p>
        </p:txBody>
      </p:sp>
      <p:sp>
        <p:nvSpPr>
          <p:cNvPr id="7" name="Oval 6">
            <a:extLst>
              <a:ext uri="{FF2B5EF4-FFF2-40B4-BE49-F238E27FC236}">
                <a16:creationId xmlns:a16="http://schemas.microsoft.com/office/drawing/2014/main" id="{A1B0FDB1-0B32-4F24-9F87-C533B674DA09}"/>
              </a:ext>
            </a:extLst>
          </p:cNvPr>
          <p:cNvSpPr>
            <a:spLocks noGrp="1"/>
          </p:cNvSpPr>
          <p:nvPr/>
        </p:nvSpPr>
        <p:spPr>
          <a:xfrm>
            <a:off x="542925" y="542925"/>
            <a:ext cx="152400" cy="152400"/>
          </a:xfrm>
          <a:prstGeom prst="ellipse">
            <a:avLst/>
          </a:prstGeom>
          <a:solidFill>
            <a:srgbClr val="27C47D"/>
          </a:solidFill>
          <a:ln w="19050">
            <a:solidFill>
              <a:srgbClr val="101214"/>
            </a:solidFill>
            <a:prstDash val="solid"/>
          </a:ln>
        </p:spPr>
        <p:txBody>
          <a:bodyPr/>
          <a:lstStyle/>
          <a:p>
            <a:endParaRPr lang="en-IN"/>
          </a:p>
        </p:txBody>
      </p:sp>
      <p:sp>
        <p:nvSpPr>
          <p:cNvPr id="8" name="Rectangle 7">
            <a:extLst>
              <a:ext uri="{FF2B5EF4-FFF2-40B4-BE49-F238E27FC236}">
                <a16:creationId xmlns:a16="http://schemas.microsoft.com/office/drawing/2014/main" id="{C2F5C955-17D5-49F3-B9E9-89559EC840EC}"/>
              </a:ext>
            </a:extLst>
          </p:cNvPr>
          <p:cNvSpPr>
            <a:spLocks noGrp="1"/>
          </p:cNvSpPr>
          <p:nvPr/>
        </p:nvSpPr>
        <p:spPr>
          <a:xfrm>
            <a:off x="609600" y="81915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01214"/>
                </a:solidFill>
              </a:defRPr>
            </a:pPr>
            <a:r>
              <a:rPr sz="2550" b="1">
                <a:solidFill>
                  <a:srgbClr val="101214"/>
                </a:solidFill>
              </a:rPr>
              <a:t>8. Simulation Visualization</a:t>
            </a:r>
          </a:p>
        </p:txBody>
      </p:sp>
      <p:sp>
        <p:nvSpPr>
          <p:cNvPr id="9" name="Rectangle 8">
            <a:extLst>
              <a:ext uri="{FF2B5EF4-FFF2-40B4-BE49-F238E27FC236}">
                <a16:creationId xmlns:a16="http://schemas.microsoft.com/office/drawing/2014/main" id="{FF07D693-73E1-437E-AA85-A34FCDD1BC2E}"/>
              </a:ext>
            </a:extLst>
          </p:cNvPr>
          <p:cNvSpPr>
            <a:spLocks noGrp="1"/>
          </p:cNvSpPr>
          <p:nvPr/>
        </p:nvSpPr>
        <p:spPr>
          <a:xfrm>
            <a:off x="628650" y="1619250"/>
            <a:ext cx="7239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30363A"/>
                </a:solidFill>
              </a:defRPr>
            </a:pPr>
            <a:r>
              <a:rPr sz="1350" b="0">
                <a:solidFill>
                  <a:srgbClr val="30363A"/>
                </a:solidFill>
              </a:rPr>
              <a:t>Saved dashboards make it easy to compare action signatures after closing the simulation window.</a:t>
            </a:r>
          </a:p>
        </p:txBody>
      </p:sp>
      <p:sp>
        <p:nvSpPr>
          <p:cNvPr id="10" name="Rectangle: Rounded Corners 9">
            <a:extLst>
              <a:ext uri="{FF2B5EF4-FFF2-40B4-BE49-F238E27FC236}">
                <a16:creationId xmlns:a16="http://schemas.microsoft.com/office/drawing/2014/main" id="{195326B3-56F2-49B9-89F1-25044CB26BFE}"/>
              </a:ext>
            </a:extLst>
          </p:cNvPr>
          <p:cNvSpPr>
            <a:spLocks noGrp="1"/>
          </p:cNvSpPr>
          <p:nvPr/>
        </p:nvSpPr>
        <p:spPr>
          <a:xfrm>
            <a:off x="685800" y="2152650"/>
            <a:ext cx="5238750" cy="1714500"/>
          </a:xfrm>
          <a:prstGeom prst="roundRect">
            <a:avLst>
              <a:gd name="adj" fmla="val 4444"/>
            </a:avLst>
          </a:prstGeom>
          <a:solidFill>
            <a:srgbClr val="FFFFFF"/>
          </a:solidFill>
          <a:ln w="11430">
            <a:solidFill>
              <a:srgbClr val="101214"/>
            </a:solidFill>
            <a:prstDash val="solid"/>
          </a:ln>
        </p:spPr>
        <p:txBody>
          <a:bodyPr/>
          <a:lstStyle/>
          <a:p>
            <a:endParaRPr lang="en-IN"/>
          </a:p>
        </p:txBody>
      </p:sp>
      <p:pic>
        <p:nvPicPr>
          <p:cNvPr id="11" name="Picture 10"/>
          <p:cNvPicPr>
            <a:picLocks noChangeAspect="1"/>
          </p:cNvPicPr>
          <p:nvPr/>
        </p:nvPicPr>
        <p:blipFill>
          <a:blip r:embed="rId4"/>
          <a:srcRect t="36974" b="36974"/>
          <a:stretch>
            <a:fillRect/>
          </a:stretch>
        </p:blipFill>
        <p:spPr>
          <a:xfrm>
            <a:off x="781050" y="2247900"/>
            <a:ext cx="5048250" cy="1314450"/>
          </a:xfrm>
          <a:prstGeom prst="rect">
            <a:avLst/>
          </a:prstGeom>
        </p:spPr>
      </p:pic>
      <p:sp>
        <p:nvSpPr>
          <p:cNvPr id="12" name="Rectangle 11">
            <a:extLst>
              <a:ext uri="{FF2B5EF4-FFF2-40B4-BE49-F238E27FC236}">
                <a16:creationId xmlns:a16="http://schemas.microsoft.com/office/drawing/2014/main" id="{F6CCCBED-0FE8-485E-B209-C3B1656AFBAA}"/>
              </a:ext>
            </a:extLst>
          </p:cNvPr>
          <p:cNvSpPr>
            <a:spLocks noGrp="1"/>
          </p:cNvSpPr>
          <p:nvPr/>
        </p:nvSpPr>
        <p:spPr>
          <a:xfrm>
            <a:off x="838200" y="3619500"/>
            <a:ext cx="49339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87076"/>
                </a:solidFill>
              </a:defRPr>
            </a:pPr>
            <a:r>
              <a:rPr sz="750" b="0">
                <a:solidFill>
                  <a:srgbClr val="687076"/>
                </a:solidFill>
              </a:rPr>
              <a:t>Walk dashboard</a:t>
            </a:r>
          </a:p>
        </p:txBody>
      </p:sp>
      <p:sp>
        <p:nvSpPr>
          <p:cNvPr id="13" name="Rectangle: Rounded Corners 12">
            <a:extLst>
              <a:ext uri="{FF2B5EF4-FFF2-40B4-BE49-F238E27FC236}">
                <a16:creationId xmlns:a16="http://schemas.microsoft.com/office/drawing/2014/main" id="{4E5AAC6A-5F5E-4541-8A0D-9A1CED2C64AC}"/>
              </a:ext>
            </a:extLst>
          </p:cNvPr>
          <p:cNvSpPr>
            <a:spLocks noGrp="1"/>
          </p:cNvSpPr>
          <p:nvPr/>
        </p:nvSpPr>
        <p:spPr>
          <a:xfrm>
            <a:off x="6248400" y="2152650"/>
            <a:ext cx="5238750" cy="1714500"/>
          </a:xfrm>
          <a:prstGeom prst="roundRect">
            <a:avLst>
              <a:gd name="adj" fmla="val 4444"/>
            </a:avLst>
          </a:prstGeom>
          <a:solidFill>
            <a:srgbClr val="FFFFFF"/>
          </a:solidFill>
          <a:ln w="11430">
            <a:solidFill>
              <a:srgbClr val="101214"/>
            </a:solidFill>
            <a:prstDash val="solid"/>
          </a:ln>
        </p:spPr>
        <p:txBody>
          <a:bodyPr/>
          <a:lstStyle/>
          <a:p>
            <a:endParaRPr lang="en-IN"/>
          </a:p>
        </p:txBody>
      </p:sp>
      <p:pic>
        <p:nvPicPr>
          <p:cNvPr id="14" name="Picture 13"/>
          <p:cNvPicPr>
            <a:picLocks noChangeAspect="1"/>
          </p:cNvPicPr>
          <p:nvPr/>
        </p:nvPicPr>
        <p:blipFill>
          <a:blip r:embed="rId5"/>
          <a:srcRect t="36974" b="36974"/>
          <a:stretch>
            <a:fillRect/>
          </a:stretch>
        </p:blipFill>
        <p:spPr>
          <a:xfrm>
            <a:off x="6343650" y="2247900"/>
            <a:ext cx="5048250" cy="1314450"/>
          </a:xfrm>
          <a:prstGeom prst="rect">
            <a:avLst/>
          </a:prstGeom>
        </p:spPr>
      </p:pic>
      <p:sp>
        <p:nvSpPr>
          <p:cNvPr id="15" name="Rectangle 14">
            <a:extLst>
              <a:ext uri="{FF2B5EF4-FFF2-40B4-BE49-F238E27FC236}">
                <a16:creationId xmlns:a16="http://schemas.microsoft.com/office/drawing/2014/main" id="{255D3436-1560-482F-9D2A-81B2752FDC11}"/>
              </a:ext>
            </a:extLst>
          </p:cNvPr>
          <p:cNvSpPr>
            <a:spLocks noGrp="1"/>
          </p:cNvSpPr>
          <p:nvPr/>
        </p:nvSpPr>
        <p:spPr>
          <a:xfrm>
            <a:off x="6400800" y="3619500"/>
            <a:ext cx="49339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87076"/>
                </a:solidFill>
              </a:defRPr>
            </a:pPr>
            <a:r>
              <a:rPr sz="750" b="0">
                <a:solidFill>
                  <a:srgbClr val="687076"/>
                </a:solidFill>
              </a:rPr>
              <a:t>Squat dashboard</a:t>
            </a:r>
          </a:p>
        </p:txBody>
      </p:sp>
      <p:sp>
        <p:nvSpPr>
          <p:cNvPr id="16" name="Rectangle: Rounded Corners 15">
            <a:extLst>
              <a:ext uri="{FF2B5EF4-FFF2-40B4-BE49-F238E27FC236}">
                <a16:creationId xmlns:a16="http://schemas.microsoft.com/office/drawing/2014/main" id="{62B0C502-0895-4A64-9077-F5CE3F6AE0D2}"/>
              </a:ext>
            </a:extLst>
          </p:cNvPr>
          <p:cNvSpPr>
            <a:spLocks noGrp="1"/>
          </p:cNvSpPr>
          <p:nvPr/>
        </p:nvSpPr>
        <p:spPr>
          <a:xfrm>
            <a:off x="685800" y="4095750"/>
            <a:ext cx="5238750" cy="1714500"/>
          </a:xfrm>
          <a:prstGeom prst="roundRect">
            <a:avLst>
              <a:gd name="adj" fmla="val 4444"/>
            </a:avLst>
          </a:prstGeom>
          <a:solidFill>
            <a:srgbClr val="FFFFFF"/>
          </a:solidFill>
          <a:ln w="11430">
            <a:solidFill>
              <a:srgbClr val="101214"/>
            </a:solidFill>
            <a:prstDash val="solid"/>
          </a:ln>
        </p:spPr>
        <p:txBody>
          <a:bodyPr/>
          <a:lstStyle/>
          <a:p>
            <a:endParaRPr lang="en-IN"/>
          </a:p>
        </p:txBody>
      </p:sp>
      <p:pic>
        <p:nvPicPr>
          <p:cNvPr id="17" name="Picture 16"/>
          <p:cNvPicPr>
            <a:picLocks noChangeAspect="1"/>
          </p:cNvPicPr>
          <p:nvPr/>
        </p:nvPicPr>
        <p:blipFill>
          <a:blip r:embed="rId6"/>
          <a:srcRect t="36974" b="36974"/>
          <a:stretch>
            <a:fillRect/>
          </a:stretch>
        </p:blipFill>
        <p:spPr>
          <a:xfrm>
            <a:off x="781050" y="4191000"/>
            <a:ext cx="5048250" cy="1314450"/>
          </a:xfrm>
          <a:prstGeom prst="rect">
            <a:avLst/>
          </a:prstGeom>
        </p:spPr>
      </p:pic>
      <p:sp>
        <p:nvSpPr>
          <p:cNvPr id="18" name="Rectangle 17">
            <a:extLst>
              <a:ext uri="{FF2B5EF4-FFF2-40B4-BE49-F238E27FC236}">
                <a16:creationId xmlns:a16="http://schemas.microsoft.com/office/drawing/2014/main" id="{C8DDAB18-7010-482C-A312-12E8BA0305FE}"/>
              </a:ext>
            </a:extLst>
          </p:cNvPr>
          <p:cNvSpPr>
            <a:spLocks noGrp="1"/>
          </p:cNvSpPr>
          <p:nvPr/>
        </p:nvSpPr>
        <p:spPr>
          <a:xfrm>
            <a:off x="838200" y="5562600"/>
            <a:ext cx="49339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87076"/>
                </a:solidFill>
              </a:defRPr>
            </a:pPr>
            <a:r>
              <a:rPr sz="750" b="0">
                <a:solidFill>
                  <a:srgbClr val="687076"/>
                </a:solidFill>
              </a:rPr>
              <a:t>Jump without twist dashboard</a:t>
            </a:r>
          </a:p>
        </p:txBody>
      </p:sp>
      <p:sp>
        <p:nvSpPr>
          <p:cNvPr id="19" name="Rectangle: Rounded Corners 18">
            <a:extLst>
              <a:ext uri="{FF2B5EF4-FFF2-40B4-BE49-F238E27FC236}">
                <a16:creationId xmlns:a16="http://schemas.microsoft.com/office/drawing/2014/main" id="{EF2A1266-D5DE-4FBD-92A1-8985FBE1C328}"/>
              </a:ext>
            </a:extLst>
          </p:cNvPr>
          <p:cNvSpPr>
            <a:spLocks noGrp="1"/>
          </p:cNvSpPr>
          <p:nvPr/>
        </p:nvSpPr>
        <p:spPr>
          <a:xfrm>
            <a:off x="6248400" y="4095750"/>
            <a:ext cx="5238750" cy="1714500"/>
          </a:xfrm>
          <a:prstGeom prst="roundRect">
            <a:avLst>
              <a:gd name="adj" fmla="val 4444"/>
            </a:avLst>
          </a:prstGeom>
          <a:solidFill>
            <a:srgbClr val="FFFFFF"/>
          </a:solidFill>
          <a:ln w="11430">
            <a:solidFill>
              <a:srgbClr val="101214"/>
            </a:solidFill>
            <a:prstDash val="solid"/>
          </a:ln>
        </p:spPr>
        <p:txBody>
          <a:bodyPr/>
          <a:lstStyle/>
          <a:p>
            <a:endParaRPr lang="en-IN"/>
          </a:p>
        </p:txBody>
      </p:sp>
      <p:pic>
        <p:nvPicPr>
          <p:cNvPr id="20" name="Picture 19"/>
          <p:cNvPicPr>
            <a:picLocks noChangeAspect="1"/>
          </p:cNvPicPr>
          <p:nvPr/>
        </p:nvPicPr>
        <p:blipFill>
          <a:blip r:embed="rId7"/>
          <a:srcRect t="36974" b="36974"/>
          <a:stretch>
            <a:fillRect/>
          </a:stretch>
        </p:blipFill>
        <p:spPr>
          <a:xfrm>
            <a:off x="6343650" y="4191000"/>
            <a:ext cx="5048250" cy="1314450"/>
          </a:xfrm>
          <a:prstGeom prst="rect">
            <a:avLst/>
          </a:prstGeom>
        </p:spPr>
      </p:pic>
      <p:sp>
        <p:nvSpPr>
          <p:cNvPr id="21" name="Rectangle 20">
            <a:extLst>
              <a:ext uri="{FF2B5EF4-FFF2-40B4-BE49-F238E27FC236}">
                <a16:creationId xmlns:a16="http://schemas.microsoft.com/office/drawing/2014/main" id="{75337312-743F-43B9-845D-E5096F959F59}"/>
              </a:ext>
            </a:extLst>
          </p:cNvPr>
          <p:cNvSpPr>
            <a:spLocks noGrp="1"/>
          </p:cNvSpPr>
          <p:nvPr/>
        </p:nvSpPr>
        <p:spPr>
          <a:xfrm>
            <a:off x="6400800" y="5562600"/>
            <a:ext cx="49339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87076"/>
                </a:solidFill>
              </a:defRPr>
            </a:pPr>
            <a:r>
              <a:rPr sz="750" b="0">
                <a:solidFill>
                  <a:srgbClr val="687076"/>
                </a:solidFill>
              </a:rPr>
              <a:t>Jump with twist dashboard</a:t>
            </a:r>
          </a:p>
        </p:txBody>
      </p:sp>
    </p:spTree>
    <p:extLst>
      <p:ext uri="{BB962C8B-B14F-4D97-AF65-F5344CB8AC3E}">
        <p14:creationId xmlns:p14="http://schemas.microsoft.com/office/powerpoint/2010/main" val="1989335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38"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62A7230-3072-4432-977C-417B2BC57300}"/>
              </a:ext>
            </a:extLst>
          </p:cNvPr>
          <p:cNvSpPr>
            <a:spLocks noGrp="1"/>
          </p:cNvSpPr>
          <p:nvPr/>
        </p:nvSpPr>
        <p:spPr>
          <a:xfrm>
            <a:off x="0" y="0"/>
            <a:ext cx="12192000" cy="6858000"/>
          </a:xfrm>
          <a:prstGeom prst="rect">
            <a:avLst/>
          </a:prstGeom>
          <a:solidFill>
            <a:srgbClr val="FFFFFF">
              <a:alpha val="72941"/>
            </a:srgbClr>
          </a:solidFill>
          <a:ln w="0">
            <a:solidFill>
              <a:srgbClr val="000000">
                <a:alpha val="0"/>
              </a:srgbClr>
            </a:solidFill>
            <a:prstDash val="solid"/>
          </a:ln>
        </p:spPr>
        <p:txBody>
          <a:bodyPr/>
          <a:lstStyle/>
          <a:p>
            <a:endParaRPr lang="en-IN"/>
          </a:p>
        </p:txBody>
      </p:sp>
      <p:sp>
        <p:nvSpPr>
          <p:cNvPr id="4" name="Rectangle 3">
            <a:extLst>
              <a:ext uri="{FF2B5EF4-FFF2-40B4-BE49-F238E27FC236}">
                <a16:creationId xmlns:a16="http://schemas.microsoft.com/office/drawing/2014/main" id="{63E6A1AF-3C9F-4317-B2B4-7EAE68035B61}"/>
              </a:ext>
            </a:extLst>
          </p:cNvPr>
          <p:cNvSpPr>
            <a:spLocks noGrp="1"/>
          </p:cNvSpPr>
          <p:nvPr/>
        </p:nvSpPr>
        <p:spPr>
          <a:xfrm>
            <a:off x="609600" y="323850"/>
            <a:ext cx="409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16B49"/>
                </a:solidFill>
              </a:defRPr>
            </a:pPr>
            <a:r>
              <a:rPr sz="975" b="1">
                <a:solidFill>
                  <a:srgbClr val="116B49"/>
                </a:solidFill>
              </a:rPr>
              <a:t>SECTION 09</a:t>
            </a:r>
          </a:p>
        </p:txBody>
      </p:sp>
      <p:sp>
        <p:nvSpPr>
          <p:cNvPr id="5" name="Rectangle 4">
            <a:extLst>
              <a:ext uri="{FF2B5EF4-FFF2-40B4-BE49-F238E27FC236}">
                <a16:creationId xmlns:a16="http://schemas.microsoft.com/office/drawing/2014/main" id="{A27A5794-419A-4036-8C06-7012C5810B21}"/>
              </a:ext>
            </a:extLst>
          </p:cNvPr>
          <p:cNvSpPr>
            <a:spLocks noGrp="1"/>
          </p:cNvSpPr>
          <p:nvPr/>
        </p:nvSpPr>
        <p:spPr>
          <a:xfrm>
            <a:off x="10610850" y="32385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16B49"/>
                </a:solidFill>
              </a:defRPr>
            </a:pPr>
            <a:r>
              <a:rPr sz="975" b="1">
                <a:solidFill>
                  <a:srgbClr val="116B49"/>
                </a:solidFill>
              </a:rPr>
              <a:t>10 / 13</a:t>
            </a:r>
          </a:p>
        </p:txBody>
      </p:sp>
      <p:sp>
        <p:nvSpPr>
          <p:cNvPr id="6" name="Rectangle 5">
            <a:extLst>
              <a:ext uri="{FF2B5EF4-FFF2-40B4-BE49-F238E27FC236}">
                <a16:creationId xmlns:a16="http://schemas.microsoft.com/office/drawing/2014/main" id="{B3B9CF8F-5786-4EB2-AB7C-783378176094}"/>
              </a:ext>
            </a:extLst>
          </p:cNvPr>
          <p:cNvSpPr>
            <a:spLocks noGrp="1"/>
          </p:cNvSpPr>
          <p:nvPr/>
        </p:nvSpPr>
        <p:spPr>
          <a:xfrm>
            <a:off x="609600" y="609600"/>
            <a:ext cx="10972800" cy="19050"/>
          </a:xfrm>
          <a:prstGeom prst="rect">
            <a:avLst/>
          </a:prstGeom>
          <a:solidFill>
            <a:srgbClr val="101214"/>
          </a:solidFill>
          <a:ln w="0">
            <a:solidFill>
              <a:srgbClr val="000000">
                <a:alpha val="0"/>
              </a:srgbClr>
            </a:solidFill>
            <a:prstDash val="solid"/>
          </a:ln>
        </p:spPr>
        <p:txBody>
          <a:bodyPr/>
          <a:lstStyle/>
          <a:p>
            <a:endParaRPr lang="en-IN"/>
          </a:p>
        </p:txBody>
      </p:sp>
      <p:sp>
        <p:nvSpPr>
          <p:cNvPr id="7" name="Oval 6">
            <a:extLst>
              <a:ext uri="{FF2B5EF4-FFF2-40B4-BE49-F238E27FC236}">
                <a16:creationId xmlns:a16="http://schemas.microsoft.com/office/drawing/2014/main" id="{45C89B48-7B93-45D3-ACC5-76ECE4053E7E}"/>
              </a:ext>
            </a:extLst>
          </p:cNvPr>
          <p:cNvSpPr>
            <a:spLocks noGrp="1"/>
          </p:cNvSpPr>
          <p:nvPr/>
        </p:nvSpPr>
        <p:spPr>
          <a:xfrm>
            <a:off x="542925" y="542925"/>
            <a:ext cx="152400" cy="152400"/>
          </a:xfrm>
          <a:prstGeom prst="ellipse">
            <a:avLst/>
          </a:prstGeom>
          <a:solidFill>
            <a:srgbClr val="27C47D"/>
          </a:solidFill>
          <a:ln w="19050">
            <a:solidFill>
              <a:srgbClr val="101214"/>
            </a:solidFill>
            <a:prstDash val="solid"/>
          </a:ln>
        </p:spPr>
        <p:txBody>
          <a:bodyPr/>
          <a:lstStyle/>
          <a:p>
            <a:endParaRPr lang="en-IN"/>
          </a:p>
        </p:txBody>
      </p:sp>
      <p:sp>
        <p:nvSpPr>
          <p:cNvPr id="8" name="Rectangle 7">
            <a:extLst>
              <a:ext uri="{FF2B5EF4-FFF2-40B4-BE49-F238E27FC236}">
                <a16:creationId xmlns:a16="http://schemas.microsoft.com/office/drawing/2014/main" id="{61B99EF5-A4AE-4955-BCB8-864FE8B2AD79}"/>
              </a:ext>
            </a:extLst>
          </p:cNvPr>
          <p:cNvSpPr>
            <a:spLocks noGrp="1"/>
          </p:cNvSpPr>
          <p:nvPr/>
        </p:nvSpPr>
        <p:spPr>
          <a:xfrm>
            <a:off x="609600" y="81915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01214"/>
                </a:solidFill>
              </a:defRPr>
            </a:pPr>
            <a:r>
              <a:rPr sz="2550" b="1">
                <a:solidFill>
                  <a:srgbClr val="101214"/>
                </a:solidFill>
              </a:rPr>
              <a:t>9. Validation &amp; Analysis</a:t>
            </a:r>
          </a:p>
        </p:txBody>
      </p:sp>
      <p:sp>
        <p:nvSpPr>
          <p:cNvPr id="9" name="Rectangle 8">
            <a:extLst>
              <a:ext uri="{FF2B5EF4-FFF2-40B4-BE49-F238E27FC236}">
                <a16:creationId xmlns:a16="http://schemas.microsoft.com/office/drawing/2014/main" id="{CC7D762B-8691-4629-A9EE-690B10A5BDEE}"/>
              </a:ext>
            </a:extLst>
          </p:cNvPr>
          <p:cNvSpPr>
            <a:spLocks noGrp="1"/>
          </p:cNvSpPr>
          <p:nvPr/>
        </p:nvSpPr>
        <p:spPr>
          <a:xfrm>
            <a:off x="628650" y="1619250"/>
            <a:ext cx="7239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30363A"/>
                </a:solidFill>
              </a:defRPr>
            </a:pPr>
            <a:r>
              <a:rPr sz="1350" b="0">
                <a:solidFill>
                  <a:srgbClr val="30363A"/>
                </a:solidFill>
              </a:rPr>
              <a:t>The saved plots are used to compare action duration, force peaks, and grouped energy behavior across motions.</a:t>
            </a:r>
          </a:p>
        </p:txBody>
      </p:sp>
      <p:sp>
        <p:nvSpPr>
          <p:cNvPr id="10" name="Rectangle: Rounded Corners 9">
            <a:extLst>
              <a:ext uri="{FF2B5EF4-FFF2-40B4-BE49-F238E27FC236}">
                <a16:creationId xmlns:a16="http://schemas.microsoft.com/office/drawing/2014/main" id="{E475EE09-2721-4FD8-B275-6602280C9946}"/>
              </a:ext>
            </a:extLst>
          </p:cNvPr>
          <p:cNvSpPr>
            <a:spLocks noGrp="1"/>
          </p:cNvSpPr>
          <p:nvPr/>
        </p:nvSpPr>
        <p:spPr>
          <a:xfrm>
            <a:off x="781050" y="2324100"/>
            <a:ext cx="2381250" cy="1314450"/>
          </a:xfrm>
          <a:prstGeom prst="roundRect">
            <a:avLst>
              <a:gd name="adj" fmla="val 5797"/>
            </a:avLst>
          </a:prstGeom>
          <a:solidFill>
            <a:srgbClr val="F7F4ED">
              <a:alpha val="96078"/>
            </a:srgbClr>
          </a:solidFill>
          <a:ln w="11430">
            <a:solidFill>
              <a:srgbClr val="101214"/>
            </a:solidFill>
            <a:prstDash val="solid"/>
          </a:ln>
        </p:spPr>
        <p:txBody>
          <a:bodyPr/>
          <a:lstStyle/>
          <a:p>
            <a:endParaRPr lang="en-IN"/>
          </a:p>
        </p:txBody>
      </p:sp>
      <p:sp>
        <p:nvSpPr>
          <p:cNvPr id="11" name="Rectangle 10">
            <a:extLst>
              <a:ext uri="{FF2B5EF4-FFF2-40B4-BE49-F238E27FC236}">
                <a16:creationId xmlns:a16="http://schemas.microsoft.com/office/drawing/2014/main" id="{CA29F7BB-A96F-4A6A-995F-EE3823ECB4C7}"/>
              </a:ext>
            </a:extLst>
          </p:cNvPr>
          <p:cNvSpPr>
            <a:spLocks noGrp="1"/>
          </p:cNvSpPr>
          <p:nvPr/>
        </p:nvSpPr>
        <p:spPr>
          <a:xfrm>
            <a:off x="781050" y="2324100"/>
            <a:ext cx="2381250" cy="66675"/>
          </a:xfrm>
          <a:prstGeom prst="rect">
            <a:avLst/>
          </a:prstGeom>
          <a:solidFill>
            <a:srgbClr val="27C47D"/>
          </a:solidFill>
          <a:ln w="0">
            <a:solidFill>
              <a:srgbClr val="000000">
                <a:alpha val="0"/>
              </a:srgbClr>
            </a:solidFill>
            <a:prstDash val="solid"/>
          </a:ln>
        </p:spPr>
        <p:txBody>
          <a:bodyPr/>
          <a:lstStyle/>
          <a:p>
            <a:endParaRPr lang="en-IN"/>
          </a:p>
        </p:txBody>
      </p:sp>
      <p:sp>
        <p:nvSpPr>
          <p:cNvPr id="12" name="Rectangle 11">
            <a:extLst>
              <a:ext uri="{FF2B5EF4-FFF2-40B4-BE49-F238E27FC236}">
                <a16:creationId xmlns:a16="http://schemas.microsoft.com/office/drawing/2014/main" id="{02A7314C-FCC9-436F-A5A1-69592A994886}"/>
              </a:ext>
            </a:extLst>
          </p:cNvPr>
          <p:cNvSpPr>
            <a:spLocks noGrp="1"/>
          </p:cNvSpPr>
          <p:nvPr/>
        </p:nvSpPr>
        <p:spPr>
          <a:xfrm>
            <a:off x="990600" y="2495550"/>
            <a:ext cx="19621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1214"/>
                </a:solidFill>
              </a:defRPr>
            </a:pPr>
            <a:r>
              <a:rPr sz="2250" b="1">
                <a:solidFill>
                  <a:srgbClr val="101214"/>
                </a:solidFill>
              </a:rPr>
              <a:t>7.47 s</a:t>
            </a:r>
          </a:p>
        </p:txBody>
      </p:sp>
      <p:sp>
        <p:nvSpPr>
          <p:cNvPr id="13" name="Rectangle 12">
            <a:extLst>
              <a:ext uri="{FF2B5EF4-FFF2-40B4-BE49-F238E27FC236}">
                <a16:creationId xmlns:a16="http://schemas.microsoft.com/office/drawing/2014/main" id="{5F391229-FB4A-4F76-B492-CDBAFC0A5A0A}"/>
              </a:ext>
            </a:extLst>
          </p:cNvPr>
          <p:cNvSpPr>
            <a:spLocks noGrp="1"/>
          </p:cNvSpPr>
          <p:nvPr/>
        </p:nvSpPr>
        <p:spPr>
          <a:xfrm>
            <a:off x="1009650" y="3028950"/>
            <a:ext cx="19240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30363A"/>
                </a:solidFill>
              </a:defRPr>
            </a:pPr>
            <a:r>
              <a:rPr sz="1125" b="0">
                <a:solidFill>
                  <a:srgbClr val="30363A"/>
                </a:solidFill>
              </a:rPr>
              <a:t>Walk duration</a:t>
            </a:r>
          </a:p>
        </p:txBody>
      </p:sp>
      <p:sp>
        <p:nvSpPr>
          <p:cNvPr id="14" name="Rectangle 13">
            <a:extLst>
              <a:ext uri="{FF2B5EF4-FFF2-40B4-BE49-F238E27FC236}">
                <a16:creationId xmlns:a16="http://schemas.microsoft.com/office/drawing/2014/main" id="{499F7C47-97DB-4820-99DE-8D33E624C191}"/>
              </a:ext>
            </a:extLst>
          </p:cNvPr>
          <p:cNvSpPr>
            <a:spLocks noGrp="1"/>
          </p:cNvSpPr>
          <p:nvPr/>
        </p:nvSpPr>
        <p:spPr>
          <a:xfrm>
            <a:off x="1009650" y="3295650"/>
            <a:ext cx="1924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687076"/>
                </a:solidFill>
              </a:defRPr>
            </a:pPr>
            <a:r>
              <a:rPr sz="750" b="0">
                <a:solidFill>
                  <a:srgbClr val="687076"/>
                </a:solidFill>
              </a:rPr>
              <a:t>saved run length</a:t>
            </a:r>
          </a:p>
        </p:txBody>
      </p:sp>
      <p:sp>
        <p:nvSpPr>
          <p:cNvPr id="15" name="Rectangle: Rounded Corners 14">
            <a:extLst>
              <a:ext uri="{FF2B5EF4-FFF2-40B4-BE49-F238E27FC236}">
                <a16:creationId xmlns:a16="http://schemas.microsoft.com/office/drawing/2014/main" id="{75AA3A85-087F-47E9-8C19-8F2FC83489F9}"/>
              </a:ext>
            </a:extLst>
          </p:cNvPr>
          <p:cNvSpPr>
            <a:spLocks noGrp="1"/>
          </p:cNvSpPr>
          <p:nvPr/>
        </p:nvSpPr>
        <p:spPr>
          <a:xfrm>
            <a:off x="3333750" y="2324100"/>
            <a:ext cx="2381250" cy="1314450"/>
          </a:xfrm>
          <a:prstGeom prst="roundRect">
            <a:avLst>
              <a:gd name="adj" fmla="val 5797"/>
            </a:avLst>
          </a:prstGeom>
          <a:solidFill>
            <a:srgbClr val="F7F4ED">
              <a:alpha val="96078"/>
            </a:srgbClr>
          </a:solidFill>
          <a:ln w="11430">
            <a:solidFill>
              <a:srgbClr val="101214"/>
            </a:solidFill>
            <a:prstDash val="solid"/>
          </a:ln>
        </p:spPr>
        <p:txBody>
          <a:bodyPr/>
          <a:lstStyle/>
          <a:p>
            <a:endParaRPr lang="en-IN"/>
          </a:p>
        </p:txBody>
      </p:sp>
      <p:sp>
        <p:nvSpPr>
          <p:cNvPr id="16" name="Rectangle 15">
            <a:extLst>
              <a:ext uri="{FF2B5EF4-FFF2-40B4-BE49-F238E27FC236}">
                <a16:creationId xmlns:a16="http://schemas.microsoft.com/office/drawing/2014/main" id="{4D45DB59-8291-485C-B187-EC38D57B9BCB}"/>
              </a:ext>
            </a:extLst>
          </p:cNvPr>
          <p:cNvSpPr>
            <a:spLocks noGrp="1"/>
          </p:cNvSpPr>
          <p:nvPr/>
        </p:nvSpPr>
        <p:spPr>
          <a:xfrm>
            <a:off x="3333750" y="2324100"/>
            <a:ext cx="2381250" cy="66675"/>
          </a:xfrm>
          <a:prstGeom prst="rect">
            <a:avLst/>
          </a:prstGeom>
          <a:solidFill>
            <a:srgbClr val="D7A83D"/>
          </a:solidFill>
          <a:ln w="0">
            <a:solidFill>
              <a:srgbClr val="000000">
                <a:alpha val="0"/>
              </a:srgbClr>
            </a:solidFill>
            <a:prstDash val="solid"/>
          </a:ln>
        </p:spPr>
        <p:txBody>
          <a:bodyPr/>
          <a:lstStyle/>
          <a:p>
            <a:endParaRPr lang="en-IN"/>
          </a:p>
        </p:txBody>
      </p:sp>
      <p:sp>
        <p:nvSpPr>
          <p:cNvPr id="17" name="Rectangle 16">
            <a:extLst>
              <a:ext uri="{FF2B5EF4-FFF2-40B4-BE49-F238E27FC236}">
                <a16:creationId xmlns:a16="http://schemas.microsoft.com/office/drawing/2014/main" id="{ACC133EE-AC0E-4557-B73E-9EE3FB27FA85}"/>
              </a:ext>
            </a:extLst>
          </p:cNvPr>
          <p:cNvSpPr>
            <a:spLocks noGrp="1"/>
          </p:cNvSpPr>
          <p:nvPr/>
        </p:nvSpPr>
        <p:spPr>
          <a:xfrm>
            <a:off x="3543300" y="2495550"/>
            <a:ext cx="19621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1214"/>
                </a:solidFill>
              </a:defRPr>
            </a:pPr>
            <a:r>
              <a:rPr sz="2250" b="1">
                <a:solidFill>
                  <a:srgbClr val="101214"/>
                </a:solidFill>
              </a:rPr>
              <a:t>5.22 s</a:t>
            </a:r>
          </a:p>
        </p:txBody>
      </p:sp>
      <p:sp>
        <p:nvSpPr>
          <p:cNvPr id="18" name="Rectangle 17">
            <a:extLst>
              <a:ext uri="{FF2B5EF4-FFF2-40B4-BE49-F238E27FC236}">
                <a16:creationId xmlns:a16="http://schemas.microsoft.com/office/drawing/2014/main" id="{A19D0F2E-0636-4CF3-8F25-B97BA5D6D2A0}"/>
              </a:ext>
            </a:extLst>
          </p:cNvPr>
          <p:cNvSpPr>
            <a:spLocks noGrp="1"/>
          </p:cNvSpPr>
          <p:nvPr/>
        </p:nvSpPr>
        <p:spPr>
          <a:xfrm>
            <a:off x="3562350" y="3028950"/>
            <a:ext cx="19240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30363A"/>
                </a:solidFill>
              </a:defRPr>
            </a:pPr>
            <a:r>
              <a:rPr sz="1125" b="0">
                <a:solidFill>
                  <a:srgbClr val="30363A"/>
                </a:solidFill>
              </a:rPr>
              <a:t>Squat duration</a:t>
            </a:r>
          </a:p>
        </p:txBody>
      </p:sp>
      <p:sp>
        <p:nvSpPr>
          <p:cNvPr id="19" name="Rectangle 18">
            <a:extLst>
              <a:ext uri="{FF2B5EF4-FFF2-40B4-BE49-F238E27FC236}">
                <a16:creationId xmlns:a16="http://schemas.microsoft.com/office/drawing/2014/main" id="{8157287A-B050-4DCA-87FB-6C2FE7B6BC38}"/>
              </a:ext>
            </a:extLst>
          </p:cNvPr>
          <p:cNvSpPr>
            <a:spLocks noGrp="1"/>
          </p:cNvSpPr>
          <p:nvPr/>
        </p:nvSpPr>
        <p:spPr>
          <a:xfrm>
            <a:off x="3562350" y="3295650"/>
            <a:ext cx="1924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687076"/>
                </a:solidFill>
              </a:defRPr>
            </a:pPr>
            <a:r>
              <a:rPr sz="750" b="0">
                <a:solidFill>
                  <a:srgbClr val="687076"/>
                </a:solidFill>
              </a:rPr>
              <a:t>saved run length</a:t>
            </a:r>
          </a:p>
        </p:txBody>
      </p:sp>
      <p:sp>
        <p:nvSpPr>
          <p:cNvPr id="20" name="Rectangle: Rounded Corners 19">
            <a:extLst>
              <a:ext uri="{FF2B5EF4-FFF2-40B4-BE49-F238E27FC236}">
                <a16:creationId xmlns:a16="http://schemas.microsoft.com/office/drawing/2014/main" id="{1E451E85-9410-4EC9-B88A-29A0090E53F8}"/>
              </a:ext>
            </a:extLst>
          </p:cNvPr>
          <p:cNvSpPr>
            <a:spLocks noGrp="1"/>
          </p:cNvSpPr>
          <p:nvPr/>
        </p:nvSpPr>
        <p:spPr>
          <a:xfrm>
            <a:off x="5886450" y="2324100"/>
            <a:ext cx="2381250" cy="1314450"/>
          </a:xfrm>
          <a:prstGeom prst="roundRect">
            <a:avLst>
              <a:gd name="adj" fmla="val 5797"/>
            </a:avLst>
          </a:prstGeom>
          <a:solidFill>
            <a:srgbClr val="F7F4ED">
              <a:alpha val="96078"/>
            </a:srgbClr>
          </a:solidFill>
          <a:ln w="11430">
            <a:solidFill>
              <a:srgbClr val="101214"/>
            </a:solidFill>
            <a:prstDash val="solid"/>
          </a:ln>
        </p:spPr>
        <p:txBody>
          <a:bodyPr/>
          <a:lstStyle/>
          <a:p>
            <a:endParaRPr lang="en-IN"/>
          </a:p>
        </p:txBody>
      </p:sp>
      <p:sp>
        <p:nvSpPr>
          <p:cNvPr id="21" name="Rectangle 20">
            <a:extLst>
              <a:ext uri="{FF2B5EF4-FFF2-40B4-BE49-F238E27FC236}">
                <a16:creationId xmlns:a16="http://schemas.microsoft.com/office/drawing/2014/main" id="{273BEB55-4E4B-4631-B02A-BF801A97F174}"/>
              </a:ext>
            </a:extLst>
          </p:cNvPr>
          <p:cNvSpPr>
            <a:spLocks noGrp="1"/>
          </p:cNvSpPr>
          <p:nvPr/>
        </p:nvSpPr>
        <p:spPr>
          <a:xfrm>
            <a:off x="5886450" y="2324100"/>
            <a:ext cx="2381250" cy="66675"/>
          </a:xfrm>
          <a:prstGeom prst="rect">
            <a:avLst/>
          </a:prstGeom>
          <a:solidFill>
            <a:srgbClr val="E86F5B"/>
          </a:solidFill>
          <a:ln w="0">
            <a:solidFill>
              <a:srgbClr val="000000">
                <a:alpha val="0"/>
              </a:srgbClr>
            </a:solidFill>
            <a:prstDash val="solid"/>
          </a:ln>
        </p:spPr>
        <p:txBody>
          <a:bodyPr/>
          <a:lstStyle/>
          <a:p>
            <a:endParaRPr lang="en-IN"/>
          </a:p>
        </p:txBody>
      </p:sp>
      <p:sp>
        <p:nvSpPr>
          <p:cNvPr id="22" name="Rectangle 21">
            <a:extLst>
              <a:ext uri="{FF2B5EF4-FFF2-40B4-BE49-F238E27FC236}">
                <a16:creationId xmlns:a16="http://schemas.microsoft.com/office/drawing/2014/main" id="{2CF66FE8-85E3-469F-A61F-8F40F0FC4E78}"/>
              </a:ext>
            </a:extLst>
          </p:cNvPr>
          <p:cNvSpPr>
            <a:spLocks noGrp="1"/>
          </p:cNvSpPr>
          <p:nvPr/>
        </p:nvSpPr>
        <p:spPr>
          <a:xfrm>
            <a:off x="6096000" y="2495550"/>
            <a:ext cx="19621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1214"/>
                </a:solidFill>
              </a:defRPr>
            </a:pPr>
            <a:r>
              <a:rPr sz="2250" b="1">
                <a:solidFill>
                  <a:srgbClr val="101214"/>
                </a:solidFill>
              </a:rPr>
              <a:t>3.52 s</a:t>
            </a:r>
          </a:p>
        </p:txBody>
      </p:sp>
      <p:sp>
        <p:nvSpPr>
          <p:cNvPr id="23" name="Rectangle 22">
            <a:extLst>
              <a:ext uri="{FF2B5EF4-FFF2-40B4-BE49-F238E27FC236}">
                <a16:creationId xmlns:a16="http://schemas.microsoft.com/office/drawing/2014/main" id="{CB67943D-5BA4-4999-A327-64A94DDB680B}"/>
              </a:ext>
            </a:extLst>
          </p:cNvPr>
          <p:cNvSpPr>
            <a:spLocks noGrp="1"/>
          </p:cNvSpPr>
          <p:nvPr/>
        </p:nvSpPr>
        <p:spPr>
          <a:xfrm>
            <a:off x="6115050" y="3028950"/>
            <a:ext cx="19240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30363A"/>
                </a:solidFill>
              </a:defRPr>
            </a:pPr>
            <a:r>
              <a:rPr sz="1125" b="0">
                <a:solidFill>
                  <a:srgbClr val="30363A"/>
                </a:solidFill>
              </a:rPr>
              <a:t>Jump w/o twist</a:t>
            </a:r>
          </a:p>
        </p:txBody>
      </p:sp>
      <p:sp>
        <p:nvSpPr>
          <p:cNvPr id="24" name="Rectangle 23">
            <a:extLst>
              <a:ext uri="{FF2B5EF4-FFF2-40B4-BE49-F238E27FC236}">
                <a16:creationId xmlns:a16="http://schemas.microsoft.com/office/drawing/2014/main" id="{6A7B370F-6CD5-4B63-A84A-724C6B770F56}"/>
              </a:ext>
            </a:extLst>
          </p:cNvPr>
          <p:cNvSpPr>
            <a:spLocks noGrp="1"/>
          </p:cNvSpPr>
          <p:nvPr/>
        </p:nvSpPr>
        <p:spPr>
          <a:xfrm>
            <a:off x="6115050" y="3295650"/>
            <a:ext cx="1924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687076"/>
                </a:solidFill>
              </a:defRPr>
            </a:pPr>
            <a:r>
              <a:rPr sz="750" b="0">
                <a:solidFill>
                  <a:srgbClr val="687076"/>
                </a:solidFill>
              </a:rPr>
              <a:t>saved run length</a:t>
            </a:r>
          </a:p>
        </p:txBody>
      </p:sp>
      <p:sp>
        <p:nvSpPr>
          <p:cNvPr id="25" name="Rectangle: Rounded Corners 24">
            <a:extLst>
              <a:ext uri="{FF2B5EF4-FFF2-40B4-BE49-F238E27FC236}">
                <a16:creationId xmlns:a16="http://schemas.microsoft.com/office/drawing/2014/main" id="{6758B562-601F-4DD4-9E4F-5D41366B29E1}"/>
              </a:ext>
            </a:extLst>
          </p:cNvPr>
          <p:cNvSpPr>
            <a:spLocks noGrp="1"/>
          </p:cNvSpPr>
          <p:nvPr/>
        </p:nvSpPr>
        <p:spPr>
          <a:xfrm>
            <a:off x="8439150" y="2324100"/>
            <a:ext cx="2381250" cy="1314450"/>
          </a:xfrm>
          <a:prstGeom prst="roundRect">
            <a:avLst>
              <a:gd name="adj" fmla="val 5797"/>
            </a:avLst>
          </a:prstGeom>
          <a:solidFill>
            <a:srgbClr val="F7F4ED">
              <a:alpha val="96078"/>
            </a:srgbClr>
          </a:solidFill>
          <a:ln w="11430">
            <a:solidFill>
              <a:srgbClr val="101214"/>
            </a:solidFill>
            <a:prstDash val="solid"/>
          </a:ln>
        </p:spPr>
        <p:txBody>
          <a:bodyPr/>
          <a:lstStyle/>
          <a:p>
            <a:endParaRPr lang="en-IN"/>
          </a:p>
        </p:txBody>
      </p:sp>
      <p:sp>
        <p:nvSpPr>
          <p:cNvPr id="26" name="Rectangle 25">
            <a:extLst>
              <a:ext uri="{FF2B5EF4-FFF2-40B4-BE49-F238E27FC236}">
                <a16:creationId xmlns:a16="http://schemas.microsoft.com/office/drawing/2014/main" id="{948715E8-12B6-408E-A1BA-BEE04407CA99}"/>
              </a:ext>
            </a:extLst>
          </p:cNvPr>
          <p:cNvSpPr>
            <a:spLocks noGrp="1"/>
          </p:cNvSpPr>
          <p:nvPr/>
        </p:nvSpPr>
        <p:spPr>
          <a:xfrm>
            <a:off x="8439150" y="2324100"/>
            <a:ext cx="2381250" cy="66675"/>
          </a:xfrm>
          <a:prstGeom prst="rect">
            <a:avLst/>
          </a:prstGeom>
          <a:solidFill>
            <a:srgbClr val="27C47D"/>
          </a:solidFill>
          <a:ln w="0">
            <a:solidFill>
              <a:srgbClr val="000000">
                <a:alpha val="0"/>
              </a:srgbClr>
            </a:solidFill>
            <a:prstDash val="solid"/>
          </a:ln>
        </p:spPr>
        <p:txBody>
          <a:bodyPr/>
          <a:lstStyle/>
          <a:p>
            <a:endParaRPr lang="en-IN"/>
          </a:p>
        </p:txBody>
      </p:sp>
      <p:sp>
        <p:nvSpPr>
          <p:cNvPr id="27" name="Rectangle 26">
            <a:extLst>
              <a:ext uri="{FF2B5EF4-FFF2-40B4-BE49-F238E27FC236}">
                <a16:creationId xmlns:a16="http://schemas.microsoft.com/office/drawing/2014/main" id="{E4CD0171-F65F-4D08-8614-3F0F15892D26}"/>
              </a:ext>
            </a:extLst>
          </p:cNvPr>
          <p:cNvSpPr>
            <a:spLocks noGrp="1"/>
          </p:cNvSpPr>
          <p:nvPr/>
        </p:nvSpPr>
        <p:spPr>
          <a:xfrm>
            <a:off x="8648700" y="2495550"/>
            <a:ext cx="19621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1214"/>
                </a:solidFill>
              </a:defRPr>
            </a:pPr>
            <a:r>
              <a:rPr sz="2250" b="1">
                <a:solidFill>
                  <a:srgbClr val="101214"/>
                </a:solidFill>
              </a:rPr>
              <a:t>6.07 s</a:t>
            </a:r>
          </a:p>
        </p:txBody>
      </p:sp>
      <p:sp>
        <p:nvSpPr>
          <p:cNvPr id="28" name="Rectangle 27">
            <a:extLst>
              <a:ext uri="{FF2B5EF4-FFF2-40B4-BE49-F238E27FC236}">
                <a16:creationId xmlns:a16="http://schemas.microsoft.com/office/drawing/2014/main" id="{656D3152-BEAC-4514-AF7D-19E16ABC96F9}"/>
              </a:ext>
            </a:extLst>
          </p:cNvPr>
          <p:cNvSpPr>
            <a:spLocks noGrp="1"/>
          </p:cNvSpPr>
          <p:nvPr/>
        </p:nvSpPr>
        <p:spPr>
          <a:xfrm>
            <a:off x="8667750" y="3028950"/>
            <a:ext cx="19240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30363A"/>
                </a:solidFill>
              </a:defRPr>
            </a:pPr>
            <a:r>
              <a:rPr sz="1125" b="0">
                <a:solidFill>
                  <a:srgbClr val="30363A"/>
                </a:solidFill>
              </a:rPr>
              <a:t>Jump with twist</a:t>
            </a:r>
          </a:p>
        </p:txBody>
      </p:sp>
      <p:sp>
        <p:nvSpPr>
          <p:cNvPr id="29" name="Rectangle 28">
            <a:extLst>
              <a:ext uri="{FF2B5EF4-FFF2-40B4-BE49-F238E27FC236}">
                <a16:creationId xmlns:a16="http://schemas.microsoft.com/office/drawing/2014/main" id="{CBF7A245-2B1D-49DF-AC81-3459722BE171}"/>
              </a:ext>
            </a:extLst>
          </p:cNvPr>
          <p:cNvSpPr>
            <a:spLocks noGrp="1"/>
          </p:cNvSpPr>
          <p:nvPr/>
        </p:nvSpPr>
        <p:spPr>
          <a:xfrm>
            <a:off x="8667750" y="3295650"/>
            <a:ext cx="1924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687076"/>
                </a:solidFill>
              </a:defRPr>
            </a:pPr>
            <a:r>
              <a:rPr sz="750" b="0">
                <a:solidFill>
                  <a:srgbClr val="687076"/>
                </a:solidFill>
              </a:rPr>
              <a:t>saved run length</a:t>
            </a:r>
          </a:p>
        </p:txBody>
      </p:sp>
      <p:sp>
        <p:nvSpPr>
          <p:cNvPr id="30" name="Rectangle: Rounded Corners 29">
            <a:extLst>
              <a:ext uri="{FF2B5EF4-FFF2-40B4-BE49-F238E27FC236}">
                <a16:creationId xmlns:a16="http://schemas.microsoft.com/office/drawing/2014/main" id="{573A1FC3-2BF6-43AF-BB73-BB5D586D60A0}"/>
              </a:ext>
            </a:extLst>
          </p:cNvPr>
          <p:cNvSpPr>
            <a:spLocks noGrp="1"/>
          </p:cNvSpPr>
          <p:nvPr/>
        </p:nvSpPr>
        <p:spPr>
          <a:xfrm>
            <a:off x="781050" y="3905250"/>
            <a:ext cx="5143500" cy="1771650"/>
          </a:xfrm>
          <a:prstGeom prst="roundRect">
            <a:avLst>
              <a:gd name="adj" fmla="val 4301"/>
            </a:avLst>
          </a:prstGeom>
          <a:solidFill>
            <a:srgbClr val="FFFFFF"/>
          </a:solidFill>
          <a:ln w="11430">
            <a:solidFill>
              <a:srgbClr val="101214"/>
            </a:solidFill>
            <a:prstDash val="solid"/>
          </a:ln>
        </p:spPr>
        <p:txBody>
          <a:bodyPr/>
          <a:lstStyle/>
          <a:p>
            <a:endParaRPr lang="en-IN"/>
          </a:p>
        </p:txBody>
      </p:sp>
      <p:sp>
        <p:nvSpPr>
          <p:cNvPr id="31" name="Rectangle 30">
            <a:extLst>
              <a:ext uri="{FF2B5EF4-FFF2-40B4-BE49-F238E27FC236}">
                <a16:creationId xmlns:a16="http://schemas.microsoft.com/office/drawing/2014/main" id="{5ADC61B3-A50C-4FF4-B56C-B422E6AF4C16}"/>
              </a:ext>
            </a:extLst>
          </p:cNvPr>
          <p:cNvSpPr>
            <a:spLocks noGrp="1"/>
          </p:cNvSpPr>
          <p:nvPr/>
        </p:nvSpPr>
        <p:spPr>
          <a:xfrm>
            <a:off x="781050" y="3905250"/>
            <a:ext cx="5143500" cy="57150"/>
          </a:xfrm>
          <a:prstGeom prst="rect">
            <a:avLst/>
          </a:prstGeom>
          <a:solidFill>
            <a:srgbClr val="27C47D"/>
          </a:solidFill>
          <a:ln w="0">
            <a:solidFill>
              <a:srgbClr val="000000">
                <a:alpha val="0"/>
              </a:srgbClr>
            </a:solidFill>
            <a:prstDash val="solid"/>
          </a:ln>
        </p:spPr>
        <p:txBody>
          <a:bodyPr/>
          <a:lstStyle/>
          <a:p>
            <a:endParaRPr lang="en-IN"/>
          </a:p>
        </p:txBody>
      </p:sp>
      <p:sp>
        <p:nvSpPr>
          <p:cNvPr id="32" name="Rectangle 31">
            <a:extLst>
              <a:ext uri="{FF2B5EF4-FFF2-40B4-BE49-F238E27FC236}">
                <a16:creationId xmlns:a16="http://schemas.microsoft.com/office/drawing/2014/main" id="{8C2DE3C5-DD0C-4738-874C-5C3F5A91F157}"/>
              </a:ext>
            </a:extLst>
          </p:cNvPr>
          <p:cNvSpPr>
            <a:spLocks noGrp="1"/>
          </p:cNvSpPr>
          <p:nvPr/>
        </p:nvSpPr>
        <p:spPr>
          <a:xfrm>
            <a:off x="990600" y="4076700"/>
            <a:ext cx="4724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Validation Observations</a:t>
            </a:r>
          </a:p>
        </p:txBody>
      </p:sp>
      <p:sp>
        <p:nvSpPr>
          <p:cNvPr id="33" name="Rectangle 32">
            <a:extLst>
              <a:ext uri="{FF2B5EF4-FFF2-40B4-BE49-F238E27FC236}">
                <a16:creationId xmlns:a16="http://schemas.microsoft.com/office/drawing/2014/main" id="{6134DBCC-C67D-4627-BB43-8ADF079A377B}"/>
              </a:ext>
            </a:extLst>
          </p:cNvPr>
          <p:cNvSpPr>
            <a:spLocks noGrp="1"/>
          </p:cNvSpPr>
          <p:nvPr/>
        </p:nvSpPr>
        <p:spPr>
          <a:xfrm>
            <a:off x="990600" y="4438650"/>
            <a:ext cx="4724400" cy="1085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Walking produces sustained periodic GRF and energy variation over the longest duration.</a:t>
            </a:r>
          </a:p>
          <a:p>
            <a:pPr algn="l">
              <a:defRPr sz="1200" b="0">
                <a:solidFill>
                  <a:srgbClr val="101214"/>
                </a:solidFill>
              </a:defRPr>
            </a:pPr>
            <a:r>
              <a:rPr sz="1200" b="0">
                <a:solidFill>
                  <a:srgbClr val="101214"/>
                </a:solidFill>
              </a:rPr>
              <a:t>• Squat stays mostly symmetric and is useful for checking vertical energy exchange.</a:t>
            </a:r>
          </a:p>
          <a:p>
            <a:pPr algn="l">
              <a:defRPr sz="1200" b="0">
                <a:solidFill>
                  <a:srgbClr val="101214"/>
                </a:solidFill>
              </a:defRPr>
            </a:pPr>
            <a:r>
              <a:rPr sz="1200" b="0">
                <a:solidFill>
                  <a:srgbClr val="101214"/>
                </a:solidFill>
              </a:rPr>
              <a:t>• Jump actions compress the time horizon and highlight large event-driven torque and GRF changes.</a:t>
            </a:r>
          </a:p>
        </p:txBody>
      </p:sp>
      <p:sp>
        <p:nvSpPr>
          <p:cNvPr id="34" name="Rectangle: Rounded Corners 33">
            <a:extLst>
              <a:ext uri="{FF2B5EF4-FFF2-40B4-BE49-F238E27FC236}">
                <a16:creationId xmlns:a16="http://schemas.microsoft.com/office/drawing/2014/main" id="{E37A7559-A3C4-496D-A123-02BA78732194}"/>
              </a:ext>
            </a:extLst>
          </p:cNvPr>
          <p:cNvSpPr>
            <a:spLocks noGrp="1"/>
          </p:cNvSpPr>
          <p:nvPr/>
        </p:nvSpPr>
        <p:spPr>
          <a:xfrm>
            <a:off x="6229350" y="3905250"/>
            <a:ext cx="5314950" cy="1771650"/>
          </a:xfrm>
          <a:prstGeom prst="roundRect">
            <a:avLst>
              <a:gd name="adj" fmla="val 4301"/>
            </a:avLst>
          </a:prstGeom>
          <a:solidFill>
            <a:srgbClr val="FFFFFF"/>
          </a:solidFill>
          <a:ln w="11430">
            <a:solidFill>
              <a:srgbClr val="101214"/>
            </a:solidFill>
            <a:prstDash val="solid"/>
          </a:ln>
        </p:spPr>
        <p:txBody>
          <a:bodyPr/>
          <a:lstStyle/>
          <a:p>
            <a:endParaRPr lang="en-IN"/>
          </a:p>
        </p:txBody>
      </p:sp>
      <p:sp>
        <p:nvSpPr>
          <p:cNvPr id="35" name="Rectangle 34">
            <a:extLst>
              <a:ext uri="{FF2B5EF4-FFF2-40B4-BE49-F238E27FC236}">
                <a16:creationId xmlns:a16="http://schemas.microsoft.com/office/drawing/2014/main" id="{F332CB54-A3CB-493B-904D-C1CC8B48C89E}"/>
              </a:ext>
            </a:extLst>
          </p:cNvPr>
          <p:cNvSpPr>
            <a:spLocks noGrp="1"/>
          </p:cNvSpPr>
          <p:nvPr/>
        </p:nvSpPr>
        <p:spPr>
          <a:xfrm>
            <a:off x="6229350" y="3905250"/>
            <a:ext cx="5314950" cy="57150"/>
          </a:xfrm>
          <a:prstGeom prst="rect">
            <a:avLst/>
          </a:prstGeom>
          <a:solidFill>
            <a:srgbClr val="E86F5B"/>
          </a:solidFill>
          <a:ln w="0">
            <a:solidFill>
              <a:srgbClr val="000000">
                <a:alpha val="0"/>
              </a:srgbClr>
            </a:solidFill>
            <a:prstDash val="solid"/>
          </a:ln>
        </p:spPr>
        <p:txBody>
          <a:bodyPr/>
          <a:lstStyle/>
          <a:p>
            <a:endParaRPr lang="en-IN"/>
          </a:p>
        </p:txBody>
      </p:sp>
      <p:sp>
        <p:nvSpPr>
          <p:cNvPr id="36" name="Rectangle 35">
            <a:extLst>
              <a:ext uri="{FF2B5EF4-FFF2-40B4-BE49-F238E27FC236}">
                <a16:creationId xmlns:a16="http://schemas.microsoft.com/office/drawing/2014/main" id="{B6E899A1-53AE-4171-8B68-F1D83551EDE6}"/>
              </a:ext>
            </a:extLst>
          </p:cNvPr>
          <p:cNvSpPr>
            <a:spLocks noGrp="1"/>
          </p:cNvSpPr>
          <p:nvPr/>
        </p:nvSpPr>
        <p:spPr>
          <a:xfrm>
            <a:off x="6438900" y="4076700"/>
            <a:ext cx="4895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Limitations</a:t>
            </a:r>
          </a:p>
        </p:txBody>
      </p:sp>
      <p:sp>
        <p:nvSpPr>
          <p:cNvPr id="37" name="Rectangle 36">
            <a:extLst>
              <a:ext uri="{FF2B5EF4-FFF2-40B4-BE49-F238E27FC236}">
                <a16:creationId xmlns:a16="http://schemas.microsoft.com/office/drawing/2014/main" id="{D37FA0D1-5E88-479C-AA67-70D1C92E8521}"/>
              </a:ext>
            </a:extLst>
          </p:cNvPr>
          <p:cNvSpPr>
            <a:spLocks noGrp="1"/>
          </p:cNvSpPr>
          <p:nvPr/>
        </p:nvSpPr>
        <p:spPr>
          <a:xfrm>
            <a:off x="6438900" y="4438650"/>
            <a:ext cx="4895850" cy="1085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 The project uses parameter extraction from URDF rather than experimental parameter estimation, so it is a model-based system description more than classical system identification.</a:t>
            </a:r>
          </a:p>
          <a:p>
            <a:pPr algn="l">
              <a:defRPr sz="1200" b="0">
                <a:solidFill>
                  <a:srgbClr val="101214"/>
                </a:solidFill>
              </a:defRPr>
            </a:pPr>
            <a:r>
              <a:rPr sz="1200" b="0">
                <a:solidFill>
                  <a:srgbClr val="101214"/>
                </a:solidFill>
              </a:rPr>
              <a:t>• Stress is a reaction-force proxy, not a material stress computation.</a:t>
            </a:r>
          </a:p>
          <a:p>
            <a:pPr algn="l">
              <a:defRPr sz="1200" b="0">
                <a:solidFill>
                  <a:srgbClr val="101214"/>
                </a:solidFill>
              </a:defRPr>
            </a:pPr>
            <a:r>
              <a:rPr sz="1200" b="0">
                <a:solidFill>
                  <a:srgbClr val="101214"/>
                </a:solidFill>
              </a:rPr>
              <a:t>• Grouped Hip, Knee, and Ankle channels trade detail for interpretability at report scale.</a:t>
            </a:r>
          </a:p>
        </p:txBody>
      </p:sp>
    </p:spTree>
    <p:extLst>
      <p:ext uri="{BB962C8B-B14F-4D97-AF65-F5344CB8AC3E}">
        <p14:creationId xmlns:p14="http://schemas.microsoft.com/office/powerpoint/2010/main" val="771592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34"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A6E4025C-B6FE-4F8E-8A1D-465D44C9598F}"/>
              </a:ext>
            </a:extLst>
          </p:cNvPr>
          <p:cNvSpPr>
            <a:spLocks noGrp="1"/>
          </p:cNvSpPr>
          <p:nvPr/>
        </p:nvSpPr>
        <p:spPr>
          <a:xfrm>
            <a:off x="0" y="0"/>
            <a:ext cx="12192000" cy="6858000"/>
          </a:xfrm>
          <a:prstGeom prst="rect">
            <a:avLst/>
          </a:prstGeom>
          <a:solidFill>
            <a:srgbClr val="FFFFFF">
              <a:alpha val="72941"/>
            </a:srgbClr>
          </a:solidFill>
          <a:ln w="0">
            <a:solidFill>
              <a:srgbClr val="000000">
                <a:alpha val="0"/>
              </a:srgbClr>
            </a:solidFill>
            <a:prstDash val="solid"/>
          </a:ln>
        </p:spPr>
        <p:txBody>
          <a:bodyPr/>
          <a:lstStyle/>
          <a:p>
            <a:endParaRPr lang="en-IN"/>
          </a:p>
        </p:txBody>
      </p:sp>
      <p:sp>
        <p:nvSpPr>
          <p:cNvPr id="4" name="Rectangle 3">
            <a:extLst>
              <a:ext uri="{FF2B5EF4-FFF2-40B4-BE49-F238E27FC236}">
                <a16:creationId xmlns:a16="http://schemas.microsoft.com/office/drawing/2014/main" id="{9D4D25A2-F2CE-498F-B9E2-061E6C5AA7F7}"/>
              </a:ext>
            </a:extLst>
          </p:cNvPr>
          <p:cNvSpPr>
            <a:spLocks noGrp="1"/>
          </p:cNvSpPr>
          <p:nvPr/>
        </p:nvSpPr>
        <p:spPr>
          <a:xfrm>
            <a:off x="609600" y="323850"/>
            <a:ext cx="409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16B49"/>
                </a:solidFill>
              </a:defRPr>
            </a:pPr>
            <a:r>
              <a:rPr sz="975" b="1">
                <a:solidFill>
                  <a:srgbClr val="116B49"/>
                </a:solidFill>
              </a:rPr>
              <a:t>SECTION 10</a:t>
            </a:r>
          </a:p>
        </p:txBody>
      </p:sp>
      <p:sp>
        <p:nvSpPr>
          <p:cNvPr id="5" name="Rectangle 4">
            <a:extLst>
              <a:ext uri="{FF2B5EF4-FFF2-40B4-BE49-F238E27FC236}">
                <a16:creationId xmlns:a16="http://schemas.microsoft.com/office/drawing/2014/main" id="{CFA2FA8A-3580-47DB-BD31-9CCD3532E8A2}"/>
              </a:ext>
            </a:extLst>
          </p:cNvPr>
          <p:cNvSpPr>
            <a:spLocks noGrp="1"/>
          </p:cNvSpPr>
          <p:nvPr/>
        </p:nvSpPr>
        <p:spPr>
          <a:xfrm>
            <a:off x="10610850" y="32385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16B49"/>
                </a:solidFill>
              </a:defRPr>
            </a:pPr>
            <a:r>
              <a:rPr sz="975" b="1">
                <a:solidFill>
                  <a:srgbClr val="116B49"/>
                </a:solidFill>
              </a:rPr>
              <a:t>11 / 13</a:t>
            </a:r>
          </a:p>
        </p:txBody>
      </p:sp>
      <p:sp>
        <p:nvSpPr>
          <p:cNvPr id="6" name="Rectangle 5">
            <a:extLst>
              <a:ext uri="{FF2B5EF4-FFF2-40B4-BE49-F238E27FC236}">
                <a16:creationId xmlns:a16="http://schemas.microsoft.com/office/drawing/2014/main" id="{424E8FB7-4B2A-47C3-82CA-0DA47C031459}"/>
              </a:ext>
            </a:extLst>
          </p:cNvPr>
          <p:cNvSpPr>
            <a:spLocks noGrp="1"/>
          </p:cNvSpPr>
          <p:nvPr/>
        </p:nvSpPr>
        <p:spPr>
          <a:xfrm>
            <a:off x="609600" y="609600"/>
            <a:ext cx="10972800" cy="19050"/>
          </a:xfrm>
          <a:prstGeom prst="rect">
            <a:avLst/>
          </a:prstGeom>
          <a:solidFill>
            <a:srgbClr val="101214"/>
          </a:solidFill>
          <a:ln w="0">
            <a:solidFill>
              <a:srgbClr val="000000">
                <a:alpha val="0"/>
              </a:srgbClr>
            </a:solidFill>
            <a:prstDash val="solid"/>
          </a:ln>
        </p:spPr>
        <p:txBody>
          <a:bodyPr/>
          <a:lstStyle/>
          <a:p>
            <a:endParaRPr lang="en-IN"/>
          </a:p>
        </p:txBody>
      </p:sp>
      <p:sp>
        <p:nvSpPr>
          <p:cNvPr id="7" name="Oval 6">
            <a:extLst>
              <a:ext uri="{FF2B5EF4-FFF2-40B4-BE49-F238E27FC236}">
                <a16:creationId xmlns:a16="http://schemas.microsoft.com/office/drawing/2014/main" id="{E23473E0-A0C4-4AB0-9338-D8ECE9B96621}"/>
              </a:ext>
            </a:extLst>
          </p:cNvPr>
          <p:cNvSpPr>
            <a:spLocks noGrp="1"/>
          </p:cNvSpPr>
          <p:nvPr/>
        </p:nvSpPr>
        <p:spPr>
          <a:xfrm>
            <a:off x="542925" y="542925"/>
            <a:ext cx="152400" cy="152400"/>
          </a:xfrm>
          <a:prstGeom prst="ellipse">
            <a:avLst/>
          </a:prstGeom>
          <a:solidFill>
            <a:srgbClr val="27C47D"/>
          </a:solidFill>
          <a:ln w="19050">
            <a:solidFill>
              <a:srgbClr val="101214"/>
            </a:solidFill>
            <a:prstDash val="solid"/>
          </a:ln>
        </p:spPr>
        <p:txBody>
          <a:bodyPr/>
          <a:lstStyle/>
          <a:p>
            <a:endParaRPr lang="en-IN"/>
          </a:p>
        </p:txBody>
      </p:sp>
      <p:sp>
        <p:nvSpPr>
          <p:cNvPr id="8" name="Rectangle 7">
            <a:extLst>
              <a:ext uri="{FF2B5EF4-FFF2-40B4-BE49-F238E27FC236}">
                <a16:creationId xmlns:a16="http://schemas.microsoft.com/office/drawing/2014/main" id="{1D38EB52-08CE-4EA1-9E4D-7DAA24418AE7}"/>
              </a:ext>
            </a:extLst>
          </p:cNvPr>
          <p:cNvSpPr>
            <a:spLocks noGrp="1"/>
          </p:cNvSpPr>
          <p:nvPr/>
        </p:nvSpPr>
        <p:spPr>
          <a:xfrm>
            <a:off x="609600" y="81915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01214"/>
                </a:solidFill>
              </a:defRPr>
            </a:pPr>
            <a:r>
              <a:rPr sz="2550" b="1">
                <a:solidFill>
                  <a:srgbClr val="101214"/>
                </a:solidFill>
              </a:rPr>
              <a:t>10. Conclusions &amp; Reflections</a:t>
            </a:r>
          </a:p>
        </p:txBody>
      </p:sp>
      <p:sp>
        <p:nvSpPr>
          <p:cNvPr id="9" name="Rectangle 8">
            <a:extLst>
              <a:ext uri="{FF2B5EF4-FFF2-40B4-BE49-F238E27FC236}">
                <a16:creationId xmlns:a16="http://schemas.microsoft.com/office/drawing/2014/main" id="{66A859AE-2C6F-4621-ADB4-3FEA5A5B783C}"/>
              </a:ext>
            </a:extLst>
          </p:cNvPr>
          <p:cNvSpPr>
            <a:spLocks noGrp="1"/>
          </p:cNvSpPr>
          <p:nvPr/>
        </p:nvSpPr>
        <p:spPr>
          <a:xfrm>
            <a:off x="628650" y="1619250"/>
            <a:ext cx="7239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30363A"/>
                </a:solidFill>
              </a:defRPr>
            </a:pPr>
            <a:r>
              <a:rPr sz="1350" b="0">
                <a:solidFill>
                  <a:srgbClr val="30363A"/>
                </a:solidFill>
              </a:rPr>
              <a:t>The project now behaves like a dynamic analysis platform: it simulates motion, extracts interpretable signals, and saves post-run evidence for reporting.</a:t>
            </a:r>
          </a:p>
        </p:txBody>
      </p:sp>
      <p:sp>
        <p:nvSpPr>
          <p:cNvPr id="10" name="Rectangle: Rounded Corners 9">
            <a:extLst>
              <a:ext uri="{FF2B5EF4-FFF2-40B4-BE49-F238E27FC236}">
                <a16:creationId xmlns:a16="http://schemas.microsoft.com/office/drawing/2014/main" id="{7C91D718-AC24-49FF-A480-DD3279A8A913}"/>
              </a:ext>
            </a:extLst>
          </p:cNvPr>
          <p:cNvSpPr>
            <a:spLocks noGrp="1"/>
          </p:cNvSpPr>
          <p:nvPr/>
        </p:nvSpPr>
        <p:spPr>
          <a:xfrm>
            <a:off x="781050" y="2381250"/>
            <a:ext cx="3333750" cy="2362200"/>
          </a:xfrm>
          <a:prstGeom prst="roundRect">
            <a:avLst>
              <a:gd name="adj" fmla="val 3226"/>
            </a:avLst>
          </a:prstGeom>
          <a:solidFill>
            <a:srgbClr val="F7F4ED">
              <a:alpha val="96078"/>
            </a:srgbClr>
          </a:solidFill>
          <a:ln w="11430">
            <a:solidFill>
              <a:srgbClr val="101214"/>
            </a:solidFill>
            <a:prstDash val="solid"/>
          </a:ln>
        </p:spPr>
        <p:txBody>
          <a:bodyPr/>
          <a:lstStyle/>
          <a:p>
            <a:endParaRPr lang="en-IN"/>
          </a:p>
        </p:txBody>
      </p:sp>
      <p:sp>
        <p:nvSpPr>
          <p:cNvPr id="11" name="Rectangle 10">
            <a:extLst>
              <a:ext uri="{FF2B5EF4-FFF2-40B4-BE49-F238E27FC236}">
                <a16:creationId xmlns:a16="http://schemas.microsoft.com/office/drawing/2014/main" id="{B2200F86-A67D-4E98-8A83-B4B3153AFBBF}"/>
              </a:ext>
            </a:extLst>
          </p:cNvPr>
          <p:cNvSpPr>
            <a:spLocks noGrp="1"/>
          </p:cNvSpPr>
          <p:nvPr/>
        </p:nvSpPr>
        <p:spPr>
          <a:xfrm>
            <a:off x="781050" y="2381250"/>
            <a:ext cx="76200" cy="2362200"/>
          </a:xfrm>
          <a:prstGeom prst="rect">
            <a:avLst/>
          </a:prstGeom>
          <a:solidFill>
            <a:srgbClr val="27C47D"/>
          </a:solidFill>
          <a:ln w="0">
            <a:solidFill>
              <a:srgbClr val="000000">
                <a:alpha val="0"/>
              </a:srgbClr>
            </a:solidFill>
            <a:prstDash val="solid"/>
          </a:ln>
        </p:spPr>
        <p:txBody>
          <a:bodyPr/>
          <a:lstStyle/>
          <a:p>
            <a:endParaRPr lang="en-IN"/>
          </a:p>
        </p:txBody>
      </p:sp>
      <p:sp>
        <p:nvSpPr>
          <p:cNvPr id="12" name="Oval 11">
            <a:extLst>
              <a:ext uri="{FF2B5EF4-FFF2-40B4-BE49-F238E27FC236}">
                <a16:creationId xmlns:a16="http://schemas.microsoft.com/office/drawing/2014/main" id="{F3BBE79C-6915-400D-8ACF-5A9CAFD703B0}"/>
              </a:ext>
            </a:extLst>
          </p:cNvPr>
          <p:cNvSpPr>
            <a:spLocks noGrp="1"/>
          </p:cNvSpPr>
          <p:nvPr/>
        </p:nvSpPr>
        <p:spPr>
          <a:xfrm>
            <a:off x="971550" y="2590800"/>
            <a:ext cx="514350" cy="514350"/>
          </a:xfrm>
          <a:prstGeom prst="ellipse">
            <a:avLst/>
          </a:prstGeom>
          <a:solidFill>
            <a:srgbClr val="F7F4ED">
              <a:alpha val="96078"/>
            </a:srgbClr>
          </a:solidFill>
          <a:ln w="11430">
            <a:solidFill>
              <a:srgbClr val="101214"/>
            </a:solidFill>
            <a:prstDash val="solid"/>
          </a:ln>
        </p:spPr>
        <p:txBody>
          <a:bodyPr/>
          <a:lstStyle/>
          <a:p>
            <a:endParaRPr lang="en-IN"/>
          </a:p>
        </p:txBody>
      </p:sp>
      <p:sp>
        <p:nvSpPr>
          <p:cNvPr id="13" name="Rectangle 12">
            <a:extLst>
              <a:ext uri="{FF2B5EF4-FFF2-40B4-BE49-F238E27FC236}">
                <a16:creationId xmlns:a16="http://schemas.microsoft.com/office/drawing/2014/main" id="{34B0B343-EC4D-4574-86CB-AE1F915594D8}"/>
              </a:ext>
            </a:extLst>
          </p:cNvPr>
          <p:cNvSpPr>
            <a:spLocks noGrp="1"/>
          </p:cNvSpPr>
          <p:nvPr/>
        </p:nvSpPr>
        <p:spPr>
          <a:xfrm>
            <a:off x="1123950" y="2867025"/>
            <a:ext cx="57150" cy="114300"/>
          </a:xfrm>
          <a:prstGeom prst="rect">
            <a:avLst/>
          </a:prstGeom>
          <a:solidFill>
            <a:srgbClr val="27C47D"/>
          </a:solidFill>
          <a:ln w="0">
            <a:solidFill>
              <a:srgbClr val="000000">
                <a:alpha val="0"/>
              </a:srgbClr>
            </a:solidFill>
            <a:prstDash val="solid"/>
          </a:ln>
        </p:spPr>
        <p:txBody>
          <a:bodyPr/>
          <a:lstStyle/>
          <a:p>
            <a:endParaRPr lang="en-IN"/>
          </a:p>
        </p:txBody>
      </p:sp>
      <p:sp>
        <p:nvSpPr>
          <p:cNvPr id="14" name="Rectangle 13">
            <a:extLst>
              <a:ext uri="{FF2B5EF4-FFF2-40B4-BE49-F238E27FC236}">
                <a16:creationId xmlns:a16="http://schemas.microsoft.com/office/drawing/2014/main" id="{B0AC445D-763F-49C7-969C-CD6F0ACDC217}"/>
              </a:ext>
            </a:extLst>
          </p:cNvPr>
          <p:cNvSpPr>
            <a:spLocks noGrp="1"/>
          </p:cNvSpPr>
          <p:nvPr/>
        </p:nvSpPr>
        <p:spPr>
          <a:xfrm>
            <a:off x="1209675" y="2790825"/>
            <a:ext cx="57150" cy="190500"/>
          </a:xfrm>
          <a:prstGeom prst="rect">
            <a:avLst/>
          </a:prstGeom>
          <a:solidFill>
            <a:srgbClr val="27C47D"/>
          </a:solidFill>
          <a:ln w="0">
            <a:solidFill>
              <a:srgbClr val="000000">
                <a:alpha val="0"/>
              </a:srgbClr>
            </a:solidFill>
            <a:prstDash val="solid"/>
          </a:ln>
        </p:spPr>
        <p:txBody>
          <a:bodyPr/>
          <a:lstStyle/>
          <a:p>
            <a:endParaRPr lang="en-IN"/>
          </a:p>
        </p:txBody>
      </p:sp>
      <p:sp>
        <p:nvSpPr>
          <p:cNvPr id="15" name="Rectangle 14">
            <a:extLst>
              <a:ext uri="{FF2B5EF4-FFF2-40B4-BE49-F238E27FC236}">
                <a16:creationId xmlns:a16="http://schemas.microsoft.com/office/drawing/2014/main" id="{85C5E0B9-F7C6-402C-BE1C-2B15DE5DE357}"/>
              </a:ext>
            </a:extLst>
          </p:cNvPr>
          <p:cNvSpPr>
            <a:spLocks noGrp="1"/>
          </p:cNvSpPr>
          <p:nvPr/>
        </p:nvSpPr>
        <p:spPr>
          <a:xfrm>
            <a:off x="1295400" y="2724150"/>
            <a:ext cx="57150" cy="257175"/>
          </a:xfrm>
          <a:prstGeom prst="rect">
            <a:avLst/>
          </a:prstGeom>
          <a:solidFill>
            <a:srgbClr val="27C47D"/>
          </a:solidFill>
          <a:ln w="0">
            <a:solidFill>
              <a:srgbClr val="000000">
                <a:alpha val="0"/>
              </a:srgbClr>
            </a:solidFill>
            <a:prstDash val="solid"/>
          </a:ln>
        </p:spPr>
        <p:txBody>
          <a:bodyPr/>
          <a:lstStyle/>
          <a:p>
            <a:endParaRPr lang="en-IN"/>
          </a:p>
        </p:txBody>
      </p:sp>
      <p:sp>
        <p:nvSpPr>
          <p:cNvPr id="16" name="Rectangle 15">
            <a:extLst>
              <a:ext uri="{FF2B5EF4-FFF2-40B4-BE49-F238E27FC236}">
                <a16:creationId xmlns:a16="http://schemas.microsoft.com/office/drawing/2014/main" id="{EEEB68AA-2FB8-4088-9EE6-13ADDCA6FB32}"/>
              </a:ext>
            </a:extLst>
          </p:cNvPr>
          <p:cNvSpPr>
            <a:spLocks noGrp="1"/>
          </p:cNvSpPr>
          <p:nvPr/>
        </p:nvSpPr>
        <p:spPr>
          <a:xfrm>
            <a:off x="1581150" y="2590800"/>
            <a:ext cx="2343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16B49"/>
                </a:solidFill>
              </a:defRPr>
            </a:pPr>
            <a:r>
              <a:rPr sz="1050" b="1">
                <a:solidFill>
                  <a:srgbClr val="116B49"/>
                </a:solidFill>
              </a:rPr>
              <a:t>What Worked</a:t>
            </a:r>
          </a:p>
        </p:txBody>
      </p:sp>
      <p:sp>
        <p:nvSpPr>
          <p:cNvPr id="17" name="Rectangle 16">
            <a:extLst>
              <a:ext uri="{FF2B5EF4-FFF2-40B4-BE49-F238E27FC236}">
                <a16:creationId xmlns:a16="http://schemas.microsoft.com/office/drawing/2014/main" id="{C4B7D74D-0ED5-4EAC-A008-44298C0DA930}"/>
              </a:ext>
            </a:extLst>
          </p:cNvPr>
          <p:cNvSpPr>
            <a:spLocks noGrp="1"/>
          </p:cNvSpPr>
          <p:nvPr/>
        </p:nvSpPr>
        <p:spPr>
          <a:xfrm>
            <a:off x="1009650" y="3200400"/>
            <a:ext cx="2876550" cy="1352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Euler-Lagrange mechanics provide a consistent analytical frame for masses, energies, and generalized torques. The saved analysis folder closes the loop between simulation and reporting.</a:t>
            </a:r>
          </a:p>
        </p:txBody>
      </p:sp>
      <p:sp>
        <p:nvSpPr>
          <p:cNvPr id="18" name="Rectangle: Rounded Corners 17">
            <a:extLst>
              <a:ext uri="{FF2B5EF4-FFF2-40B4-BE49-F238E27FC236}">
                <a16:creationId xmlns:a16="http://schemas.microsoft.com/office/drawing/2014/main" id="{971EDE1F-71AE-4F5F-9D29-CC3510506B27}"/>
              </a:ext>
            </a:extLst>
          </p:cNvPr>
          <p:cNvSpPr>
            <a:spLocks noGrp="1"/>
          </p:cNvSpPr>
          <p:nvPr/>
        </p:nvSpPr>
        <p:spPr>
          <a:xfrm>
            <a:off x="4400550" y="2381250"/>
            <a:ext cx="3333750" cy="2362200"/>
          </a:xfrm>
          <a:prstGeom prst="roundRect">
            <a:avLst>
              <a:gd name="adj" fmla="val 3226"/>
            </a:avLst>
          </a:prstGeom>
          <a:solidFill>
            <a:srgbClr val="F7F4ED">
              <a:alpha val="96078"/>
            </a:srgbClr>
          </a:solidFill>
          <a:ln w="11430">
            <a:solidFill>
              <a:srgbClr val="101214"/>
            </a:solidFill>
            <a:prstDash val="solid"/>
          </a:ln>
        </p:spPr>
        <p:txBody>
          <a:bodyPr/>
          <a:lstStyle/>
          <a:p>
            <a:endParaRPr lang="en-IN"/>
          </a:p>
        </p:txBody>
      </p:sp>
      <p:sp>
        <p:nvSpPr>
          <p:cNvPr id="19" name="Rectangle 18">
            <a:extLst>
              <a:ext uri="{FF2B5EF4-FFF2-40B4-BE49-F238E27FC236}">
                <a16:creationId xmlns:a16="http://schemas.microsoft.com/office/drawing/2014/main" id="{3503D35C-6F91-4140-99B8-2C3F62E6D555}"/>
              </a:ext>
            </a:extLst>
          </p:cNvPr>
          <p:cNvSpPr>
            <a:spLocks noGrp="1"/>
          </p:cNvSpPr>
          <p:nvPr/>
        </p:nvSpPr>
        <p:spPr>
          <a:xfrm>
            <a:off x="4400550" y="2381250"/>
            <a:ext cx="76200" cy="2362200"/>
          </a:xfrm>
          <a:prstGeom prst="rect">
            <a:avLst/>
          </a:prstGeom>
          <a:solidFill>
            <a:srgbClr val="D7A83D"/>
          </a:solidFill>
          <a:ln w="0">
            <a:solidFill>
              <a:srgbClr val="000000">
                <a:alpha val="0"/>
              </a:srgbClr>
            </a:solidFill>
            <a:prstDash val="solid"/>
          </a:ln>
        </p:spPr>
        <p:txBody>
          <a:bodyPr/>
          <a:lstStyle/>
          <a:p>
            <a:endParaRPr lang="en-IN"/>
          </a:p>
        </p:txBody>
      </p:sp>
      <p:sp>
        <p:nvSpPr>
          <p:cNvPr id="20" name="Oval 19">
            <a:extLst>
              <a:ext uri="{FF2B5EF4-FFF2-40B4-BE49-F238E27FC236}">
                <a16:creationId xmlns:a16="http://schemas.microsoft.com/office/drawing/2014/main" id="{18FF7C27-EE61-41A0-9B09-977296E8BF83}"/>
              </a:ext>
            </a:extLst>
          </p:cNvPr>
          <p:cNvSpPr>
            <a:spLocks noGrp="1"/>
          </p:cNvSpPr>
          <p:nvPr/>
        </p:nvSpPr>
        <p:spPr>
          <a:xfrm>
            <a:off x="4591050" y="2590800"/>
            <a:ext cx="514350" cy="514350"/>
          </a:xfrm>
          <a:prstGeom prst="ellipse">
            <a:avLst/>
          </a:prstGeom>
          <a:solidFill>
            <a:srgbClr val="F7F4ED">
              <a:alpha val="96078"/>
            </a:srgbClr>
          </a:solidFill>
          <a:ln w="11430">
            <a:solidFill>
              <a:srgbClr val="101214"/>
            </a:solidFill>
            <a:prstDash val="solid"/>
          </a:ln>
        </p:spPr>
        <p:txBody>
          <a:bodyPr/>
          <a:lstStyle/>
          <a:p>
            <a:endParaRPr lang="en-IN"/>
          </a:p>
        </p:txBody>
      </p:sp>
      <p:sp>
        <p:nvSpPr>
          <p:cNvPr id="21" name="Rectangle: Rounded Corners 20">
            <a:extLst>
              <a:ext uri="{FF2B5EF4-FFF2-40B4-BE49-F238E27FC236}">
                <a16:creationId xmlns:a16="http://schemas.microsoft.com/office/drawing/2014/main" id="{62E90CBA-1BCB-48D0-A579-7849BC19B2D0}"/>
              </a:ext>
            </a:extLst>
          </p:cNvPr>
          <p:cNvSpPr>
            <a:spLocks noGrp="1"/>
          </p:cNvSpPr>
          <p:nvPr/>
        </p:nvSpPr>
        <p:spPr>
          <a:xfrm>
            <a:off x="4714875" y="2733675"/>
            <a:ext cx="247650" cy="123825"/>
          </a:xfrm>
          <a:prstGeom prst="roundRect">
            <a:avLst>
              <a:gd name="adj" fmla="val 50000"/>
            </a:avLst>
          </a:prstGeom>
          <a:solidFill>
            <a:srgbClr val="D7A83D"/>
          </a:solidFill>
          <a:ln w="9525">
            <a:solidFill>
              <a:srgbClr val="101214"/>
            </a:solidFill>
            <a:prstDash val="solid"/>
          </a:ln>
        </p:spPr>
        <p:txBody>
          <a:bodyPr/>
          <a:lstStyle/>
          <a:p>
            <a:endParaRPr lang="en-IN"/>
          </a:p>
        </p:txBody>
      </p:sp>
      <p:sp>
        <p:nvSpPr>
          <p:cNvPr id="22" name="Rectangle: Rounded Corners 21">
            <a:extLst>
              <a:ext uri="{FF2B5EF4-FFF2-40B4-BE49-F238E27FC236}">
                <a16:creationId xmlns:a16="http://schemas.microsoft.com/office/drawing/2014/main" id="{C65803DF-DE6F-47D0-BF4F-4813611C5DA5}"/>
              </a:ext>
            </a:extLst>
          </p:cNvPr>
          <p:cNvSpPr>
            <a:spLocks noGrp="1"/>
          </p:cNvSpPr>
          <p:nvPr/>
        </p:nvSpPr>
        <p:spPr>
          <a:xfrm>
            <a:off x="4762500" y="2819400"/>
            <a:ext cx="247650" cy="123825"/>
          </a:xfrm>
          <a:prstGeom prst="roundRect">
            <a:avLst>
              <a:gd name="adj" fmla="val 50000"/>
            </a:avLst>
          </a:prstGeom>
          <a:solidFill>
            <a:srgbClr val="D7A83D"/>
          </a:solidFill>
          <a:ln w="9525">
            <a:solidFill>
              <a:srgbClr val="101214"/>
            </a:solidFill>
            <a:prstDash val="solid"/>
          </a:ln>
        </p:spPr>
        <p:txBody>
          <a:bodyPr/>
          <a:lstStyle/>
          <a:p>
            <a:endParaRPr lang="en-IN"/>
          </a:p>
        </p:txBody>
      </p:sp>
      <p:sp>
        <p:nvSpPr>
          <p:cNvPr id="23" name="Rectangle: Rounded Corners 22">
            <a:extLst>
              <a:ext uri="{FF2B5EF4-FFF2-40B4-BE49-F238E27FC236}">
                <a16:creationId xmlns:a16="http://schemas.microsoft.com/office/drawing/2014/main" id="{97D82089-4277-499B-B758-3F8192A425D2}"/>
              </a:ext>
            </a:extLst>
          </p:cNvPr>
          <p:cNvSpPr>
            <a:spLocks noGrp="1"/>
          </p:cNvSpPr>
          <p:nvPr/>
        </p:nvSpPr>
        <p:spPr>
          <a:xfrm>
            <a:off x="4810125" y="2905125"/>
            <a:ext cx="190500" cy="95250"/>
          </a:xfrm>
          <a:prstGeom prst="roundRect">
            <a:avLst>
              <a:gd name="adj" fmla="val 50000"/>
            </a:avLst>
          </a:prstGeom>
          <a:solidFill>
            <a:srgbClr val="E86F5B"/>
          </a:solidFill>
          <a:ln w="9525">
            <a:solidFill>
              <a:srgbClr val="101214"/>
            </a:solidFill>
            <a:prstDash val="solid"/>
          </a:ln>
        </p:spPr>
        <p:txBody>
          <a:bodyPr/>
          <a:lstStyle/>
          <a:p>
            <a:endParaRPr lang="en-IN"/>
          </a:p>
        </p:txBody>
      </p:sp>
      <p:sp>
        <p:nvSpPr>
          <p:cNvPr id="24" name="Rectangle 23">
            <a:extLst>
              <a:ext uri="{FF2B5EF4-FFF2-40B4-BE49-F238E27FC236}">
                <a16:creationId xmlns:a16="http://schemas.microsoft.com/office/drawing/2014/main" id="{C4AD04D1-0476-44FF-9A25-DE91040D7565}"/>
              </a:ext>
            </a:extLst>
          </p:cNvPr>
          <p:cNvSpPr>
            <a:spLocks noGrp="1"/>
          </p:cNvSpPr>
          <p:nvPr/>
        </p:nvSpPr>
        <p:spPr>
          <a:xfrm>
            <a:off x="5200650" y="2590800"/>
            <a:ext cx="2343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16B49"/>
                </a:solidFill>
              </a:defRPr>
            </a:pPr>
            <a:r>
              <a:rPr sz="1050" b="1">
                <a:solidFill>
                  <a:srgbClr val="116B49"/>
                </a:solidFill>
              </a:rPr>
              <a:t>Current Limits</a:t>
            </a:r>
          </a:p>
        </p:txBody>
      </p:sp>
      <p:sp>
        <p:nvSpPr>
          <p:cNvPr id="25" name="Rectangle 24">
            <a:extLst>
              <a:ext uri="{FF2B5EF4-FFF2-40B4-BE49-F238E27FC236}">
                <a16:creationId xmlns:a16="http://schemas.microsoft.com/office/drawing/2014/main" id="{6832BB19-98EC-407F-B820-AFEF8BDD291F}"/>
              </a:ext>
            </a:extLst>
          </p:cNvPr>
          <p:cNvSpPr>
            <a:spLocks noGrp="1"/>
          </p:cNvSpPr>
          <p:nvPr/>
        </p:nvSpPr>
        <p:spPr>
          <a:xfrm>
            <a:off x="4629150" y="3200400"/>
            <a:ext cx="2876550" cy="1352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The simulator still relies on PyBullet for detailed contact dynamics, and the grouped validation plots intentionally simplify the full 12-joint behavior into Hip, Knee, and Ankle trends.</a:t>
            </a:r>
          </a:p>
        </p:txBody>
      </p:sp>
      <p:sp>
        <p:nvSpPr>
          <p:cNvPr id="26" name="Rectangle: Rounded Corners 25">
            <a:extLst>
              <a:ext uri="{FF2B5EF4-FFF2-40B4-BE49-F238E27FC236}">
                <a16:creationId xmlns:a16="http://schemas.microsoft.com/office/drawing/2014/main" id="{A4346F16-F9B8-4618-ACC8-C81183A1E141}"/>
              </a:ext>
            </a:extLst>
          </p:cNvPr>
          <p:cNvSpPr>
            <a:spLocks noGrp="1"/>
          </p:cNvSpPr>
          <p:nvPr/>
        </p:nvSpPr>
        <p:spPr>
          <a:xfrm>
            <a:off x="8020050" y="2381250"/>
            <a:ext cx="3390900" cy="2362200"/>
          </a:xfrm>
          <a:prstGeom prst="roundRect">
            <a:avLst>
              <a:gd name="adj" fmla="val 3226"/>
            </a:avLst>
          </a:prstGeom>
          <a:solidFill>
            <a:srgbClr val="F7F4ED">
              <a:alpha val="96078"/>
            </a:srgbClr>
          </a:solidFill>
          <a:ln w="11430">
            <a:solidFill>
              <a:srgbClr val="101214"/>
            </a:solidFill>
            <a:prstDash val="solid"/>
          </a:ln>
        </p:spPr>
        <p:txBody>
          <a:bodyPr/>
          <a:lstStyle/>
          <a:p>
            <a:endParaRPr lang="en-IN"/>
          </a:p>
        </p:txBody>
      </p:sp>
      <p:sp>
        <p:nvSpPr>
          <p:cNvPr id="27" name="Rectangle 26">
            <a:extLst>
              <a:ext uri="{FF2B5EF4-FFF2-40B4-BE49-F238E27FC236}">
                <a16:creationId xmlns:a16="http://schemas.microsoft.com/office/drawing/2014/main" id="{53D471E9-CA7D-45E9-834E-D0B809A9ED1D}"/>
              </a:ext>
            </a:extLst>
          </p:cNvPr>
          <p:cNvSpPr>
            <a:spLocks noGrp="1"/>
          </p:cNvSpPr>
          <p:nvPr/>
        </p:nvSpPr>
        <p:spPr>
          <a:xfrm>
            <a:off x="8020050" y="2381250"/>
            <a:ext cx="76200" cy="2362200"/>
          </a:xfrm>
          <a:prstGeom prst="rect">
            <a:avLst/>
          </a:prstGeom>
          <a:solidFill>
            <a:srgbClr val="E86F5B"/>
          </a:solidFill>
          <a:ln w="0">
            <a:solidFill>
              <a:srgbClr val="000000">
                <a:alpha val="0"/>
              </a:srgbClr>
            </a:solidFill>
            <a:prstDash val="solid"/>
          </a:ln>
        </p:spPr>
        <p:txBody>
          <a:bodyPr/>
          <a:lstStyle/>
          <a:p>
            <a:endParaRPr lang="en-IN"/>
          </a:p>
        </p:txBody>
      </p:sp>
      <p:sp>
        <p:nvSpPr>
          <p:cNvPr id="28" name="Oval 27">
            <a:extLst>
              <a:ext uri="{FF2B5EF4-FFF2-40B4-BE49-F238E27FC236}">
                <a16:creationId xmlns:a16="http://schemas.microsoft.com/office/drawing/2014/main" id="{572B9EE3-1F50-48E2-8F5F-01CCC236C20F}"/>
              </a:ext>
            </a:extLst>
          </p:cNvPr>
          <p:cNvSpPr>
            <a:spLocks noGrp="1"/>
          </p:cNvSpPr>
          <p:nvPr/>
        </p:nvSpPr>
        <p:spPr>
          <a:xfrm>
            <a:off x="8210550" y="2590800"/>
            <a:ext cx="514350" cy="514350"/>
          </a:xfrm>
          <a:prstGeom prst="ellipse">
            <a:avLst/>
          </a:prstGeom>
          <a:solidFill>
            <a:srgbClr val="F7F4ED">
              <a:alpha val="96078"/>
            </a:srgbClr>
          </a:solidFill>
          <a:ln w="11430">
            <a:solidFill>
              <a:srgbClr val="101214"/>
            </a:solidFill>
            <a:prstDash val="solid"/>
          </a:ln>
        </p:spPr>
        <p:txBody>
          <a:bodyPr/>
          <a:lstStyle/>
          <a:p>
            <a:endParaRPr lang="en-IN"/>
          </a:p>
        </p:txBody>
      </p:sp>
      <p:sp>
        <p:nvSpPr>
          <p:cNvPr id="29" name="Oval 28">
            <a:extLst>
              <a:ext uri="{FF2B5EF4-FFF2-40B4-BE49-F238E27FC236}">
                <a16:creationId xmlns:a16="http://schemas.microsoft.com/office/drawing/2014/main" id="{5DA6A7B7-8031-4858-8233-78D7C93474CE}"/>
              </a:ext>
            </a:extLst>
          </p:cNvPr>
          <p:cNvSpPr>
            <a:spLocks noGrp="1"/>
          </p:cNvSpPr>
          <p:nvPr/>
        </p:nvSpPr>
        <p:spPr>
          <a:xfrm>
            <a:off x="8334375" y="2762250"/>
            <a:ext cx="95250" cy="95250"/>
          </a:xfrm>
          <a:prstGeom prst="ellipse">
            <a:avLst/>
          </a:prstGeom>
          <a:solidFill>
            <a:srgbClr val="E86F5B"/>
          </a:solidFill>
          <a:ln w="9525">
            <a:solidFill>
              <a:srgbClr val="101214"/>
            </a:solidFill>
            <a:prstDash val="solid"/>
          </a:ln>
        </p:spPr>
        <p:txBody>
          <a:bodyPr/>
          <a:lstStyle/>
          <a:p>
            <a:endParaRPr lang="en-IN"/>
          </a:p>
        </p:txBody>
      </p:sp>
      <p:sp>
        <p:nvSpPr>
          <p:cNvPr id="30" name="Oval 29">
            <a:extLst>
              <a:ext uri="{FF2B5EF4-FFF2-40B4-BE49-F238E27FC236}">
                <a16:creationId xmlns:a16="http://schemas.microsoft.com/office/drawing/2014/main" id="{60BD8ABF-B090-470D-A463-8BCBF4211CBC}"/>
              </a:ext>
            </a:extLst>
          </p:cNvPr>
          <p:cNvSpPr>
            <a:spLocks noGrp="1"/>
          </p:cNvSpPr>
          <p:nvPr/>
        </p:nvSpPr>
        <p:spPr>
          <a:xfrm>
            <a:off x="8505825" y="2847975"/>
            <a:ext cx="95250" cy="95250"/>
          </a:xfrm>
          <a:prstGeom prst="ellipse">
            <a:avLst/>
          </a:prstGeom>
          <a:solidFill>
            <a:srgbClr val="E86F5B"/>
          </a:solidFill>
          <a:ln w="9525">
            <a:solidFill>
              <a:srgbClr val="101214"/>
            </a:solidFill>
            <a:prstDash val="solid"/>
          </a:ln>
        </p:spPr>
        <p:txBody>
          <a:bodyPr/>
          <a:lstStyle/>
          <a:p>
            <a:endParaRPr lang="en-IN"/>
          </a:p>
        </p:txBody>
      </p:sp>
      <p:sp>
        <p:nvSpPr>
          <p:cNvPr id="31" name="Rectangle 30">
            <a:extLst>
              <a:ext uri="{FF2B5EF4-FFF2-40B4-BE49-F238E27FC236}">
                <a16:creationId xmlns:a16="http://schemas.microsoft.com/office/drawing/2014/main" id="{5D94D916-B522-44C6-9974-BAA93CF71201}"/>
              </a:ext>
            </a:extLst>
          </p:cNvPr>
          <p:cNvSpPr>
            <a:spLocks noGrp="1"/>
          </p:cNvSpPr>
          <p:nvPr/>
        </p:nvSpPr>
        <p:spPr>
          <a:xfrm>
            <a:off x="8420100" y="2828925"/>
            <a:ext cx="180975" cy="28575"/>
          </a:xfrm>
          <a:prstGeom prst="rect">
            <a:avLst/>
          </a:prstGeom>
          <a:solidFill>
            <a:srgbClr val="101214"/>
          </a:solidFill>
          <a:ln w="0">
            <a:solidFill>
              <a:srgbClr val="000000">
                <a:alpha val="0"/>
              </a:srgbClr>
            </a:solidFill>
            <a:prstDash val="solid"/>
          </a:ln>
        </p:spPr>
        <p:txBody>
          <a:bodyPr/>
          <a:lstStyle/>
          <a:p>
            <a:endParaRPr lang="en-IN"/>
          </a:p>
        </p:txBody>
      </p:sp>
      <p:sp>
        <p:nvSpPr>
          <p:cNvPr id="32" name="Rectangle 31">
            <a:extLst>
              <a:ext uri="{FF2B5EF4-FFF2-40B4-BE49-F238E27FC236}">
                <a16:creationId xmlns:a16="http://schemas.microsoft.com/office/drawing/2014/main" id="{D8AA8541-320A-4AF2-8788-59A597DC5BEF}"/>
              </a:ext>
            </a:extLst>
          </p:cNvPr>
          <p:cNvSpPr>
            <a:spLocks noGrp="1"/>
          </p:cNvSpPr>
          <p:nvPr/>
        </p:nvSpPr>
        <p:spPr>
          <a:xfrm>
            <a:off x="8820150" y="2590800"/>
            <a:ext cx="2400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16B49"/>
                </a:solidFill>
              </a:defRPr>
            </a:pPr>
            <a:r>
              <a:rPr sz="1050" b="1">
                <a:solidFill>
                  <a:srgbClr val="116B49"/>
                </a:solidFill>
              </a:rPr>
              <a:t>Next Steps</a:t>
            </a:r>
          </a:p>
        </p:txBody>
      </p:sp>
      <p:sp>
        <p:nvSpPr>
          <p:cNvPr id="33" name="Rectangle 32">
            <a:extLst>
              <a:ext uri="{FF2B5EF4-FFF2-40B4-BE49-F238E27FC236}">
                <a16:creationId xmlns:a16="http://schemas.microsoft.com/office/drawing/2014/main" id="{04ED8F66-6A2C-49B1-B31B-EA6B8E926E34}"/>
              </a:ext>
            </a:extLst>
          </p:cNvPr>
          <p:cNvSpPr>
            <a:spLocks noGrp="1"/>
          </p:cNvSpPr>
          <p:nvPr/>
        </p:nvSpPr>
        <p:spPr>
          <a:xfrm>
            <a:off x="8248650" y="3200400"/>
            <a:ext cx="2933700" cy="1352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a:solidFill>
                  <a:srgbClr val="101214"/>
                </a:solidFill>
              </a:rPr>
              <a:t>Future work could add experimental identification, symbolic derivation of full M-C-G terms, or controller comparisons under the same saved validation pipeline.</a:t>
            </a:r>
          </a:p>
        </p:txBody>
      </p:sp>
    </p:spTree>
    <p:extLst>
      <p:ext uri="{BB962C8B-B14F-4D97-AF65-F5344CB8AC3E}">
        <p14:creationId xmlns:p14="http://schemas.microsoft.com/office/powerpoint/2010/main" val="427205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2"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8169D024-E1CF-43BF-BDD8-96B20AF3BD3A}"/>
              </a:ext>
            </a:extLst>
          </p:cNvPr>
          <p:cNvSpPr>
            <a:spLocks noGrp="1"/>
          </p:cNvSpPr>
          <p:nvPr/>
        </p:nvSpPr>
        <p:spPr>
          <a:xfrm>
            <a:off x="0" y="0"/>
            <a:ext cx="12192000" cy="6858000"/>
          </a:xfrm>
          <a:prstGeom prst="rect">
            <a:avLst/>
          </a:prstGeom>
          <a:solidFill>
            <a:srgbClr val="FFFFFF">
              <a:alpha val="72941"/>
            </a:srgbClr>
          </a:solidFill>
          <a:ln w="0">
            <a:solidFill>
              <a:srgbClr val="000000">
                <a:alpha val="0"/>
              </a:srgbClr>
            </a:solidFill>
            <a:prstDash val="solid"/>
          </a:ln>
        </p:spPr>
        <p:txBody>
          <a:bodyPr/>
          <a:lstStyle/>
          <a:p>
            <a:endParaRPr lang="en-IN"/>
          </a:p>
        </p:txBody>
      </p:sp>
      <p:sp>
        <p:nvSpPr>
          <p:cNvPr id="4" name="Rectangle 3">
            <a:extLst>
              <a:ext uri="{FF2B5EF4-FFF2-40B4-BE49-F238E27FC236}">
                <a16:creationId xmlns:a16="http://schemas.microsoft.com/office/drawing/2014/main" id="{AB47343C-2D22-470E-AAF0-93B38B718014}"/>
              </a:ext>
            </a:extLst>
          </p:cNvPr>
          <p:cNvSpPr>
            <a:spLocks noGrp="1"/>
          </p:cNvSpPr>
          <p:nvPr/>
        </p:nvSpPr>
        <p:spPr>
          <a:xfrm>
            <a:off x="609600" y="323850"/>
            <a:ext cx="409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16B49"/>
                </a:solidFill>
              </a:defRPr>
            </a:pPr>
            <a:r>
              <a:rPr sz="975" b="1">
                <a:solidFill>
                  <a:srgbClr val="116B49"/>
                </a:solidFill>
              </a:rPr>
              <a:t>SECTION 11</a:t>
            </a:r>
          </a:p>
        </p:txBody>
      </p:sp>
      <p:sp>
        <p:nvSpPr>
          <p:cNvPr id="5" name="Rectangle 4">
            <a:extLst>
              <a:ext uri="{FF2B5EF4-FFF2-40B4-BE49-F238E27FC236}">
                <a16:creationId xmlns:a16="http://schemas.microsoft.com/office/drawing/2014/main" id="{7BADE46D-EED7-47B1-89F1-84B35D70F10B}"/>
              </a:ext>
            </a:extLst>
          </p:cNvPr>
          <p:cNvSpPr>
            <a:spLocks noGrp="1"/>
          </p:cNvSpPr>
          <p:nvPr/>
        </p:nvSpPr>
        <p:spPr>
          <a:xfrm>
            <a:off x="10610850" y="32385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16B49"/>
                </a:solidFill>
              </a:defRPr>
            </a:pPr>
            <a:r>
              <a:rPr sz="975" b="1">
                <a:solidFill>
                  <a:srgbClr val="116B49"/>
                </a:solidFill>
              </a:rPr>
              <a:t>12 / 13</a:t>
            </a:r>
          </a:p>
        </p:txBody>
      </p:sp>
      <p:sp>
        <p:nvSpPr>
          <p:cNvPr id="6" name="Rectangle 5">
            <a:extLst>
              <a:ext uri="{FF2B5EF4-FFF2-40B4-BE49-F238E27FC236}">
                <a16:creationId xmlns:a16="http://schemas.microsoft.com/office/drawing/2014/main" id="{7D3DEEA0-82D8-4CCE-A2C2-580AB6963A2F}"/>
              </a:ext>
            </a:extLst>
          </p:cNvPr>
          <p:cNvSpPr>
            <a:spLocks noGrp="1"/>
          </p:cNvSpPr>
          <p:nvPr/>
        </p:nvSpPr>
        <p:spPr>
          <a:xfrm>
            <a:off x="609600" y="609600"/>
            <a:ext cx="10972800" cy="19050"/>
          </a:xfrm>
          <a:prstGeom prst="rect">
            <a:avLst/>
          </a:prstGeom>
          <a:solidFill>
            <a:srgbClr val="101214"/>
          </a:solidFill>
          <a:ln w="0">
            <a:solidFill>
              <a:srgbClr val="000000">
                <a:alpha val="0"/>
              </a:srgbClr>
            </a:solidFill>
            <a:prstDash val="solid"/>
          </a:ln>
        </p:spPr>
        <p:txBody>
          <a:bodyPr/>
          <a:lstStyle/>
          <a:p>
            <a:endParaRPr lang="en-IN"/>
          </a:p>
        </p:txBody>
      </p:sp>
      <p:sp>
        <p:nvSpPr>
          <p:cNvPr id="7" name="Oval 6">
            <a:extLst>
              <a:ext uri="{FF2B5EF4-FFF2-40B4-BE49-F238E27FC236}">
                <a16:creationId xmlns:a16="http://schemas.microsoft.com/office/drawing/2014/main" id="{FA7EF1F8-2C83-4098-9C9C-96B0F389B66F}"/>
              </a:ext>
            </a:extLst>
          </p:cNvPr>
          <p:cNvSpPr>
            <a:spLocks noGrp="1"/>
          </p:cNvSpPr>
          <p:nvPr/>
        </p:nvSpPr>
        <p:spPr>
          <a:xfrm>
            <a:off x="542925" y="542925"/>
            <a:ext cx="152400" cy="152400"/>
          </a:xfrm>
          <a:prstGeom prst="ellipse">
            <a:avLst/>
          </a:prstGeom>
          <a:solidFill>
            <a:srgbClr val="27C47D"/>
          </a:solidFill>
          <a:ln w="19050">
            <a:solidFill>
              <a:srgbClr val="101214"/>
            </a:solidFill>
            <a:prstDash val="solid"/>
          </a:ln>
        </p:spPr>
        <p:txBody>
          <a:bodyPr/>
          <a:lstStyle/>
          <a:p>
            <a:endParaRPr lang="en-IN"/>
          </a:p>
        </p:txBody>
      </p:sp>
      <p:sp>
        <p:nvSpPr>
          <p:cNvPr id="8" name="Rectangle 7">
            <a:extLst>
              <a:ext uri="{FF2B5EF4-FFF2-40B4-BE49-F238E27FC236}">
                <a16:creationId xmlns:a16="http://schemas.microsoft.com/office/drawing/2014/main" id="{EC80206B-C1E0-4A3F-B057-B38BCFF3A9D8}"/>
              </a:ext>
            </a:extLst>
          </p:cNvPr>
          <p:cNvSpPr>
            <a:spLocks noGrp="1"/>
          </p:cNvSpPr>
          <p:nvPr/>
        </p:nvSpPr>
        <p:spPr>
          <a:xfrm>
            <a:off x="609600" y="81915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01214"/>
                </a:solidFill>
              </a:defRPr>
            </a:pPr>
            <a:r>
              <a:rPr sz="2550" b="1">
                <a:solidFill>
                  <a:srgbClr val="101214"/>
                </a:solidFill>
              </a:rPr>
              <a:t>11. References</a:t>
            </a:r>
          </a:p>
        </p:txBody>
      </p:sp>
      <p:sp>
        <p:nvSpPr>
          <p:cNvPr id="9" name="Rectangle 8">
            <a:extLst>
              <a:ext uri="{FF2B5EF4-FFF2-40B4-BE49-F238E27FC236}">
                <a16:creationId xmlns:a16="http://schemas.microsoft.com/office/drawing/2014/main" id="{51610259-70A6-4138-B1A0-01775E149C61}"/>
              </a:ext>
            </a:extLst>
          </p:cNvPr>
          <p:cNvSpPr>
            <a:spLocks noGrp="1"/>
          </p:cNvSpPr>
          <p:nvPr/>
        </p:nvSpPr>
        <p:spPr>
          <a:xfrm>
            <a:off x="628650" y="1619250"/>
            <a:ext cx="7239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30363A"/>
                </a:solidFill>
              </a:defRPr>
            </a:pPr>
            <a:r>
              <a:rPr sz="1350" b="0">
                <a:solidFill>
                  <a:srgbClr val="30363A"/>
                </a:solidFill>
              </a:rPr>
              <a:t>External references used for the simulation framework, robot dynamics background, and walking-control context.</a:t>
            </a:r>
          </a:p>
        </p:txBody>
      </p:sp>
      <p:sp>
        <p:nvSpPr>
          <p:cNvPr id="10" name="Rectangle: Rounded Corners 9">
            <a:extLst>
              <a:ext uri="{FF2B5EF4-FFF2-40B4-BE49-F238E27FC236}">
                <a16:creationId xmlns:a16="http://schemas.microsoft.com/office/drawing/2014/main" id="{624F351F-226B-48C4-9587-627327A71516}"/>
              </a:ext>
            </a:extLst>
          </p:cNvPr>
          <p:cNvSpPr>
            <a:spLocks noGrp="1"/>
          </p:cNvSpPr>
          <p:nvPr/>
        </p:nvSpPr>
        <p:spPr>
          <a:xfrm>
            <a:off x="781050" y="2266950"/>
            <a:ext cx="5143500" cy="3105150"/>
          </a:xfrm>
          <a:prstGeom prst="roundRect">
            <a:avLst>
              <a:gd name="adj" fmla="val 2454"/>
            </a:avLst>
          </a:prstGeom>
          <a:solidFill>
            <a:srgbClr val="FFFFFF"/>
          </a:solidFill>
          <a:ln w="11430">
            <a:solidFill>
              <a:srgbClr val="101214"/>
            </a:solidFill>
            <a:prstDash val="solid"/>
          </a:ln>
        </p:spPr>
        <p:txBody>
          <a:bodyPr/>
          <a:lstStyle/>
          <a:p>
            <a:endParaRPr lang="en-IN"/>
          </a:p>
        </p:txBody>
      </p:sp>
      <p:sp>
        <p:nvSpPr>
          <p:cNvPr id="11" name="Rectangle 10">
            <a:extLst>
              <a:ext uri="{FF2B5EF4-FFF2-40B4-BE49-F238E27FC236}">
                <a16:creationId xmlns:a16="http://schemas.microsoft.com/office/drawing/2014/main" id="{D14508A0-6FAD-462E-85E3-5FE4EA2009C9}"/>
              </a:ext>
            </a:extLst>
          </p:cNvPr>
          <p:cNvSpPr>
            <a:spLocks noGrp="1"/>
          </p:cNvSpPr>
          <p:nvPr/>
        </p:nvSpPr>
        <p:spPr>
          <a:xfrm>
            <a:off x="781050" y="2266950"/>
            <a:ext cx="5143500" cy="57150"/>
          </a:xfrm>
          <a:prstGeom prst="rect">
            <a:avLst/>
          </a:prstGeom>
          <a:solidFill>
            <a:srgbClr val="27C47D"/>
          </a:solidFill>
          <a:ln w="0">
            <a:solidFill>
              <a:srgbClr val="000000">
                <a:alpha val="0"/>
              </a:srgbClr>
            </a:solidFill>
            <a:prstDash val="solid"/>
          </a:ln>
        </p:spPr>
        <p:txBody>
          <a:bodyPr/>
          <a:lstStyle/>
          <a:p>
            <a:endParaRPr lang="en-IN"/>
          </a:p>
        </p:txBody>
      </p:sp>
      <p:sp>
        <p:nvSpPr>
          <p:cNvPr id="12" name="Rectangle 11">
            <a:extLst>
              <a:ext uri="{FF2B5EF4-FFF2-40B4-BE49-F238E27FC236}">
                <a16:creationId xmlns:a16="http://schemas.microsoft.com/office/drawing/2014/main" id="{E1081D59-D942-4B19-8015-BBAF17FF819B}"/>
              </a:ext>
            </a:extLst>
          </p:cNvPr>
          <p:cNvSpPr>
            <a:spLocks noGrp="1"/>
          </p:cNvSpPr>
          <p:nvPr/>
        </p:nvSpPr>
        <p:spPr>
          <a:xfrm>
            <a:off x="990600" y="2438400"/>
            <a:ext cx="4724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sz="1125" b="1">
                <a:solidFill>
                  <a:srgbClr val="116B49"/>
                </a:solidFill>
              </a:rPr>
              <a:t>Simulation and Dynamics</a:t>
            </a:r>
          </a:p>
        </p:txBody>
      </p:sp>
      <p:sp>
        <p:nvSpPr>
          <p:cNvPr id="13" name="Rectangle 12">
            <a:extLst>
              <a:ext uri="{FF2B5EF4-FFF2-40B4-BE49-F238E27FC236}">
                <a16:creationId xmlns:a16="http://schemas.microsoft.com/office/drawing/2014/main" id="{535125BE-F83F-4AB0-9F2B-3CD18EA69CEF}"/>
              </a:ext>
            </a:extLst>
          </p:cNvPr>
          <p:cNvSpPr>
            <a:spLocks noGrp="1"/>
          </p:cNvSpPr>
          <p:nvPr/>
        </p:nvSpPr>
        <p:spPr>
          <a:xfrm>
            <a:off x="990600" y="2800350"/>
            <a:ext cx="4724400" cy="2419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1214"/>
                </a:solidFill>
              </a:defRPr>
            </a:pPr>
            <a:r>
              <a:rPr sz="1200" b="0" dirty="0">
                <a:solidFill>
                  <a:srgbClr val="101214"/>
                </a:solidFill>
              </a:rPr>
              <a:t>• Coumans, E., Bai, Y. </a:t>
            </a:r>
            <a:r>
              <a:rPr sz="1200" b="0" dirty="0" err="1">
                <a:solidFill>
                  <a:srgbClr val="101214"/>
                </a:solidFill>
              </a:rPr>
              <a:t>PyBullet</a:t>
            </a:r>
            <a:r>
              <a:rPr sz="1200" b="0" dirty="0">
                <a:solidFill>
                  <a:srgbClr val="101214"/>
                </a:solidFill>
              </a:rPr>
              <a:t> </a:t>
            </a:r>
            <a:r>
              <a:rPr sz="1200" b="0" dirty="0" err="1">
                <a:solidFill>
                  <a:srgbClr val="101214"/>
                </a:solidFill>
              </a:rPr>
              <a:t>Quickstart</a:t>
            </a:r>
            <a:r>
              <a:rPr sz="1200" b="0" dirty="0">
                <a:solidFill>
                  <a:srgbClr val="101214"/>
                </a:solidFill>
              </a:rPr>
              <a:t> Guide. Bullet Physics / GitHub.</a:t>
            </a:r>
          </a:p>
          <a:p>
            <a:pPr algn="l">
              <a:defRPr sz="1200" b="0">
                <a:solidFill>
                  <a:srgbClr val="101214"/>
                </a:solidFill>
              </a:defRPr>
            </a:pPr>
            <a:r>
              <a:rPr sz="1200" b="0" dirty="0">
                <a:solidFill>
                  <a:srgbClr val="101214"/>
                </a:solidFill>
              </a:rPr>
              <a:t>• </a:t>
            </a:r>
            <a:r>
              <a:rPr sz="1200" b="0" dirty="0" err="1">
                <a:solidFill>
                  <a:srgbClr val="101214"/>
                </a:solidFill>
              </a:rPr>
              <a:t>Tedrake</a:t>
            </a:r>
            <a:r>
              <a:rPr sz="1200" b="0" dirty="0">
                <a:solidFill>
                  <a:srgbClr val="101214"/>
                </a:solidFill>
              </a:rPr>
              <a:t>, R. Underactuated Robotics: Multi-Body Dynamics. MIT.</a:t>
            </a:r>
          </a:p>
          <a:p>
            <a:pPr algn="l">
              <a:defRPr sz="1200" b="0">
                <a:solidFill>
                  <a:srgbClr val="101214"/>
                </a:solidFill>
              </a:defRPr>
            </a:pPr>
            <a:r>
              <a:rPr sz="1200" b="0" dirty="0">
                <a:solidFill>
                  <a:srgbClr val="101214"/>
                </a:solidFill>
              </a:rPr>
              <a:t>• Lynch, K. M., Park, F. C. Modern Robotics, Chapter 8: Dynamics of Open Chains.</a:t>
            </a:r>
            <a:endParaRPr lang="en-IN" sz="1200" b="0" dirty="0">
              <a:solidFill>
                <a:srgbClr val="101214"/>
              </a:solidFill>
            </a:endParaRPr>
          </a:p>
          <a:p>
            <a:pPr>
              <a:defRPr sz="1200" b="0">
                <a:solidFill>
                  <a:srgbClr val="101214"/>
                </a:solidFill>
              </a:defRPr>
            </a:pPr>
            <a:r>
              <a:rPr lang="en-US" sz="1200" dirty="0">
                <a:solidFill>
                  <a:srgbClr val="101214"/>
                </a:solidFill>
              </a:rPr>
              <a:t>• Kajita, S. et al. Biped walking pattern generation by using preview control of zero-moment point. IEEE/RSJ IROS 2003.</a:t>
            </a:r>
          </a:p>
          <a:p>
            <a:pPr>
              <a:defRPr sz="1200" b="0">
                <a:solidFill>
                  <a:srgbClr val="101214"/>
                </a:solidFill>
              </a:defRPr>
            </a:pPr>
            <a:r>
              <a:rPr lang="en-US" sz="1200" dirty="0">
                <a:solidFill>
                  <a:srgbClr val="101214"/>
                </a:solidFill>
              </a:rPr>
              <a:t>• Project equations and parameter values were adapted to the local biped model and its URDF data.</a:t>
            </a:r>
          </a:p>
          <a:p>
            <a:pPr algn="l">
              <a:defRPr sz="1200" b="0">
                <a:solidFill>
                  <a:srgbClr val="101214"/>
                </a:solidFill>
              </a:defRPr>
            </a:pPr>
            <a:endParaRPr sz="1200" b="0" dirty="0">
              <a:solidFill>
                <a:srgbClr val="101214"/>
              </a:solidFill>
            </a:endParaRPr>
          </a:p>
        </p:txBody>
      </p:sp>
      <p:sp>
        <p:nvSpPr>
          <p:cNvPr id="14" name="Rectangle: Rounded Corners 13">
            <a:extLst>
              <a:ext uri="{FF2B5EF4-FFF2-40B4-BE49-F238E27FC236}">
                <a16:creationId xmlns:a16="http://schemas.microsoft.com/office/drawing/2014/main" id="{1B235B95-BE53-4183-AF31-8CE90519BC32}"/>
              </a:ext>
            </a:extLst>
          </p:cNvPr>
          <p:cNvSpPr>
            <a:spLocks noGrp="1"/>
          </p:cNvSpPr>
          <p:nvPr/>
        </p:nvSpPr>
        <p:spPr>
          <a:xfrm>
            <a:off x="6229350" y="2266950"/>
            <a:ext cx="5314950" cy="3105150"/>
          </a:xfrm>
          <a:prstGeom prst="roundRect">
            <a:avLst>
              <a:gd name="adj" fmla="val 2454"/>
            </a:avLst>
          </a:prstGeom>
          <a:solidFill>
            <a:srgbClr val="FFFFFF"/>
          </a:solidFill>
          <a:ln w="11430">
            <a:solidFill>
              <a:srgbClr val="101214"/>
            </a:solidFill>
            <a:prstDash val="solid"/>
          </a:ln>
        </p:spPr>
        <p:txBody>
          <a:bodyPr/>
          <a:lstStyle/>
          <a:p>
            <a:endParaRPr lang="en-IN"/>
          </a:p>
        </p:txBody>
      </p:sp>
      <p:sp>
        <p:nvSpPr>
          <p:cNvPr id="15" name="Rectangle 14">
            <a:extLst>
              <a:ext uri="{FF2B5EF4-FFF2-40B4-BE49-F238E27FC236}">
                <a16:creationId xmlns:a16="http://schemas.microsoft.com/office/drawing/2014/main" id="{3932B9F6-BDAE-493A-8014-E8DE6AB35E9A}"/>
              </a:ext>
            </a:extLst>
          </p:cNvPr>
          <p:cNvSpPr>
            <a:spLocks noGrp="1"/>
          </p:cNvSpPr>
          <p:nvPr/>
        </p:nvSpPr>
        <p:spPr>
          <a:xfrm>
            <a:off x="6229350" y="2266950"/>
            <a:ext cx="5314950" cy="57150"/>
          </a:xfrm>
          <a:prstGeom prst="rect">
            <a:avLst/>
          </a:prstGeom>
          <a:solidFill>
            <a:srgbClr val="D7A83D"/>
          </a:solidFill>
          <a:ln w="0">
            <a:solidFill>
              <a:srgbClr val="000000">
                <a:alpha val="0"/>
              </a:srgbClr>
            </a:solidFill>
            <a:prstDash val="solid"/>
          </a:ln>
        </p:spPr>
        <p:txBody>
          <a:bodyPr/>
          <a:lstStyle/>
          <a:p>
            <a:endParaRPr lang="en-IN"/>
          </a:p>
        </p:txBody>
      </p:sp>
      <p:sp>
        <p:nvSpPr>
          <p:cNvPr id="16" name="Rectangle 15">
            <a:extLst>
              <a:ext uri="{FF2B5EF4-FFF2-40B4-BE49-F238E27FC236}">
                <a16:creationId xmlns:a16="http://schemas.microsoft.com/office/drawing/2014/main" id="{460BE93C-A479-4609-8CF2-2B6EE342E7F2}"/>
              </a:ext>
            </a:extLst>
          </p:cNvPr>
          <p:cNvSpPr>
            <a:spLocks noGrp="1"/>
          </p:cNvSpPr>
          <p:nvPr/>
        </p:nvSpPr>
        <p:spPr>
          <a:xfrm>
            <a:off x="6438900" y="2438400"/>
            <a:ext cx="4895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16B49"/>
                </a:solidFill>
              </a:defRPr>
            </a:pPr>
            <a:r>
              <a:rPr lang="en-IN" sz="1125" b="1" dirty="0">
                <a:solidFill>
                  <a:srgbClr val="116B49"/>
                </a:solidFill>
              </a:rPr>
              <a:t>AI Disclosure</a:t>
            </a:r>
            <a:endParaRPr sz="1125" b="1" dirty="0">
              <a:solidFill>
                <a:srgbClr val="116B49"/>
              </a:solidFill>
            </a:endParaRPr>
          </a:p>
        </p:txBody>
      </p:sp>
      <p:sp>
        <p:nvSpPr>
          <p:cNvPr id="17" name="Rectangle 16">
            <a:extLst>
              <a:ext uri="{FF2B5EF4-FFF2-40B4-BE49-F238E27FC236}">
                <a16:creationId xmlns:a16="http://schemas.microsoft.com/office/drawing/2014/main" id="{9AC4DB12-3A76-47E1-838F-460BC0616274}"/>
              </a:ext>
            </a:extLst>
          </p:cNvPr>
          <p:cNvSpPr>
            <a:spLocks noGrp="1"/>
          </p:cNvSpPr>
          <p:nvPr/>
        </p:nvSpPr>
        <p:spPr>
          <a:xfrm>
            <a:off x="6438900" y="2728913"/>
            <a:ext cx="4895850" cy="24193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200" b="0">
                <a:solidFill>
                  <a:srgbClr val="101214"/>
                </a:solidFill>
              </a:defRPr>
            </a:pPr>
            <a:r>
              <a:rPr lang="en-US" sz="1200" dirty="0"/>
              <a:t>AI tools (ChatGPT and Claude) were used for: </a:t>
            </a:r>
          </a:p>
          <a:p>
            <a:pPr>
              <a:defRPr sz="1200" b="0">
                <a:solidFill>
                  <a:srgbClr val="101214"/>
                </a:solidFill>
              </a:defRPr>
            </a:pPr>
            <a:r>
              <a:rPr lang="en-US" sz="1200" dirty="0"/>
              <a:t>• Structuring derivations </a:t>
            </a:r>
          </a:p>
          <a:p>
            <a:pPr>
              <a:defRPr sz="1200" b="0">
                <a:solidFill>
                  <a:srgbClr val="101214"/>
                </a:solidFill>
              </a:defRPr>
            </a:pPr>
            <a:r>
              <a:rPr lang="en-US" sz="1200" dirty="0"/>
              <a:t>• Debugging Python code </a:t>
            </a:r>
          </a:p>
          <a:p>
            <a:pPr>
              <a:defRPr sz="1200" b="0">
                <a:solidFill>
                  <a:srgbClr val="101214"/>
                </a:solidFill>
              </a:defRPr>
            </a:pPr>
            <a:r>
              <a:rPr lang="en-US" sz="1200" dirty="0"/>
              <a:t>• Extracting physical and mathematical data from the </a:t>
            </a:r>
            <a:r>
              <a:rPr lang="en-US" sz="1200" dirty="0" err="1"/>
              <a:t>urdf</a:t>
            </a:r>
            <a:r>
              <a:rPr lang="en-US" sz="1200" dirty="0"/>
              <a:t> file </a:t>
            </a:r>
          </a:p>
          <a:p>
            <a:pPr>
              <a:defRPr sz="1200" b="0">
                <a:solidFill>
                  <a:srgbClr val="101214"/>
                </a:solidFill>
              </a:defRPr>
            </a:pPr>
            <a:endParaRPr lang="en-US" sz="1200" dirty="0"/>
          </a:p>
          <a:p>
            <a:pPr>
              <a:defRPr sz="1200" b="0">
                <a:solidFill>
                  <a:srgbClr val="101214"/>
                </a:solidFill>
              </a:defRPr>
            </a:pPr>
            <a:r>
              <a:rPr lang="en-US" sz="1200" dirty="0"/>
              <a:t>AI was not used for core derivation logic and writing and formatting of the report everything done on paper which was done manually based on course concepts.</a:t>
            </a:r>
            <a:endParaRPr sz="1200" b="0" dirty="0">
              <a:solidFill>
                <a:srgbClr val="101214"/>
              </a:solidFill>
            </a:endParaRPr>
          </a:p>
        </p:txBody>
      </p:sp>
    </p:spTree>
    <p:extLst>
      <p:ext uri="{BB962C8B-B14F-4D97-AF65-F5344CB8AC3E}">
        <p14:creationId xmlns:p14="http://schemas.microsoft.com/office/powerpoint/2010/main" val="1621336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9C2F8368-E2EA-4407-8A33-85A37191A5D8}"/>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BD94AAB4-A04E-44F6-AD45-F2E20DBA01BD}"/>
              </a:ext>
            </a:extLst>
          </p:cNvPr>
          <p:cNvSpPr>
            <a:spLocks noGrp="1"/>
          </p:cNvSpPr>
          <p:nvPr/>
        </p:nvSpPr>
        <p:spPr>
          <a:xfrm>
            <a:off x="0" y="0"/>
            <a:ext cx="12192000" cy="6858000"/>
          </a:xfrm>
          <a:prstGeom prst="rect">
            <a:avLst/>
          </a:prstGeom>
          <a:solidFill>
            <a:srgbClr val="FFFFFF">
              <a:alpha val="82353"/>
            </a:srgbClr>
          </a:solidFill>
          <a:ln w="0">
            <a:solidFill>
              <a:srgbClr val="000000">
                <a:alpha val="0"/>
              </a:srgbClr>
            </a:solidFill>
            <a:prstDash val="solid"/>
          </a:ln>
        </p:spPr>
        <p:txBody>
          <a:bodyPr/>
          <a:lstStyle/>
          <a:p>
            <a:endParaRPr lang="en-IN"/>
          </a:p>
        </p:txBody>
      </p:sp>
      <p:sp>
        <p:nvSpPr>
          <p:cNvPr id="4" name="Rectangle: Rounded Corners 3">
            <a:extLst>
              <a:ext uri="{FF2B5EF4-FFF2-40B4-BE49-F238E27FC236}">
                <a16:creationId xmlns:a16="http://schemas.microsoft.com/office/drawing/2014/main" id="{4F10C8F9-FB11-4F7A-B894-CEFF127E39C6}"/>
              </a:ext>
            </a:extLst>
          </p:cNvPr>
          <p:cNvSpPr>
            <a:spLocks noGrp="1"/>
          </p:cNvSpPr>
          <p:nvPr/>
        </p:nvSpPr>
        <p:spPr>
          <a:xfrm>
            <a:off x="1809750" y="1619250"/>
            <a:ext cx="8572500" cy="3429000"/>
          </a:xfrm>
          <a:prstGeom prst="roundRect">
            <a:avLst>
              <a:gd name="adj" fmla="val 2222"/>
            </a:avLst>
          </a:prstGeom>
          <a:solidFill>
            <a:srgbClr val="F7F4ED">
              <a:alpha val="96078"/>
            </a:srgbClr>
          </a:solidFill>
          <a:ln w="11430">
            <a:solidFill>
              <a:srgbClr val="101214"/>
            </a:solidFill>
            <a:prstDash val="solid"/>
          </a:ln>
        </p:spPr>
        <p:txBody>
          <a:bodyPr/>
          <a:lstStyle/>
          <a:p>
            <a:endParaRPr lang="en-IN"/>
          </a:p>
        </p:txBody>
      </p:sp>
      <p:sp>
        <p:nvSpPr>
          <p:cNvPr id="5" name="Rectangle 4">
            <a:extLst>
              <a:ext uri="{FF2B5EF4-FFF2-40B4-BE49-F238E27FC236}">
                <a16:creationId xmlns:a16="http://schemas.microsoft.com/office/drawing/2014/main" id="{B63E61A6-B5DC-4BA5-A498-2BB06D646D0B}"/>
              </a:ext>
            </a:extLst>
          </p:cNvPr>
          <p:cNvSpPr>
            <a:spLocks noGrp="1"/>
          </p:cNvSpPr>
          <p:nvPr/>
        </p:nvSpPr>
        <p:spPr>
          <a:xfrm>
            <a:off x="3048000" y="2247900"/>
            <a:ext cx="609600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3450" b="1">
                <a:solidFill>
                  <a:srgbClr val="101214"/>
                </a:solidFill>
              </a:defRPr>
            </a:pPr>
            <a:r>
              <a:rPr sz="3450" b="1">
                <a:solidFill>
                  <a:srgbClr val="101214"/>
                </a:solidFill>
              </a:rPr>
              <a:t>Thank You</a:t>
            </a:r>
          </a:p>
        </p:txBody>
      </p:sp>
      <p:sp>
        <p:nvSpPr>
          <p:cNvPr id="6" name="Rectangle 5">
            <a:extLst>
              <a:ext uri="{FF2B5EF4-FFF2-40B4-BE49-F238E27FC236}">
                <a16:creationId xmlns:a16="http://schemas.microsoft.com/office/drawing/2014/main" id="{6E049916-7BE7-41E9-B09A-D282F4A17837}"/>
              </a:ext>
            </a:extLst>
          </p:cNvPr>
          <p:cNvSpPr>
            <a:spLocks noGrp="1"/>
          </p:cNvSpPr>
          <p:nvPr/>
        </p:nvSpPr>
        <p:spPr>
          <a:xfrm>
            <a:off x="3048000" y="3009900"/>
            <a:ext cx="6096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250" b="1">
                <a:solidFill>
                  <a:srgbClr val="116B49"/>
                </a:solidFill>
              </a:defRPr>
            </a:pPr>
            <a:r>
              <a:rPr sz="2250" b="1">
                <a:solidFill>
                  <a:srgbClr val="116B49"/>
                </a:solidFill>
              </a:rPr>
              <a:t>Questions?</a:t>
            </a:r>
          </a:p>
        </p:txBody>
      </p:sp>
    </p:spTree>
    <p:extLst>
      <p:ext uri="{BB962C8B-B14F-4D97-AF65-F5344CB8AC3E}">
        <p14:creationId xmlns:p14="http://schemas.microsoft.com/office/powerpoint/2010/main" val="66010924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E5ED340F12FF438B134E672892BFDA" ma:contentTypeVersion="12" ma:contentTypeDescription="Create a new document." ma:contentTypeScope="" ma:versionID="2c87ab58b8ec2353d2b26750d179ec7e">
  <xsd:schema xmlns:xsd="http://www.w3.org/2001/XMLSchema" xmlns:xs="http://www.w3.org/2001/XMLSchema" xmlns:p="http://schemas.microsoft.com/office/2006/metadata/properties" xmlns:ns2="b7aa8a3b-80d1-4955-8f76-a3254a33a331" xmlns:ns3="8aa28b7e-c5b6-4db8-be1f-ce18dc9d6788" targetNamespace="http://schemas.microsoft.com/office/2006/metadata/properties" ma:root="true" ma:fieldsID="69fb4eb5051183c283dc3b3a79120d25" ns2:_="" ns3:_="">
    <xsd:import namespace="b7aa8a3b-80d1-4955-8f76-a3254a33a331"/>
    <xsd:import namespace="8aa28b7e-c5b6-4db8-be1f-ce18dc9d6788"/>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aa8a3b-80d1-4955-8f76-a3254a33a331"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765a431-9415-4219-9cd0-5363948861b2"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aa28b7e-c5b6-4db8-be1f-ce18dc9d6788"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5a5849d0-3a25-4ea2-a66f-6da2942d5ba7}" ma:internalName="TaxCatchAll" ma:showField="CatchAllData" ma:web="8aa28b7e-c5b6-4db8-be1f-ce18dc9d678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b7aa8a3b-80d1-4955-8f76-a3254a33a331" xsi:nil="true"/>
    <lcf76f155ced4ddcb4097134ff3c332f xmlns="b7aa8a3b-80d1-4955-8f76-a3254a33a331">
      <Terms xmlns="http://schemas.microsoft.com/office/infopath/2007/PartnerControls"/>
    </lcf76f155ced4ddcb4097134ff3c332f>
    <TaxCatchAll xmlns="8aa28b7e-c5b6-4db8-be1f-ce18dc9d6788" xsi:nil="true"/>
  </documentManagement>
</p:properties>
</file>

<file path=customXml/itemProps1.xml><?xml version="1.0" encoding="utf-8"?>
<ds:datastoreItem xmlns:ds="http://schemas.openxmlformats.org/officeDocument/2006/customXml" ds:itemID="{00183DD8-F9A4-4C0A-B8C0-CCCCE208068B}"/>
</file>

<file path=customXml/itemProps2.xml><?xml version="1.0" encoding="utf-8"?>
<ds:datastoreItem xmlns:ds="http://schemas.openxmlformats.org/officeDocument/2006/customXml" ds:itemID="{F614B498-E50F-4B0C-9DAA-50323800E624}"/>
</file>

<file path=customXml/itemProps3.xml><?xml version="1.0" encoding="utf-8"?>
<ds:datastoreItem xmlns:ds="http://schemas.openxmlformats.org/officeDocument/2006/customXml" ds:itemID="{E7E12B0A-5AE1-4961-9E7E-6FDD9BC74032}"/>
</file>

<file path=docProps/app.xml><?xml version="1.0" encoding="utf-8"?>
<Properties xmlns="http://schemas.openxmlformats.org/officeDocument/2006/extended-properties" xmlns:vt="http://schemas.openxmlformats.org/officeDocument/2006/docPropsVTypes">
  <TotalTime>0</TotalTime>
  <Words>2347</Words>
  <Application>Microsoft Office PowerPoint</Application>
  <DocSecurity>0</DocSecurity>
  <PresentationFormat>Widescreen</PresentationFormat>
  <Paragraphs>258</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DAARIS AHMED - 70042400070</cp:lastModifiedBy>
  <cp:revision>1</cp:revision>
  <dcterms:created xsi:type="dcterms:W3CDTF">2026-04-25T03:25:41Z</dcterms:created>
  <dcterms:modified xsi:type="dcterms:W3CDTF">2026-04-25T03:33:31Z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0x010100AFE5ED340F12FF438B134E672892BFDA</vt:lpwstr>
  </property>
</Properties>
</file>