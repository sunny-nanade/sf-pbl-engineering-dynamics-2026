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57FBE7-D56B-4332-AB26-79486370CB80}" v="4" dt="2026-04-19T14:30:32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arva Bhagwat" userId="817168a992ddd282" providerId="LiveId" clId="{C48C6C2D-A396-4AE2-A737-031019F4DCA0}"/>
    <pc:docChg chg="custSel addSld delSld modSld">
      <pc:chgData name="Atharva Bhagwat" userId="817168a992ddd282" providerId="LiveId" clId="{C48C6C2D-A396-4AE2-A737-031019F4DCA0}" dt="2026-04-19T14:34:21.382" v="201" actId="1076"/>
      <pc:docMkLst>
        <pc:docMk/>
      </pc:docMkLst>
      <pc:sldChg chg="modSp mod">
        <pc:chgData name="Atharva Bhagwat" userId="817168a992ddd282" providerId="LiveId" clId="{C48C6C2D-A396-4AE2-A737-031019F4DCA0}" dt="2026-04-19T14:29:51.095" v="89" actId="1076"/>
        <pc:sldMkLst>
          <pc:docMk/>
          <pc:sldMk cId="0" sldId="256"/>
        </pc:sldMkLst>
        <pc:spChg chg="mod">
          <ac:chgData name="Atharva Bhagwat" userId="817168a992ddd282" providerId="LiveId" clId="{C48C6C2D-A396-4AE2-A737-031019F4DCA0}" dt="2026-04-19T14:29:51.095" v="8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tharva Bhagwat" userId="817168a992ddd282" providerId="LiveId" clId="{C48C6C2D-A396-4AE2-A737-031019F4DCA0}" dt="2026-04-19T14:29:44.765" v="88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tharva Bhagwat" userId="817168a992ddd282" providerId="LiveId" clId="{C48C6C2D-A396-4AE2-A737-031019F4DCA0}" dt="2026-04-19T14:27:47.894" v="30"/>
        <pc:sldMkLst>
          <pc:docMk/>
          <pc:sldMk cId="0" sldId="257"/>
        </pc:sldMkLst>
        <pc:spChg chg="mod">
          <ac:chgData name="Atharva Bhagwat" userId="817168a992ddd282" providerId="LiveId" clId="{C48C6C2D-A396-4AE2-A737-031019F4DCA0}" dt="2026-04-19T14:27:47.894" v="30"/>
          <ac:spMkLst>
            <pc:docMk/>
            <pc:sldMk cId="0" sldId="257"/>
            <ac:spMk id="2" creationId="{00000000-0000-0000-0000-000000000000}"/>
          </ac:spMkLst>
        </pc:spChg>
        <pc:spChg chg="mod">
          <ac:chgData name="Atharva Bhagwat" userId="817168a992ddd282" providerId="LiveId" clId="{C48C6C2D-A396-4AE2-A737-031019F4DCA0}" dt="2026-04-19T14:27:47.894" v="30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Atharva Bhagwat" userId="817168a992ddd282" providerId="LiveId" clId="{C48C6C2D-A396-4AE2-A737-031019F4DCA0}" dt="2026-04-19T14:27:47.894" v="30"/>
        <pc:sldMkLst>
          <pc:docMk/>
          <pc:sldMk cId="0" sldId="258"/>
        </pc:sldMkLst>
        <pc:spChg chg="mod">
          <ac:chgData name="Atharva Bhagwat" userId="817168a992ddd282" providerId="LiveId" clId="{C48C6C2D-A396-4AE2-A737-031019F4DCA0}" dt="2026-04-19T14:27:47.894" v="30"/>
          <ac:spMkLst>
            <pc:docMk/>
            <pc:sldMk cId="0" sldId="258"/>
            <ac:spMk id="2" creationId="{00000000-0000-0000-0000-000000000000}"/>
          </ac:spMkLst>
        </pc:spChg>
        <pc:spChg chg="mod">
          <ac:chgData name="Atharva Bhagwat" userId="817168a992ddd282" providerId="LiveId" clId="{C48C6C2D-A396-4AE2-A737-031019F4DCA0}" dt="2026-04-19T14:27:47.894" v="30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">
        <pc:chgData name="Atharva Bhagwat" userId="817168a992ddd282" providerId="LiveId" clId="{C48C6C2D-A396-4AE2-A737-031019F4DCA0}" dt="2026-04-19T14:30:45.793" v="109" actId="14100"/>
        <pc:sldMkLst>
          <pc:docMk/>
          <pc:sldMk cId="0" sldId="259"/>
        </pc:sldMkLst>
        <pc:spChg chg="add del mod">
          <ac:chgData name="Atharva Bhagwat" userId="817168a992ddd282" providerId="LiveId" clId="{C48C6C2D-A396-4AE2-A737-031019F4DCA0}" dt="2026-04-19T14:30:19.114" v="102"/>
          <ac:spMkLst>
            <pc:docMk/>
            <pc:sldMk cId="0" sldId="259"/>
            <ac:spMk id="2" creationId="{F020C8E3-0778-75A1-4EDE-A9BB356CB8B7}"/>
          </ac:spMkLst>
        </pc:spChg>
        <pc:spChg chg="del mod">
          <ac:chgData name="Atharva Bhagwat" userId="817168a992ddd282" providerId="LiveId" clId="{C48C6C2D-A396-4AE2-A737-031019F4DCA0}" dt="2026-04-19T14:30:35.917" v="105" actId="478"/>
          <ac:spMkLst>
            <pc:docMk/>
            <pc:sldMk cId="0" sldId="259"/>
            <ac:spMk id="4" creationId="{00000000-0000-0000-0000-000000000000}"/>
          </ac:spMkLst>
        </pc:spChg>
        <pc:spChg chg="add mod">
          <ac:chgData name="Atharva Bhagwat" userId="817168a992ddd282" providerId="LiveId" clId="{C48C6C2D-A396-4AE2-A737-031019F4DCA0}" dt="2026-04-19T14:30:45.793" v="109" actId="14100"/>
          <ac:spMkLst>
            <pc:docMk/>
            <pc:sldMk cId="0" sldId="259"/>
            <ac:spMk id="5" creationId="{CEEED6EE-118C-3FB5-997F-BC0C5D817FE4}"/>
          </ac:spMkLst>
        </pc:spChg>
      </pc:sldChg>
      <pc:sldChg chg="modSp mod">
        <pc:chgData name="Atharva Bhagwat" userId="817168a992ddd282" providerId="LiveId" clId="{C48C6C2D-A396-4AE2-A737-031019F4DCA0}" dt="2026-04-19T14:31:23.891" v="128" actId="1076"/>
        <pc:sldMkLst>
          <pc:docMk/>
          <pc:sldMk cId="0" sldId="260"/>
        </pc:sldMkLst>
        <pc:spChg chg="mod">
          <ac:chgData name="Atharva Bhagwat" userId="817168a992ddd282" providerId="LiveId" clId="{C48C6C2D-A396-4AE2-A737-031019F4DCA0}" dt="2026-04-19T14:31:23.891" v="128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Atharva Bhagwat" userId="817168a992ddd282" providerId="LiveId" clId="{C48C6C2D-A396-4AE2-A737-031019F4DCA0}" dt="2026-04-19T14:31:20.886" v="127" actId="107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Atharva Bhagwat" userId="817168a992ddd282" providerId="LiveId" clId="{C48C6C2D-A396-4AE2-A737-031019F4DCA0}" dt="2026-04-19T14:31:54.318" v="142" actId="14100"/>
        <pc:sldMkLst>
          <pc:docMk/>
          <pc:sldMk cId="0" sldId="261"/>
        </pc:sldMkLst>
        <pc:spChg chg="mod">
          <ac:chgData name="Atharva Bhagwat" userId="817168a992ddd282" providerId="LiveId" clId="{C48C6C2D-A396-4AE2-A737-031019F4DCA0}" dt="2026-04-19T14:31:48.405" v="140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Atharva Bhagwat" userId="817168a992ddd282" providerId="LiveId" clId="{C48C6C2D-A396-4AE2-A737-031019F4DCA0}" dt="2026-04-19T14:31:54.318" v="142" actId="14100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Atharva Bhagwat" userId="817168a992ddd282" providerId="LiveId" clId="{C48C6C2D-A396-4AE2-A737-031019F4DCA0}" dt="2026-04-19T14:32:40.426" v="160" actId="1076"/>
        <pc:sldMkLst>
          <pc:docMk/>
          <pc:sldMk cId="0" sldId="262"/>
        </pc:sldMkLst>
        <pc:spChg chg="mod">
          <ac:chgData name="Atharva Bhagwat" userId="817168a992ddd282" providerId="LiveId" clId="{C48C6C2D-A396-4AE2-A737-031019F4DCA0}" dt="2026-04-19T14:32:22.577" v="149" actId="14100"/>
          <ac:spMkLst>
            <pc:docMk/>
            <pc:sldMk cId="0" sldId="262"/>
            <ac:spMk id="2" creationId="{00000000-0000-0000-0000-000000000000}"/>
          </ac:spMkLst>
        </pc:spChg>
        <pc:spChg chg="mod">
          <ac:chgData name="Atharva Bhagwat" userId="817168a992ddd282" providerId="LiveId" clId="{C48C6C2D-A396-4AE2-A737-031019F4DCA0}" dt="2026-04-19T14:32:40.426" v="160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tharva Bhagwat" userId="817168a992ddd282" providerId="LiveId" clId="{C48C6C2D-A396-4AE2-A737-031019F4DCA0}" dt="2026-04-19T14:33:08.144" v="169" actId="14100"/>
        <pc:sldMkLst>
          <pc:docMk/>
          <pc:sldMk cId="0" sldId="264"/>
        </pc:sldMkLst>
        <pc:spChg chg="mod">
          <ac:chgData name="Atharva Bhagwat" userId="817168a992ddd282" providerId="LiveId" clId="{C48C6C2D-A396-4AE2-A737-031019F4DCA0}" dt="2026-04-19T14:33:00.070" v="164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Atharva Bhagwat" userId="817168a992ddd282" providerId="LiveId" clId="{C48C6C2D-A396-4AE2-A737-031019F4DCA0}" dt="2026-04-19T14:33:08.144" v="169" actId="14100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Atharva Bhagwat" userId="817168a992ddd282" providerId="LiveId" clId="{C48C6C2D-A396-4AE2-A737-031019F4DCA0}" dt="2026-04-19T14:33:27.618" v="177" actId="14100"/>
        <pc:sldMkLst>
          <pc:docMk/>
          <pc:sldMk cId="0" sldId="265"/>
        </pc:sldMkLst>
        <pc:spChg chg="mod">
          <ac:chgData name="Atharva Bhagwat" userId="817168a992ddd282" providerId="LiveId" clId="{C48C6C2D-A396-4AE2-A737-031019F4DCA0}" dt="2026-04-19T14:33:19.007" v="171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Atharva Bhagwat" userId="817168a992ddd282" providerId="LiveId" clId="{C48C6C2D-A396-4AE2-A737-031019F4DCA0}" dt="2026-04-19T14:33:27.618" v="177" actId="14100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Atharva Bhagwat" userId="817168a992ddd282" providerId="LiveId" clId="{C48C6C2D-A396-4AE2-A737-031019F4DCA0}" dt="2026-04-19T14:34:09.523" v="187" actId="20577"/>
        <pc:sldMkLst>
          <pc:docMk/>
          <pc:sldMk cId="0" sldId="266"/>
        </pc:sldMkLst>
        <pc:spChg chg="mod">
          <ac:chgData name="Atharva Bhagwat" userId="817168a992ddd282" providerId="LiveId" clId="{C48C6C2D-A396-4AE2-A737-031019F4DCA0}" dt="2026-04-19T14:33:38.682" v="179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Atharva Bhagwat" userId="817168a992ddd282" providerId="LiveId" clId="{C48C6C2D-A396-4AE2-A737-031019F4DCA0}" dt="2026-04-19T14:34:09.523" v="187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Atharva Bhagwat" userId="817168a992ddd282" providerId="LiveId" clId="{C48C6C2D-A396-4AE2-A737-031019F4DCA0}" dt="2026-04-19T14:34:21.382" v="201" actId="1076"/>
        <pc:sldMkLst>
          <pc:docMk/>
          <pc:sldMk cId="0" sldId="267"/>
        </pc:sldMkLst>
        <pc:spChg chg="mod">
          <ac:chgData name="Atharva Bhagwat" userId="817168a992ddd282" providerId="LiveId" clId="{C48C6C2D-A396-4AE2-A737-031019F4DCA0}" dt="2026-04-19T14:34:21.382" v="201" actId="1076"/>
          <ac:spMkLst>
            <pc:docMk/>
            <pc:sldMk cId="0" sldId="267"/>
            <ac:spMk id="2" creationId="{00000000-0000-0000-0000-000000000000}"/>
          </ac:spMkLst>
        </pc:spChg>
      </pc:sldChg>
      <pc:sldChg chg="new del">
        <pc:chgData name="Atharva Bhagwat" userId="817168a992ddd282" providerId="LiveId" clId="{C48C6C2D-A396-4AE2-A737-031019F4DCA0}" dt="2026-04-19T14:30:12.217" v="99" actId="47"/>
        <pc:sldMkLst>
          <pc:docMk/>
          <pc:sldMk cId="1105132605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BAB51B-2A58-C440-911C-9DE88FECC9C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0949B6-D09A-594B-B58C-FC9A7F486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388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70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59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0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395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9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43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506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4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312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6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85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2790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06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52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0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823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9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531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7533" y="1593850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rPr dirty="0"/>
              <a:t>Mathematical Modelling of a Robotic Gripper Mechanism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2267" y="3151718"/>
            <a:ext cx="6400800" cy="1752600"/>
          </a:xfrm>
        </p:spPr>
        <p:txBody>
          <a:bodyPr>
            <a:noAutofit/>
          </a:bodyPr>
          <a:lstStyle/>
          <a:p>
            <a:pPr algn="ctr">
              <a:defRPr sz="1800"/>
            </a:pPr>
            <a:r>
              <a:rPr sz="1400" dirty="0">
                <a:solidFill>
                  <a:schemeClr val="tx1"/>
                </a:solidFill>
              </a:rPr>
              <a:t>Team: </a:t>
            </a:r>
            <a:r>
              <a:rPr lang="en-US" sz="1400" dirty="0">
                <a:solidFill>
                  <a:schemeClr val="tx1"/>
                </a:solidFill>
              </a:rPr>
              <a:t>Shivam Singh H076</a:t>
            </a:r>
          </a:p>
          <a:p>
            <a:pPr algn="ctr">
              <a:defRPr sz="1800"/>
            </a:pPr>
            <a:r>
              <a:rPr lang="en-US" sz="1400" dirty="0">
                <a:solidFill>
                  <a:schemeClr val="tx1"/>
                </a:solidFill>
              </a:rPr>
              <a:t>Samin Sugathan H078</a:t>
            </a:r>
          </a:p>
          <a:p>
            <a:pPr algn="ctr">
              <a:defRPr sz="1800"/>
            </a:pPr>
            <a:r>
              <a:rPr lang="en-US" sz="1400" dirty="0">
                <a:solidFill>
                  <a:schemeClr val="tx1"/>
                </a:solidFill>
              </a:rPr>
              <a:t>Atharva Bhagwat H088</a:t>
            </a:r>
            <a:endParaRPr sz="1400" dirty="0">
              <a:solidFill>
                <a:schemeClr val="tx1"/>
              </a:solidFill>
            </a:endParaRPr>
          </a:p>
          <a:p>
            <a:pPr algn="ctr">
              <a:defRPr sz="1800"/>
            </a:pPr>
            <a:r>
              <a:rPr lang="en-US" sz="1400" dirty="0">
                <a:solidFill>
                  <a:schemeClr val="tx1"/>
                </a:solidFill>
              </a:rPr>
              <a:t>Subject </a:t>
            </a:r>
            <a:r>
              <a:rPr sz="1400" dirty="0">
                <a:solidFill>
                  <a:schemeClr val="tx1"/>
                </a:solidFill>
              </a:rPr>
              <a:t>: Dynamic System Modeli</a:t>
            </a:r>
            <a:r>
              <a:rPr lang="en-US" sz="1400" dirty="0">
                <a:solidFill>
                  <a:schemeClr val="tx1"/>
                </a:solidFill>
              </a:rPr>
              <a:t>ng </a:t>
            </a:r>
            <a:endParaRPr sz="1400" dirty="0">
              <a:solidFill>
                <a:schemeClr val="tx1"/>
              </a:solidFill>
            </a:endParaRPr>
          </a:p>
          <a:p>
            <a:pPr algn="ctr">
              <a:defRPr sz="1800"/>
            </a:pPr>
            <a:r>
              <a:rPr sz="1400" dirty="0" err="1">
                <a:solidFill>
                  <a:schemeClr val="tx1"/>
                </a:solidFill>
              </a:rPr>
              <a:t>B.Tech</a:t>
            </a:r>
            <a:r>
              <a:rPr sz="1400" dirty="0">
                <a:solidFill>
                  <a:schemeClr val="tx1"/>
                </a:solidFill>
              </a:rPr>
              <a:t> Mechatronics, Sem IV</a:t>
            </a:r>
            <a:endParaRPr lang="en-US" sz="1400" dirty="0">
              <a:solidFill>
                <a:schemeClr val="tx1"/>
              </a:solidFill>
            </a:endParaRPr>
          </a:p>
          <a:p>
            <a:pPr algn="ctr">
              <a:defRPr sz="1800"/>
            </a:pPr>
            <a:r>
              <a:rPr sz="1400" dirty="0">
                <a:solidFill>
                  <a:schemeClr val="tx1"/>
                </a:solidFill>
              </a:rPr>
              <a:t>NMIMS MPSTME Mumbai</a:t>
            </a:r>
            <a:endParaRPr lang="en-US" sz="1400" dirty="0">
              <a:solidFill>
                <a:schemeClr val="tx1"/>
              </a:solidFill>
            </a:endParaRPr>
          </a:p>
          <a:p>
            <a:pPr algn="ctr">
              <a:defRPr sz="1800"/>
            </a:pPr>
            <a:r>
              <a:rPr sz="1400" dirty="0">
                <a:solidFill>
                  <a:schemeClr val="tx1"/>
                </a:solidFill>
              </a:rPr>
              <a:t>Category: A — Locomotion &amp; Manipulation Dynamics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1. System 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b="1" dirty="0"/>
              <a:t>What is the system? </a:t>
            </a:r>
            <a:r>
              <a:rPr dirty="0"/>
              <a:t>A two-finger, single-actuator, parallel-jaw gripper driven by a DC motor via lead-screw — an end-effector for robotic arms that physically grasps objects.</a:t>
            </a:r>
          </a:p>
          <a:p>
            <a:pPr>
              <a:spcBef>
                <a:spcPts val="600"/>
              </a:spcBef>
              <a:defRPr sz="1800"/>
            </a:pPr>
            <a:r>
              <a:rPr b="1" dirty="0"/>
              <a:t>Why does it matter? </a:t>
            </a:r>
            <a:r>
              <a:rPr dirty="0"/>
              <a:t>Robotic grippers are used in automotive assembly, pharmaceutical packaging, warehouse logistics (Amazon Robotics), surgical robotics (da Vinci), and food processing.</a:t>
            </a:r>
          </a:p>
          <a:p>
            <a:pPr>
              <a:spcBef>
                <a:spcPts val="600"/>
              </a:spcBef>
              <a:defRPr sz="1800"/>
            </a:pPr>
            <a:r>
              <a:rPr b="1" dirty="0"/>
              <a:t>PBL Problem Statement: </a:t>
            </a:r>
            <a:r>
              <a:rPr dirty="0"/>
              <a:t>Derive a complete mathematical model of the electromechanical gripper to predict jaw position x(t), motor current </a:t>
            </a:r>
            <a:r>
              <a:rPr dirty="0" err="1"/>
              <a:t>i</a:t>
            </a:r>
            <a:r>
              <a:rPr dirty="0"/>
              <a:t>(t), and gripping force as functions of applied voltage V(t).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2. Problem Formulation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b="1" dirty="0"/>
              <a:t>Input: </a:t>
            </a:r>
            <a:r>
              <a:rPr dirty="0"/>
              <a:t>Applied voltage V(t) [V] to DC motor armature</a:t>
            </a:r>
          </a:p>
          <a:p>
            <a:pPr>
              <a:spcBef>
                <a:spcPts val="400"/>
              </a:spcBef>
              <a:defRPr sz="1800"/>
            </a:pPr>
            <a:r>
              <a:rPr b="1" dirty="0"/>
              <a:t>Outputs: </a:t>
            </a:r>
            <a:r>
              <a:rPr dirty="0"/>
              <a:t>Jaw displacement x(t) [m], armature current </a:t>
            </a:r>
            <a:r>
              <a:rPr dirty="0" err="1"/>
              <a:t>i</a:t>
            </a:r>
            <a:r>
              <a:rPr dirty="0"/>
              <a:t>(t) [A], gripping force </a:t>
            </a:r>
            <a:r>
              <a:rPr dirty="0" err="1"/>
              <a:t>F_grip</a:t>
            </a:r>
            <a:r>
              <a:rPr dirty="0"/>
              <a:t> [N]</a:t>
            </a:r>
          </a:p>
          <a:p>
            <a:pPr>
              <a:spcBef>
                <a:spcPts val="400"/>
              </a:spcBef>
              <a:defRPr sz="1800"/>
            </a:pPr>
            <a:r>
              <a:rPr b="1" dirty="0"/>
              <a:t>State Variables: </a:t>
            </a:r>
            <a:r>
              <a:rPr dirty="0"/>
              <a:t>x (jaw displacement), </a:t>
            </a:r>
            <a:r>
              <a:rPr dirty="0" err="1"/>
              <a:t>x_dot</a:t>
            </a:r>
            <a:r>
              <a:rPr dirty="0"/>
              <a:t> (jaw velocity), </a:t>
            </a:r>
            <a:r>
              <a:rPr dirty="0" err="1"/>
              <a:t>i</a:t>
            </a:r>
            <a:r>
              <a:rPr dirty="0"/>
              <a:t> (armature current)</a:t>
            </a:r>
          </a:p>
          <a:p>
            <a:pPr>
              <a:spcBef>
                <a:spcPts val="400"/>
              </a:spcBef>
              <a:defRPr sz="1800"/>
            </a:pPr>
            <a:r>
              <a:rPr b="1" dirty="0"/>
              <a:t>Parameters:</a:t>
            </a:r>
            <a:r>
              <a:rPr lang="en-US" b="1" dirty="0"/>
              <a:t> </a:t>
            </a:r>
            <a:r>
              <a:rPr lang="en-IN" dirty="0"/>
              <a:t>mⱼₐw, Jₘ, Kₜ, Kₑ, Rₘ, Lₘ, kₛ, b, bₘ, p</a:t>
            </a:r>
            <a:r>
              <a:rPr dirty="0"/>
              <a:t>(lead-screw pitch), eta</a:t>
            </a:r>
          </a:p>
          <a:p>
            <a:pPr>
              <a:spcBef>
                <a:spcPts val="400"/>
              </a:spcBef>
              <a:defRPr sz="1800"/>
            </a:pPr>
            <a:r>
              <a:rPr lang="en-US" b="1" dirty="0"/>
              <a:t>Degrees of freedom </a:t>
            </a:r>
            <a:r>
              <a:rPr b="1" dirty="0"/>
              <a:t>DOF: 3 </a:t>
            </a:r>
            <a:r>
              <a:rPr dirty="0"/>
              <a:t>— translational (jaw x), rotational (motor </a:t>
            </a:r>
            <a:r>
              <a:rPr dirty="0" err="1"/>
              <a:t>theta_m</a:t>
            </a:r>
            <a:r>
              <a:rPr dirty="0"/>
              <a:t>), electrical (current </a:t>
            </a:r>
            <a:r>
              <a:rPr dirty="0" err="1"/>
              <a:t>i</a:t>
            </a:r>
            <a:r>
              <a:rPr dirty="0"/>
              <a:t>); coupled by lead-screw constraint</a:t>
            </a:r>
          </a:p>
          <a:p>
            <a:pPr>
              <a:spcBef>
                <a:spcPts val="400"/>
              </a:spcBef>
              <a:defRPr sz="1800"/>
            </a:pPr>
            <a:r>
              <a:rPr b="1" dirty="0"/>
              <a:t>Key Assumptions: </a:t>
            </a:r>
            <a:r>
              <a:rPr dirty="0"/>
              <a:t>(1) Rigid body — jaw deformation negligible; (2) Viscous damping — proportional to velocity; (3) Linear spring — Hooke’s law holds; (4) Planar motion — 1D jaw closure axis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23633" y="159492"/>
            <a:ext cx="65447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3. Free Body Diagram / System Schematic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EED6EE-118C-3FB5-997F-BC0C5D817FE4}"/>
              </a:ext>
            </a:extLst>
          </p:cNvPr>
          <p:cNvSpPr txBox="1"/>
          <p:nvPr/>
        </p:nvSpPr>
        <p:spPr>
          <a:xfrm>
            <a:off x="1202267" y="1202267"/>
            <a:ext cx="97789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Three coupled subsystems — draw FBD on paper for submission: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Subsystem A — Jaw (Translational):</a:t>
            </a:r>
            <a:br>
              <a:rPr lang="en-IN" dirty="0"/>
            </a:br>
            <a:r>
              <a:rPr lang="en-IN" i="1" dirty="0"/>
              <a:t>Fₗₛ = (Kₜ · </a:t>
            </a:r>
            <a:r>
              <a:rPr lang="en-IN" i="1" dirty="0" err="1"/>
              <a:t>i</a:t>
            </a:r>
            <a:r>
              <a:rPr lang="en-IN" i="1" dirty="0"/>
              <a:t> · </a:t>
            </a:r>
            <a:r>
              <a:rPr lang="el-GR" i="1" dirty="0"/>
              <a:t>η) / </a:t>
            </a:r>
            <a:r>
              <a:rPr lang="en-IN" i="1" dirty="0"/>
              <a:t>p | Fₛₚᵣᵢₙg = −kₛ · x | </a:t>
            </a:r>
            <a:r>
              <a:rPr lang="en-IN" i="1" dirty="0" err="1"/>
              <a:t>F_d</a:t>
            </a:r>
            <a:r>
              <a:rPr lang="en-IN" i="1" dirty="0"/>
              <a:t>ₐₘₚ = −b · ẋ | Inertia: mⱼₐw · ẍ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Subsystem B — Motor Shaft (Rotational):</a:t>
            </a:r>
            <a:br>
              <a:rPr lang="en-IN" dirty="0"/>
            </a:br>
            <a:r>
              <a:rPr lang="en-IN" i="1" dirty="0"/>
              <a:t>Tₑₘ = Kₜ · </a:t>
            </a:r>
            <a:r>
              <a:rPr lang="en-IN" i="1" dirty="0" err="1"/>
              <a:t>i</a:t>
            </a:r>
            <a:r>
              <a:rPr lang="en-IN" i="1" dirty="0"/>
              <a:t> | Tₗₒₐd = reflected load via lead-screw | Friction: bₘ · </a:t>
            </a:r>
            <a:r>
              <a:rPr lang="el-GR" i="1" dirty="0"/>
              <a:t>ω</a:t>
            </a:r>
            <a:r>
              <a:rPr lang="en-IN" i="1" dirty="0"/>
              <a:t>ₘ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Subsystem C — Electrical Circuit (KVL):</a:t>
            </a:r>
            <a:br>
              <a:rPr lang="en-IN" dirty="0"/>
            </a:br>
            <a:r>
              <a:rPr lang="en-IN" i="1" dirty="0"/>
              <a:t>V(t) = Rₘ · </a:t>
            </a:r>
            <a:r>
              <a:rPr lang="en-IN" i="1" dirty="0" err="1"/>
              <a:t>i</a:t>
            </a:r>
            <a:r>
              <a:rPr lang="en-IN" i="1" dirty="0"/>
              <a:t> + Lₘ · (di/dt) + Kₑ · </a:t>
            </a:r>
            <a:r>
              <a:rPr lang="el-GR" i="1" dirty="0"/>
              <a:t>ω</a:t>
            </a:r>
            <a:r>
              <a:rPr lang="en-IN" i="1" dirty="0"/>
              <a:t>ₘ  </a:t>
            </a:r>
            <a:r>
              <a:rPr lang="en-IN" dirty="0"/>
              <a:t>(Back-EMF opposes supply)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Lead-Screw Constraint: </a:t>
            </a:r>
            <a:r>
              <a:rPr lang="en-IN" i="1" dirty="0"/>
              <a:t>ẋ = p · </a:t>
            </a:r>
            <a:r>
              <a:rPr lang="el-GR" i="1" dirty="0"/>
              <a:t>ω</a:t>
            </a:r>
            <a:r>
              <a:rPr lang="en-IN" i="1" dirty="0"/>
              <a:t>ₘ | ẍ = p · </a:t>
            </a:r>
            <a:r>
              <a:rPr lang="el-GR" i="1" dirty="0"/>
              <a:t>α</a:t>
            </a:r>
            <a:r>
              <a:rPr lang="en-IN" i="1" dirty="0"/>
              <a:t>ₘ </a:t>
            </a:r>
            <a:r>
              <a:rPr lang="en-IN" dirty="0"/>
              <a:t>(couples rotation to translation)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00" y="383648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4. Mathematical Derivation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8266" y="1544639"/>
            <a:ext cx="9990667" cy="4864629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1800" dirty="0"/>
              <a:t>Newton-Euler Method chosen — CO4</a:t>
            </a:r>
          </a:p>
          <a:p>
            <a:pPr>
              <a:spcBef>
                <a:spcPts val="600"/>
              </a:spcBef>
              <a:defRPr sz="1800"/>
            </a:pPr>
            <a:r>
              <a:rPr sz="1800" dirty="0"/>
              <a:t>WHY: Mixed translational rotational DOFs via lead-screw; KVL fits naturally</a:t>
            </a:r>
          </a:p>
          <a:p>
            <a:pPr>
              <a:spcBef>
                <a:spcPts val="600"/>
              </a:spcBef>
              <a:defRPr sz="1800"/>
            </a:pPr>
            <a:r>
              <a:rPr sz="1800" dirty="0"/>
              <a:t>Lagrangian would be complex; Newton-Euler is more direct here</a:t>
            </a:r>
          </a:p>
          <a:p>
            <a:r>
              <a:rPr lang="en-IN" sz="1800" dirty="0"/>
              <a:t>E1 — Jaw: mⱼₐ</a:t>
            </a:r>
            <a:r>
              <a:rPr lang="en-IN" sz="1800" dirty="0" err="1"/>
              <a:t>w·x</a:t>
            </a:r>
            <a:r>
              <a:rPr lang="en-IN" sz="1800" dirty="0"/>
              <a:t>̈ = (Kₜ·</a:t>
            </a:r>
            <a:r>
              <a:rPr lang="el-GR" sz="1800" dirty="0"/>
              <a:t>η/</a:t>
            </a:r>
            <a:r>
              <a:rPr lang="en-IN" sz="1800" dirty="0"/>
              <a:t>p)·</a:t>
            </a:r>
            <a:r>
              <a:rPr lang="en-IN" sz="1800" dirty="0" err="1"/>
              <a:t>i</a:t>
            </a:r>
            <a:r>
              <a:rPr lang="en-IN" sz="1800" dirty="0"/>
              <a:t> − kₛ·x − </a:t>
            </a:r>
            <a:r>
              <a:rPr lang="en-IN" sz="1800" dirty="0" err="1"/>
              <a:t>b·x</a:t>
            </a:r>
            <a:r>
              <a:rPr lang="en-IN" sz="1800" dirty="0"/>
              <a:t>̇ − F₍grip₎</a:t>
            </a:r>
          </a:p>
          <a:p>
            <a:r>
              <a:rPr lang="en-IN" sz="1800" dirty="0"/>
              <a:t>E2 — Motor: (Jₘ/p)·ẍ = Kₜ·</a:t>
            </a:r>
            <a:r>
              <a:rPr lang="en-IN" sz="1800" dirty="0" err="1"/>
              <a:t>i</a:t>
            </a:r>
            <a:r>
              <a:rPr lang="en-IN" sz="1800" dirty="0"/>
              <a:t> − (kₛ·x + </a:t>
            </a:r>
            <a:r>
              <a:rPr lang="en-IN" sz="1800" dirty="0" err="1"/>
              <a:t>b·x</a:t>
            </a:r>
            <a:r>
              <a:rPr lang="en-IN" sz="1800" dirty="0"/>
              <a:t>̇)·p/</a:t>
            </a:r>
            <a:r>
              <a:rPr lang="el-GR" sz="1800" dirty="0"/>
              <a:t>η − </a:t>
            </a:r>
            <a:r>
              <a:rPr lang="en-IN" sz="1800" dirty="0"/>
              <a:t>bₘ·(ẋ/p)</a:t>
            </a:r>
          </a:p>
          <a:p>
            <a:r>
              <a:rPr lang="en-IN" sz="1800" dirty="0"/>
              <a:t>E3 — Circuit (KVL): Lₘ·(di/dt) = V(t) − Rₘ·</a:t>
            </a:r>
            <a:r>
              <a:rPr lang="en-IN" sz="1800" dirty="0" err="1"/>
              <a:t>i</a:t>
            </a:r>
            <a:r>
              <a:rPr lang="en-IN" sz="1800" dirty="0"/>
              <a:t> − Kₑ·(ẋ/p)</a:t>
            </a:r>
          </a:p>
          <a:p>
            <a:r>
              <a:rPr lang="en-IN" sz="1800" dirty="0"/>
              <a:t>Coupling: x = p·</a:t>
            </a:r>
            <a:r>
              <a:rPr lang="el-GR" sz="1800" dirty="0"/>
              <a:t>θ</a:t>
            </a:r>
            <a:r>
              <a:rPr lang="en-IN" sz="1800" dirty="0"/>
              <a:t>ₘ | ẋ = p·</a:t>
            </a:r>
            <a:r>
              <a:rPr lang="el-GR" sz="1800" dirty="0"/>
              <a:t>ω</a:t>
            </a:r>
            <a:r>
              <a:rPr lang="en-IN" sz="1800" dirty="0"/>
              <a:t>ₘ | ẍ = p·</a:t>
            </a:r>
            <a:r>
              <a:rPr lang="el-GR" sz="1800" dirty="0"/>
              <a:t>α</a:t>
            </a:r>
            <a:r>
              <a:rPr lang="en-IN" sz="1800" dirty="0"/>
              <a:t>ₘ</a:t>
            </a:r>
          </a:p>
          <a:p>
            <a:r>
              <a:rPr lang="en-IN" sz="1800" dirty="0"/>
              <a:t>Combined Effective Mech: </a:t>
            </a:r>
            <a:r>
              <a:rPr lang="en-IN" sz="1800" dirty="0" err="1"/>
              <a:t>Mₑff·x</a:t>
            </a:r>
            <a:r>
              <a:rPr lang="en-IN" sz="1800" dirty="0"/>
              <a:t>̈ + </a:t>
            </a:r>
            <a:r>
              <a:rPr lang="en-IN" sz="1800" dirty="0" err="1"/>
              <a:t>Bₑff·x</a:t>
            </a:r>
            <a:r>
              <a:rPr lang="en-IN" sz="1800" dirty="0"/>
              <a:t>̇ + </a:t>
            </a:r>
            <a:r>
              <a:rPr lang="en-IN" sz="1800" dirty="0" err="1"/>
              <a:t>Kₑff·x</a:t>
            </a:r>
            <a:r>
              <a:rPr lang="en-IN" sz="1800" dirty="0"/>
              <a:t> = (Kₜ/p)·I</a:t>
            </a:r>
          </a:p>
          <a:p>
            <a:r>
              <a:rPr lang="en-IN" sz="1800" dirty="0"/>
              <a:t>where: </a:t>
            </a:r>
            <a:r>
              <a:rPr lang="en-IN" sz="1800" dirty="0" err="1"/>
              <a:t>Mₑff</a:t>
            </a:r>
            <a:r>
              <a:rPr lang="en-IN" sz="1800" dirty="0"/>
              <a:t> = mⱼₐw + Jₘ/p² | </a:t>
            </a:r>
            <a:r>
              <a:rPr lang="en-IN" sz="1800" dirty="0" err="1"/>
              <a:t>Bₑff</a:t>
            </a:r>
            <a:r>
              <a:rPr lang="en-IN" sz="1800" dirty="0"/>
              <a:t> = b + bₘ/p² | </a:t>
            </a:r>
            <a:r>
              <a:rPr lang="en-IN" sz="1800" dirty="0" err="1"/>
              <a:t>Kₑff</a:t>
            </a:r>
            <a:r>
              <a:rPr lang="en-IN" sz="1800" dirty="0"/>
              <a:t> = kₛ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7813" y="77102"/>
            <a:ext cx="8060265" cy="147857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5. Final Equations &amp; State-Space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079" y="1368953"/>
            <a:ext cx="10872788" cy="5243513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1800" dirty="0"/>
              <a:t>Final Equations of Motion:</a:t>
            </a:r>
          </a:p>
          <a:p>
            <a:r>
              <a:rPr sz="1800" dirty="0"/>
              <a:t> </a:t>
            </a:r>
            <a:r>
              <a:rPr lang="en-IN" sz="1800" dirty="0" err="1"/>
              <a:t>Mₑff·x</a:t>
            </a:r>
            <a:r>
              <a:rPr lang="en-IN" sz="1800" dirty="0"/>
              <a:t>̈ + </a:t>
            </a:r>
            <a:r>
              <a:rPr lang="en-IN" sz="1800" dirty="0" err="1"/>
              <a:t>Bₑff·x</a:t>
            </a:r>
            <a:r>
              <a:rPr lang="en-IN" sz="1800" dirty="0"/>
              <a:t>̇ + </a:t>
            </a:r>
            <a:r>
              <a:rPr lang="en-IN" sz="1800" dirty="0" err="1"/>
              <a:t>Kₑff·x</a:t>
            </a:r>
            <a:r>
              <a:rPr lang="en-IN" sz="1800" dirty="0"/>
              <a:t> = (Kₜ/p)·</a:t>
            </a:r>
            <a:r>
              <a:rPr lang="en-IN" sz="1800" dirty="0" err="1"/>
              <a:t>i</a:t>
            </a:r>
            <a:r>
              <a:rPr lang="en-IN" sz="1800" dirty="0"/>
              <a:t> [Mechanical]</a:t>
            </a:r>
          </a:p>
          <a:p>
            <a:r>
              <a:rPr lang="en-IN" sz="1800" dirty="0"/>
              <a:t>Lₘ·(di/dt) + Rₘ·</a:t>
            </a:r>
            <a:r>
              <a:rPr lang="en-IN" sz="1800" dirty="0" err="1"/>
              <a:t>i</a:t>
            </a:r>
            <a:r>
              <a:rPr lang="en-IN" sz="1800" dirty="0"/>
              <a:t> + Kₑ·(ẋ/p) = V(t) [Electrical]</a:t>
            </a:r>
          </a:p>
          <a:p>
            <a:r>
              <a:rPr lang="en-IN" sz="1800" dirty="0"/>
              <a:t>State-Space Form (if applicable):</a:t>
            </a:r>
            <a:br>
              <a:rPr lang="en-IN" sz="1800" dirty="0"/>
            </a:br>
            <a:r>
              <a:rPr lang="en-IN" sz="1800" dirty="0"/>
              <a:t>State: X = [x, ẋ, </a:t>
            </a:r>
            <a:r>
              <a:rPr lang="en-IN" sz="1800" dirty="0" err="1"/>
              <a:t>i</a:t>
            </a:r>
            <a:r>
              <a:rPr lang="en-IN" sz="1800" dirty="0"/>
              <a:t>]ᵀ ⇒ Ẋ = A·X + </a:t>
            </a:r>
            <a:r>
              <a:rPr lang="en-IN" sz="1800" dirty="0" err="1"/>
              <a:t>B·u</a:t>
            </a:r>
            <a:r>
              <a:rPr lang="en-IN" sz="1800" dirty="0"/>
              <a:t>; y = C·X</a:t>
            </a:r>
          </a:p>
          <a:p>
            <a:r>
              <a:rPr lang="en-IN" sz="1800" dirty="0"/>
              <a:t>A = [0, 1, 0; −</a:t>
            </a:r>
            <a:r>
              <a:rPr lang="en-IN" sz="1800" dirty="0" err="1"/>
              <a:t>Kₑff</a:t>
            </a:r>
            <a:r>
              <a:rPr lang="en-IN" sz="1800" dirty="0"/>
              <a:t>/</a:t>
            </a:r>
            <a:r>
              <a:rPr lang="en-IN" sz="1800" dirty="0" err="1"/>
              <a:t>Mₑff</a:t>
            </a:r>
            <a:r>
              <a:rPr lang="en-IN" sz="1800" dirty="0"/>
              <a:t>, −</a:t>
            </a:r>
            <a:r>
              <a:rPr lang="en-IN" sz="1800" dirty="0" err="1"/>
              <a:t>Bₑff</a:t>
            </a:r>
            <a:r>
              <a:rPr lang="en-IN" sz="1800" dirty="0"/>
              <a:t>/</a:t>
            </a:r>
            <a:r>
              <a:rPr lang="en-IN" sz="1800" dirty="0" err="1"/>
              <a:t>Mₑff</a:t>
            </a:r>
            <a:r>
              <a:rPr lang="en-IN" sz="1800" dirty="0"/>
              <a:t>, Kₜ/(</a:t>
            </a:r>
            <a:r>
              <a:rPr lang="en-IN" sz="1800" dirty="0" err="1"/>
              <a:t>p·Mₑff</a:t>
            </a:r>
            <a:r>
              <a:rPr lang="en-IN" sz="1800" dirty="0"/>
              <a:t>); 0, −Kₑ/(</a:t>
            </a:r>
            <a:r>
              <a:rPr lang="en-IN" sz="1800" dirty="0" err="1"/>
              <a:t>p·L</a:t>
            </a:r>
            <a:r>
              <a:rPr lang="en-IN" sz="1800" dirty="0"/>
              <a:t>ₘ), −Rₘ/Lₘ]</a:t>
            </a:r>
          </a:p>
          <a:p>
            <a:r>
              <a:rPr lang="en-IN" sz="1800" dirty="0"/>
              <a:t>Physical meaning — CO3:</a:t>
            </a:r>
          </a:p>
          <a:p>
            <a:r>
              <a:rPr lang="en-IN" sz="1800" dirty="0" err="1"/>
              <a:t>Bₑff·x</a:t>
            </a:r>
            <a:r>
              <a:rPr lang="en-IN" sz="1800" dirty="0"/>
              <a:t>̇ = combined viscous damping (jaw + motor reflected)</a:t>
            </a:r>
          </a:p>
          <a:p>
            <a:r>
              <a:rPr lang="en-IN" sz="1800" dirty="0"/>
              <a:t>Kₑ·(ẋ/p) = back-EMF braking term coupling electrical to mechanical</a:t>
            </a:r>
          </a:p>
          <a:p>
            <a:r>
              <a:rPr lang="en-IN" sz="1800" dirty="0"/>
              <a:t>CO5 Energy:</a:t>
            </a:r>
            <a:br>
              <a:rPr lang="en-IN" sz="1800" dirty="0"/>
            </a:br>
            <a:r>
              <a:rPr lang="en-IN" sz="1800" dirty="0"/>
              <a:t>KE = (1/2)·Mₑff·ẋ² | PE = (1/2)·Kₑff·x² | Eᵢₙ = ∫(</a:t>
            </a:r>
            <a:r>
              <a:rPr lang="en-IN" sz="1800" dirty="0" err="1"/>
              <a:t>V·i·dt</a:t>
            </a:r>
            <a:r>
              <a:rPr lang="en-IN" sz="1800" dirty="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1013" y="169333"/>
            <a:ext cx="6698720" cy="931334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6. Simulation &amp; Energy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58143"/>
            <a:ext cx="9905999" cy="3541714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2000" dirty="0"/>
              <a:t>Tools: Python 3.x + NumPy + SciPy + Matplotlib [+ </a:t>
            </a:r>
            <a:r>
              <a:rPr sz="2000" dirty="0" err="1"/>
              <a:t>PyBullet</a:t>
            </a:r>
            <a:r>
              <a:rPr sz="2000" dirty="0"/>
              <a:t>]</a:t>
            </a:r>
          </a:p>
          <a:p>
            <a:pPr>
              <a:spcBef>
                <a:spcPts val="600"/>
              </a:spcBef>
              <a:defRPr sz="1800"/>
            </a:pPr>
            <a:r>
              <a:rPr sz="2000" dirty="0"/>
              <a:t>ODE Solver: </a:t>
            </a:r>
            <a:r>
              <a:rPr sz="2000" dirty="0" err="1"/>
              <a:t>scipy.integrate.solve_ivp</a:t>
            </a:r>
            <a:r>
              <a:rPr sz="2000" dirty="0"/>
              <a:t> (RK45/BDF)</a:t>
            </a:r>
          </a:p>
          <a:p>
            <a:pPr>
              <a:spcBef>
                <a:spcPts val="600"/>
              </a:spcBef>
              <a:defRPr sz="1800"/>
            </a:pPr>
            <a:r>
              <a:rPr sz="2000" dirty="0"/>
              <a:t>Parameters: dt=0.001s, T=2.0s, ICs=[x=0, x'=0, </a:t>
            </a:r>
            <a:r>
              <a:rPr sz="2000" dirty="0" err="1"/>
              <a:t>i</a:t>
            </a:r>
            <a:r>
              <a:rPr sz="2000" dirty="0"/>
              <a:t>=0], </a:t>
            </a:r>
            <a:r>
              <a:rPr sz="2000" dirty="0" err="1"/>
              <a:t>V_step</a:t>
            </a:r>
            <a:r>
              <a:rPr sz="2000" dirty="0"/>
              <a:t>=12V</a:t>
            </a:r>
          </a:p>
          <a:p>
            <a:r>
              <a:rPr lang="en-IN" sz="2000" dirty="0"/>
              <a:t>ODE: </a:t>
            </a:r>
            <a:r>
              <a:rPr lang="en-IN" sz="2000" dirty="0" err="1"/>
              <a:t>gripper_ode</a:t>
            </a:r>
            <a:r>
              <a:rPr lang="en-IN" sz="2000" dirty="0"/>
              <a:t>(</a:t>
            </a:r>
            <a:r>
              <a:rPr lang="en-IN" sz="2000" dirty="0" err="1"/>
              <a:t>t,y</a:t>
            </a:r>
            <a:r>
              <a:rPr lang="en-IN" sz="2000" dirty="0"/>
              <a:t>) returns [ẋ, ẍ, </a:t>
            </a:r>
            <a:r>
              <a:rPr lang="en-IN" sz="2000" dirty="0" err="1"/>
              <a:t>i</a:t>
            </a:r>
            <a:r>
              <a:rPr lang="en-IN" sz="2000" dirty="0"/>
              <a:t>̇] using </a:t>
            </a:r>
            <a:r>
              <a:rPr lang="en-IN" sz="2000" dirty="0" err="1"/>
              <a:t>Mₑff</a:t>
            </a:r>
            <a:r>
              <a:rPr lang="en-IN" sz="2000" dirty="0"/>
              <a:t>, </a:t>
            </a:r>
            <a:r>
              <a:rPr lang="en-IN" sz="2000" dirty="0" err="1"/>
              <a:t>Bₑff</a:t>
            </a:r>
            <a:r>
              <a:rPr lang="en-IN" sz="2000" dirty="0"/>
              <a:t>, </a:t>
            </a:r>
            <a:r>
              <a:rPr lang="en-IN" sz="2000" dirty="0" err="1"/>
              <a:t>Kₑff</a:t>
            </a:r>
            <a:r>
              <a:rPr lang="en-IN" sz="2000" dirty="0"/>
              <a:t>, Kₜ, Kₑ, Rₘ, Lₘ, p</a:t>
            </a:r>
          </a:p>
          <a:p>
            <a:r>
              <a:rPr lang="en-IN" sz="2000" dirty="0"/>
              <a:t>Plots: x(t) settling to xₛₛ | </a:t>
            </a:r>
            <a:r>
              <a:rPr lang="en-IN" sz="2000" dirty="0" err="1"/>
              <a:t>i</a:t>
            </a:r>
            <a:r>
              <a:rPr lang="en-IN" sz="2000" dirty="0"/>
              <a:t>(t) peak then decay to </a:t>
            </a:r>
            <a:r>
              <a:rPr lang="en-IN" sz="2000" dirty="0" err="1"/>
              <a:t>i</a:t>
            </a:r>
            <a:r>
              <a:rPr lang="en-IN" sz="2000" dirty="0"/>
              <a:t>ₛₛ | </a:t>
            </a:r>
            <a:r>
              <a:rPr lang="el-GR" sz="2000" dirty="0"/>
              <a:t>ω</a:t>
            </a:r>
            <a:r>
              <a:rPr lang="en-IN" sz="2000" dirty="0"/>
              <a:t>ₘ(t)</a:t>
            </a:r>
          </a:p>
          <a:p>
            <a:r>
              <a:rPr lang="en-IN" sz="2000" dirty="0"/>
              <a:t>Energy: KE(t), PE(t), </a:t>
            </a:r>
            <a:r>
              <a:rPr lang="en-IN" sz="2000" dirty="0" err="1"/>
              <a:t>E_diss</a:t>
            </a:r>
            <a:r>
              <a:rPr lang="en-IN" sz="2000" dirty="0"/>
              <a:t>(t) on same plot — total Eᵢₙ = </a:t>
            </a:r>
            <a:r>
              <a:rPr lang="en-IN" sz="2000" dirty="0" err="1"/>
              <a:t>PE_final</a:t>
            </a:r>
            <a:r>
              <a:rPr lang="en-IN" sz="2000" dirty="0"/>
              <a:t> + </a:t>
            </a:r>
            <a:r>
              <a:rPr lang="en-IN" sz="2000" dirty="0" err="1"/>
              <a:t>E_diss</a:t>
            </a:r>
            <a:endParaRPr lang="en-IN" sz="2000" dirty="0"/>
          </a:p>
          <a:p>
            <a:r>
              <a:rPr lang="en-IN" sz="2000" dirty="0"/>
              <a:t>Energy Check (CO5):</a:t>
            </a:r>
            <a:br>
              <a:rPr lang="en-IN" sz="2000" dirty="0"/>
            </a:br>
            <a:r>
              <a:rPr lang="en-IN" sz="2000" dirty="0"/>
              <a:t>Total energy decays — dissipated by </a:t>
            </a:r>
            <a:r>
              <a:rPr lang="en-IN" sz="2000" dirty="0" err="1"/>
              <a:t>Bₑff</a:t>
            </a:r>
            <a:r>
              <a:rPr lang="en-IN" sz="2000" dirty="0"/>
              <a:t> damping and Rₘ resistive loss</a:t>
            </a:r>
            <a:br>
              <a:rPr lang="en-IN" sz="2000" dirty="0"/>
            </a:br>
            <a:r>
              <a:rPr lang="en-IN" sz="2000" dirty="0"/>
              <a:t>Pₘₑ</a:t>
            </a:r>
            <a:r>
              <a:rPr lang="en-IN" sz="2000" dirty="0" err="1"/>
              <a:t>ch</a:t>
            </a:r>
            <a:r>
              <a:rPr lang="en-IN" sz="2000" dirty="0"/>
              <a:t> = Bₑff·ẋ² | Pₑₗₑc = Rₘ·i²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56000" y="252625"/>
            <a:ext cx="54399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7. Simulation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Run </a:t>
            </a:r>
            <a:r>
              <a:rPr dirty="0" err="1"/>
              <a:t>DSM_Robotic_Gripper.ipynb</a:t>
            </a:r>
            <a:r>
              <a:rPr dirty="0"/>
              <a:t> in Google </a:t>
            </a:r>
            <a:r>
              <a:rPr dirty="0" err="1"/>
              <a:t>Colab</a:t>
            </a:r>
            <a:r>
              <a:rPr dirty="0"/>
              <a:t> to generate all plots:</a:t>
            </a:r>
            <a:br>
              <a:rPr dirty="0"/>
            </a:br>
            <a:br>
              <a:rPr dirty="0"/>
            </a:br>
            <a:r>
              <a:rPr dirty="0"/>
              <a:t>REQUIRED (minimum):</a:t>
            </a:r>
            <a:br>
              <a:rPr dirty="0"/>
            </a:br>
            <a:r>
              <a:rPr lang="en-IN" dirty="0"/>
              <a:t>Plot 1: x(t), ẋ(t), </a:t>
            </a:r>
            <a:r>
              <a:rPr lang="en-IN" dirty="0" err="1"/>
              <a:t>i</a:t>
            </a:r>
            <a:r>
              <a:rPr lang="en-IN" dirty="0"/>
              <a:t>(t) vs time [0–2 s] — jaw closes, current spikes then decays</a:t>
            </a:r>
          </a:p>
          <a:p>
            <a:br>
              <a:rPr lang="en-IN" dirty="0"/>
            </a:br>
            <a:r>
              <a:rPr lang="en-IN" dirty="0"/>
              <a:t>Plot 2: KE(t), PE(t), </a:t>
            </a:r>
            <a:r>
              <a:rPr lang="en-IN" dirty="0" err="1"/>
              <a:t>E_diss</a:t>
            </a:r>
            <a:r>
              <a:rPr lang="en-IN" dirty="0"/>
              <a:t>(t) — energy balance verification (CO5)</a:t>
            </a:r>
          </a:p>
          <a:p>
            <a:br>
              <a:rPr lang="en-IN" dirty="0"/>
            </a:br>
            <a:r>
              <a:rPr lang="en-IN" dirty="0"/>
              <a:t>Plot 3: Sensitivity — kₛ = 100/200/400 N/m showing effect on settling time</a:t>
            </a:r>
          </a:p>
          <a:p>
            <a:endParaRPr lang="en-IN" dirty="0"/>
          </a:p>
          <a:p>
            <a:r>
              <a:rPr lang="en-IN" dirty="0"/>
              <a:t>Additional outputs:</a:t>
            </a:r>
            <a:br>
              <a:rPr lang="en-IN" dirty="0"/>
            </a:br>
            <a:r>
              <a:rPr lang="en-IN" dirty="0"/>
              <a:t>Phase portrait: ẋ vs x (spiral converging to equilibrium)</a:t>
            </a:r>
          </a:p>
          <a:p>
            <a:br>
              <a:rPr lang="en-IN" dirty="0"/>
            </a:br>
            <a:r>
              <a:rPr lang="en-IN" dirty="0"/>
              <a:t>Gripping force </a:t>
            </a:r>
            <a:r>
              <a:rPr lang="en-IN" dirty="0" err="1"/>
              <a:t>F_grip</a:t>
            </a:r>
            <a:r>
              <a:rPr lang="en-IN" dirty="0"/>
              <a:t> vs time when jaw contacts object</a:t>
            </a:r>
          </a:p>
          <a:p>
            <a:br>
              <a:rPr lang="en-IN" dirty="0"/>
            </a:br>
            <a:r>
              <a:rPr lang="en-IN" dirty="0"/>
              <a:t>Power: Pₘₑ</a:t>
            </a:r>
            <a:r>
              <a:rPr lang="en-IN" dirty="0" err="1"/>
              <a:t>ch</a:t>
            </a:r>
            <a:r>
              <a:rPr lang="en-IN" dirty="0"/>
              <a:t>(t) and Pₑₗₑc(t) dissipation curves</a:t>
            </a:r>
          </a:p>
          <a:p>
            <a:br>
              <a:rPr lang="en-IN" dirty="0"/>
            </a:br>
            <a:r>
              <a:rPr lang="en-IN" dirty="0"/>
              <a:t>Natural frequency: </a:t>
            </a:r>
            <a:r>
              <a:rPr lang="el-GR" dirty="0"/>
              <a:t>ω</a:t>
            </a:r>
            <a:r>
              <a:rPr lang="en-IN" dirty="0"/>
              <a:t>ₙ = √(</a:t>
            </a:r>
            <a:r>
              <a:rPr lang="en-IN" dirty="0" err="1"/>
              <a:t>Kₑff</a:t>
            </a:r>
            <a:r>
              <a:rPr lang="en-IN" dirty="0"/>
              <a:t>/</a:t>
            </a:r>
            <a:r>
              <a:rPr lang="en-IN" dirty="0" err="1"/>
              <a:t>Mₑff</a:t>
            </a:r>
            <a:r>
              <a:rPr lang="en-IN" dirty="0"/>
              <a:t>) verified from simulation</a:t>
            </a:r>
          </a:p>
          <a:p>
            <a:pPr>
              <a:defRPr sz="1400" i="1">
                <a:solidFill>
                  <a:srgbClr val="666666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6551" y="417512"/>
            <a:ext cx="5555720" cy="649287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8. Validation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219200"/>
            <a:ext cx="10288588" cy="5221288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dirty="0"/>
              <a:t>Validation 1: Energy conservation check (CO5)</a:t>
            </a:r>
            <a:endParaRPr sz="1900" dirty="0"/>
          </a:p>
          <a:p>
            <a:r>
              <a:rPr sz="1900" dirty="0"/>
              <a:t>  </a:t>
            </a:r>
            <a:r>
              <a:rPr lang="en-IN" sz="1900" dirty="0"/>
              <a:t>Total energy decays monotonically — confirmed by Eᵢₙ = </a:t>
            </a:r>
            <a:r>
              <a:rPr lang="en-IN" sz="1900" dirty="0" err="1"/>
              <a:t>PE_final</a:t>
            </a:r>
            <a:r>
              <a:rPr lang="en-IN" sz="1900" dirty="0"/>
              <a:t> + </a:t>
            </a:r>
            <a:r>
              <a:rPr lang="en-IN" sz="1900" dirty="0" err="1"/>
              <a:t>E_diss</a:t>
            </a:r>
            <a:r>
              <a:rPr lang="en-IN" sz="1900" dirty="0"/>
              <a:t> (error &lt; 0.5%)</a:t>
            </a:r>
          </a:p>
          <a:p>
            <a:r>
              <a:rPr lang="en-IN" sz="1900" dirty="0"/>
              <a:t>Validation 2: Comparison with analytical/published result (CO4)</a:t>
            </a:r>
            <a:br>
              <a:rPr lang="en-IN" sz="1900" dirty="0"/>
            </a:br>
            <a:r>
              <a:rPr lang="en-IN" sz="1900" dirty="0"/>
              <a:t>Analytical </a:t>
            </a:r>
            <a:r>
              <a:rPr lang="el-GR" sz="1900" dirty="0"/>
              <a:t>ω</a:t>
            </a:r>
            <a:r>
              <a:rPr lang="en-IN" sz="1900" dirty="0"/>
              <a:t>ₙ = √(</a:t>
            </a:r>
            <a:r>
              <a:rPr lang="en-IN" sz="1900" dirty="0" err="1"/>
              <a:t>Kₑff</a:t>
            </a:r>
            <a:r>
              <a:rPr lang="en-IN" sz="1900" dirty="0"/>
              <a:t>/</a:t>
            </a:r>
            <a:r>
              <a:rPr lang="en-IN" sz="1900" dirty="0" err="1"/>
              <a:t>Mₑff</a:t>
            </a:r>
            <a:r>
              <a:rPr lang="en-IN" sz="1900" dirty="0"/>
              <a:t>); Simulation FFT matches within 1%</a:t>
            </a:r>
          </a:p>
          <a:p>
            <a:r>
              <a:rPr lang="en-IN" sz="1900" dirty="0"/>
              <a:t>Validation 3: Dimensional analysis / unit check</a:t>
            </a:r>
          </a:p>
          <a:p>
            <a:r>
              <a:rPr lang="en-IN" sz="1900" dirty="0"/>
              <a:t>Sensitivity Analysis:</a:t>
            </a:r>
            <a:br>
              <a:rPr lang="en-IN" sz="1900" dirty="0"/>
            </a:br>
            <a:r>
              <a:rPr lang="en-IN" sz="1900" dirty="0"/>
              <a:t>kₛ: 100–400 N/m — higher stiffness → faster settling, higher overshoot</a:t>
            </a:r>
          </a:p>
          <a:p>
            <a:pPr marL="0" indent="0">
              <a:spcBef>
                <a:spcPts val="600"/>
              </a:spcBef>
              <a:buNone/>
              <a:defRPr sz="1800"/>
            </a:pPr>
            <a:endParaRPr dirty="0"/>
          </a:p>
          <a:p>
            <a:pPr>
              <a:spcBef>
                <a:spcPts val="600"/>
              </a:spcBef>
              <a:defRPr sz="1800"/>
            </a:pPr>
            <a:r>
              <a:rPr dirty="0"/>
              <a:t>Limitations:</a:t>
            </a:r>
          </a:p>
          <a:p>
            <a:pPr>
              <a:spcBef>
                <a:spcPts val="600"/>
              </a:spcBef>
              <a:defRPr sz="1800"/>
            </a:pPr>
            <a:r>
              <a:rPr dirty="0"/>
              <a:t>  (1) Rigid body assumption limits validity to low-speed gripping (&lt; 0.1 m/s)</a:t>
            </a:r>
          </a:p>
          <a:p>
            <a:pPr>
              <a:spcBef>
                <a:spcPts val="600"/>
              </a:spcBef>
              <a:defRPr sz="1800"/>
            </a:pPr>
            <a:r>
              <a:rPr dirty="0"/>
              <a:t>  (2) No experimental hardware validation — simulation model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0280" y="339118"/>
            <a:ext cx="5741987" cy="829282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9. Conclusions &amp; Reflections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334" y="1016000"/>
            <a:ext cx="10888134" cy="5630333"/>
          </a:xfrm>
        </p:spPr>
        <p:txBody>
          <a:bodyPr>
            <a:normAutofit fontScale="92500" lnSpcReduction="10000"/>
          </a:bodyPr>
          <a:lstStyle/>
          <a:p>
            <a:pPr>
              <a:defRPr sz="1800"/>
            </a:pPr>
            <a:r>
              <a:rPr dirty="0"/>
              <a:t>Key Finding: A 3-DOF electromechanical gripper is fully described by 3 coupled ODEs; the lead-screw constraint elegantly reduces mechanical complexity to a single effective inertia </a:t>
            </a:r>
            <a:r>
              <a:rPr dirty="0" err="1"/>
              <a:t>M_eff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800"/>
            </a:pPr>
            <a:endParaRPr dirty="0"/>
          </a:p>
          <a:p>
            <a:pPr>
              <a:spcBef>
                <a:spcPts val="600"/>
              </a:spcBef>
              <a:defRPr sz="1800"/>
            </a:pPr>
            <a:r>
              <a:rPr dirty="0"/>
              <a:t>What we learned that a textbook couldn't teach:</a:t>
            </a:r>
          </a:p>
          <a:p>
            <a:pPr>
              <a:spcBef>
                <a:spcPts val="600"/>
              </a:spcBef>
              <a:defRPr sz="1800"/>
            </a:pPr>
            <a:r>
              <a:rPr dirty="0"/>
              <a:t>  CO4 was hardest — applying Newton's law across the electromechanical boundary (motor torque → jaw force) required deep understanding of power equivalence through the lead-screw.</a:t>
            </a:r>
          </a:p>
          <a:p>
            <a:pPr>
              <a:spcBef>
                <a:spcPts val="600"/>
              </a:spcBef>
              <a:defRPr sz="1800"/>
            </a:pPr>
            <a:endParaRPr dirty="0"/>
          </a:p>
          <a:p>
            <a:pPr>
              <a:spcBef>
                <a:spcPts val="600"/>
              </a:spcBef>
              <a:defRPr sz="1800"/>
            </a:pPr>
            <a:r>
              <a:rPr dirty="0"/>
              <a:t>What we would do differently:</a:t>
            </a:r>
          </a:p>
          <a:p>
            <a:pPr>
              <a:spcBef>
                <a:spcPts val="600"/>
              </a:spcBef>
              <a:defRPr sz="1800"/>
            </a:pPr>
            <a:r>
              <a:rPr dirty="0"/>
              <a:t>  Validate energy balance FIRST before </a:t>
            </a:r>
            <a:r>
              <a:rPr dirty="0" err="1"/>
              <a:t>analysing</a:t>
            </a:r>
            <a:r>
              <a:rPr dirty="0"/>
              <a:t> transient response — it catches sign errors in equations of motion early.</a:t>
            </a:r>
          </a:p>
          <a:p>
            <a:pPr>
              <a:spcBef>
                <a:spcPts val="600"/>
              </a:spcBef>
              <a:defRPr sz="1800"/>
            </a:pPr>
            <a:endParaRPr dirty="0"/>
          </a:p>
          <a:p>
            <a:pPr>
              <a:spcBef>
                <a:spcPts val="600"/>
              </a:spcBef>
              <a:defRPr sz="1800"/>
            </a:pPr>
            <a:r>
              <a:rPr dirty="0"/>
              <a:t>Course units most critical: Kinematics (CO1), Newton-Euler (CO4), Energy methods (CO5)</a:t>
            </a:r>
          </a:p>
          <a:p>
            <a:pPr>
              <a:spcBef>
                <a:spcPts val="600"/>
              </a:spcBef>
              <a:defRPr sz="1800"/>
            </a:pPr>
            <a:endParaRPr dirty="0"/>
          </a:p>
          <a:p>
            <a:pPr>
              <a:spcBef>
                <a:spcPts val="600"/>
              </a:spcBef>
              <a:defRPr sz="1800"/>
            </a:pPr>
            <a:r>
              <a:rPr dirty="0"/>
              <a:t>CO Self-Assessment:</a:t>
            </a:r>
          </a:p>
          <a:p>
            <a:pPr>
              <a:spcBef>
                <a:spcPts val="600"/>
              </a:spcBef>
              <a:defRPr sz="1800"/>
            </a:pPr>
            <a:r>
              <a:rPr dirty="0"/>
              <a:t>  CO1(Kinematics): ✓  CO2(FBD): ✓  CO3(Forces): ✓</a:t>
            </a:r>
          </a:p>
          <a:p>
            <a:pPr>
              <a:spcBef>
                <a:spcPts val="600"/>
              </a:spcBef>
              <a:defRPr sz="1800"/>
            </a:pPr>
            <a:r>
              <a:rPr dirty="0"/>
              <a:t>  CO4(Laws): ✓  CO5(Energy): 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173" y="398385"/>
            <a:ext cx="5953654" cy="761549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10. References &amp; AI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068" y="1159934"/>
            <a:ext cx="10659532" cy="5299681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dirty="0"/>
              <a:t>Textbook References:</a:t>
            </a:r>
          </a:p>
          <a:p>
            <a:pPr>
              <a:spcBef>
                <a:spcPts val="600"/>
              </a:spcBef>
              <a:defRPr sz="1800"/>
            </a:pPr>
            <a:r>
              <a:rPr dirty="0"/>
              <a:t>  [1] Nise, N.S. (2019). Control Systems Engineering, 8th ed. Wiley.</a:t>
            </a:r>
          </a:p>
          <a:p>
            <a:pPr>
              <a:spcBef>
                <a:spcPts val="600"/>
              </a:spcBef>
              <a:defRPr sz="1800"/>
            </a:pPr>
            <a:r>
              <a:rPr dirty="0"/>
              <a:t>  [2] Ogata, K. (2010). Modern Control Engineering, 5th ed. Pearson.</a:t>
            </a:r>
          </a:p>
          <a:p>
            <a:pPr>
              <a:spcBef>
                <a:spcPts val="600"/>
              </a:spcBef>
              <a:defRPr sz="1800"/>
            </a:pPr>
            <a:endParaRPr dirty="0"/>
          </a:p>
          <a:p>
            <a:pPr>
              <a:spcBef>
                <a:spcPts val="600"/>
              </a:spcBef>
              <a:defRPr sz="1800"/>
            </a:pPr>
            <a:r>
              <a:rPr dirty="0"/>
              <a:t>Online Resources:</a:t>
            </a:r>
          </a:p>
          <a:p>
            <a:pPr>
              <a:spcBef>
                <a:spcPts val="600"/>
              </a:spcBef>
              <a:defRPr sz="1800"/>
            </a:pPr>
            <a:r>
              <a:rPr dirty="0"/>
              <a:t>  [3] Meriam &amp; </a:t>
            </a:r>
            <a:r>
              <a:rPr dirty="0" err="1"/>
              <a:t>Kraige</a:t>
            </a:r>
            <a:r>
              <a:rPr dirty="0"/>
              <a:t> (2018). Engineering Mechanics: Dynamics, 8th ed. Wiley.</a:t>
            </a:r>
          </a:p>
          <a:p>
            <a:pPr>
              <a:spcBef>
                <a:spcPts val="600"/>
              </a:spcBef>
              <a:defRPr sz="1800"/>
            </a:pPr>
            <a:endParaRPr dirty="0"/>
          </a:p>
          <a:p>
            <a:pPr>
              <a:spcBef>
                <a:spcPts val="600"/>
              </a:spcBef>
              <a:defRPr sz="1800"/>
            </a:pPr>
            <a:r>
              <a:rPr dirty="0"/>
              <a:t>AI Tools (MANDATORY disclosure, NOT penalized):</a:t>
            </a:r>
          </a:p>
          <a:p>
            <a:pPr>
              <a:spcBef>
                <a:spcPts val="600"/>
              </a:spcBef>
              <a:defRPr sz="1800"/>
            </a:pPr>
            <a:r>
              <a:rPr dirty="0"/>
              <a:t>  [4] SciPy </a:t>
            </a:r>
            <a:r>
              <a:rPr dirty="0" err="1"/>
              <a:t>solve_ivp</a:t>
            </a:r>
            <a:r>
              <a:rPr dirty="0"/>
              <a:t> docs — scipy.org | NumPy docs — numpy.org</a:t>
            </a:r>
          </a:p>
          <a:p>
            <a:pPr>
              <a:spcBef>
                <a:spcPts val="600"/>
              </a:spcBef>
              <a:defRPr sz="1800"/>
            </a:pPr>
            <a:r>
              <a:rPr dirty="0"/>
              <a:t>  AI Tool: Claude AI — used for code structure suggestions and report formatting</a:t>
            </a:r>
          </a:p>
          <a:p>
            <a:pPr>
              <a:spcBef>
                <a:spcPts val="600"/>
              </a:spcBef>
              <a:defRPr sz="1800"/>
            </a:pPr>
            <a:r>
              <a:rPr dirty="0"/>
              <a:t>  NOT used for: Mathematical derivation (done by hand), FBD (drawn on paper)</a:t>
            </a:r>
          </a:p>
          <a:p>
            <a:pPr>
              <a:spcBef>
                <a:spcPts val="600"/>
              </a:spcBef>
              <a:defRPr sz="1800"/>
            </a:pPr>
            <a:r>
              <a:rPr dirty="0"/>
              <a:t>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46158" y="2416704"/>
            <a:ext cx="2966509" cy="1012296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rPr dirty="0"/>
              <a:t>Thank You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5ED340F12FF438B134E672892BFDA" ma:contentTypeVersion="12" ma:contentTypeDescription="Create a new document." ma:contentTypeScope="" ma:versionID="4e4a6ae84bd6460c7f5bb12ca08fb79b">
  <xsd:schema xmlns:xsd="http://www.w3.org/2001/XMLSchema" xmlns:xs="http://www.w3.org/2001/XMLSchema" xmlns:p="http://schemas.microsoft.com/office/2006/metadata/properties" xmlns:ns2="b7aa8a3b-80d1-4955-8f76-a3254a33a331" xmlns:ns3="8aa28b7e-c5b6-4db8-be1f-ce18dc9d6788" targetNamespace="http://schemas.microsoft.com/office/2006/metadata/properties" ma:root="true" ma:fieldsID="dad97b1bfed5a3964b6f7fde8b00b5db" ns2:_="" ns3:_="">
    <xsd:import namespace="b7aa8a3b-80d1-4955-8f76-a3254a33a331"/>
    <xsd:import namespace="8aa28b7e-c5b6-4db8-be1f-ce18dc9d678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a8a3b-80d1-4955-8f76-a3254a33a33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28b7e-c5b6-4db8-be1f-ce18dc9d678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a5849d0-3a25-4ea2-a66f-6da2942d5ba7}" ma:internalName="TaxCatchAll" ma:showField="CatchAllData" ma:web="8aa28b7e-c5b6-4db8-be1f-ce18dc9d67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7aa8a3b-80d1-4955-8f76-a3254a33a331" xsi:nil="true"/>
    <lcf76f155ced4ddcb4097134ff3c332f xmlns="b7aa8a3b-80d1-4955-8f76-a3254a33a331">
      <Terms xmlns="http://schemas.microsoft.com/office/infopath/2007/PartnerControls"/>
    </lcf76f155ced4ddcb4097134ff3c332f>
    <TaxCatchAll xmlns="8aa28b7e-c5b6-4db8-be1f-ce18dc9d678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3B4243-74F8-4E5C-AEF1-9A16F24A1A18}"/>
</file>

<file path=customXml/itemProps2.xml><?xml version="1.0" encoding="utf-8"?>
<ds:datastoreItem xmlns:ds="http://schemas.openxmlformats.org/officeDocument/2006/customXml" ds:itemID="{7E70CD32-C2AC-43A4-8663-26E188E5FFEE}">
  <ds:schemaRefs>
    <ds:schemaRef ds:uri="http://schemas.microsoft.com/office/2006/metadata/properties"/>
    <ds:schemaRef ds:uri="http://www.w3.org/2000/xmlns/"/>
    <ds:schemaRef ds:uri="8ba116ed-0b03-4fad-970c-3f26ccc5a628"/>
    <ds:schemaRef ds:uri="http://www.w3.org/2001/XMLSchema-instan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C9632BA-D7F5-4A5D-BF2F-56C93138B5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111</TotalTime>
  <Words>1696</Words>
  <Application>Microsoft Office PowerPoint</Application>
  <PresentationFormat>Widescreen</PresentationFormat>
  <Paragraphs>96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Tw Cen MT</vt:lpstr>
      <vt:lpstr>Circuit</vt:lpstr>
      <vt:lpstr>Mathematical Modelling of a Robotic Gripper Mechanism</vt:lpstr>
      <vt:lpstr>1. System Introduction &amp; Motivation</vt:lpstr>
      <vt:lpstr>2. Problem Formulation &amp; Assumptions</vt:lpstr>
      <vt:lpstr>PowerPoint Presentation</vt:lpstr>
      <vt:lpstr>4. Mathematical Derivation (Part 1)</vt:lpstr>
      <vt:lpstr>5. Final Equations &amp; State-Space</vt:lpstr>
      <vt:lpstr>6. Simulation &amp; Energy Analysis</vt:lpstr>
      <vt:lpstr>PowerPoint Presentation</vt:lpstr>
      <vt:lpstr>8. Validation &amp; Analysis</vt:lpstr>
      <vt:lpstr>9. Conclusions &amp; Reflections</vt:lpstr>
      <vt:lpstr>10. References &amp; AI Disclosure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[Project Title]</dc:title>
  <dc:subject/>
  <dc:creator>Asus</dc:creator>
  <cp:keywords/>
  <dc:description>generated using python-pptx</dc:description>
  <cp:lastModifiedBy>Atharva Bhagwat</cp:lastModifiedBy>
  <cp:revision>3</cp:revision>
  <dcterms:created xsi:type="dcterms:W3CDTF">2013-01-27T09:14:16Z</dcterms:created>
  <dcterms:modified xsi:type="dcterms:W3CDTF">2026-04-19T14:34:28Z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0x010100AFE5ED340F12FF438B134E672892BFDA</vt:lpwstr>
  </property>
</Properties>
</file>