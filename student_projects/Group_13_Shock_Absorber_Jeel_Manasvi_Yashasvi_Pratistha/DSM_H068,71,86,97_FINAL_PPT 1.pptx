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0"/>
  </p:notesMasterIdLst>
  <p:sldIdLst>
    <p:sldId id="272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8" r:id="rId13"/>
    <p:sldId id="269" r:id="rId14"/>
    <p:sldId id="270" r:id="rId15"/>
    <p:sldId id="264" r:id="rId16"/>
    <p:sldId id="265" r:id="rId17"/>
    <p:sldId id="266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BBC1-B4D8-4FFA-8EC2-FC110308F549}" v="1" dt="2026-04-24T05:23:27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41" autoAdjust="0"/>
  </p:normalViewPr>
  <p:slideViewPr>
    <p:cSldViewPr snapToGrid="0" snapToObjects="1">
      <p:cViewPr>
        <p:scale>
          <a:sx n="66" d="100"/>
          <a:sy n="66" d="100"/>
        </p:scale>
        <p:origin x="6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VI SHAH - 70042400100" userId="S::manasvi.shah00@nmims.in::c19e8f30-c091-451b-89c4-518575f33c9a" providerId="AD" clId="Web-{0BA3BBC1-B4D8-4FFA-8EC2-FC110308F549}"/>
    <pc:docChg chg="delSld">
      <pc:chgData name="MANASVI SHAH - 70042400100" userId="S::manasvi.shah00@nmims.in::c19e8f30-c091-451b-89c4-518575f33c9a" providerId="AD" clId="Web-{0BA3BBC1-B4D8-4FFA-8EC2-FC110308F549}" dt="2026-04-24T05:23:27.427" v="0"/>
      <pc:docMkLst>
        <pc:docMk/>
      </pc:docMkLst>
      <pc:sldChg chg="del">
        <pc:chgData name="MANASVI SHAH - 70042400100" userId="S::manasvi.shah00@nmims.in::c19e8f30-c091-451b-89c4-518575f33c9a" providerId="AD" clId="Web-{0BA3BBC1-B4D8-4FFA-8EC2-FC110308F549}" dt="2026-04-24T05:23:27.427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99F40-1061-1948-8807-1DE98EAA96B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6D7C97-B3E7-AA4C-A4AD-2132AB40A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61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0:00-1:00 (1 min)</a:t>
            </a:r>
          </a:p>
          <a:p>
            <a:r>
              <a:t>FOCUS: Introduce your system and its real-world engineering relevance.</a:t>
            </a:r>
          </a:p>
          <a:p>
            <a:r>
              <a:t>TIP: Start with a compelling application, not a textbook definition.</a:t>
            </a:r>
          </a:p>
          <a:p>
            <a:r>
              <a:t>SHOW: An image or short video of the actual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1:00-2:30 (1.5 min)</a:t>
            </a:r>
          </a:p>
          <a:p>
            <a:r>
              <a:t>FOCUS: Clearly define I/O, states, parameters, DOF, and justify every assumption.</a:t>
            </a:r>
          </a:p>
          <a:p>
            <a:r>
              <a:t>TIP: Explain WHY each assumption is physically valid.</a:t>
            </a:r>
          </a:p>
          <a:p>
            <a:r>
              <a:t>BE PREPARED: You may be asked 'Why this assumption? What if it changes?'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6D7C97-B3E7-AA4C-A4AD-2132AB40AB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517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2:30-3:45 (1.25 min)</a:t>
            </a:r>
          </a:p>
          <a:p>
            <a:r>
              <a:t>FOCUS: Walk through EVERY step of the derivation. This is the most important section.</a:t>
            </a:r>
          </a:p>
          <a:p>
            <a:r>
              <a:t>TIP: Show the algebra — don't skip to the final equation.</a:t>
            </a:r>
          </a:p>
          <a:p>
            <a:r>
              <a:t>BE PREPARED: You may be asked to explain any step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3:45-5:00 (1.25 min)</a:t>
            </a:r>
          </a:p>
          <a:p>
            <a:r>
              <a:t>FOCUS: Present final EOM and state-space. Explain the physical meaning of EVERY term.</a:t>
            </a:r>
          </a:p>
          <a:p>
            <a:r>
              <a:t>TIP: 'c*x_dot = viscous damping force' is stronger than just showing the equation.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5:00-7:00 (2 min)</a:t>
            </a:r>
          </a:p>
          <a:p>
            <a:r>
              <a:t>FOCUS: Show your simulation setup, key code snippet, and output plots.</a:t>
            </a:r>
          </a:p>
          <a:p>
            <a:r>
              <a:t>INCLUDE: Energy vs time plot — this validates your model physically.</a:t>
            </a:r>
          </a:p>
          <a:p>
            <a:r>
              <a:t>BE PREPARED: You may be asked 'Why does the oscillation decay?' or 'How does energy change?'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7:00-8:30 (1.5 min)</a:t>
            </a:r>
          </a:p>
          <a:p>
            <a:r>
              <a:t>FOCUS: Show HOW you verified your results. Energy check, textbook comparison, sensitivity.</a:t>
            </a:r>
          </a:p>
          <a:p>
            <a:r>
              <a:t>TIP: A strong answer = 'We compared natural frequency with Ginsberg Ch.3.'</a:t>
            </a:r>
          </a:p>
          <a:p>
            <a:r>
              <a:t>A weak answer = 'It runs and produces output.'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8:30-10:00 (1.5 min)</a:t>
            </a:r>
          </a:p>
          <a:p>
            <a:r>
              <a:t>FOCUS: Be specific about what you learned and what was hardest.</a:t>
            </a:r>
          </a:p>
          <a:p>
            <a:r>
              <a:t>TIP: 'Getting the sign convention right in the Lagrangian took 3 iterations' is much stronger than 'teamwork was hard.'</a:t>
            </a:r>
          </a:p>
          <a:p>
            <a:r>
              <a:t>INCLUDE: CO self-assessment — which COs did you exercise most?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 disclosure is MANDATORY but NOT penalized.</a:t>
            </a:r>
          </a:p>
          <a:p>
            <a:r>
              <a:t>Be honest about what tools you used and for what purpose.</a:t>
            </a:r>
          </a:p>
          <a:p>
            <a:r>
              <a:t>Good: 'Used ChatGPT for Python syntax debugging, derivation done by hand.'</a:t>
            </a:r>
          </a:p>
          <a:p>
            <a:r>
              <a:t>Non-disclosure IS penalized if uncovered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614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03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8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88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814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7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91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109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386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812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4/25/2026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6091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mping?utm_source=chatgpt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CBE8-08B1-ECFD-6A53-D71AF5DF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349" y="1287553"/>
            <a:ext cx="10546914" cy="1969213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MODELLING ENERGY LOSS IN Shock Absorber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0A434-3F82-63A3-F67C-27E16AAE1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9660" y="3429000"/>
            <a:ext cx="8104340" cy="3164911"/>
          </a:xfrm>
        </p:spPr>
        <p:txBody>
          <a:bodyPr>
            <a:noAutofit/>
          </a:bodyPr>
          <a:lstStyle/>
          <a:p>
            <a:pPr>
              <a:defRPr sz="1800"/>
            </a:pPr>
            <a:r>
              <a:rPr lang="en-IN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Team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Jeel  Shah, Manasvi Shah, Yashasvi Yadu,  Pratistha Agrawal </a:t>
            </a:r>
          </a:p>
          <a:p>
            <a:pPr>
              <a:defRPr sz="1800"/>
            </a:pPr>
            <a:r>
              <a:rPr lang="en-IN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Subject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Dynamic System Modelling (702MH0C023)</a:t>
            </a:r>
          </a:p>
          <a:p>
            <a:pPr>
              <a:defRPr sz="1800"/>
            </a:pPr>
            <a:r>
              <a:rPr lang="en-IN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Course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.Tech Mechatronics, Sem IV | NMIMS MPSTME Mumbai</a:t>
            </a:r>
          </a:p>
          <a:p>
            <a:pPr>
              <a:defRPr sz="1800"/>
            </a:pPr>
            <a:r>
              <a:rPr lang="en-IN" sz="20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Category</a:t>
            </a:r>
            <a:r>
              <a:rPr lang="en-IN" sz="2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:</a:t>
            </a:r>
            <a:r>
              <a:rPr lang="en-IN" sz="2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D (Mechanical Systems) | Complexity: Medium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pPr>
              <a:defRPr sz="1800"/>
            </a:pPr>
            <a:r>
              <a:rPr lang="en-IN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COs Exercised</a:t>
            </a:r>
            <a:r>
              <a:rPr lang="en-IN" sz="2000" dirty="0">
                <a:latin typeface="Cambria" panose="02040503050406030204" pitchFamily="18" charset="0"/>
                <a:ea typeface="Cambria" panose="02040503050406030204" pitchFamily="18" charset="0"/>
              </a:rPr>
              <a:t>: [CO1, CO2, CO3, CO4, CO5] | Date: [20/04/2026]</a:t>
            </a:r>
          </a:p>
          <a:p>
            <a:endParaRPr lang="en-IN" sz="20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58F75-3D0D-4518-9F22-67097355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715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89" y="-45919"/>
            <a:ext cx="10817516" cy="946996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1. System 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689" y="1536568"/>
            <a:ext cx="5819632" cy="47139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What is the system?</a:t>
            </a:r>
          </a:p>
          <a:p>
            <a:pPr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A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shock absorber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 is a mechanical device used in vehicle suspension systems to 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dissipate vibrational energy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Why does it matter?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800" b="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Improves ride comfort</a:t>
            </a:r>
            <a:endParaRPr lang="en-US" sz="18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800" b="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Ensures tire-road contact</a:t>
            </a:r>
            <a:endParaRPr lang="en-US" sz="18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800" b="0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Reduces structural damage</a:t>
            </a:r>
          </a:p>
          <a:p>
            <a:pPr lvl="1">
              <a:defRPr sz="1800"/>
            </a:pPr>
            <a:endParaRPr lang="en-US" sz="1800" b="0" i="1" dirty="0"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lvl="1">
              <a:defRPr sz="1800"/>
            </a:pP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How does a shock absorber dissipate energy over time due to damping?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26" name="Picture 2" descr="How Car Suspensions Work | HowStuffWorks">
            <a:extLst>
              <a:ext uri="{FF2B5EF4-FFF2-40B4-BE49-F238E27FC236}">
                <a16:creationId xmlns:a16="http://schemas.microsoft.com/office/drawing/2014/main" id="{9C5BA928-9161-EB67-A509-BA15420DC7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3921" y="1089764"/>
            <a:ext cx="2343692" cy="2691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ck Absorbers Need Replacement">
            <a:extLst>
              <a:ext uri="{FF2B5EF4-FFF2-40B4-BE49-F238E27FC236}">
                <a16:creationId xmlns:a16="http://schemas.microsoft.com/office/drawing/2014/main" id="{47AC73B5-9594-02D9-84E8-4CE0B0BB3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125" y="3846960"/>
            <a:ext cx="4283284" cy="2850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09" y="-386924"/>
            <a:ext cx="11217896" cy="1403228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2. Problem Formulation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8033" y="1349829"/>
            <a:ext cx="9460826" cy="5050975"/>
          </a:xfrm>
        </p:spPr>
        <p:txBody>
          <a:bodyPr vert="horz" lIns="91440" tIns="45720" rIns="91440" bIns="45720" numCol="2" rtlCol="0" anchor="t">
            <a:noAutofit/>
          </a:bodyPr>
          <a:lstStyle/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Inputs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External force F(t)</a:t>
            </a:r>
          </a:p>
          <a:p>
            <a:pPr marL="342900" indent="-342900">
              <a:buFont typeface="+mj-lt"/>
              <a:buAutoNum type="arabicPeriod"/>
              <a:defRPr sz="1800"/>
            </a:pPr>
            <a:endParaRPr lang="en-US" sz="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Outputs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Displacement x(t)</a:t>
            </a:r>
          </a:p>
          <a:p>
            <a:pPr marL="342900" indent="-342900">
              <a:buFont typeface="+mj-lt"/>
              <a:buAutoNum type="arabicPeriod"/>
              <a:defRPr sz="1800"/>
            </a:pPr>
            <a:endParaRPr lang="en-US" sz="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State Variables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x, x˙</a:t>
            </a:r>
          </a:p>
          <a:p>
            <a:pPr marL="342900" indent="-342900">
              <a:buFont typeface="+mj-lt"/>
              <a:buAutoNum type="arabicPeriod"/>
              <a:defRPr sz="1800"/>
            </a:pPr>
            <a:endParaRPr lang="en-US" sz="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Parameters:</a:t>
            </a: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 Mass m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 Damping coefficient c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 Spring stiffness k</a:t>
            </a:r>
          </a:p>
          <a:p>
            <a:pPr marL="0" lvl="1">
              <a:defRPr sz="1800"/>
            </a:pPr>
            <a:endParaRPr lang="en-US" sz="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DOF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1 DOF (vertical motion only)</a:t>
            </a:r>
          </a:p>
          <a:p>
            <a:pPr marL="342900" indent="-342900">
              <a:buFont typeface="+mj-lt"/>
              <a:buAutoNum type="arabicPeriod"/>
              <a:defRPr sz="1800"/>
            </a:pPr>
            <a:endParaRPr lang="en-US" sz="17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+mj-lt"/>
              <a:buAutoNum type="arabicPeriod"/>
              <a:defRPr sz="1800"/>
            </a:pPr>
            <a:r>
              <a:rPr lang="en-US" sz="1900" b="1" u="sng" dirty="0">
                <a:latin typeface="Cambria" panose="02040503050406030204" pitchFamily="18" charset="0"/>
                <a:ea typeface="Cambria" panose="02040503050406030204" pitchFamily="18" charset="0"/>
              </a:rPr>
              <a:t>Assumptions:</a:t>
            </a: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Linear spring → F=</a:t>
            </a:r>
            <a:r>
              <a:rPr lang="en-US" sz="1900" b="0" dirty="0" err="1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kx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Viscous damping → </a:t>
            </a:r>
            <a:r>
              <a:rPr lang="en-US" sz="1900" b="0" dirty="0" err="1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F</a:t>
            </a:r>
            <a:r>
              <a:rPr lang="en-US" sz="1900" b="0" baseline="-25000" dirty="0" err="1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d</a:t>
            </a: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=cx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No friction except damping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lvl="1">
              <a:defRPr sz="1800"/>
            </a:pPr>
            <a:r>
              <a:rPr lang="en-US" sz="1900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      Small oscillations (linear system)</a:t>
            </a:r>
            <a:endParaRPr lang="en-US" sz="19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289" y="-348400"/>
            <a:ext cx="10869332" cy="141236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1F4E7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Free Body Diagram / System Schematic</a:t>
            </a:r>
            <a:endParaRPr lang="en-US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2AA111-A81A-A250-1004-AB2961066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7785" y="1230767"/>
            <a:ext cx="7336429" cy="55309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198" y="290146"/>
            <a:ext cx="9564914" cy="857559"/>
          </a:xfrm>
        </p:spPr>
        <p:txBody>
          <a:bodyPr/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4. Mathematical Derivation (Part 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429566" y="1242647"/>
                <a:ext cx="9564914" cy="5325207"/>
              </a:xfrm>
            </p:spPr>
            <p:txBody>
              <a:bodyPr vert="horz" lIns="91440" tIns="45720" rIns="91440" bIns="45720" rtlCol="0" anchor="t">
                <a:normAutofit fontScale="850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  <a:defRPr sz="18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Method: Newton's Second Law </a:t>
                </a:r>
              </a:p>
              <a:p>
                <a:pPr marL="0" indent="0">
                  <a:buNone/>
                  <a:defRPr sz="18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Why? -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  <a:cs typeface="+mn-lt"/>
                  </a:rPr>
                  <a:t>We applied Newton’s second law considering all forces from FBD.</a:t>
                </a: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Forces acting: Spring force =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𝑘𝑥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Damping force =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𝑐</m:t>
                    </m:r>
                    <m:acc>
                      <m:accPr>
                        <m:chr m:val="̇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  <a:defRPr sz="1800"/>
                </a:pPr>
                <a:r>
                  <a:rPr lang="ar-AE" dirty="0">
                    <a:latin typeface="Cambria" panose="02040503050406030204" pitchFamily="18" charset="0"/>
                    <a:ea typeface="Cambria" panose="02040503050406030204" pitchFamily="18" charset="0"/>
                    <a:cs typeface="+mn-lt"/>
                  </a:rPr>
                  <a:t> ⅀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  <a:cs typeface="+mn-lt"/>
                  </a:rPr>
                  <a:t>F = mx</a:t>
                </a:r>
              </a:p>
              <a:p>
                <a:pPr marL="0" indent="0">
                  <a:buNone/>
                  <a:defRPr sz="18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  <a:cs typeface="+mn-lt"/>
                  </a:rPr>
                  <a:t>Equation of motion:</a:t>
                </a:r>
              </a:p>
              <a:p>
                <a:pPr marL="0" indent="0" algn="ctr">
                  <a:buNone/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𝑐</m:t>
                      </m:r>
                      <m:acc>
                        <m:accPr>
                          <m:chr m:val="̇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𝑘𝑥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  <a:defRPr sz="18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Multiply by velocity:</a:t>
                </a:r>
              </a:p>
              <a:p>
                <a:pPr marL="0" indent="0" algn="ctr">
                  <a:buNone/>
                  <a:defRPr sz="1800"/>
                </a:pP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mx’’x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’ + cx’</a:t>
                </a:r>
                <a:r>
                  <a:rPr lang="en-IN" baseline="30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+ 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kxx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’=0</a:t>
                </a:r>
              </a:p>
              <a:p>
                <a:pPr marL="0" indent="0">
                  <a:buNone/>
                  <a:defRPr sz="1800"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Convert into Energy Terms:</a:t>
                </a:r>
              </a:p>
              <a:p>
                <a:pPr marL="0" indent="0">
                  <a:buNone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(</a:t>
                </a:r>
                <a:r>
                  <a:rPr lang="en-IN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) Kinetic Energy Term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𝑚</m:t>
                      </m:r>
                      <m:acc>
                        <m:accPr>
                          <m:chr m:val="̈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(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ii) Potential Energy Term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𝑘𝑥</m:t>
                      </m:r>
                      <m:acc>
                        <m:accPr>
                          <m:chr m:val="̇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  <a:defRPr sz="1800"/>
                </a:pPr>
                <a:endParaRPr lang="en-IN" dirty="0">
                  <a:latin typeface="Cambria" panose="02040503050406030204" pitchFamily="18" charset="0"/>
                  <a:ea typeface="Cambria" panose="02040503050406030204" pitchFamily="18" charset="0"/>
                  <a:cs typeface="+mn-lt"/>
                </a:endParaRPr>
              </a:p>
              <a:p>
                <a:pPr>
                  <a:defRPr sz="1800"/>
                </a:pPr>
                <a:endParaRPr lang="en-GB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9566" y="1242647"/>
                <a:ext cx="9564914" cy="5325207"/>
              </a:xfrm>
              <a:blipFill>
                <a:blip r:embed="rId3"/>
                <a:stretch>
                  <a:fillRect l="-255" t="-10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10" y="283445"/>
            <a:ext cx="9238434" cy="857559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5. Final Equations &amp; State-Space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657350" y="1520190"/>
                <a:ext cx="9010650" cy="4800600"/>
              </a:xfrm>
            </p:spPr>
            <p:txBody>
              <a:bodyPr vert="horz" lIns="91440" tIns="45720" rIns="91440" bIns="45720" rtlCol="0" anchor="t"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Substitute Back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Total Energy Equation: </a:t>
                </a: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Combine terms: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̇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ar-A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b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Final Energy Loss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IN" dirty="0">
                    <a:latin typeface="Cambria" panose="02040503050406030204" pitchFamily="18" charset="0"/>
                    <a:ea typeface="Cambria" panose="02040503050406030204" pitchFamily="18" charset="0"/>
                  </a:rPr>
                  <a:t>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ar-AE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ar-AE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>
                  <a:defRPr sz="1800"/>
                </a:pPr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57350" y="1520190"/>
                <a:ext cx="9010650" cy="4800600"/>
              </a:xfrm>
              <a:blipFill>
                <a:blip r:embed="rId3"/>
                <a:stretch>
                  <a:fillRect l="-609" t="-1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7504" y="119322"/>
            <a:ext cx="9238434" cy="857559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sz="3000" dirty="0">
                <a:latin typeface="Cambria" panose="02040503050406030204" pitchFamily="18" charset="0"/>
                <a:ea typeface="Cambria" panose="02040503050406030204" pitchFamily="18" charset="0"/>
              </a:rPr>
              <a:t>6. Simulation &amp; Energy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3760" y="1148080"/>
            <a:ext cx="10249352" cy="527884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Tools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Python (NumPy, SciPy, Matplotlib)</a:t>
            </a:r>
          </a:p>
          <a:p>
            <a:pPr marL="0" indent="0">
              <a:buNone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Energy Equations:</a:t>
            </a:r>
          </a:p>
          <a:p>
            <a:pPr>
              <a:defRPr sz="1800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948716D-FE89-E83A-5C84-10D7349DD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067" y="2080065"/>
            <a:ext cx="2173166" cy="18112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791913-BD25-F044-AAED-3DDD9643555B}"/>
              </a:ext>
            </a:extLst>
          </p:cNvPr>
          <p:cNvSpPr txBox="1"/>
          <p:nvPr/>
        </p:nvSpPr>
        <p:spPr>
          <a:xfrm>
            <a:off x="873760" y="3891281"/>
            <a:ext cx="6052568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 u="sng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Code Snippet:</a:t>
            </a:r>
          </a:p>
          <a:p>
            <a:endParaRPr lang="en-GB" sz="2000" dirty="0"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def model(t, y):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   x, v = y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   dx/dt = v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   dv/dt = (F - c*v - k*x)/m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GB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   return [dx/dt, dv/dt]</a:t>
            </a:r>
            <a:endParaRPr lang="en-GB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4319"/>
            <a:ext cx="1114261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sz="3000" dirty="0">
                <a:latin typeface="Cambria" panose="02040503050406030204" pitchFamily="18" charset="0"/>
                <a:ea typeface="Cambria" panose="02040503050406030204" pitchFamily="18" charset="0"/>
              </a:rPr>
              <a:t>7. Simulation Visualization</a:t>
            </a:r>
          </a:p>
        </p:txBody>
      </p:sp>
      <p:pic>
        <p:nvPicPr>
          <p:cNvPr id="4" name="WhatsApp Video 2026-04-24 at 10.44.04 PM">
            <a:hlinkClick r:id="" action="ppaction://media"/>
            <a:extLst>
              <a:ext uri="{FF2B5EF4-FFF2-40B4-BE49-F238E27FC236}">
                <a16:creationId xmlns:a16="http://schemas.microsoft.com/office/drawing/2014/main" id="{EC244BEA-FF1A-01EC-74F4-90F30A467C6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0208" y="828317"/>
            <a:ext cx="9796600" cy="5837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4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43FB2-EEED-B212-59CB-85B2A1C3A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928EE-0341-5554-6DFF-3515B8977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C48DDC-4AD1-7116-EF58-A7BE6AB1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707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671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BDFD1-B18F-2D33-D526-3D7167AE8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75C798-919D-BEB4-97FD-87A6CB80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747" y="0"/>
            <a:ext cx="623355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51C33B-2C91-C1E1-B0AD-609D3B0A8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03" y="0"/>
            <a:ext cx="5488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46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0C75-C528-6DE2-74B8-5FBFB9D80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C3F91E-B5B1-6DD1-775F-E4E3DCB6F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42B5C-FDF3-48EB-B3AF-211B002207FA}" type="datetime1">
              <a:rPr lang="en-US"/>
              <a:t>4/25/2026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094C3-039B-AA86-AEFC-781FECB42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8FA14-2235-D673-C3D0-B5B64B4AF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A44F6C-DE57-BCF1-57AE-6150F4A2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307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43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1997" y="201383"/>
            <a:ext cx="9238434" cy="857559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8. Validation &amp;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1293224"/>
            <a:ext cx="9927771" cy="475488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Validation: </a:t>
            </a: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Energy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decreses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due to damping</a:t>
            </a: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Matches theory of damped system</a:t>
            </a:r>
          </a:p>
          <a:p>
            <a:pPr>
              <a:buFont typeface="Wingdings" panose="05000000000000000000" pitchFamily="2" charset="2"/>
              <a:buChar char="ü"/>
              <a:defRPr sz="1800"/>
            </a:pPr>
            <a:endParaRPr lang="en-US" sz="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Sensitivity:</a:t>
            </a: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Increase c → faster decay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Increase k → higher frequency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endParaRPr lang="en-US" sz="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 sz="1800"/>
            </a:pPr>
            <a:r>
              <a:rPr lang="en-US" sz="2000" b="1" u="sng" dirty="0">
                <a:latin typeface="Cambria" panose="02040503050406030204" pitchFamily="18" charset="0"/>
                <a:ea typeface="Cambria" panose="02040503050406030204" pitchFamily="18" charset="0"/>
              </a:rPr>
              <a:t>Limitations:</a:t>
            </a: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Linear model only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ü"/>
              <a:defRPr sz="1800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No real fluid modeling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940" y="125183"/>
            <a:ext cx="9238434" cy="857559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9. Conclusions &amp; Reflections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3412" y="984738"/>
            <a:ext cx="11014480" cy="573844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 sz="1800"/>
            </a:pPr>
            <a:r>
              <a:rPr sz="1400" b="1" u="sng" dirty="0">
                <a:latin typeface="Cambria" panose="02040503050406030204" pitchFamily="18" charset="0"/>
                <a:ea typeface="Cambria" panose="02040503050406030204" pitchFamily="18" charset="0"/>
              </a:rPr>
              <a:t>Key Finding: </a:t>
            </a:r>
            <a:endParaRPr lang="en-GB" sz="14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The shock absorber behaves as a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mass–spring–damper system with damped oscillations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Energy dissipates over time due to viscous damping (cx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’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)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converting mechanical energy into heat.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The system shows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exponential decay in amplitude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confirming realistic physical behavior.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Simulation results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match theoretical expectations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validating the mathematical model.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defRPr sz="1800"/>
            </a:pPr>
            <a:endParaRPr lang="en-US" sz="5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sz="1400" b="1" u="sng" dirty="0">
                <a:latin typeface="Cambria" panose="02040503050406030204" pitchFamily="18" charset="0"/>
                <a:ea typeface="Cambria" panose="02040503050406030204" pitchFamily="18" charset="0"/>
              </a:rPr>
              <a:t>What we learned that a textbook couldn't teach: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The importance of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correct sign convention in FBD and equations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—small mistakes change results completely.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How to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connect mathematical equations with physical meaning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(especially damping and energy loss).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Practical understanding of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energy decay and power dissipation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not just formulas.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Difficulty in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translating real-world systems into simplified models with justified assumptions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CO4 &amp; CO5 were most challenging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due to derivation and energy interpretation.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45770" lvl="1" indent="-171450">
              <a:buFont typeface="Wingdings"/>
              <a:buChar char="ü"/>
              <a:defRPr sz="1800"/>
            </a:pPr>
            <a:endParaRPr lang="en-US" sz="5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r>
              <a:rPr lang="en-US" sz="1400" b="1" u="sng" dirty="0">
                <a:latin typeface="Cambria" panose="02040503050406030204" pitchFamily="18" charset="0"/>
                <a:ea typeface="Cambria" panose="02040503050406030204" pitchFamily="18" charset="0"/>
              </a:rPr>
              <a:t>What we would do differently (Point-wise)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Start with a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clear and verified Free Body Diagram earlier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Fix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sign conventions before derivation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to avoid rework.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Perform </a:t>
            </a:r>
            <a:r>
              <a:rPr lang="en-US" sz="1400" b="1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parameter sensitivity analysis earlier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 in the process.</a:t>
            </a:r>
            <a:endParaRPr lang="en-US" sz="1400"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1939" y="136907"/>
            <a:ext cx="9238434" cy="857559"/>
          </a:xfrm>
        </p:spPr>
        <p:txBody>
          <a:bodyPr/>
          <a:lstStyle/>
          <a:p>
            <a:pPr algn="ctr">
              <a:defRPr sz="2800" b="1">
                <a:solidFill>
                  <a:srgbClr val="1F4E79"/>
                </a:solidFill>
              </a:defRPr>
            </a:pP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10. References &amp; AI Disclosure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9" y="1225062"/>
            <a:ext cx="9927772" cy="5357446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defRPr sz="1800"/>
            </a:pPr>
            <a:r>
              <a:rPr b="1" u="sng" dirty="0">
                <a:latin typeface="Cambria" panose="02040503050406030204" pitchFamily="18" charset="0"/>
                <a:ea typeface="Cambria" panose="02040503050406030204" pitchFamily="18" charset="0"/>
              </a:rPr>
              <a:t>Textbook References:</a:t>
            </a:r>
            <a:endParaRPr lang="en-US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Ginsberg, J. H.</a:t>
            </a:r>
            <a:br>
              <a:rPr lang="en-US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Engineering Dynamics, Cambridge University Press, 2007. 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Friedmann, P. P.,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Lesieutre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G. A., Huang, D.</a:t>
            </a:r>
            <a:br>
              <a:rPr lang="en-US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Structural Dynamics: Theory and Applications, Cambridge University Press, 2023. </a:t>
            </a:r>
            <a:endParaRPr lang="en-GB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buFont typeface="Wingdings" panose="020B0604020202020204" pitchFamily="34" charset="0"/>
              <a:buChar char="ü"/>
              <a:defRPr sz="1800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b="1" u="sng" dirty="0">
                <a:latin typeface="Cambria" panose="02040503050406030204" pitchFamily="18" charset="0"/>
                <a:ea typeface="Cambria" panose="02040503050406030204" pitchFamily="18" charset="0"/>
              </a:rPr>
              <a:t>Online Resources:</a:t>
            </a:r>
          </a:p>
          <a:p>
            <a:pPr lvl="1">
              <a:spcBef>
                <a:spcPts val="600"/>
              </a:spcBef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“Damping – Theory and Applications,”</a:t>
            </a:r>
            <a:br>
              <a:rPr lang="en-US" b="0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Wikipedia (Engineering reference overview) </a:t>
            </a:r>
            <a:endParaRPr lang="en-US" b="0" dirty="0"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pPr lvl="1">
              <a:spcBef>
                <a:spcPts val="600"/>
              </a:spcBef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  <a:hlinkClick r:id="rId3"/>
              </a:rPr>
              <a:t>https://en.wikipedia.org/wiki/Damping?utm_source=chatgpt.com</a:t>
            </a:r>
            <a:endParaRPr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spcBef>
                <a:spcPts val="600"/>
              </a:spcBef>
              <a:defRPr sz="1800"/>
            </a:pPr>
            <a:endParaRPr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spcBef>
                <a:spcPts val="600"/>
              </a:spcBef>
              <a:defRPr sz="1800"/>
            </a:pPr>
            <a:r>
              <a:rPr b="1" u="sng" dirty="0">
                <a:latin typeface="Cambria" panose="02040503050406030204" pitchFamily="18" charset="0"/>
                <a:ea typeface="Cambria" panose="02040503050406030204" pitchFamily="18" charset="0"/>
              </a:rPr>
              <a:t>AI Tools </a:t>
            </a:r>
            <a:r>
              <a:rPr lang="en-GB" b="1" u="sng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560070" lvl="1" indent="-285750">
              <a:buFont typeface="Wingdings"/>
              <a:buChar char="ü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ChatGPT (OpenAI)</a:t>
            </a:r>
            <a:endParaRPr lang="en-US" b="0" dirty="0"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pPr lvl="1"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Used for: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Python code guidance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Concept explanation</a:t>
            </a:r>
          </a:p>
          <a:p>
            <a:pPr marL="617220" lvl="1" indent="-342900">
              <a:buFont typeface="+mj-lt"/>
              <a:buAutoNum type="arabicPeriod"/>
              <a:defRPr sz="1800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NOT used for: Mathematical derivation (done manually)</a:t>
            </a:r>
            <a:endParaRPr lang="en-GB" b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>
              <a:spcBef>
                <a:spcPts val="600"/>
              </a:spcBef>
              <a:defRPr sz="1800"/>
            </a:pPr>
            <a:endParaRPr b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B36B6-3F2C-B968-DD94-77A33070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Thank You — Questions?</a:t>
            </a:r>
            <a:endParaRPr lang="en-IN" sz="4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5C7F4-0099-32F3-9975-2495AA83B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491485"/>
            <a:ext cx="9238434" cy="3810000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Team: </a:t>
            </a:r>
            <a:r>
              <a:rPr lang="en-GB" sz="2500" dirty="0">
                <a:latin typeface="Cambria" panose="02040503050406030204" pitchFamily="18" charset="0"/>
                <a:ea typeface="Cambria" panose="02040503050406030204" pitchFamily="18" charset="0"/>
              </a:rPr>
              <a:t>Jeel Shah, Manasvi Shah, Yashasvi Yadu, Pratistha Agrawal </a:t>
            </a: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Course: Dynamic System Modeling (702MH0C023)</a:t>
            </a:r>
          </a:p>
          <a:p>
            <a:pPr>
              <a:defRPr sz="1800"/>
            </a:pPr>
            <a:r>
              <a:rPr lang="en-US" sz="2500" dirty="0" err="1">
                <a:latin typeface="Cambria" panose="02040503050406030204" pitchFamily="18" charset="0"/>
                <a:ea typeface="Cambria" panose="02040503050406030204" pitchFamily="18" charset="0"/>
              </a:rPr>
              <a:t>B.Tech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 Mechatronics, Sem IV | NMIMS MPSTME Mumbai</a:t>
            </a:r>
          </a:p>
          <a:p>
            <a:pPr>
              <a:defRPr sz="1800"/>
            </a:pPr>
            <a:r>
              <a:rPr lang="en-US" sz="2500" b="1" dirty="0">
                <a:latin typeface="Cambria" panose="02040503050406030204" pitchFamily="18" charset="0"/>
                <a:ea typeface="Cambria" panose="02040503050406030204" pitchFamily="18" charset="0"/>
              </a:rPr>
              <a:t>Category:</a:t>
            </a: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 D (Mechanical Systems) | Complexity: Medium</a:t>
            </a:r>
            <a:b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defRPr sz="1800"/>
            </a:pPr>
            <a:endParaRPr lang="en-GB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sz="25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B697F-4288-E4D3-CBC8-9C32014E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127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FE5ED340F12FF438B134E672892BFDA" ma:contentTypeVersion="12" ma:contentTypeDescription="Create a new document." ma:contentTypeScope="" ma:versionID="2c87ab58b8ec2353d2b26750d179ec7e">
  <xsd:schema xmlns:xsd="http://www.w3.org/2001/XMLSchema" xmlns:xs="http://www.w3.org/2001/XMLSchema" xmlns:p="http://schemas.microsoft.com/office/2006/metadata/properties" xmlns:ns2="b7aa8a3b-80d1-4955-8f76-a3254a33a331" xmlns:ns3="8aa28b7e-c5b6-4db8-be1f-ce18dc9d6788" targetNamespace="http://schemas.microsoft.com/office/2006/metadata/properties" ma:root="true" ma:fieldsID="69fb4eb5051183c283dc3b3a79120d25" ns2:_="" ns3:_="">
    <xsd:import namespace="b7aa8a3b-80d1-4955-8f76-a3254a33a331"/>
    <xsd:import namespace="8aa28b7e-c5b6-4db8-be1f-ce18dc9d6788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a8a3b-80d1-4955-8f76-a3254a33a33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765a431-9415-4219-9cd0-5363948861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28b7e-c5b6-4db8-be1f-ce18dc9d678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a5849d0-3a25-4ea2-a66f-6da2942d5ba7}" ma:internalName="TaxCatchAll" ma:showField="CatchAllData" ma:web="8aa28b7e-c5b6-4db8-be1f-ce18dc9d67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b7aa8a3b-80d1-4955-8f76-a3254a33a331" xsi:nil="true"/>
    <lcf76f155ced4ddcb4097134ff3c332f xmlns="b7aa8a3b-80d1-4955-8f76-a3254a33a331">
      <Terms xmlns="http://schemas.microsoft.com/office/infopath/2007/PartnerControls"/>
    </lcf76f155ced4ddcb4097134ff3c332f>
    <TaxCatchAll xmlns="8aa28b7e-c5b6-4db8-be1f-ce18dc9d6788" xsi:nil="true"/>
  </documentManagement>
</p:properties>
</file>

<file path=customXml/itemProps1.xml><?xml version="1.0" encoding="utf-8"?>
<ds:datastoreItem xmlns:ds="http://schemas.openxmlformats.org/officeDocument/2006/customXml" ds:itemID="{DFD44141-9D27-489C-BD9C-4AC1C64E7A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7aa8a3b-80d1-4955-8f76-a3254a33a331"/>
    <ds:schemaRef ds:uri="8aa28b7e-c5b6-4db8-be1f-ce18dc9d67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9632BA-D7F5-4A5D-BF2F-56C93138B5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E70CD32-C2AC-43A4-8663-26E188E5FFEE}">
  <ds:schemaRefs>
    <ds:schemaRef ds:uri="http://schemas.microsoft.com/office/2006/metadata/properties"/>
    <ds:schemaRef ds:uri="http://www.w3.org/2000/xmlns/"/>
    <ds:schemaRef ds:uri="8ba116ed-0b03-4fad-970c-3f26ccc5a628"/>
    <ds:schemaRef ds:uri="http://www.w3.org/2001/XMLSchema-instance"/>
    <ds:schemaRef ds:uri="http://schemas.microsoft.com/office/infopath/2007/PartnerControls"/>
    <ds:schemaRef ds:uri="b7aa8a3b-80d1-4955-8f76-a3254a33a331"/>
    <ds:schemaRef ds:uri="8aa28b7e-c5b6-4db8-be1f-ce18dc9d678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1225</Words>
  <Application>Microsoft Office PowerPoint</Application>
  <PresentationFormat>Widescreen</PresentationFormat>
  <Paragraphs>158</Paragraphs>
  <Slides>15</Slides>
  <Notes>9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Arial</vt:lpstr>
      <vt:lpstr>Cambria</vt:lpstr>
      <vt:lpstr>Cambria Math</vt:lpstr>
      <vt:lpstr>Trade Gothic Next Cond</vt:lpstr>
      <vt:lpstr>Trade Gothic Next Light</vt:lpstr>
      <vt:lpstr>Wingdings</vt:lpstr>
      <vt:lpstr>PortalVTI</vt:lpstr>
      <vt:lpstr>MODELLING ENERGY LOSS IN Shock Absorber</vt:lpstr>
      <vt:lpstr>1. System Introduction &amp; Motivation</vt:lpstr>
      <vt:lpstr>2. Problem Formulation &amp; Assumptions</vt:lpstr>
      <vt:lpstr>3. Free Body Diagram / System Schematic</vt:lpstr>
      <vt:lpstr>4. Mathematical Derivation (Part 1)</vt:lpstr>
      <vt:lpstr>5. Final Equations &amp; State-Space</vt:lpstr>
      <vt:lpstr>6. Simulation &amp; Energy Analysis</vt:lpstr>
      <vt:lpstr>PowerPoint Presentation</vt:lpstr>
      <vt:lpstr>PowerPoint Presentation</vt:lpstr>
      <vt:lpstr>PowerPoint Presentation</vt:lpstr>
      <vt:lpstr>PowerPoint Presentation</vt:lpstr>
      <vt:lpstr>8. Validation &amp; Analysis</vt:lpstr>
      <vt:lpstr>9. Conclusions &amp; Reflections</vt:lpstr>
      <vt:lpstr>10. References &amp; AI Disclosure</vt:lpstr>
      <vt:lpstr>Thank You —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[Project Title]</dc:title>
  <dc:subject/>
  <dc:creator/>
  <cp:keywords/>
  <dc:description>generated using python-pptx</dc:description>
  <cp:lastModifiedBy>SWEETI SHAH</cp:lastModifiedBy>
  <cp:revision>244</cp:revision>
  <dcterms:created xsi:type="dcterms:W3CDTF">2013-01-27T09:14:16Z</dcterms:created>
  <dcterms:modified xsi:type="dcterms:W3CDTF">2026-04-24T18:54:04Z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0x010100AFE5ED340F12FF438B134E672892BFDA</vt:lpwstr>
  </property>
  <property fmtid="{D5CDD505-2E9C-101B-9397-08002B2CF9AE}" pid="3" name="MediaServiceImageTags">
    <vt:lpwstr/>
  </property>
</Properties>
</file>