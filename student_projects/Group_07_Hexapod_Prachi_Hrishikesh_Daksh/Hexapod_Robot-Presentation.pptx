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Masters/slideMaster1.xml" ContentType="application/vnd.openxmlformats-officedocument.presentationml.slideMaster+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1.xml" ContentType="application/vnd.openxmlformats-officedocument.theme+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8288000" cy="10287000"/>
  <p:notesSz cx="6858000" cy="9144000"/>
  <p:embeddedFontLst>
    <p:embeddedFont>
      <p:font typeface="Emmali Medium" panose="020B0604020202020204" charset="-34"/>
      <p:regular r:id="rId23"/>
    </p:embeddedFont>
    <p:embeddedFont>
      <p:font typeface="Nyutro Sans" panose="020B0604020202020204" charset="0"/>
      <p:regular r:id="rId24"/>
    </p:embeddedFont>
    <p:embeddedFont>
      <p:font typeface="Nyutro Sans Bold" panose="020B0604020202020204" charset="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ustomXml" Target="../customXml/item2.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openxmlformats.org/officeDocument/2006/relationships/customXml" Target="../customXml/item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2.svg"/><Relationship Id="rId7" Type="http://schemas.openxmlformats.org/officeDocument/2006/relationships/image" Target="../media/image8.pn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17.pn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2.svg"/><Relationship Id="rId7" Type="http://schemas.openxmlformats.org/officeDocument/2006/relationships/image" Target="../media/image21.pn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24.png"/><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svg"/><Relationship Id="rId7" Type="http://schemas.openxmlformats.org/officeDocument/2006/relationships/image" Target="../media/image28.pn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2.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33.pn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4.png"/></Relationships>
</file>

<file path=ppt/slides/_rels/slide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5.png"/></Relationships>
</file>

<file path=ppt/slides/_rels/slide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6.png"/></Relationships>
</file>

<file path=ppt/slides/_rels/slide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7.png"/></Relationships>
</file>

<file path=ppt/slides/_rels/slide1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39.png"/><Relationship Id="rId4" Type="http://schemas.openxmlformats.org/officeDocument/2006/relationships/image" Target="../media/image38.png"/></Relationships>
</file>

<file path=ppt/slides/_rels/slide1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41.png"/><Relationship Id="rId4" Type="http://schemas.openxmlformats.org/officeDocument/2006/relationships/image" Target="../media/image40.png"/></Relationships>
</file>

<file path=ppt/slides/_rels/slide1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hyperlink" Target="https://makerworld.com/en/models/1973965-hexapod-spider-robot-with-servo-arduino#profileId-2122819" TargetMode="External"/><Relationship Id="rId4" Type="http://schemas.openxmlformats.org/officeDocument/2006/relationships/hyperlink" Target="https://youtu.be/ciE2Z_92T7s?si=EKsPSDTH10j7Pghe"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DDDDF"/>
        </a:solidFill>
        <a:effectLst/>
      </p:bgPr>
    </p:bg>
    <p:spTree>
      <p:nvGrpSpPr>
        <p:cNvPr id="1" name=""/>
        <p:cNvGrpSpPr/>
        <p:nvPr/>
      </p:nvGrpSpPr>
      <p:grpSpPr>
        <a:xfrm>
          <a:off x="0" y="0"/>
          <a:ext cx="0" cy="0"/>
          <a:chOff x="0" y="0"/>
          <a:chExt cx="0" cy="0"/>
        </a:xfrm>
      </p:grpSpPr>
      <p:sp>
        <p:nvSpPr>
          <p:cNvPr id="2" name="Freeform 2"/>
          <p:cNvSpPr/>
          <p:nvPr/>
        </p:nvSpPr>
        <p:spPr>
          <a:xfrm>
            <a:off x="12433764" y="7682720"/>
            <a:ext cx="8412822" cy="6669073"/>
          </a:xfrm>
          <a:custGeom>
            <a:avLst/>
            <a:gdLst/>
            <a:ahLst/>
            <a:cxnLst/>
            <a:rect l="l" t="t" r="r" b="b"/>
            <a:pathLst>
              <a:path w="8412822" h="6669073">
                <a:moveTo>
                  <a:pt x="0" y="0"/>
                </a:moveTo>
                <a:lnTo>
                  <a:pt x="8412822" y="0"/>
                </a:lnTo>
                <a:lnTo>
                  <a:pt x="8412822" y="6669074"/>
                </a:lnTo>
                <a:lnTo>
                  <a:pt x="0" y="666907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flipH="1" flipV="1">
            <a:off x="-2558586" y="-4064794"/>
            <a:ext cx="8412822" cy="6669073"/>
          </a:xfrm>
          <a:custGeom>
            <a:avLst/>
            <a:gdLst/>
            <a:ahLst/>
            <a:cxnLst/>
            <a:rect l="l" t="t" r="r" b="b"/>
            <a:pathLst>
              <a:path w="8412822" h="6669073">
                <a:moveTo>
                  <a:pt x="8412822" y="6669074"/>
                </a:moveTo>
                <a:lnTo>
                  <a:pt x="0" y="6669074"/>
                </a:lnTo>
                <a:lnTo>
                  <a:pt x="0" y="0"/>
                </a:lnTo>
                <a:lnTo>
                  <a:pt x="8412822" y="0"/>
                </a:lnTo>
                <a:lnTo>
                  <a:pt x="8412822" y="6669074"/>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flipH="1" flipV="1">
            <a:off x="-2190390" y="9258300"/>
            <a:ext cx="11408209" cy="1203047"/>
          </a:xfrm>
          <a:custGeom>
            <a:avLst/>
            <a:gdLst/>
            <a:ahLst/>
            <a:cxnLst/>
            <a:rect l="l" t="t" r="r" b="b"/>
            <a:pathLst>
              <a:path w="11408209" h="1203047">
                <a:moveTo>
                  <a:pt x="11408209" y="1203047"/>
                </a:moveTo>
                <a:lnTo>
                  <a:pt x="0" y="1203047"/>
                </a:lnTo>
                <a:lnTo>
                  <a:pt x="0" y="0"/>
                </a:lnTo>
                <a:lnTo>
                  <a:pt x="11408209" y="0"/>
                </a:lnTo>
                <a:lnTo>
                  <a:pt x="11408209" y="1203047"/>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9070181" y="-174347"/>
            <a:ext cx="11408209" cy="1203047"/>
          </a:xfrm>
          <a:custGeom>
            <a:avLst/>
            <a:gdLst/>
            <a:ahLst/>
            <a:cxnLst/>
            <a:rect l="l" t="t" r="r" b="b"/>
            <a:pathLst>
              <a:path w="11408209" h="1203047">
                <a:moveTo>
                  <a:pt x="0" y="0"/>
                </a:moveTo>
                <a:lnTo>
                  <a:pt x="11408209" y="0"/>
                </a:lnTo>
                <a:lnTo>
                  <a:pt x="11408209" y="1203047"/>
                </a:lnTo>
                <a:lnTo>
                  <a:pt x="0" y="1203047"/>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TextBox 6"/>
          <p:cNvSpPr txBox="1"/>
          <p:nvPr/>
        </p:nvSpPr>
        <p:spPr>
          <a:xfrm>
            <a:off x="2392627" y="1672324"/>
            <a:ext cx="13502745" cy="2207013"/>
          </a:xfrm>
          <a:prstGeom prst="rect">
            <a:avLst/>
          </a:prstGeom>
        </p:spPr>
        <p:txBody>
          <a:bodyPr lIns="0" tIns="0" rIns="0" bIns="0" rtlCol="0" anchor="t">
            <a:spAutoFit/>
          </a:bodyPr>
          <a:lstStyle/>
          <a:p>
            <a:pPr algn="ctr">
              <a:lnSpc>
                <a:spcPts val="18003"/>
              </a:lnSpc>
            </a:pPr>
            <a:r>
              <a:rPr lang="en-US" sz="12859" b="1">
                <a:solidFill>
                  <a:srgbClr val="333137"/>
                </a:solidFill>
                <a:latin typeface="Emmali Medium"/>
                <a:ea typeface="Emmali Medium"/>
                <a:cs typeface="Emmali Medium"/>
                <a:sym typeface="Emmali Medium"/>
              </a:rPr>
              <a:t>HEXAPOD ROBOT</a:t>
            </a:r>
          </a:p>
        </p:txBody>
      </p:sp>
      <p:sp>
        <p:nvSpPr>
          <p:cNvPr id="7" name="TextBox 7"/>
          <p:cNvSpPr txBox="1"/>
          <p:nvPr/>
        </p:nvSpPr>
        <p:spPr>
          <a:xfrm>
            <a:off x="1604620" y="4277850"/>
            <a:ext cx="14931123" cy="3404870"/>
          </a:xfrm>
          <a:prstGeom prst="rect">
            <a:avLst/>
          </a:prstGeom>
        </p:spPr>
        <p:txBody>
          <a:bodyPr lIns="0" tIns="0" rIns="0" bIns="0" rtlCol="0" anchor="t">
            <a:spAutoFit/>
          </a:bodyPr>
          <a:lstStyle/>
          <a:p>
            <a:pPr algn="ctr">
              <a:lnSpc>
                <a:spcPts val="4480"/>
              </a:lnSpc>
            </a:pPr>
            <a:r>
              <a:rPr lang="en-US" sz="3200">
                <a:solidFill>
                  <a:srgbClr val="333137"/>
                </a:solidFill>
                <a:latin typeface="Nyutro Sans"/>
                <a:ea typeface="Nyutro Sans"/>
                <a:cs typeface="Nyutro Sans"/>
                <a:sym typeface="Nyutro Sans"/>
              </a:rPr>
              <a:t>Team: Prachi Gopani | H021 , Hrishikesh Gudekar | H022 , Daksh Hariya | H023</a:t>
            </a:r>
          </a:p>
          <a:p>
            <a:pPr algn="ctr">
              <a:lnSpc>
                <a:spcPts val="4480"/>
              </a:lnSpc>
            </a:pPr>
            <a:r>
              <a:rPr lang="en-US" sz="3200">
                <a:solidFill>
                  <a:srgbClr val="333137"/>
                </a:solidFill>
                <a:latin typeface="Nyutro Sans"/>
                <a:ea typeface="Nyutro Sans"/>
                <a:cs typeface="Nyutro Sans"/>
                <a:sym typeface="Nyutro Sans"/>
              </a:rPr>
              <a:t>Course: Dynamic System Modeling (702MH0C023)</a:t>
            </a:r>
          </a:p>
          <a:p>
            <a:pPr algn="ctr">
              <a:lnSpc>
                <a:spcPts val="4480"/>
              </a:lnSpc>
            </a:pPr>
            <a:r>
              <a:rPr lang="en-US" sz="3200">
                <a:solidFill>
                  <a:srgbClr val="333137"/>
                </a:solidFill>
                <a:latin typeface="Nyutro Sans"/>
                <a:ea typeface="Nyutro Sans"/>
                <a:cs typeface="Nyutro Sans"/>
                <a:sym typeface="Nyutro Sans"/>
              </a:rPr>
              <a:t>B.Tech Mechatronics, Sem IV | NMIMS MPSTME Mumbai</a:t>
            </a:r>
          </a:p>
          <a:p>
            <a:pPr algn="ctr">
              <a:lnSpc>
                <a:spcPts val="4480"/>
              </a:lnSpc>
            </a:pPr>
            <a:r>
              <a:rPr lang="en-US" sz="3200">
                <a:solidFill>
                  <a:srgbClr val="333137"/>
                </a:solidFill>
                <a:latin typeface="Nyutro Sans"/>
                <a:ea typeface="Nyutro Sans"/>
                <a:cs typeface="Nyutro Sans"/>
                <a:sym typeface="Nyutro Sans"/>
              </a:rPr>
              <a:t>Category: [A] | Complexity: [High]</a:t>
            </a:r>
          </a:p>
          <a:p>
            <a:pPr algn="ctr">
              <a:lnSpc>
                <a:spcPts val="4480"/>
              </a:lnSpc>
            </a:pPr>
            <a:r>
              <a:rPr lang="en-US" sz="3200">
                <a:solidFill>
                  <a:srgbClr val="333137"/>
                </a:solidFill>
                <a:latin typeface="Nyutro Sans"/>
                <a:ea typeface="Nyutro Sans"/>
                <a:cs typeface="Nyutro Sans"/>
                <a:sym typeface="Nyutro Sans"/>
              </a:rPr>
              <a:t>COs Exercised: [CO1, CO2, CO3, CO4, CO5] | Date: [19/04/2026]</a:t>
            </a:r>
          </a:p>
          <a:p>
            <a:pPr algn="ctr">
              <a:lnSpc>
                <a:spcPts val="4480"/>
              </a:lnSpc>
            </a:pPr>
            <a:endParaRPr lang="en-US" sz="3200">
              <a:solidFill>
                <a:srgbClr val="333137"/>
              </a:solidFill>
              <a:latin typeface="Nyutro Sans"/>
              <a:ea typeface="Nyutro Sans"/>
              <a:cs typeface="Nyutro Sans"/>
              <a:sym typeface="Nyutro Sans"/>
            </a:endParaRPr>
          </a:p>
        </p:txBody>
      </p:sp>
      <p:sp>
        <p:nvSpPr>
          <p:cNvPr id="8" name="AutoShape 8"/>
          <p:cNvSpPr/>
          <p:nvPr/>
        </p:nvSpPr>
        <p:spPr>
          <a:xfrm>
            <a:off x="4254817" y="9840774"/>
            <a:ext cx="3827092" cy="0"/>
          </a:xfrm>
          <a:prstGeom prst="line">
            <a:avLst/>
          </a:prstGeom>
          <a:ln w="57150" cap="flat">
            <a:solidFill>
              <a:srgbClr val="333137"/>
            </a:solidFill>
            <a:prstDash val="solid"/>
            <a:headEnd type="none" w="sm" len="sm"/>
            <a:tailEnd type="none" w="sm" len="sm"/>
          </a:ln>
        </p:spPr>
      </p:sp>
      <p:sp>
        <p:nvSpPr>
          <p:cNvPr id="9" name="AutoShape 9"/>
          <p:cNvSpPr/>
          <p:nvPr/>
        </p:nvSpPr>
        <p:spPr>
          <a:xfrm>
            <a:off x="10146030" y="446226"/>
            <a:ext cx="3827092" cy="0"/>
          </a:xfrm>
          <a:prstGeom prst="line">
            <a:avLst/>
          </a:prstGeom>
          <a:ln w="57150" cap="flat">
            <a:solidFill>
              <a:srgbClr val="333137"/>
            </a:solidFill>
            <a:prstDash val="solid"/>
            <a:headEnd type="none" w="sm" len="sm"/>
            <a:tailEnd type="none" w="sm" len="sm"/>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DDDDDF"/>
        </a:solidFill>
        <a:effectLst/>
      </p:bgPr>
    </p:bg>
    <p:spTree>
      <p:nvGrpSpPr>
        <p:cNvPr id="1" name=""/>
        <p:cNvGrpSpPr/>
        <p:nvPr/>
      </p:nvGrpSpPr>
      <p:grpSpPr>
        <a:xfrm>
          <a:off x="0" y="0"/>
          <a:ext cx="0" cy="0"/>
          <a:chOff x="0" y="0"/>
          <a:chExt cx="0" cy="0"/>
        </a:xfrm>
      </p:grpSpPr>
      <p:sp>
        <p:nvSpPr>
          <p:cNvPr id="2" name="Freeform 2"/>
          <p:cNvSpPr/>
          <p:nvPr/>
        </p:nvSpPr>
        <p:spPr>
          <a:xfrm>
            <a:off x="12433764" y="7682720"/>
            <a:ext cx="8412822" cy="6669073"/>
          </a:xfrm>
          <a:custGeom>
            <a:avLst/>
            <a:gdLst/>
            <a:ahLst/>
            <a:cxnLst/>
            <a:rect l="l" t="t" r="r" b="b"/>
            <a:pathLst>
              <a:path w="8412822" h="6669073">
                <a:moveTo>
                  <a:pt x="0" y="0"/>
                </a:moveTo>
                <a:lnTo>
                  <a:pt x="8412822" y="0"/>
                </a:lnTo>
                <a:lnTo>
                  <a:pt x="8412822" y="6669074"/>
                </a:lnTo>
                <a:lnTo>
                  <a:pt x="0" y="666907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flipH="1" flipV="1">
            <a:off x="-2558586" y="-4064794"/>
            <a:ext cx="8412822" cy="6669073"/>
          </a:xfrm>
          <a:custGeom>
            <a:avLst/>
            <a:gdLst/>
            <a:ahLst/>
            <a:cxnLst/>
            <a:rect l="l" t="t" r="r" b="b"/>
            <a:pathLst>
              <a:path w="8412822" h="6669073">
                <a:moveTo>
                  <a:pt x="8412822" y="6669074"/>
                </a:moveTo>
                <a:lnTo>
                  <a:pt x="0" y="6669074"/>
                </a:lnTo>
                <a:lnTo>
                  <a:pt x="0" y="0"/>
                </a:lnTo>
                <a:lnTo>
                  <a:pt x="8412822" y="0"/>
                </a:lnTo>
                <a:lnTo>
                  <a:pt x="8412822" y="6669074"/>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flipH="1" flipV="1">
            <a:off x="-2190390" y="9258300"/>
            <a:ext cx="11408209" cy="1203047"/>
          </a:xfrm>
          <a:custGeom>
            <a:avLst/>
            <a:gdLst/>
            <a:ahLst/>
            <a:cxnLst/>
            <a:rect l="l" t="t" r="r" b="b"/>
            <a:pathLst>
              <a:path w="11408209" h="1203047">
                <a:moveTo>
                  <a:pt x="11408209" y="1203047"/>
                </a:moveTo>
                <a:lnTo>
                  <a:pt x="0" y="1203047"/>
                </a:lnTo>
                <a:lnTo>
                  <a:pt x="0" y="0"/>
                </a:lnTo>
                <a:lnTo>
                  <a:pt x="11408209" y="0"/>
                </a:lnTo>
                <a:lnTo>
                  <a:pt x="11408209" y="1203047"/>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9070181" y="-174347"/>
            <a:ext cx="11408209" cy="1203047"/>
          </a:xfrm>
          <a:custGeom>
            <a:avLst/>
            <a:gdLst/>
            <a:ahLst/>
            <a:cxnLst/>
            <a:rect l="l" t="t" r="r" b="b"/>
            <a:pathLst>
              <a:path w="11408209" h="1203047">
                <a:moveTo>
                  <a:pt x="0" y="0"/>
                </a:moveTo>
                <a:lnTo>
                  <a:pt x="11408209" y="0"/>
                </a:lnTo>
                <a:lnTo>
                  <a:pt x="11408209" y="1203047"/>
                </a:lnTo>
                <a:lnTo>
                  <a:pt x="0" y="1203047"/>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AutoShape 6"/>
          <p:cNvSpPr/>
          <p:nvPr/>
        </p:nvSpPr>
        <p:spPr>
          <a:xfrm>
            <a:off x="4254817" y="9840774"/>
            <a:ext cx="3827092" cy="0"/>
          </a:xfrm>
          <a:prstGeom prst="line">
            <a:avLst/>
          </a:prstGeom>
          <a:ln w="57150" cap="flat">
            <a:solidFill>
              <a:srgbClr val="333137"/>
            </a:solidFill>
            <a:prstDash val="solid"/>
            <a:headEnd type="none" w="sm" len="sm"/>
            <a:tailEnd type="none" w="sm" len="sm"/>
          </a:ln>
        </p:spPr>
      </p:sp>
      <p:sp>
        <p:nvSpPr>
          <p:cNvPr id="7" name="AutoShape 7"/>
          <p:cNvSpPr/>
          <p:nvPr/>
        </p:nvSpPr>
        <p:spPr>
          <a:xfrm>
            <a:off x="10146030" y="446226"/>
            <a:ext cx="3827092" cy="0"/>
          </a:xfrm>
          <a:prstGeom prst="line">
            <a:avLst/>
          </a:prstGeom>
          <a:ln w="57150" cap="flat">
            <a:solidFill>
              <a:srgbClr val="333137"/>
            </a:solidFill>
            <a:prstDash val="solid"/>
            <a:headEnd type="none" w="sm" len="sm"/>
            <a:tailEnd type="none" w="sm" len="sm"/>
          </a:ln>
        </p:spPr>
      </p:sp>
      <p:sp>
        <p:nvSpPr>
          <p:cNvPr id="8" name="Freeform 8"/>
          <p:cNvSpPr/>
          <p:nvPr/>
        </p:nvSpPr>
        <p:spPr>
          <a:xfrm>
            <a:off x="9217819" y="2871844"/>
            <a:ext cx="7431973" cy="5573980"/>
          </a:xfrm>
          <a:custGeom>
            <a:avLst/>
            <a:gdLst/>
            <a:ahLst/>
            <a:cxnLst/>
            <a:rect l="l" t="t" r="r" b="b"/>
            <a:pathLst>
              <a:path w="7431973" h="5573980">
                <a:moveTo>
                  <a:pt x="0" y="0"/>
                </a:moveTo>
                <a:lnTo>
                  <a:pt x="7431973" y="0"/>
                </a:lnTo>
                <a:lnTo>
                  <a:pt x="7431973" y="5573980"/>
                </a:lnTo>
                <a:lnTo>
                  <a:pt x="0" y="5573980"/>
                </a:lnTo>
                <a:lnTo>
                  <a:pt x="0" y="0"/>
                </a:lnTo>
                <a:close/>
              </a:path>
            </a:pathLst>
          </a:custGeom>
          <a:blipFill>
            <a:blip r:embed="rId4"/>
            <a:stretch>
              <a:fillRect/>
            </a:stretch>
          </a:blipFill>
          <a:ln w="38100" cap="rnd">
            <a:solidFill>
              <a:srgbClr val="000000"/>
            </a:solidFill>
            <a:prstDash val="solid"/>
            <a:round/>
          </a:ln>
        </p:spPr>
      </p:sp>
      <p:sp>
        <p:nvSpPr>
          <p:cNvPr id="9" name="TextBox 9"/>
          <p:cNvSpPr txBox="1"/>
          <p:nvPr/>
        </p:nvSpPr>
        <p:spPr>
          <a:xfrm>
            <a:off x="2536338" y="1206613"/>
            <a:ext cx="15219384" cy="1028700"/>
          </a:xfrm>
          <a:prstGeom prst="rect">
            <a:avLst/>
          </a:prstGeom>
        </p:spPr>
        <p:txBody>
          <a:bodyPr lIns="0" tIns="0" rIns="0" bIns="0" rtlCol="0" anchor="t">
            <a:spAutoFit/>
          </a:bodyPr>
          <a:lstStyle/>
          <a:p>
            <a:pPr algn="ctr">
              <a:lnSpc>
                <a:spcPts val="8400"/>
              </a:lnSpc>
            </a:pPr>
            <a:r>
              <a:rPr lang="en-US" sz="6000" b="1">
                <a:solidFill>
                  <a:srgbClr val="333137"/>
                </a:solidFill>
                <a:latin typeface="Emmali Medium"/>
                <a:ea typeface="Emmali Medium"/>
                <a:cs typeface="Emmali Medium"/>
                <a:sym typeface="Emmali Medium"/>
              </a:rPr>
              <a:t>1. SYSTEM INTRODUCTION &amp; MOTIVATION</a:t>
            </a:r>
          </a:p>
        </p:txBody>
      </p:sp>
      <p:sp>
        <p:nvSpPr>
          <p:cNvPr id="10" name="TextBox 10"/>
          <p:cNvSpPr txBox="1"/>
          <p:nvPr/>
        </p:nvSpPr>
        <p:spPr>
          <a:xfrm>
            <a:off x="621348" y="2767069"/>
            <a:ext cx="8180362" cy="5911215"/>
          </a:xfrm>
          <a:prstGeom prst="rect">
            <a:avLst/>
          </a:prstGeom>
        </p:spPr>
        <p:txBody>
          <a:bodyPr lIns="0" tIns="0" rIns="0" bIns="0" rtlCol="0" anchor="t">
            <a:spAutoFit/>
          </a:bodyPr>
          <a:lstStyle/>
          <a:p>
            <a:pPr algn="l">
              <a:lnSpc>
                <a:spcPts val="3359"/>
              </a:lnSpc>
            </a:pPr>
            <a:r>
              <a:rPr lang="en-US" sz="2400" b="1">
                <a:solidFill>
                  <a:srgbClr val="333137"/>
                </a:solidFill>
                <a:latin typeface="Nyutro Sans Bold"/>
                <a:ea typeface="Nyutro Sans Bold"/>
                <a:cs typeface="Nyutro Sans Bold"/>
                <a:sym typeface="Nyutro Sans Bold"/>
              </a:rPr>
              <a:t>What is the system? (Real-world description)</a:t>
            </a:r>
          </a:p>
          <a:p>
            <a:pPr marL="518160" lvl="1" indent="-259080" algn="l">
              <a:lnSpc>
                <a:spcPts val="3359"/>
              </a:lnSpc>
              <a:buFont typeface="Arial"/>
              <a:buChar char="•"/>
            </a:pPr>
            <a:r>
              <a:rPr lang="en-US" sz="2400">
                <a:solidFill>
                  <a:srgbClr val="333137"/>
                </a:solidFill>
                <a:latin typeface="Nyutro Sans"/>
                <a:ea typeface="Nyutro Sans"/>
                <a:cs typeface="Nyutro Sans"/>
                <a:sym typeface="Nyutro Sans"/>
              </a:rPr>
              <a:t>A hexapod robot is a six-legged walking robot inspired by insects. Each leg has multiple joints (typically 3 DOF), enabling stable and adaptive locomotion over uneven terrain.</a:t>
            </a:r>
          </a:p>
          <a:p>
            <a:pPr algn="l">
              <a:lnSpc>
                <a:spcPts val="3359"/>
              </a:lnSpc>
            </a:pPr>
            <a:r>
              <a:rPr lang="en-US" sz="2400" b="1">
                <a:solidFill>
                  <a:srgbClr val="333137"/>
                </a:solidFill>
                <a:latin typeface="Nyutro Sans Bold"/>
                <a:ea typeface="Nyutro Sans Bold"/>
                <a:cs typeface="Nyutro Sans Bold"/>
                <a:sym typeface="Nyutro Sans Bold"/>
              </a:rPr>
              <a:t>Why does it matter? (Engineering application)</a:t>
            </a:r>
          </a:p>
          <a:p>
            <a:pPr marL="518160" lvl="1" indent="-259080" algn="l">
              <a:lnSpc>
                <a:spcPts val="3359"/>
              </a:lnSpc>
              <a:buFont typeface="Arial"/>
              <a:buChar char="•"/>
            </a:pPr>
            <a:r>
              <a:rPr lang="en-US" sz="2400">
                <a:solidFill>
                  <a:srgbClr val="333137"/>
                </a:solidFill>
                <a:latin typeface="Nyutro Sans"/>
                <a:ea typeface="Nyutro Sans"/>
                <a:cs typeface="Nyutro Sans"/>
                <a:sym typeface="Nyutro Sans"/>
              </a:rPr>
              <a:t>Used in search &amp; rescue (disaster zones)</a:t>
            </a:r>
          </a:p>
          <a:p>
            <a:pPr marL="518160" lvl="1" indent="-259080" algn="l">
              <a:lnSpc>
                <a:spcPts val="3359"/>
              </a:lnSpc>
              <a:buFont typeface="Arial"/>
              <a:buChar char="•"/>
            </a:pPr>
            <a:r>
              <a:rPr lang="en-US" sz="2400">
                <a:solidFill>
                  <a:srgbClr val="333137"/>
                </a:solidFill>
                <a:latin typeface="Nyutro Sans"/>
                <a:ea typeface="Nyutro Sans"/>
                <a:cs typeface="Nyutro Sans"/>
                <a:sym typeface="Nyutro Sans"/>
              </a:rPr>
              <a:t>Suitable for rough terrain exploration where wheels fail</a:t>
            </a:r>
          </a:p>
          <a:p>
            <a:pPr marL="518160" lvl="1" indent="-259080" algn="l">
              <a:lnSpc>
                <a:spcPts val="3359"/>
              </a:lnSpc>
              <a:buFont typeface="Arial"/>
              <a:buChar char="•"/>
            </a:pPr>
            <a:r>
              <a:rPr lang="en-US" sz="2400">
                <a:solidFill>
                  <a:srgbClr val="333137"/>
                </a:solidFill>
                <a:latin typeface="Nyutro Sans"/>
                <a:ea typeface="Nyutro Sans"/>
                <a:cs typeface="Nyutro Sans"/>
                <a:sym typeface="Nyutro Sans"/>
              </a:rPr>
              <a:t>High stability (tripod gait) → always 3 legs on ground</a:t>
            </a:r>
          </a:p>
          <a:p>
            <a:pPr algn="l">
              <a:lnSpc>
                <a:spcPts val="3359"/>
              </a:lnSpc>
            </a:pPr>
            <a:r>
              <a:rPr lang="en-US" sz="2400" b="1">
                <a:solidFill>
                  <a:srgbClr val="333137"/>
                </a:solidFill>
                <a:latin typeface="Nyutro Sans Bold"/>
                <a:ea typeface="Nyutro Sans Bold"/>
                <a:cs typeface="Nyutro Sans Bold"/>
                <a:sym typeface="Nyutro Sans Bold"/>
              </a:rPr>
              <a:t>What question are we answering? (PBL problem statement)</a:t>
            </a:r>
          </a:p>
          <a:p>
            <a:pPr marL="518160" lvl="1" indent="-259080" algn="l">
              <a:lnSpc>
                <a:spcPts val="3359"/>
              </a:lnSpc>
              <a:buFont typeface="Arial"/>
              <a:buChar char="•"/>
            </a:pPr>
            <a:r>
              <a:rPr lang="en-US" sz="2400">
                <a:solidFill>
                  <a:srgbClr val="333137"/>
                </a:solidFill>
                <a:latin typeface="Nyutro Sans"/>
                <a:ea typeface="Nyutro Sans"/>
                <a:cs typeface="Nyutro Sans"/>
                <a:sym typeface="Nyutro Sans"/>
              </a:rPr>
              <a:t>To develop a dynamic model and simulation of a hexapod robot and analyze its motion, forces, and energy behavior under different gait patterns. </a:t>
            </a:r>
          </a:p>
          <a:p>
            <a:pPr algn="l">
              <a:lnSpc>
                <a:spcPts val="3359"/>
              </a:lnSpc>
            </a:pPr>
            <a:endParaRPr lang="en-US" sz="2400">
              <a:solidFill>
                <a:srgbClr val="333137"/>
              </a:solidFill>
              <a:latin typeface="Nyutro Sans"/>
              <a:ea typeface="Nyutro Sans"/>
              <a:cs typeface="Nyutro Sans"/>
              <a:sym typeface="Nyutro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DDDDDF"/>
        </a:solidFill>
        <a:effectLst/>
      </p:bgPr>
    </p:bg>
    <p:spTree>
      <p:nvGrpSpPr>
        <p:cNvPr id="1" name=""/>
        <p:cNvGrpSpPr/>
        <p:nvPr/>
      </p:nvGrpSpPr>
      <p:grpSpPr>
        <a:xfrm>
          <a:off x="0" y="0"/>
          <a:ext cx="0" cy="0"/>
          <a:chOff x="0" y="0"/>
          <a:chExt cx="0" cy="0"/>
        </a:xfrm>
      </p:grpSpPr>
      <p:sp>
        <p:nvSpPr>
          <p:cNvPr id="2" name="Freeform 2"/>
          <p:cNvSpPr/>
          <p:nvPr/>
        </p:nvSpPr>
        <p:spPr>
          <a:xfrm>
            <a:off x="12433764" y="7682720"/>
            <a:ext cx="8412822" cy="6669073"/>
          </a:xfrm>
          <a:custGeom>
            <a:avLst/>
            <a:gdLst/>
            <a:ahLst/>
            <a:cxnLst/>
            <a:rect l="l" t="t" r="r" b="b"/>
            <a:pathLst>
              <a:path w="8412822" h="6669073">
                <a:moveTo>
                  <a:pt x="0" y="0"/>
                </a:moveTo>
                <a:lnTo>
                  <a:pt x="8412822" y="0"/>
                </a:lnTo>
                <a:lnTo>
                  <a:pt x="8412822" y="6669074"/>
                </a:lnTo>
                <a:lnTo>
                  <a:pt x="0" y="666907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flipH="1" flipV="1">
            <a:off x="-2558586" y="-4064794"/>
            <a:ext cx="8412822" cy="6669073"/>
          </a:xfrm>
          <a:custGeom>
            <a:avLst/>
            <a:gdLst/>
            <a:ahLst/>
            <a:cxnLst/>
            <a:rect l="l" t="t" r="r" b="b"/>
            <a:pathLst>
              <a:path w="8412822" h="6669073">
                <a:moveTo>
                  <a:pt x="8412822" y="6669074"/>
                </a:moveTo>
                <a:lnTo>
                  <a:pt x="0" y="6669074"/>
                </a:lnTo>
                <a:lnTo>
                  <a:pt x="0" y="0"/>
                </a:lnTo>
                <a:lnTo>
                  <a:pt x="8412822" y="0"/>
                </a:lnTo>
                <a:lnTo>
                  <a:pt x="8412822" y="6669074"/>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flipH="1" flipV="1">
            <a:off x="-2190390" y="9258300"/>
            <a:ext cx="11408209" cy="1203047"/>
          </a:xfrm>
          <a:custGeom>
            <a:avLst/>
            <a:gdLst/>
            <a:ahLst/>
            <a:cxnLst/>
            <a:rect l="l" t="t" r="r" b="b"/>
            <a:pathLst>
              <a:path w="11408209" h="1203047">
                <a:moveTo>
                  <a:pt x="11408209" y="1203047"/>
                </a:moveTo>
                <a:lnTo>
                  <a:pt x="0" y="1203047"/>
                </a:lnTo>
                <a:lnTo>
                  <a:pt x="0" y="0"/>
                </a:lnTo>
                <a:lnTo>
                  <a:pt x="11408209" y="0"/>
                </a:lnTo>
                <a:lnTo>
                  <a:pt x="11408209" y="1203047"/>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9070181" y="-174347"/>
            <a:ext cx="11408209" cy="1203047"/>
          </a:xfrm>
          <a:custGeom>
            <a:avLst/>
            <a:gdLst/>
            <a:ahLst/>
            <a:cxnLst/>
            <a:rect l="l" t="t" r="r" b="b"/>
            <a:pathLst>
              <a:path w="11408209" h="1203047">
                <a:moveTo>
                  <a:pt x="0" y="0"/>
                </a:moveTo>
                <a:lnTo>
                  <a:pt x="11408209" y="0"/>
                </a:lnTo>
                <a:lnTo>
                  <a:pt x="11408209" y="1203047"/>
                </a:lnTo>
                <a:lnTo>
                  <a:pt x="0" y="1203047"/>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AutoShape 6"/>
          <p:cNvSpPr/>
          <p:nvPr/>
        </p:nvSpPr>
        <p:spPr>
          <a:xfrm>
            <a:off x="4254817" y="9840774"/>
            <a:ext cx="3827092" cy="0"/>
          </a:xfrm>
          <a:prstGeom prst="line">
            <a:avLst/>
          </a:prstGeom>
          <a:ln w="57150" cap="flat">
            <a:solidFill>
              <a:srgbClr val="333137"/>
            </a:solidFill>
            <a:prstDash val="solid"/>
            <a:headEnd type="none" w="sm" len="sm"/>
            <a:tailEnd type="none" w="sm" len="sm"/>
          </a:ln>
        </p:spPr>
      </p:sp>
      <p:sp>
        <p:nvSpPr>
          <p:cNvPr id="7" name="AutoShape 7"/>
          <p:cNvSpPr/>
          <p:nvPr/>
        </p:nvSpPr>
        <p:spPr>
          <a:xfrm>
            <a:off x="10146030" y="446226"/>
            <a:ext cx="3827092" cy="0"/>
          </a:xfrm>
          <a:prstGeom prst="line">
            <a:avLst/>
          </a:prstGeom>
          <a:ln w="57150" cap="flat">
            <a:solidFill>
              <a:srgbClr val="333137"/>
            </a:solidFill>
            <a:prstDash val="solid"/>
            <a:headEnd type="none" w="sm" len="sm"/>
            <a:tailEnd type="none" w="sm" len="sm"/>
          </a:ln>
        </p:spPr>
      </p:sp>
      <p:sp>
        <p:nvSpPr>
          <p:cNvPr id="8" name="TextBox 8"/>
          <p:cNvSpPr txBox="1"/>
          <p:nvPr/>
        </p:nvSpPr>
        <p:spPr>
          <a:xfrm>
            <a:off x="2401822" y="892086"/>
            <a:ext cx="15286642" cy="953135"/>
          </a:xfrm>
          <a:prstGeom prst="rect">
            <a:avLst/>
          </a:prstGeom>
        </p:spPr>
        <p:txBody>
          <a:bodyPr lIns="0" tIns="0" rIns="0" bIns="0" rtlCol="0" anchor="t">
            <a:spAutoFit/>
          </a:bodyPr>
          <a:lstStyle/>
          <a:p>
            <a:pPr algn="ctr">
              <a:lnSpc>
                <a:spcPts val="7840"/>
              </a:lnSpc>
            </a:pPr>
            <a:r>
              <a:rPr lang="en-US" sz="5600" b="1">
                <a:solidFill>
                  <a:srgbClr val="333137"/>
                </a:solidFill>
                <a:latin typeface="Emmali Medium"/>
                <a:ea typeface="Emmali Medium"/>
                <a:cs typeface="Emmali Medium"/>
                <a:sym typeface="Emmali Medium"/>
              </a:rPr>
              <a:t>2. PROBLEM FORMULATION &amp; ASSUMPTIONS</a:t>
            </a:r>
          </a:p>
        </p:txBody>
      </p:sp>
      <p:sp>
        <p:nvSpPr>
          <p:cNvPr id="9" name="TextBox 9"/>
          <p:cNvSpPr txBox="1"/>
          <p:nvPr/>
        </p:nvSpPr>
        <p:spPr>
          <a:xfrm>
            <a:off x="2268300" y="2328545"/>
            <a:ext cx="5498769" cy="6896735"/>
          </a:xfrm>
          <a:prstGeom prst="rect">
            <a:avLst/>
          </a:prstGeom>
        </p:spPr>
        <p:txBody>
          <a:bodyPr lIns="0" tIns="0" rIns="0" bIns="0" rtlCol="0" anchor="t">
            <a:spAutoFit/>
          </a:bodyPr>
          <a:lstStyle/>
          <a:p>
            <a:pPr algn="l">
              <a:lnSpc>
                <a:spcPts val="3640"/>
              </a:lnSpc>
            </a:pPr>
            <a:r>
              <a:rPr lang="en-US" sz="2600" b="1">
                <a:solidFill>
                  <a:srgbClr val="333137"/>
                </a:solidFill>
                <a:latin typeface="Nyutro Sans Bold"/>
                <a:ea typeface="Nyutro Sans Bold"/>
                <a:cs typeface="Nyutro Sans Bold"/>
                <a:sym typeface="Nyutro Sans Bold"/>
              </a:rPr>
              <a:t>Inputs:</a:t>
            </a:r>
          </a:p>
          <a:p>
            <a:pPr marL="561341" lvl="1" indent="-280670" algn="l">
              <a:lnSpc>
                <a:spcPts val="3640"/>
              </a:lnSpc>
              <a:buFont typeface="Arial"/>
              <a:buChar char="•"/>
            </a:pPr>
            <a:r>
              <a:rPr lang="en-US" sz="2600">
                <a:solidFill>
                  <a:srgbClr val="333137"/>
                </a:solidFill>
                <a:latin typeface="Nyutro Sans"/>
                <a:ea typeface="Nyutro Sans"/>
                <a:cs typeface="Nyutro Sans"/>
                <a:sym typeface="Nyutro Sans"/>
              </a:rPr>
              <a:t>Joint torques: τ₁, τ₂, τ₃ (per leg)</a:t>
            </a:r>
          </a:p>
          <a:p>
            <a:pPr marL="561341" lvl="1" indent="-280670" algn="l">
              <a:lnSpc>
                <a:spcPts val="3640"/>
              </a:lnSpc>
              <a:buFont typeface="Arial"/>
              <a:buChar char="•"/>
            </a:pPr>
            <a:r>
              <a:rPr lang="en-US" sz="2600">
                <a:solidFill>
                  <a:srgbClr val="333137"/>
                </a:solidFill>
                <a:latin typeface="Nyutro Sans"/>
                <a:ea typeface="Nyutro Sans"/>
                <a:cs typeface="Nyutro Sans"/>
                <a:sym typeface="Nyutro Sans"/>
              </a:rPr>
              <a:t>Control signals (gait timing)</a:t>
            </a:r>
          </a:p>
          <a:p>
            <a:pPr algn="l">
              <a:lnSpc>
                <a:spcPts val="3640"/>
              </a:lnSpc>
            </a:pPr>
            <a:r>
              <a:rPr lang="en-US" sz="2600" b="1">
                <a:solidFill>
                  <a:srgbClr val="333137"/>
                </a:solidFill>
                <a:latin typeface="Nyutro Sans Bold"/>
                <a:ea typeface="Nyutro Sans Bold"/>
                <a:cs typeface="Nyutro Sans Bold"/>
                <a:sym typeface="Nyutro Sans Bold"/>
              </a:rPr>
              <a:t>Outputs:</a:t>
            </a:r>
          </a:p>
          <a:p>
            <a:pPr marL="561341" lvl="1" indent="-280670" algn="l">
              <a:lnSpc>
                <a:spcPts val="3640"/>
              </a:lnSpc>
              <a:buFont typeface="Arial"/>
              <a:buChar char="•"/>
            </a:pPr>
            <a:r>
              <a:rPr lang="en-US" sz="2600">
                <a:solidFill>
                  <a:srgbClr val="333137"/>
                </a:solidFill>
                <a:latin typeface="Nyutro Sans"/>
                <a:ea typeface="Nyutro Sans"/>
                <a:cs typeface="Nyutro Sans"/>
                <a:sym typeface="Nyutro Sans"/>
              </a:rPr>
              <a:t>Foot position (x, y, z)</a:t>
            </a:r>
          </a:p>
          <a:p>
            <a:pPr marL="561341" lvl="1" indent="-280670" algn="l">
              <a:lnSpc>
                <a:spcPts val="3640"/>
              </a:lnSpc>
              <a:buFont typeface="Arial"/>
              <a:buChar char="•"/>
            </a:pPr>
            <a:r>
              <a:rPr lang="en-US" sz="2600">
                <a:solidFill>
                  <a:srgbClr val="333137"/>
                </a:solidFill>
                <a:latin typeface="Nyutro Sans"/>
                <a:ea typeface="Nyutro Sans"/>
                <a:cs typeface="Nyutro Sans"/>
                <a:sym typeface="Nyutro Sans"/>
              </a:rPr>
              <a:t>Body displacement and orientation</a:t>
            </a:r>
          </a:p>
          <a:p>
            <a:pPr algn="l">
              <a:lnSpc>
                <a:spcPts val="3640"/>
              </a:lnSpc>
            </a:pPr>
            <a:r>
              <a:rPr lang="en-US" sz="2600" b="1">
                <a:solidFill>
                  <a:srgbClr val="333137"/>
                </a:solidFill>
                <a:latin typeface="Nyutro Sans Bold"/>
                <a:ea typeface="Nyutro Sans Bold"/>
                <a:cs typeface="Nyutro Sans Bold"/>
                <a:sym typeface="Nyutro Sans Bold"/>
              </a:rPr>
              <a:t>State Variables:</a:t>
            </a:r>
          </a:p>
          <a:p>
            <a:pPr marL="561341" lvl="1" indent="-280670" algn="l">
              <a:lnSpc>
                <a:spcPts val="3640"/>
              </a:lnSpc>
              <a:buFont typeface="Arial"/>
              <a:buChar char="•"/>
            </a:pPr>
            <a:r>
              <a:rPr lang="en-US" sz="2600">
                <a:solidFill>
                  <a:srgbClr val="333137"/>
                </a:solidFill>
                <a:latin typeface="Nyutro Sans"/>
                <a:ea typeface="Nyutro Sans"/>
                <a:cs typeface="Nyutro Sans"/>
                <a:sym typeface="Nyutro Sans"/>
              </a:rPr>
              <a:t>Joint angles: θ₁, θ₂, θ₃</a:t>
            </a:r>
          </a:p>
          <a:p>
            <a:pPr marL="561341" lvl="1" indent="-280670" algn="l">
              <a:lnSpc>
                <a:spcPts val="3640"/>
              </a:lnSpc>
              <a:buFont typeface="Arial"/>
              <a:buChar char="•"/>
            </a:pPr>
            <a:r>
              <a:rPr lang="en-US" sz="2600">
                <a:solidFill>
                  <a:srgbClr val="333137"/>
                </a:solidFill>
                <a:latin typeface="Nyutro Sans"/>
                <a:ea typeface="Nyutro Sans"/>
                <a:cs typeface="Nyutro Sans"/>
                <a:sym typeface="Nyutro Sans"/>
              </a:rPr>
              <a:t>Angular velocities: θ̇₁, θ̇₂, θ̇₃</a:t>
            </a:r>
          </a:p>
          <a:p>
            <a:pPr algn="l">
              <a:lnSpc>
                <a:spcPts val="3640"/>
              </a:lnSpc>
            </a:pPr>
            <a:r>
              <a:rPr lang="en-US" sz="2600" b="1">
                <a:solidFill>
                  <a:srgbClr val="333137"/>
                </a:solidFill>
                <a:latin typeface="Nyutro Sans Bold"/>
                <a:ea typeface="Nyutro Sans Bold"/>
                <a:cs typeface="Nyutro Sans Bold"/>
                <a:sym typeface="Nyutro Sans Bold"/>
              </a:rPr>
              <a:t>Parameters:</a:t>
            </a:r>
          </a:p>
          <a:p>
            <a:pPr marL="561341" lvl="1" indent="-280670" algn="l">
              <a:lnSpc>
                <a:spcPts val="3640"/>
              </a:lnSpc>
              <a:buFont typeface="Arial"/>
              <a:buChar char="•"/>
            </a:pPr>
            <a:r>
              <a:rPr lang="en-US" sz="2600">
                <a:solidFill>
                  <a:srgbClr val="333137"/>
                </a:solidFill>
                <a:latin typeface="Nyutro Sans"/>
                <a:ea typeface="Nyutro Sans"/>
                <a:cs typeface="Nyutro Sans"/>
                <a:sym typeface="Nyutro Sans"/>
              </a:rPr>
              <a:t>Link lengths: L₁, L₂, L₃</a:t>
            </a:r>
          </a:p>
          <a:p>
            <a:pPr marL="561341" lvl="1" indent="-280670" algn="l">
              <a:lnSpc>
                <a:spcPts val="3640"/>
              </a:lnSpc>
              <a:buFont typeface="Arial"/>
              <a:buChar char="•"/>
            </a:pPr>
            <a:r>
              <a:rPr lang="en-US" sz="2600">
                <a:solidFill>
                  <a:srgbClr val="333137"/>
                </a:solidFill>
                <a:latin typeface="Nyutro Sans"/>
                <a:ea typeface="Nyutro Sans"/>
                <a:cs typeface="Nyutro Sans"/>
                <a:sym typeface="Nyutro Sans"/>
              </a:rPr>
              <a:t>Mass of links: m</a:t>
            </a:r>
          </a:p>
          <a:p>
            <a:pPr marL="561341" lvl="1" indent="-280670" algn="l">
              <a:lnSpc>
                <a:spcPts val="3640"/>
              </a:lnSpc>
              <a:buFont typeface="Arial"/>
              <a:buChar char="•"/>
            </a:pPr>
            <a:r>
              <a:rPr lang="en-US" sz="2600">
                <a:solidFill>
                  <a:srgbClr val="333137"/>
                </a:solidFill>
                <a:latin typeface="Nyutro Sans"/>
                <a:ea typeface="Nyutro Sans"/>
                <a:cs typeface="Nyutro Sans"/>
                <a:sym typeface="Nyutro Sans"/>
              </a:rPr>
              <a:t>Gravity: g</a:t>
            </a:r>
          </a:p>
          <a:p>
            <a:pPr marL="561341" lvl="1" indent="-280670" algn="l">
              <a:lnSpc>
                <a:spcPts val="3640"/>
              </a:lnSpc>
              <a:buFont typeface="Arial"/>
              <a:buChar char="•"/>
            </a:pPr>
            <a:r>
              <a:rPr lang="en-US" sz="2600">
                <a:solidFill>
                  <a:srgbClr val="333137"/>
                </a:solidFill>
                <a:latin typeface="Nyutro Sans"/>
                <a:ea typeface="Nyutro Sans"/>
                <a:cs typeface="Nyutro Sans"/>
                <a:sym typeface="Nyutro Sans"/>
              </a:rPr>
              <a:t>Inertia: I</a:t>
            </a:r>
          </a:p>
        </p:txBody>
      </p:sp>
      <p:sp>
        <p:nvSpPr>
          <p:cNvPr id="10" name="TextBox 10"/>
          <p:cNvSpPr txBox="1"/>
          <p:nvPr/>
        </p:nvSpPr>
        <p:spPr>
          <a:xfrm>
            <a:off x="9886335" y="2328545"/>
            <a:ext cx="6158249" cy="5525135"/>
          </a:xfrm>
          <a:prstGeom prst="rect">
            <a:avLst/>
          </a:prstGeom>
        </p:spPr>
        <p:txBody>
          <a:bodyPr lIns="0" tIns="0" rIns="0" bIns="0" rtlCol="0" anchor="t">
            <a:spAutoFit/>
          </a:bodyPr>
          <a:lstStyle/>
          <a:p>
            <a:pPr algn="l">
              <a:lnSpc>
                <a:spcPts val="3640"/>
              </a:lnSpc>
            </a:pPr>
            <a:r>
              <a:rPr lang="en-US" sz="2600" b="1">
                <a:solidFill>
                  <a:srgbClr val="333137"/>
                </a:solidFill>
                <a:latin typeface="Nyutro Sans Bold"/>
                <a:ea typeface="Nyutro Sans Bold"/>
                <a:cs typeface="Nyutro Sans Bold"/>
                <a:sym typeface="Nyutro Sans Bold"/>
              </a:rPr>
              <a:t>DOF:</a:t>
            </a:r>
          </a:p>
          <a:p>
            <a:pPr marL="561341" lvl="1" indent="-280670" algn="l">
              <a:lnSpc>
                <a:spcPts val="3640"/>
              </a:lnSpc>
              <a:buFont typeface="Arial"/>
              <a:buChar char="•"/>
            </a:pPr>
            <a:r>
              <a:rPr lang="en-US" sz="2600">
                <a:solidFill>
                  <a:srgbClr val="333137"/>
                </a:solidFill>
                <a:latin typeface="Nyutro Sans"/>
                <a:ea typeface="Nyutro Sans"/>
                <a:cs typeface="Nyutro Sans"/>
                <a:sym typeface="Nyutro Sans"/>
              </a:rPr>
              <a:t>Each leg = 3 DOF</a:t>
            </a:r>
          </a:p>
          <a:p>
            <a:pPr marL="561341" lvl="1" indent="-280670" algn="l">
              <a:lnSpc>
                <a:spcPts val="3640"/>
              </a:lnSpc>
              <a:buFont typeface="Arial"/>
              <a:buChar char="•"/>
            </a:pPr>
            <a:r>
              <a:rPr lang="en-US" sz="2600">
                <a:solidFill>
                  <a:srgbClr val="333137"/>
                </a:solidFill>
                <a:latin typeface="Nyutro Sans"/>
                <a:ea typeface="Nyutro Sans"/>
                <a:cs typeface="Nyutro Sans"/>
                <a:sym typeface="Nyutro Sans"/>
              </a:rPr>
              <a:t>Total = 6 × 3 = 18 DOF</a:t>
            </a:r>
          </a:p>
          <a:p>
            <a:pPr marL="561341" lvl="1" indent="-280670" algn="l">
              <a:lnSpc>
                <a:spcPts val="3640"/>
              </a:lnSpc>
              <a:buFont typeface="Arial"/>
              <a:buChar char="•"/>
            </a:pPr>
            <a:r>
              <a:rPr lang="en-US" sz="2600">
                <a:solidFill>
                  <a:srgbClr val="333137"/>
                </a:solidFill>
                <a:latin typeface="Nyutro Sans"/>
                <a:ea typeface="Nyutro Sans"/>
                <a:cs typeface="Nyutro Sans"/>
                <a:sym typeface="Nyutro Sans"/>
              </a:rPr>
              <a:t> (Justified: each joint rotates independently)</a:t>
            </a:r>
          </a:p>
          <a:p>
            <a:pPr algn="l">
              <a:lnSpc>
                <a:spcPts val="3640"/>
              </a:lnSpc>
            </a:pPr>
            <a:r>
              <a:rPr lang="en-US" sz="2600" b="1">
                <a:solidFill>
                  <a:srgbClr val="333137"/>
                </a:solidFill>
                <a:latin typeface="Nyutro Sans Bold"/>
                <a:ea typeface="Nyutro Sans Bold"/>
                <a:cs typeface="Nyutro Sans Bold"/>
                <a:sym typeface="Nyutro Sans Bold"/>
              </a:rPr>
              <a:t>Assumptions:</a:t>
            </a:r>
          </a:p>
          <a:p>
            <a:pPr marL="561341" lvl="1" indent="-280670" algn="l">
              <a:lnSpc>
                <a:spcPts val="3640"/>
              </a:lnSpc>
              <a:buAutoNum type="arabicPeriod"/>
            </a:pPr>
            <a:r>
              <a:rPr lang="en-US" sz="2600">
                <a:solidFill>
                  <a:srgbClr val="333137"/>
                </a:solidFill>
                <a:latin typeface="Nyutro Sans"/>
                <a:ea typeface="Nyutro Sans"/>
                <a:cs typeface="Nyutro Sans"/>
                <a:sym typeface="Nyutro Sans"/>
              </a:rPr>
              <a:t>Links are rigid bodies</a:t>
            </a:r>
          </a:p>
          <a:p>
            <a:pPr marL="561341" lvl="1" indent="-280670" algn="l">
              <a:lnSpc>
                <a:spcPts val="3640"/>
              </a:lnSpc>
              <a:buAutoNum type="arabicPeriod"/>
            </a:pPr>
            <a:r>
              <a:rPr lang="en-US" sz="2600">
                <a:solidFill>
                  <a:srgbClr val="333137"/>
                </a:solidFill>
                <a:latin typeface="Nyutro Sans"/>
                <a:ea typeface="Nyutro Sans"/>
                <a:cs typeface="Nyutro Sans"/>
                <a:sym typeface="Nyutro Sans"/>
              </a:rPr>
              <a:t>Motion analyzed in quasi-static gait (slow walking)</a:t>
            </a:r>
          </a:p>
          <a:p>
            <a:pPr marL="561341" lvl="1" indent="-280670" algn="l">
              <a:lnSpc>
                <a:spcPts val="3640"/>
              </a:lnSpc>
              <a:buAutoNum type="arabicPeriod"/>
            </a:pPr>
            <a:r>
              <a:rPr lang="en-US" sz="2600">
                <a:solidFill>
                  <a:srgbClr val="333137"/>
                </a:solidFill>
                <a:latin typeface="Nyutro Sans"/>
                <a:ea typeface="Nyutro Sans"/>
                <a:cs typeface="Nyutro Sans"/>
                <a:sym typeface="Nyutro Sans"/>
              </a:rPr>
              <a:t>Friction sufficient → no slipping</a:t>
            </a:r>
          </a:p>
          <a:p>
            <a:pPr marL="561341" lvl="1" indent="-280670" algn="l">
              <a:lnSpc>
                <a:spcPts val="3640"/>
              </a:lnSpc>
              <a:buAutoNum type="arabicPeriod"/>
            </a:pPr>
            <a:r>
              <a:rPr lang="en-US" sz="2600">
                <a:solidFill>
                  <a:srgbClr val="333137"/>
                </a:solidFill>
                <a:latin typeface="Nyutro Sans"/>
                <a:ea typeface="Nyutro Sans"/>
                <a:cs typeface="Nyutro Sans"/>
                <a:sym typeface="Nyutro Sans"/>
              </a:rPr>
              <a:t>Actuators provide ideal torque (no delay)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DDDDDF"/>
        </a:solidFill>
        <a:effectLst/>
      </p:bgPr>
    </p:bg>
    <p:spTree>
      <p:nvGrpSpPr>
        <p:cNvPr id="1" name=""/>
        <p:cNvGrpSpPr/>
        <p:nvPr/>
      </p:nvGrpSpPr>
      <p:grpSpPr>
        <a:xfrm>
          <a:off x="0" y="0"/>
          <a:ext cx="0" cy="0"/>
          <a:chOff x="0" y="0"/>
          <a:chExt cx="0" cy="0"/>
        </a:xfrm>
      </p:grpSpPr>
      <p:sp>
        <p:nvSpPr>
          <p:cNvPr id="2" name="Freeform 2"/>
          <p:cNvSpPr/>
          <p:nvPr/>
        </p:nvSpPr>
        <p:spPr>
          <a:xfrm>
            <a:off x="12433764" y="7682720"/>
            <a:ext cx="8412822" cy="6669073"/>
          </a:xfrm>
          <a:custGeom>
            <a:avLst/>
            <a:gdLst/>
            <a:ahLst/>
            <a:cxnLst/>
            <a:rect l="l" t="t" r="r" b="b"/>
            <a:pathLst>
              <a:path w="8412822" h="6669073">
                <a:moveTo>
                  <a:pt x="0" y="0"/>
                </a:moveTo>
                <a:lnTo>
                  <a:pt x="8412822" y="0"/>
                </a:lnTo>
                <a:lnTo>
                  <a:pt x="8412822" y="6669074"/>
                </a:lnTo>
                <a:lnTo>
                  <a:pt x="0" y="666907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flipH="1" flipV="1">
            <a:off x="-2558586" y="-4064794"/>
            <a:ext cx="8412822" cy="6669073"/>
          </a:xfrm>
          <a:custGeom>
            <a:avLst/>
            <a:gdLst/>
            <a:ahLst/>
            <a:cxnLst/>
            <a:rect l="l" t="t" r="r" b="b"/>
            <a:pathLst>
              <a:path w="8412822" h="6669073">
                <a:moveTo>
                  <a:pt x="8412822" y="6669074"/>
                </a:moveTo>
                <a:lnTo>
                  <a:pt x="0" y="6669074"/>
                </a:lnTo>
                <a:lnTo>
                  <a:pt x="0" y="0"/>
                </a:lnTo>
                <a:lnTo>
                  <a:pt x="8412822" y="0"/>
                </a:lnTo>
                <a:lnTo>
                  <a:pt x="8412822" y="6669074"/>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flipH="1" flipV="1">
            <a:off x="-2190390" y="9258300"/>
            <a:ext cx="11408209" cy="1203047"/>
          </a:xfrm>
          <a:custGeom>
            <a:avLst/>
            <a:gdLst/>
            <a:ahLst/>
            <a:cxnLst/>
            <a:rect l="l" t="t" r="r" b="b"/>
            <a:pathLst>
              <a:path w="11408209" h="1203047">
                <a:moveTo>
                  <a:pt x="11408209" y="1203047"/>
                </a:moveTo>
                <a:lnTo>
                  <a:pt x="0" y="1203047"/>
                </a:lnTo>
                <a:lnTo>
                  <a:pt x="0" y="0"/>
                </a:lnTo>
                <a:lnTo>
                  <a:pt x="11408209" y="0"/>
                </a:lnTo>
                <a:lnTo>
                  <a:pt x="11408209" y="1203047"/>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9070181" y="-174347"/>
            <a:ext cx="11408209" cy="1203047"/>
          </a:xfrm>
          <a:custGeom>
            <a:avLst/>
            <a:gdLst/>
            <a:ahLst/>
            <a:cxnLst/>
            <a:rect l="l" t="t" r="r" b="b"/>
            <a:pathLst>
              <a:path w="11408209" h="1203047">
                <a:moveTo>
                  <a:pt x="0" y="0"/>
                </a:moveTo>
                <a:lnTo>
                  <a:pt x="11408209" y="0"/>
                </a:lnTo>
                <a:lnTo>
                  <a:pt x="11408209" y="1203047"/>
                </a:lnTo>
                <a:lnTo>
                  <a:pt x="0" y="1203047"/>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AutoShape 6"/>
          <p:cNvSpPr/>
          <p:nvPr/>
        </p:nvSpPr>
        <p:spPr>
          <a:xfrm>
            <a:off x="4254817" y="9840774"/>
            <a:ext cx="3827092" cy="0"/>
          </a:xfrm>
          <a:prstGeom prst="line">
            <a:avLst/>
          </a:prstGeom>
          <a:ln w="57150" cap="flat">
            <a:solidFill>
              <a:srgbClr val="333137"/>
            </a:solidFill>
            <a:prstDash val="solid"/>
            <a:headEnd type="none" w="sm" len="sm"/>
            <a:tailEnd type="none" w="sm" len="sm"/>
          </a:ln>
        </p:spPr>
      </p:sp>
      <p:sp>
        <p:nvSpPr>
          <p:cNvPr id="7" name="AutoShape 7"/>
          <p:cNvSpPr/>
          <p:nvPr/>
        </p:nvSpPr>
        <p:spPr>
          <a:xfrm>
            <a:off x="10146030" y="446226"/>
            <a:ext cx="3827092" cy="0"/>
          </a:xfrm>
          <a:prstGeom prst="line">
            <a:avLst/>
          </a:prstGeom>
          <a:ln w="57150" cap="flat">
            <a:solidFill>
              <a:srgbClr val="333137"/>
            </a:solidFill>
            <a:prstDash val="solid"/>
            <a:headEnd type="none" w="sm" len="sm"/>
            <a:tailEnd type="none" w="sm" len="sm"/>
          </a:ln>
        </p:spPr>
      </p:sp>
      <p:sp>
        <p:nvSpPr>
          <p:cNvPr id="8" name="Freeform 8"/>
          <p:cNvSpPr/>
          <p:nvPr/>
        </p:nvSpPr>
        <p:spPr>
          <a:xfrm>
            <a:off x="4098675" y="1878241"/>
            <a:ext cx="10090650" cy="7541085"/>
          </a:xfrm>
          <a:custGeom>
            <a:avLst/>
            <a:gdLst/>
            <a:ahLst/>
            <a:cxnLst/>
            <a:rect l="l" t="t" r="r" b="b"/>
            <a:pathLst>
              <a:path w="10090650" h="7541085">
                <a:moveTo>
                  <a:pt x="0" y="0"/>
                </a:moveTo>
                <a:lnTo>
                  <a:pt x="10090650" y="0"/>
                </a:lnTo>
                <a:lnTo>
                  <a:pt x="10090650" y="7541084"/>
                </a:lnTo>
                <a:lnTo>
                  <a:pt x="0" y="7541084"/>
                </a:lnTo>
                <a:lnTo>
                  <a:pt x="0" y="0"/>
                </a:lnTo>
                <a:close/>
              </a:path>
            </a:pathLst>
          </a:custGeom>
          <a:blipFill>
            <a:blip r:embed="rId4"/>
            <a:stretch>
              <a:fillRect/>
            </a:stretch>
          </a:blipFill>
        </p:spPr>
      </p:sp>
      <p:sp>
        <p:nvSpPr>
          <p:cNvPr id="9" name="TextBox 9"/>
          <p:cNvSpPr txBox="1"/>
          <p:nvPr/>
        </p:nvSpPr>
        <p:spPr>
          <a:xfrm>
            <a:off x="2092081" y="923925"/>
            <a:ext cx="16107897" cy="953135"/>
          </a:xfrm>
          <a:prstGeom prst="rect">
            <a:avLst/>
          </a:prstGeom>
        </p:spPr>
        <p:txBody>
          <a:bodyPr lIns="0" tIns="0" rIns="0" bIns="0" rtlCol="0" anchor="t">
            <a:spAutoFit/>
          </a:bodyPr>
          <a:lstStyle/>
          <a:p>
            <a:pPr algn="ctr">
              <a:lnSpc>
                <a:spcPts val="7840"/>
              </a:lnSpc>
            </a:pPr>
            <a:r>
              <a:rPr lang="en-US" sz="5600" b="1">
                <a:solidFill>
                  <a:srgbClr val="333137"/>
                </a:solidFill>
                <a:latin typeface="Emmali Medium"/>
                <a:ea typeface="Emmali Medium"/>
                <a:cs typeface="Emmali Medium"/>
                <a:sym typeface="Emmali Medium"/>
              </a:rPr>
              <a:t>3. FREE BODY DIAGRAM / SYSTEM SCHEMATIC</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DDDDDF"/>
        </a:solidFill>
        <a:effectLst/>
      </p:bgPr>
    </p:bg>
    <p:spTree>
      <p:nvGrpSpPr>
        <p:cNvPr id="1" name=""/>
        <p:cNvGrpSpPr/>
        <p:nvPr/>
      </p:nvGrpSpPr>
      <p:grpSpPr>
        <a:xfrm>
          <a:off x="0" y="0"/>
          <a:ext cx="0" cy="0"/>
          <a:chOff x="0" y="0"/>
          <a:chExt cx="0" cy="0"/>
        </a:xfrm>
      </p:grpSpPr>
      <p:sp>
        <p:nvSpPr>
          <p:cNvPr id="2" name="Freeform 2"/>
          <p:cNvSpPr/>
          <p:nvPr/>
        </p:nvSpPr>
        <p:spPr>
          <a:xfrm>
            <a:off x="12433764" y="7682720"/>
            <a:ext cx="8412822" cy="6669073"/>
          </a:xfrm>
          <a:custGeom>
            <a:avLst/>
            <a:gdLst/>
            <a:ahLst/>
            <a:cxnLst/>
            <a:rect l="l" t="t" r="r" b="b"/>
            <a:pathLst>
              <a:path w="8412822" h="6669073">
                <a:moveTo>
                  <a:pt x="0" y="0"/>
                </a:moveTo>
                <a:lnTo>
                  <a:pt x="8412822" y="0"/>
                </a:lnTo>
                <a:lnTo>
                  <a:pt x="8412822" y="6669074"/>
                </a:lnTo>
                <a:lnTo>
                  <a:pt x="0" y="666907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flipH="1" flipV="1">
            <a:off x="-2558586" y="-4064794"/>
            <a:ext cx="8412822" cy="6669073"/>
          </a:xfrm>
          <a:custGeom>
            <a:avLst/>
            <a:gdLst/>
            <a:ahLst/>
            <a:cxnLst/>
            <a:rect l="l" t="t" r="r" b="b"/>
            <a:pathLst>
              <a:path w="8412822" h="6669073">
                <a:moveTo>
                  <a:pt x="8412822" y="6669074"/>
                </a:moveTo>
                <a:lnTo>
                  <a:pt x="0" y="6669074"/>
                </a:lnTo>
                <a:lnTo>
                  <a:pt x="0" y="0"/>
                </a:lnTo>
                <a:lnTo>
                  <a:pt x="8412822" y="0"/>
                </a:lnTo>
                <a:lnTo>
                  <a:pt x="8412822" y="6669074"/>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flipH="1" flipV="1">
            <a:off x="-2190390" y="9258300"/>
            <a:ext cx="11408209" cy="1203047"/>
          </a:xfrm>
          <a:custGeom>
            <a:avLst/>
            <a:gdLst/>
            <a:ahLst/>
            <a:cxnLst/>
            <a:rect l="l" t="t" r="r" b="b"/>
            <a:pathLst>
              <a:path w="11408209" h="1203047">
                <a:moveTo>
                  <a:pt x="11408209" y="1203047"/>
                </a:moveTo>
                <a:lnTo>
                  <a:pt x="0" y="1203047"/>
                </a:lnTo>
                <a:lnTo>
                  <a:pt x="0" y="0"/>
                </a:lnTo>
                <a:lnTo>
                  <a:pt x="11408209" y="0"/>
                </a:lnTo>
                <a:lnTo>
                  <a:pt x="11408209" y="1203047"/>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9070181" y="-174347"/>
            <a:ext cx="11408209" cy="1203047"/>
          </a:xfrm>
          <a:custGeom>
            <a:avLst/>
            <a:gdLst/>
            <a:ahLst/>
            <a:cxnLst/>
            <a:rect l="l" t="t" r="r" b="b"/>
            <a:pathLst>
              <a:path w="11408209" h="1203047">
                <a:moveTo>
                  <a:pt x="0" y="0"/>
                </a:moveTo>
                <a:lnTo>
                  <a:pt x="11408209" y="0"/>
                </a:lnTo>
                <a:lnTo>
                  <a:pt x="11408209" y="1203047"/>
                </a:lnTo>
                <a:lnTo>
                  <a:pt x="0" y="1203047"/>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AutoShape 6"/>
          <p:cNvSpPr/>
          <p:nvPr/>
        </p:nvSpPr>
        <p:spPr>
          <a:xfrm>
            <a:off x="4254817" y="9840774"/>
            <a:ext cx="3827092" cy="0"/>
          </a:xfrm>
          <a:prstGeom prst="line">
            <a:avLst/>
          </a:prstGeom>
          <a:ln w="57150" cap="flat">
            <a:solidFill>
              <a:srgbClr val="333137"/>
            </a:solidFill>
            <a:prstDash val="solid"/>
            <a:headEnd type="none" w="sm" len="sm"/>
            <a:tailEnd type="none" w="sm" len="sm"/>
          </a:ln>
        </p:spPr>
      </p:sp>
      <p:sp>
        <p:nvSpPr>
          <p:cNvPr id="7" name="AutoShape 7"/>
          <p:cNvSpPr/>
          <p:nvPr/>
        </p:nvSpPr>
        <p:spPr>
          <a:xfrm>
            <a:off x="10146030" y="446226"/>
            <a:ext cx="3827092" cy="0"/>
          </a:xfrm>
          <a:prstGeom prst="line">
            <a:avLst/>
          </a:prstGeom>
          <a:ln w="57150" cap="flat">
            <a:solidFill>
              <a:srgbClr val="333137"/>
            </a:solidFill>
            <a:prstDash val="solid"/>
            <a:headEnd type="none" w="sm" len="sm"/>
            <a:tailEnd type="none" w="sm" len="sm"/>
          </a:ln>
        </p:spPr>
      </p:sp>
      <p:sp>
        <p:nvSpPr>
          <p:cNvPr id="8" name="TextBox 8"/>
          <p:cNvSpPr txBox="1"/>
          <p:nvPr/>
        </p:nvSpPr>
        <p:spPr>
          <a:xfrm>
            <a:off x="2536338" y="1206613"/>
            <a:ext cx="15219384" cy="1028700"/>
          </a:xfrm>
          <a:prstGeom prst="rect">
            <a:avLst/>
          </a:prstGeom>
        </p:spPr>
        <p:txBody>
          <a:bodyPr lIns="0" tIns="0" rIns="0" bIns="0" rtlCol="0" anchor="t">
            <a:spAutoFit/>
          </a:bodyPr>
          <a:lstStyle/>
          <a:p>
            <a:pPr algn="ctr">
              <a:lnSpc>
                <a:spcPts val="8400"/>
              </a:lnSpc>
            </a:pPr>
            <a:r>
              <a:rPr lang="en-US" sz="6000" b="1">
                <a:solidFill>
                  <a:srgbClr val="333137"/>
                </a:solidFill>
                <a:latin typeface="Emmali Medium"/>
                <a:ea typeface="Emmali Medium"/>
                <a:cs typeface="Emmali Medium"/>
                <a:sym typeface="Emmali Medium"/>
              </a:rPr>
              <a:t>4. MATHEMATICAL DERIVATION </a:t>
            </a:r>
          </a:p>
        </p:txBody>
      </p:sp>
      <p:sp>
        <p:nvSpPr>
          <p:cNvPr id="9" name="TextBox 9"/>
          <p:cNvSpPr txBox="1"/>
          <p:nvPr/>
        </p:nvSpPr>
        <p:spPr>
          <a:xfrm>
            <a:off x="1219098" y="2614785"/>
            <a:ext cx="16040202" cy="5067935"/>
          </a:xfrm>
          <a:prstGeom prst="rect">
            <a:avLst/>
          </a:prstGeom>
        </p:spPr>
        <p:txBody>
          <a:bodyPr lIns="0" tIns="0" rIns="0" bIns="0" rtlCol="0" anchor="t">
            <a:spAutoFit/>
          </a:bodyPr>
          <a:lstStyle/>
          <a:p>
            <a:pPr algn="l">
              <a:lnSpc>
                <a:spcPts val="3640"/>
              </a:lnSpc>
            </a:pPr>
            <a:r>
              <a:rPr lang="en-US" sz="2600" b="1">
                <a:solidFill>
                  <a:srgbClr val="333137"/>
                </a:solidFill>
                <a:latin typeface="Nyutro Sans Bold"/>
                <a:ea typeface="Nyutro Sans Bold"/>
                <a:cs typeface="Nyutro Sans Bold"/>
                <a:sym typeface="Nyutro Sans Bold"/>
              </a:rPr>
              <a:t>Method:</a:t>
            </a:r>
            <a:r>
              <a:rPr lang="en-US" sz="2600">
                <a:solidFill>
                  <a:srgbClr val="333137"/>
                </a:solidFill>
                <a:latin typeface="Nyutro Sans"/>
                <a:ea typeface="Nyutro Sans"/>
                <a:cs typeface="Nyutro Sans"/>
                <a:sym typeface="Nyutro Sans"/>
              </a:rPr>
              <a:t> Lagrange (better for multi-DOF systems like hexapod)</a:t>
            </a:r>
          </a:p>
          <a:p>
            <a:pPr algn="l">
              <a:lnSpc>
                <a:spcPts val="3640"/>
              </a:lnSpc>
            </a:pPr>
            <a:r>
              <a:rPr lang="en-US" sz="2600" b="1">
                <a:solidFill>
                  <a:srgbClr val="333137"/>
                </a:solidFill>
                <a:latin typeface="Nyutro Sans Bold"/>
                <a:ea typeface="Nyutro Sans Bold"/>
                <a:cs typeface="Nyutro Sans Bold"/>
                <a:sym typeface="Nyutro Sans Bold"/>
              </a:rPr>
              <a:t>Why?</a:t>
            </a:r>
          </a:p>
          <a:p>
            <a:pPr algn="l">
              <a:lnSpc>
                <a:spcPts val="3640"/>
              </a:lnSpc>
            </a:pPr>
            <a:r>
              <a:rPr lang="en-US" sz="2600">
                <a:solidFill>
                  <a:srgbClr val="333137"/>
                </a:solidFill>
                <a:latin typeface="Nyutro Sans"/>
                <a:ea typeface="Nyutro Sans"/>
                <a:cs typeface="Nyutro Sans"/>
                <a:sym typeface="Nyutro Sans"/>
              </a:rPr>
              <a:t> Avoids calculating constraint forces → simplifies multi-joint system</a:t>
            </a:r>
          </a:p>
          <a:p>
            <a:pPr algn="l">
              <a:lnSpc>
                <a:spcPts val="3640"/>
              </a:lnSpc>
            </a:pPr>
            <a:r>
              <a:rPr lang="en-US" sz="2600" b="1">
                <a:solidFill>
                  <a:srgbClr val="333137"/>
                </a:solidFill>
                <a:latin typeface="Nyutro Sans Bold"/>
                <a:ea typeface="Nyutro Sans Bold"/>
                <a:cs typeface="Nyutro Sans Bold"/>
                <a:sym typeface="Nyutro Sans Bold"/>
              </a:rPr>
              <a:t>Step 0: Generalized Coordinates</a:t>
            </a:r>
          </a:p>
          <a:p>
            <a:pPr algn="l">
              <a:lnSpc>
                <a:spcPts val="3640"/>
              </a:lnSpc>
            </a:pPr>
            <a:r>
              <a:rPr lang="en-US" sz="2600">
                <a:solidFill>
                  <a:srgbClr val="333137"/>
                </a:solidFill>
                <a:latin typeface="Nyutro Sans"/>
                <a:ea typeface="Nyutro Sans"/>
                <a:cs typeface="Nyutro Sans"/>
                <a:sym typeface="Nyutro Sans"/>
              </a:rPr>
              <a:t>Let one leg have 3 joints:</a:t>
            </a:r>
          </a:p>
          <a:p>
            <a:pPr algn="ctr">
              <a:lnSpc>
                <a:spcPts val="3640"/>
              </a:lnSpc>
            </a:pPr>
            <a:r>
              <a:rPr lang="en-US" sz="2600">
                <a:solidFill>
                  <a:srgbClr val="333137"/>
                </a:solidFill>
                <a:latin typeface="Nyutro Sans"/>
                <a:ea typeface="Nyutro Sans"/>
                <a:cs typeface="Nyutro Sans"/>
                <a:sym typeface="Nyutro Sans"/>
              </a:rPr>
              <a:t>q=[θ1,θ2,θ3]</a:t>
            </a:r>
          </a:p>
          <a:p>
            <a:pPr algn="l">
              <a:lnSpc>
                <a:spcPts val="3640"/>
              </a:lnSpc>
            </a:pPr>
            <a:r>
              <a:rPr lang="en-US" sz="2600">
                <a:solidFill>
                  <a:srgbClr val="333137"/>
                </a:solidFill>
                <a:latin typeface="Nyutro Sans"/>
                <a:ea typeface="Nyutro Sans"/>
                <a:cs typeface="Nyutro Sans"/>
                <a:sym typeface="Nyutro Sans"/>
              </a:rPr>
              <a:t>Where:</a:t>
            </a:r>
          </a:p>
          <a:p>
            <a:pPr marL="561341" lvl="1" indent="-280670" algn="l">
              <a:lnSpc>
                <a:spcPts val="3640"/>
              </a:lnSpc>
              <a:buFont typeface="Arial"/>
              <a:buChar char="•"/>
            </a:pPr>
            <a:r>
              <a:rPr lang="en-US" sz="2600">
                <a:solidFill>
                  <a:srgbClr val="333137"/>
                </a:solidFill>
                <a:latin typeface="Nyutro Sans"/>
                <a:ea typeface="Nyutro Sans"/>
                <a:cs typeface="Nyutro Sans"/>
                <a:sym typeface="Nyutro Sans"/>
              </a:rPr>
              <a:t>θ₁ → hip joint</a:t>
            </a:r>
          </a:p>
          <a:p>
            <a:pPr marL="561341" lvl="1" indent="-280670" algn="l">
              <a:lnSpc>
                <a:spcPts val="3640"/>
              </a:lnSpc>
              <a:buFont typeface="Arial"/>
              <a:buChar char="•"/>
            </a:pPr>
            <a:r>
              <a:rPr lang="en-US" sz="2600">
                <a:solidFill>
                  <a:srgbClr val="333137"/>
                </a:solidFill>
                <a:latin typeface="Nyutro Sans"/>
                <a:ea typeface="Nyutro Sans"/>
                <a:cs typeface="Nyutro Sans"/>
                <a:sym typeface="Nyutro Sans"/>
              </a:rPr>
              <a:t>θ₂ → knee joint</a:t>
            </a:r>
          </a:p>
          <a:p>
            <a:pPr marL="561341" lvl="1" indent="-280670" algn="l">
              <a:lnSpc>
                <a:spcPts val="3640"/>
              </a:lnSpc>
              <a:buFont typeface="Arial"/>
              <a:buChar char="•"/>
            </a:pPr>
            <a:r>
              <a:rPr lang="en-US" sz="2600">
                <a:solidFill>
                  <a:srgbClr val="333137"/>
                </a:solidFill>
                <a:latin typeface="Nyutro Sans"/>
                <a:ea typeface="Nyutro Sans"/>
                <a:cs typeface="Nyutro Sans"/>
                <a:sym typeface="Nyutro Sans"/>
              </a:rPr>
              <a:t>θ₃ → ankle joint</a:t>
            </a:r>
          </a:p>
          <a:p>
            <a:pPr algn="l">
              <a:lnSpc>
                <a:spcPts val="3640"/>
              </a:lnSpc>
            </a:pPr>
            <a:r>
              <a:rPr lang="en-US" sz="2600">
                <a:solidFill>
                  <a:srgbClr val="333137"/>
                </a:solidFill>
                <a:latin typeface="Nyutro Sans"/>
                <a:ea typeface="Nyutro Sans"/>
                <a:cs typeface="Nyutro Sans"/>
                <a:sym typeface="Nyutro Sans"/>
              </a:rPr>
              <a:t>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DDDDDF"/>
        </a:solidFill>
        <a:effectLst/>
      </p:bgPr>
    </p:bg>
    <p:spTree>
      <p:nvGrpSpPr>
        <p:cNvPr id="1" name=""/>
        <p:cNvGrpSpPr/>
        <p:nvPr/>
      </p:nvGrpSpPr>
      <p:grpSpPr>
        <a:xfrm>
          <a:off x="0" y="0"/>
          <a:ext cx="0" cy="0"/>
          <a:chOff x="0" y="0"/>
          <a:chExt cx="0" cy="0"/>
        </a:xfrm>
      </p:grpSpPr>
      <p:sp>
        <p:nvSpPr>
          <p:cNvPr id="2" name="Freeform 2"/>
          <p:cNvSpPr/>
          <p:nvPr/>
        </p:nvSpPr>
        <p:spPr>
          <a:xfrm>
            <a:off x="12433764" y="7682720"/>
            <a:ext cx="8412822" cy="6669073"/>
          </a:xfrm>
          <a:custGeom>
            <a:avLst/>
            <a:gdLst/>
            <a:ahLst/>
            <a:cxnLst/>
            <a:rect l="l" t="t" r="r" b="b"/>
            <a:pathLst>
              <a:path w="8412822" h="6669073">
                <a:moveTo>
                  <a:pt x="0" y="0"/>
                </a:moveTo>
                <a:lnTo>
                  <a:pt x="8412822" y="0"/>
                </a:lnTo>
                <a:lnTo>
                  <a:pt x="8412822" y="6669074"/>
                </a:lnTo>
                <a:lnTo>
                  <a:pt x="0" y="666907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flipH="1" flipV="1">
            <a:off x="-2558586" y="-4064794"/>
            <a:ext cx="8412822" cy="6669073"/>
          </a:xfrm>
          <a:custGeom>
            <a:avLst/>
            <a:gdLst/>
            <a:ahLst/>
            <a:cxnLst/>
            <a:rect l="l" t="t" r="r" b="b"/>
            <a:pathLst>
              <a:path w="8412822" h="6669073">
                <a:moveTo>
                  <a:pt x="8412822" y="6669074"/>
                </a:moveTo>
                <a:lnTo>
                  <a:pt x="0" y="6669074"/>
                </a:lnTo>
                <a:lnTo>
                  <a:pt x="0" y="0"/>
                </a:lnTo>
                <a:lnTo>
                  <a:pt x="8412822" y="0"/>
                </a:lnTo>
                <a:lnTo>
                  <a:pt x="8412822" y="6669074"/>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flipH="1" flipV="1">
            <a:off x="-2190390" y="9258300"/>
            <a:ext cx="11408209" cy="1203047"/>
          </a:xfrm>
          <a:custGeom>
            <a:avLst/>
            <a:gdLst/>
            <a:ahLst/>
            <a:cxnLst/>
            <a:rect l="l" t="t" r="r" b="b"/>
            <a:pathLst>
              <a:path w="11408209" h="1203047">
                <a:moveTo>
                  <a:pt x="11408209" y="1203047"/>
                </a:moveTo>
                <a:lnTo>
                  <a:pt x="0" y="1203047"/>
                </a:lnTo>
                <a:lnTo>
                  <a:pt x="0" y="0"/>
                </a:lnTo>
                <a:lnTo>
                  <a:pt x="11408209" y="0"/>
                </a:lnTo>
                <a:lnTo>
                  <a:pt x="11408209" y="1203047"/>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9070181" y="-174347"/>
            <a:ext cx="11408209" cy="1203047"/>
          </a:xfrm>
          <a:custGeom>
            <a:avLst/>
            <a:gdLst/>
            <a:ahLst/>
            <a:cxnLst/>
            <a:rect l="l" t="t" r="r" b="b"/>
            <a:pathLst>
              <a:path w="11408209" h="1203047">
                <a:moveTo>
                  <a:pt x="0" y="0"/>
                </a:moveTo>
                <a:lnTo>
                  <a:pt x="11408209" y="0"/>
                </a:lnTo>
                <a:lnTo>
                  <a:pt x="11408209" y="1203047"/>
                </a:lnTo>
                <a:lnTo>
                  <a:pt x="0" y="1203047"/>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AutoShape 6"/>
          <p:cNvSpPr/>
          <p:nvPr/>
        </p:nvSpPr>
        <p:spPr>
          <a:xfrm>
            <a:off x="4254817" y="9840774"/>
            <a:ext cx="3827092" cy="0"/>
          </a:xfrm>
          <a:prstGeom prst="line">
            <a:avLst/>
          </a:prstGeom>
          <a:ln w="57150" cap="flat">
            <a:solidFill>
              <a:srgbClr val="333137"/>
            </a:solidFill>
            <a:prstDash val="solid"/>
            <a:headEnd type="none" w="sm" len="sm"/>
            <a:tailEnd type="none" w="sm" len="sm"/>
          </a:ln>
        </p:spPr>
      </p:sp>
      <p:sp>
        <p:nvSpPr>
          <p:cNvPr id="7" name="AutoShape 7"/>
          <p:cNvSpPr/>
          <p:nvPr/>
        </p:nvSpPr>
        <p:spPr>
          <a:xfrm>
            <a:off x="10146030" y="446226"/>
            <a:ext cx="3827092" cy="0"/>
          </a:xfrm>
          <a:prstGeom prst="line">
            <a:avLst/>
          </a:prstGeom>
          <a:ln w="57150" cap="flat">
            <a:solidFill>
              <a:srgbClr val="333137"/>
            </a:solidFill>
            <a:prstDash val="solid"/>
            <a:headEnd type="none" w="sm" len="sm"/>
            <a:tailEnd type="none" w="sm" len="sm"/>
          </a:ln>
        </p:spPr>
      </p:sp>
      <p:sp>
        <p:nvSpPr>
          <p:cNvPr id="8" name="TextBox 8"/>
          <p:cNvSpPr txBox="1"/>
          <p:nvPr/>
        </p:nvSpPr>
        <p:spPr>
          <a:xfrm>
            <a:off x="2536338" y="1206613"/>
            <a:ext cx="15219384" cy="1028700"/>
          </a:xfrm>
          <a:prstGeom prst="rect">
            <a:avLst/>
          </a:prstGeom>
        </p:spPr>
        <p:txBody>
          <a:bodyPr lIns="0" tIns="0" rIns="0" bIns="0" rtlCol="0" anchor="t">
            <a:spAutoFit/>
          </a:bodyPr>
          <a:lstStyle/>
          <a:p>
            <a:pPr algn="ctr">
              <a:lnSpc>
                <a:spcPts val="8400"/>
              </a:lnSpc>
            </a:pPr>
            <a:r>
              <a:rPr lang="en-US" sz="6000" b="1">
                <a:solidFill>
                  <a:srgbClr val="333137"/>
                </a:solidFill>
                <a:latin typeface="Emmali Medium"/>
                <a:ea typeface="Emmali Medium"/>
                <a:cs typeface="Emmali Medium"/>
                <a:sym typeface="Emmali Medium"/>
              </a:rPr>
              <a:t>4. MATHEMATICAL DERIVATION </a:t>
            </a:r>
          </a:p>
        </p:txBody>
      </p:sp>
      <p:sp>
        <p:nvSpPr>
          <p:cNvPr id="9" name="TextBox 9"/>
          <p:cNvSpPr txBox="1"/>
          <p:nvPr/>
        </p:nvSpPr>
        <p:spPr>
          <a:xfrm>
            <a:off x="2125929" y="2006483"/>
            <a:ext cx="16040202" cy="5911215"/>
          </a:xfrm>
          <a:prstGeom prst="rect">
            <a:avLst/>
          </a:prstGeom>
        </p:spPr>
        <p:txBody>
          <a:bodyPr lIns="0" tIns="0" rIns="0" bIns="0" rtlCol="0" anchor="t">
            <a:spAutoFit/>
          </a:bodyPr>
          <a:lstStyle/>
          <a:p>
            <a:pPr algn="l">
              <a:lnSpc>
                <a:spcPts val="3359"/>
              </a:lnSpc>
            </a:pPr>
            <a:r>
              <a:rPr lang="en-US" sz="2400" b="1">
                <a:solidFill>
                  <a:srgbClr val="333137"/>
                </a:solidFill>
                <a:latin typeface="Nyutro Sans Bold"/>
                <a:ea typeface="Nyutro Sans Bold"/>
                <a:cs typeface="Nyutro Sans Bold"/>
                <a:sym typeface="Nyutro Sans Bold"/>
              </a:rPr>
              <a:t>Step 1: Position of Each Link COM</a:t>
            </a:r>
          </a:p>
          <a:p>
            <a:pPr algn="l">
              <a:lnSpc>
                <a:spcPts val="3359"/>
              </a:lnSpc>
            </a:pPr>
            <a:r>
              <a:rPr lang="en-US" sz="2400">
                <a:solidFill>
                  <a:srgbClr val="333137"/>
                </a:solidFill>
                <a:latin typeface="Nyutro Sans"/>
                <a:ea typeface="Nyutro Sans"/>
                <a:cs typeface="Nyutro Sans"/>
                <a:sym typeface="Nyutro Sans"/>
              </a:rPr>
              <a:t>Assume:  Link lengths: L1,L2,L3         |        ​COM at half length</a:t>
            </a:r>
          </a:p>
          <a:p>
            <a:pPr algn="l">
              <a:lnSpc>
                <a:spcPts val="3359"/>
              </a:lnSpc>
            </a:pPr>
            <a:r>
              <a:rPr lang="en-US" sz="2400">
                <a:solidFill>
                  <a:srgbClr val="333137"/>
                </a:solidFill>
                <a:latin typeface="Nyutro Sans"/>
                <a:ea typeface="Nyutro Sans"/>
                <a:cs typeface="Nyutro Sans"/>
                <a:sym typeface="Nyutro Sans"/>
              </a:rPr>
              <a:t>Link 1 (Hip)</a:t>
            </a:r>
          </a:p>
          <a:p>
            <a:pPr algn="l">
              <a:lnSpc>
                <a:spcPts val="3359"/>
              </a:lnSpc>
            </a:pPr>
            <a:endParaRPr lang="en-US" sz="2400">
              <a:solidFill>
                <a:srgbClr val="333137"/>
              </a:solidFill>
              <a:latin typeface="Nyutro Sans"/>
              <a:ea typeface="Nyutro Sans"/>
              <a:cs typeface="Nyutro Sans"/>
              <a:sym typeface="Nyutro Sans"/>
            </a:endParaRPr>
          </a:p>
          <a:p>
            <a:pPr algn="l">
              <a:lnSpc>
                <a:spcPts val="3359"/>
              </a:lnSpc>
            </a:pPr>
            <a:endParaRPr lang="en-US" sz="2400">
              <a:solidFill>
                <a:srgbClr val="333137"/>
              </a:solidFill>
              <a:latin typeface="Nyutro Sans"/>
              <a:ea typeface="Nyutro Sans"/>
              <a:cs typeface="Nyutro Sans"/>
              <a:sym typeface="Nyutro Sans"/>
            </a:endParaRPr>
          </a:p>
          <a:p>
            <a:pPr algn="l">
              <a:lnSpc>
                <a:spcPts val="3359"/>
              </a:lnSpc>
            </a:pPr>
            <a:endParaRPr lang="en-US" sz="2400">
              <a:solidFill>
                <a:srgbClr val="333137"/>
              </a:solidFill>
              <a:latin typeface="Nyutro Sans"/>
              <a:ea typeface="Nyutro Sans"/>
              <a:cs typeface="Nyutro Sans"/>
              <a:sym typeface="Nyutro Sans"/>
            </a:endParaRPr>
          </a:p>
          <a:p>
            <a:pPr algn="l">
              <a:lnSpc>
                <a:spcPts val="3359"/>
              </a:lnSpc>
            </a:pPr>
            <a:endParaRPr lang="en-US" sz="2400">
              <a:solidFill>
                <a:srgbClr val="333137"/>
              </a:solidFill>
              <a:latin typeface="Nyutro Sans"/>
              <a:ea typeface="Nyutro Sans"/>
              <a:cs typeface="Nyutro Sans"/>
              <a:sym typeface="Nyutro Sans"/>
            </a:endParaRPr>
          </a:p>
          <a:p>
            <a:pPr algn="l">
              <a:lnSpc>
                <a:spcPts val="3359"/>
              </a:lnSpc>
            </a:pPr>
            <a:r>
              <a:rPr lang="en-US" sz="2400">
                <a:solidFill>
                  <a:srgbClr val="333137"/>
                </a:solidFill>
                <a:latin typeface="Nyutro Sans"/>
                <a:ea typeface="Nyutro Sans"/>
                <a:cs typeface="Nyutro Sans"/>
                <a:sym typeface="Nyutro Sans"/>
              </a:rPr>
              <a:t>Link 2 (Thigh)</a:t>
            </a:r>
          </a:p>
          <a:p>
            <a:pPr algn="l">
              <a:lnSpc>
                <a:spcPts val="3359"/>
              </a:lnSpc>
            </a:pPr>
            <a:endParaRPr lang="en-US" sz="2400">
              <a:solidFill>
                <a:srgbClr val="333137"/>
              </a:solidFill>
              <a:latin typeface="Nyutro Sans"/>
              <a:ea typeface="Nyutro Sans"/>
              <a:cs typeface="Nyutro Sans"/>
              <a:sym typeface="Nyutro Sans"/>
            </a:endParaRPr>
          </a:p>
          <a:p>
            <a:pPr algn="l">
              <a:lnSpc>
                <a:spcPts val="3359"/>
              </a:lnSpc>
            </a:pPr>
            <a:endParaRPr lang="en-US" sz="2400">
              <a:solidFill>
                <a:srgbClr val="333137"/>
              </a:solidFill>
              <a:latin typeface="Nyutro Sans"/>
              <a:ea typeface="Nyutro Sans"/>
              <a:cs typeface="Nyutro Sans"/>
              <a:sym typeface="Nyutro Sans"/>
            </a:endParaRPr>
          </a:p>
          <a:p>
            <a:pPr algn="l">
              <a:lnSpc>
                <a:spcPts val="3359"/>
              </a:lnSpc>
            </a:pPr>
            <a:endParaRPr lang="en-US" sz="2400">
              <a:solidFill>
                <a:srgbClr val="333137"/>
              </a:solidFill>
              <a:latin typeface="Nyutro Sans"/>
              <a:ea typeface="Nyutro Sans"/>
              <a:cs typeface="Nyutro Sans"/>
              <a:sym typeface="Nyutro Sans"/>
            </a:endParaRPr>
          </a:p>
          <a:p>
            <a:pPr algn="l">
              <a:lnSpc>
                <a:spcPts val="3359"/>
              </a:lnSpc>
            </a:pPr>
            <a:endParaRPr lang="en-US" sz="2400">
              <a:solidFill>
                <a:srgbClr val="333137"/>
              </a:solidFill>
              <a:latin typeface="Nyutro Sans"/>
              <a:ea typeface="Nyutro Sans"/>
              <a:cs typeface="Nyutro Sans"/>
              <a:sym typeface="Nyutro Sans"/>
            </a:endParaRPr>
          </a:p>
          <a:p>
            <a:pPr algn="l">
              <a:lnSpc>
                <a:spcPts val="3359"/>
              </a:lnSpc>
            </a:pPr>
            <a:endParaRPr lang="en-US" sz="2400">
              <a:solidFill>
                <a:srgbClr val="333137"/>
              </a:solidFill>
              <a:latin typeface="Nyutro Sans"/>
              <a:ea typeface="Nyutro Sans"/>
              <a:cs typeface="Nyutro Sans"/>
              <a:sym typeface="Nyutro Sans"/>
            </a:endParaRPr>
          </a:p>
          <a:p>
            <a:pPr algn="l">
              <a:lnSpc>
                <a:spcPts val="3359"/>
              </a:lnSpc>
            </a:pPr>
            <a:r>
              <a:rPr lang="en-US" sz="2400">
                <a:solidFill>
                  <a:srgbClr val="333137"/>
                </a:solidFill>
                <a:latin typeface="Nyutro Sans"/>
                <a:ea typeface="Nyutro Sans"/>
                <a:cs typeface="Nyutro Sans"/>
                <a:sym typeface="Nyutro Sans"/>
              </a:rPr>
              <a:t>Link 3 (Tibia)</a:t>
            </a:r>
          </a:p>
        </p:txBody>
      </p:sp>
      <p:pic>
        <p:nvPicPr>
          <p:cNvPr id="10" name="Picture 10"/>
          <p:cNvPicPr>
            <a:picLocks noChangeAspect="1"/>
          </p:cNvPicPr>
          <p:nvPr/>
        </p:nvPicPr>
        <p:blipFill>
          <a:blip r:embed="rId4"/>
          <a:stretch>
            <a:fillRect/>
          </a:stretch>
        </p:blipFill>
        <p:spPr>
          <a:xfrm>
            <a:off x="7948191" y="2956449"/>
            <a:ext cx="2617800" cy="1142080"/>
          </a:xfrm>
          <a:prstGeom prst="rect">
            <a:avLst/>
          </a:prstGeom>
        </p:spPr>
      </p:pic>
      <p:pic>
        <p:nvPicPr>
          <p:cNvPr id="11" name="Picture 11"/>
          <p:cNvPicPr>
            <a:picLocks noChangeAspect="1"/>
          </p:cNvPicPr>
          <p:nvPr/>
        </p:nvPicPr>
        <p:blipFill>
          <a:blip r:embed="rId5"/>
          <a:stretch>
            <a:fillRect/>
          </a:stretch>
        </p:blipFill>
        <p:spPr>
          <a:xfrm>
            <a:off x="7948191" y="3781739"/>
            <a:ext cx="2617800" cy="1163467"/>
          </a:xfrm>
          <a:prstGeom prst="rect">
            <a:avLst/>
          </a:prstGeom>
        </p:spPr>
      </p:pic>
      <p:pic>
        <p:nvPicPr>
          <p:cNvPr id="12" name="Picture 12"/>
          <p:cNvPicPr>
            <a:picLocks noChangeAspect="1"/>
          </p:cNvPicPr>
          <p:nvPr/>
        </p:nvPicPr>
        <p:blipFill>
          <a:blip r:embed="rId6"/>
          <a:stretch>
            <a:fillRect/>
          </a:stretch>
        </p:blipFill>
        <p:spPr>
          <a:xfrm>
            <a:off x="6755834" y="4989832"/>
            <a:ext cx="5150153" cy="1485037"/>
          </a:xfrm>
          <a:prstGeom prst="rect">
            <a:avLst/>
          </a:prstGeom>
        </p:spPr>
      </p:pic>
      <p:pic>
        <p:nvPicPr>
          <p:cNvPr id="13" name="Picture 13"/>
          <p:cNvPicPr>
            <a:picLocks noChangeAspect="1"/>
          </p:cNvPicPr>
          <p:nvPr/>
        </p:nvPicPr>
        <p:blipFill>
          <a:blip r:embed="rId7"/>
          <a:stretch>
            <a:fillRect/>
          </a:stretch>
        </p:blipFill>
        <p:spPr>
          <a:xfrm>
            <a:off x="6682015" y="5740335"/>
            <a:ext cx="5150153" cy="1499215"/>
          </a:xfrm>
          <a:prstGeom prst="rect">
            <a:avLst/>
          </a:prstGeom>
        </p:spPr>
      </p:pic>
      <p:pic>
        <p:nvPicPr>
          <p:cNvPr id="14" name="Picture 14"/>
          <p:cNvPicPr>
            <a:picLocks noChangeAspect="1"/>
          </p:cNvPicPr>
          <p:nvPr/>
        </p:nvPicPr>
        <p:blipFill>
          <a:blip r:embed="rId8"/>
          <a:stretch>
            <a:fillRect/>
          </a:stretch>
        </p:blipFill>
        <p:spPr>
          <a:xfrm>
            <a:off x="4887470" y="7244780"/>
            <a:ext cx="9560911" cy="2276407"/>
          </a:xfrm>
          <a:prstGeom prst="rect">
            <a:avLst/>
          </a:prstGeom>
        </p:spPr>
      </p:pic>
      <p:pic>
        <p:nvPicPr>
          <p:cNvPr id="15" name="Picture 15"/>
          <p:cNvPicPr>
            <a:picLocks noChangeAspect="1"/>
          </p:cNvPicPr>
          <p:nvPr/>
        </p:nvPicPr>
        <p:blipFill>
          <a:blip r:embed="rId9"/>
          <a:stretch>
            <a:fillRect/>
          </a:stretch>
        </p:blipFill>
        <p:spPr>
          <a:xfrm>
            <a:off x="4887470" y="8049270"/>
            <a:ext cx="9560911" cy="228905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DDDDDF"/>
        </a:solidFill>
        <a:effectLst/>
      </p:bgPr>
    </p:bg>
    <p:spTree>
      <p:nvGrpSpPr>
        <p:cNvPr id="1" name=""/>
        <p:cNvGrpSpPr/>
        <p:nvPr/>
      </p:nvGrpSpPr>
      <p:grpSpPr>
        <a:xfrm>
          <a:off x="0" y="0"/>
          <a:ext cx="0" cy="0"/>
          <a:chOff x="0" y="0"/>
          <a:chExt cx="0" cy="0"/>
        </a:xfrm>
      </p:grpSpPr>
      <p:sp>
        <p:nvSpPr>
          <p:cNvPr id="2" name="Freeform 2"/>
          <p:cNvSpPr/>
          <p:nvPr/>
        </p:nvSpPr>
        <p:spPr>
          <a:xfrm>
            <a:off x="12433764" y="7682720"/>
            <a:ext cx="8412822" cy="6669073"/>
          </a:xfrm>
          <a:custGeom>
            <a:avLst/>
            <a:gdLst/>
            <a:ahLst/>
            <a:cxnLst/>
            <a:rect l="l" t="t" r="r" b="b"/>
            <a:pathLst>
              <a:path w="8412822" h="6669073">
                <a:moveTo>
                  <a:pt x="0" y="0"/>
                </a:moveTo>
                <a:lnTo>
                  <a:pt x="8412822" y="0"/>
                </a:lnTo>
                <a:lnTo>
                  <a:pt x="8412822" y="6669074"/>
                </a:lnTo>
                <a:lnTo>
                  <a:pt x="0" y="666907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flipH="1" flipV="1">
            <a:off x="-2558586" y="-4064794"/>
            <a:ext cx="8412822" cy="6669073"/>
          </a:xfrm>
          <a:custGeom>
            <a:avLst/>
            <a:gdLst/>
            <a:ahLst/>
            <a:cxnLst/>
            <a:rect l="l" t="t" r="r" b="b"/>
            <a:pathLst>
              <a:path w="8412822" h="6669073">
                <a:moveTo>
                  <a:pt x="8412822" y="6669074"/>
                </a:moveTo>
                <a:lnTo>
                  <a:pt x="0" y="6669074"/>
                </a:lnTo>
                <a:lnTo>
                  <a:pt x="0" y="0"/>
                </a:lnTo>
                <a:lnTo>
                  <a:pt x="8412822" y="0"/>
                </a:lnTo>
                <a:lnTo>
                  <a:pt x="8412822" y="6669074"/>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flipH="1" flipV="1">
            <a:off x="-2190390" y="9258300"/>
            <a:ext cx="11408209" cy="1203047"/>
          </a:xfrm>
          <a:custGeom>
            <a:avLst/>
            <a:gdLst/>
            <a:ahLst/>
            <a:cxnLst/>
            <a:rect l="l" t="t" r="r" b="b"/>
            <a:pathLst>
              <a:path w="11408209" h="1203047">
                <a:moveTo>
                  <a:pt x="11408209" y="1203047"/>
                </a:moveTo>
                <a:lnTo>
                  <a:pt x="0" y="1203047"/>
                </a:lnTo>
                <a:lnTo>
                  <a:pt x="0" y="0"/>
                </a:lnTo>
                <a:lnTo>
                  <a:pt x="11408209" y="0"/>
                </a:lnTo>
                <a:lnTo>
                  <a:pt x="11408209" y="1203047"/>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9070181" y="-174347"/>
            <a:ext cx="11408209" cy="1203047"/>
          </a:xfrm>
          <a:custGeom>
            <a:avLst/>
            <a:gdLst/>
            <a:ahLst/>
            <a:cxnLst/>
            <a:rect l="l" t="t" r="r" b="b"/>
            <a:pathLst>
              <a:path w="11408209" h="1203047">
                <a:moveTo>
                  <a:pt x="0" y="0"/>
                </a:moveTo>
                <a:lnTo>
                  <a:pt x="11408209" y="0"/>
                </a:lnTo>
                <a:lnTo>
                  <a:pt x="11408209" y="1203047"/>
                </a:lnTo>
                <a:lnTo>
                  <a:pt x="0" y="1203047"/>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AutoShape 6"/>
          <p:cNvSpPr/>
          <p:nvPr/>
        </p:nvSpPr>
        <p:spPr>
          <a:xfrm>
            <a:off x="4254817" y="9840774"/>
            <a:ext cx="3827092" cy="0"/>
          </a:xfrm>
          <a:prstGeom prst="line">
            <a:avLst/>
          </a:prstGeom>
          <a:ln w="57150" cap="flat">
            <a:solidFill>
              <a:srgbClr val="333137"/>
            </a:solidFill>
            <a:prstDash val="solid"/>
            <a:headEnd type="none" w="sm" len="sm"/>
            <a:tailEnd type="none" w="sm" len="sm"/>
          </a:ln>
        </p:spPr>
      </p:sp>
      <p:sp>
        <p:nvSpPr>
          <p:cNvPr id="7" name="AutoShape 7"/>
          <p:cNvSpPr/>
          <p:nvPr/>
        </p:nvSpPr>
        <p:spPr>
          <a:xfrm>
            <a:off x="10146030" y="446226"/>
            <a:ext cx="3827092" cy="0"/>
          </a:xfrm>
          <a:prstGeom prst="line">
            <a:avLst/>
          </a:prstGeom>
          <a:ln w="57150" cap="flat">
            <a:solidFill>
              <a:srgbClr val="333137"/>
            </a:solidFill>
            <a:prstDash val="solid"/>
            <a:headEnd type="none" w="sm" len="sm"/>
            <a:tailEnd type="none" w="sm" len="sm"/>
          </a:ln>
        </p:spPr>
      </p:sp>
      <p:sp>
        <p:nvSpPr>
          <p:cNvPr id="8" name="TextBox 8"/>
          <p:cNvSpPr txBox="1"/>
          <p:nvPr/>
        </p:nvSpPr>
        <p:spPr>
          <a:xfrm>
            <a:off x="2536338" y="1206613"/>
            <a:ext cx="15219384" cy="1028700"/>
          </a:xfrm>
          <a:prstGeom prst="rect">
            <a:avLst/>
          </a:prstGeom>
        </p:spPr>
        <p:txBody>
          <a:bodyPr lIns="0" tIns="0" rIns="0" bIns="0" rtlCol="0" anchor="t">
            <a:spAutoFit/>
          </a:bodyPr>
          <a:lstStyle/>
          <a:p>
            <a:pPr algn="ctr">
              <a:lnSpc>
                <a:spcPts val="8400"/>
              </a:lnSpc>
            </a:pPr>
            <a:r>
              <a:rPr lang="en-US" sz="6000" b="1">
                <a:solidFill>
                  <a:srgbClr val="333137"/>
                </a:solidFill>
                <a:latin typeface="Emmali Medium"/>
                <a:ea typeface="Emmali Medium"/>
                <a:cs typeface="Emmali Medium"/>
                <a:sym typeface="Emmali Medium"/>
              </a:rPr>
              <a:t>4. MATHEMATICAL DERIVATION </a:t>
            </a:r>
          </a:p>
        </p:txBody>
      </p:sp>
      <p:pic>
        <p:nvPicPr>
          <p:cNvPr id="9" name="Picture 9"/>
          <p:cNvPicPr>
            <a:picLocks noChangeAspect="1"/>
          </p:cNvPicPr>
          <p:nvPr/>
        </p:nvPicPr>
        <p:blipFill>
          <a:blip r:embed="rId4"/>
          <a:stretch>
            <a:fillRect/>
          </a:stretch>
        </p:blipFill>
        <p:spPr>
          <a:xfrm>
            <a:off x="7360303" y="2741771"/>
            <a:ext cx="3567395" cy="1300346"/>
          </a:xfrm>
          <a:prstGeom prst="rect">
            <a:avLst/>
          </a:prstGeom>
        </p:spPr>
      </p:pic>
      <p:pic>
        <p:nvPicPr>
          <p:cNvPr id="10" name="Picture 10"/>
          <p:cNvPicPr>
            <a:picLocks noChangeAspect="1"/>
          </p:cNvPicPr>
          <p:nvPr/>
        </p:nvPicPr>
        <p:blipFill>
          <a:blip r:embed="rId5"/>
          <a:stretch>
            <a:fillRect/>
          </a:stretch>
        </p:blipFill>
        <p:spPr>
          <a:xfrm>
            <a:off x="7464906" y="3584495"/>
            <a:ext cx="3358188" cy="1286865"/>
          </a:xfrm>
          <a:prstGeom prst="rect">
            <a:avLst/>
          </a:prstGeom>
        </p:spPr>
      </p:pic>
      <p:pic>
        <p:nvPicPr>
          <p:cNvPr id="11" name="Picture 11"/>
          <p:cNvPicPr>
            <a:picLocks noChangeAspect="1"/>
          </p:cNvPicPr>
          <p:nvPr/>
        </p:nvPicPr>
        <p:blipFill>
          <a:blip r:embed="rId6"/>
          <a:stretch>
            <a:fillRect/>
          </a:stretch>
        </p:blipFill>
        <p:spPr>
          <a:xfrm>
            <a:off x="6733803" y="5101434"/>
            <a:ext cx="4968030" cy="1794011"/>
          </a:xfrm>
          <a:prstGeom prst="rect">
            <a:avLst/>
          </a:prstGeom>
        </p:spPr>
      </p:pic>
      <p:sp>
        <p:nvSpPr>
          <p:cNvPr id="12" name="TextBox 12"/>
          <p:cNvSpPr txBox="1"/>
          <p:nvPr/>
        </p:nvSpPr>
        <p:spPr>
          <a:xfrm>
            <a:off x="2523144" y="2099945"/>
            <a:ext cx="16040202" cy="5982335"/>
          </a:xfrm>
          <a:prstGeom prst="rect">
            <a:avLst/>
          </a:prstGeom>
        </p:spPr>
        <p:txBody>
          <a:bodyPr lIns="0" tIns="0" rIns="0" bIns="0" rtlCol="0" anchor="t">
            <a:spAutoFit/>
          </a:bodyPr>
          <a:lstStyle/>
          <a:p>
            <a:pPr algn="l">
              <a:lnSpc>
                <a:spcPts val="3640"/>
              </a:lnSpc>
            </a:pPr>
            <a:r>
              <a:rPr lang="en-US" sz="2600" b="1">
                <a:solidFill>
                  <a:srgbClr val="333137"/>
                </a:solidFill>
                <a:latin typeface="Nyutro Sans Bold"/>
                <a:ea typeface="Nyutro Sans Bold"/>
                <a:cs typeface="Nyutro Sans Bold"/>
                <a:sym typeface="Nyutro Sans Bold"/>
              </a:rPr>
              <a:t>Step 2: Velocities (Differentiate)</a:t>
            </a:r>
          </a:p>
          <a:p>
            <a:pPr algn="l">
              <a:lnSpc>
                <a:spcPts val="3640"/>
              </a:lnSpc>
            </a:pPr>
            <a:r>
              <a:rPr lang="en-US" sz="2600">
                <a:solidFill>
                  <a:srgbClr val="333137"/>
                </a:solidFill>
                <a:latin typeface="Nyutro Sans"/>
                <a:ea typeface="Nyutro Sans"/>
                <a:cs typeface="Nyutro Sans"/>
                <a:sym typeface="Nyutro Sans"/>
              </a:rPr>
              <a:t>Example for Link 1:</a:t>
            </a:r>
          </a:p>
          <a:p>
            <a:pPr algn="l">
              <a:lnSpc>
                <a:spcPts val="3640"/>
              </a:lnSpc>
            </a:pPr>
            <a:endParaRPr lang="en-US" sz="2600">
              <a:solidFill>
                <a:srgbClr val="333137"/>
              </a:solidFill>
              <a:latin typeface="Nyutro Sans"/>
              <a:ea typeface="Nyutro Sans"/>
              <a:cs typeface="Nyutro Sans"/>
              <a:sym typeface="Nyutro Sans"/>
            </a:endParaRPr>
          </a:p>
          <a:p>
            <a:pPr algn="l">
              <a:lnSpc>
                <a:spcPts val="3640"/>
              </a:lnSpc>
            </a:pPr>
            <a:endParaRPr lang="en-US" sz="2600">
              <a:solidFill>
                <a:srgbClr val="333137"/>
              </a:solidFill>
              <a:latin typeface="Nyutro Sans"/>
              <a:ea typeface="Nyutro Sans"/>
              <a:cs typeface="Nyutro Sans"/>
              <a:sym typeface="Nyutro Sans"/>
            </a:endParaRPr>
          </a:p>
          <a:p>
            <a:pPr algn="l">
              <a:lnSpc>
                <a:spcPts val="3640"/>
              </a:lnSpc>
            </a:pPr>
            <a:endParaRPr lang="en-US" sz="2600">
              <a:solidFill>
                <a:srgbClr val="333137"/>
              </a:solidFill>
              <a:latin typeface="Nyutro Sans"/>
              <a:ea typeface="Nyutro Sans"/>
              <a:cs typeface="Nyutro Sans"/>
              <a:sym typeface="Nyutro Sans"/>
            </a:endParaRPr>
          </a:p>
          <a:p>
            <a:pPr algn="l">
              <a:lnSpc>
                <a:spcPts val="3640"/>
              </a:lnSpc>
            </a:pPr>
            <a:endParaRPr lang="en-US" sz="2600">
              <a:solidFill>
                <a:srgbClr val="333137"/>
              </a:solidFill>
              <a:latin typeface="Nyutro Sans"/>
              <a:ea typeface="Nyutro Sans"/>
              <a:cs typeface="Nyutro Sans"/>
              <a:sym typeface="Nyutro Sans"/>
            </a:endParaRPr>
          </a:p>
          <a:p>
            <a:pPr algn="l">
              <a:lnSpc>
                <a:spcPts val="3640"/>
              </a:lnSpc>
            </a:pPr>
            <a:r>
              <a:rPr lang="en-US" sz="2600">
                <a:solidFill>
                  <a:srgbClr val="333137"/>
                </a:solidFill>
                <a:latin typeface="Nyutro Sans"/>
                <a:ea typeface="Nyutro Sans"/>
                <a:cs typeface="Nyutro Sans"/>
                <a:sym typeface="Nyutro Sans"/>
              </a:rPr>
              <a:t>Velocity magnitude:</a:t>
            </a:r>
          </a:p>
          <a:p>
            <a:pPr algn="l">
              <a:lnSpc>
                <a:spcPts val="3640"/>
              </a:lnSpc>
            </a:pPr>
            <a:endParaRPr lang="en-US" sz="2600">
              <a:solidFill>
                <a:srgbClr val="333137"/>
              </a:solidFill>
              <a:latin typeface="Nyutro Sans"/>
              <a:ea typeface="Nyutro Sans"/>
              <a:cs typeface="Nyutro Sans"/>
              <a:sym typeface="Nyutro Sans"/>
            </a:endParaRPr>
          </a:p>
          <a:p>
            <a:pPr algn="l">
              <a:lnSpc>
                <a:spcPts val="3640"/>
              </a:lnSpc>
            </a:pPr>
            <a:endParaRPr lang="en-US" sz="2600">
              <a:solidFill>
                <a:srgbClr val="333137"/>
              </a:solidFill>
              <a:latin typeface="Nyutro Sans"/>
              <a:ea typeface="Nyutro Sans"/>
              <a:cs typeface="Nyutro Sans"/>
              <a:sym typeface="Nyutro Sans"/>
            </a:endParaRPr>
          </a:p>
          <a:p>
            <a:pPr algn="l">
              <a:lnSpc>
                <a:spcPts val="3640"/>
              </a:lnSpc>
            </a:pPr>
            <a:endParaRPr lang="en-US" sz="2600">
              <a:solidFill>
                <a:srgbClr val="333137"/>
              </a:solidFill>
              <a:latin typeface="Nyutro Sans"/>
              <a:ea typeface="Nyutro Sans"/>
              <a:cs typeface="Nyutro Sans"/>
              <a:sym typeface="Nyutro Sans"/>
            </a:endParaRPr>
          </a:p>
          <a:p>
            <a:pPr algn="l">
              <a:lnSpc>
                <a:spcPts val="3640"/>
              </a:lnSpc>
            </a:pPr>
            <a:endParaRPr lang="en-US" sz="2600">
              <a:solidFill>
                <a:srgbClr val="333137"/>
              </a:solidFill>
              <a:latin typeface="Nyutro Sans"/>
              <a:ea typeface="Nyutro Sans"/>
              <a:cs typeface="Nyutro Sans"/>
              <a:sym typeface="Nyutro Sans"/>
            </a:endParaRPr>
          </a:p>
          <a:p>
            <a:pPr algn="l">
              <a:lnSpc>
                <a:spcPts val="3640"/>
              </a:lnSpc>
            </a:pPr>
            <a:r>
              <a:rPr lang="en-US" sz="2600">
                <a:solidFill>
                  <a:srgbClr val="333137"/>
                </a:solidFill>
                <a:latin typeface="Nyutro Sans"/>
                <a:ea typeface="Nyutro Sans"/>
                <a:cs typeface="Nyutro Sans"/>
                <a:sym typeface="Nyutro Sans"/>
              </a:rPr>
              <a:t>Similarly derived for link 2 and 3 </a:t>
            </a:r>
          </a:p>
          <a:p>
            <a:pPr algn="l">
              <a:lnSpc>
                <a:spcPts val="3640"/>
              </a:lnSpc>
            </a:pPr>
            <a:endParaRPr lang="en-US" sz="2600">
              <a:solidFill>
                <a:srgbClr val="333137"/>
              </a:solidFill>
              <a:latin typeface="Nyutro Sans"/>
              <a:ea typeface="Nyutro Sans"/>
              <a:cs typeface="Nyutro Sans"/>
              <a:sym typeface="Nyutro San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DDDDDF"/>
        </a:solidFill>
        <a:effectLst/>
      </p:bgPr>
    </p:bg>
    <p:spTree>
      <p:nvGrpSpPr>
        <p:cNvPr id="1" name=""/>
        <p:cNvGrpSpPr/>
        <p:nvPr/>
      </p:nvGrpSpPr>
      <p:grpSpPr>
        <a:xfrm>
          <a:off x="0" y="0"/>
          <a:ext cx="0" cy="0"/>
          <a:chOff x="0" y="0"/>
          <a:chExt cx="0" cy="0"/>
        </a:xfrm>
      </p:grpSpPr>
      <p:sp>
        <p:nvSpPr>
          <p:cNvPr id="2" name="Freeform 2"/>
          <p:cNvSpPr/>
          <p:nvPr/>
        </p:nvSpPr>
        <p:spPr>
          <a:xfrm>
            <a:off x="12433764" y="7682720"/>
            <a:ext cx="8412822" cy="6669073"/>
          </a:xfrm>
          <a:custGeom>
            <a:avLst/>
            <a:gdLst/>
            <a:ahLst/>
            <a:cxnLst/>
            <a:rect l="l" t="t" r="r" b="b"/>
            <a:pathLst>
              <a:path w="8412822" h="6669073">
                <a:moveTo>
                  <a:pt x="0" y="0"/>
                </a:moveTo>
                <a:lnTo>
                  <a:pt x="8412822" y="0"/>
                </a:lnTo>
                <a:lnTo>
                  <a:pt x="8412822" y="6669074"/>
                </a:lnTo>
                <a:lnTo>
                  <a:pt x="0" y="666907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flipH="1" flipV="1">
            <a:off x="-2558586" y="-4064794"/>
            <a:ext cx="8412822" cy="6669073"/>
          </a:xfrm>
          <a:custGeom>
            <a:avLst/>
            <a:gdLst/>
            <a:ahLst/>
            <a:cxnLst/>
            <a:rect l="l" t="t" r="r" b="b"/>
            <a:pathLst>
              <a:path w="8412822" h="6669073">
                <a:moveTo>
                  <a:pt x="8412822" y="6669074"/>
                </a:moveTo>
                <a:lnTo>
                  <a:pt x="0" y="6669074"/>
                </a:lnTo>
                <a:lnTo>
                  <a:pt x="0" y="0"/>
                </a:lnTo>
                <a:lnTo>
                  <a:pt x="8412822" y="0"/>
                </a:lnTo>
                <a:lnTo>
                  <a:pt x="8412822" y="6669074"/>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flipH="1" flipV="1">
            <a:off x="-2190390" y="9258300"/>
            <a:ext cx="11408209" cy="1203047"/>
          </a:xfrm>
          <a:custGeom>
            <a:avLst/>
            <a:gdLst/>
            <a:ahLst/>
            <a:cxnLst/>
            <a:rect l="l" t="t" r="r" b="b"/>
            <a:pathLst>
              <a:path w="11408209" h="1203047">
                <a:moveTo>
                  <a:pt x="11408209" y="1203047"/>
                </a:moveTo>
                <a:lnTo>
                  <a:pt x="0" y="1203047"/>
                </a:lnTo>
                <a:lnTo>
                  <a:pt x="0" y="0"/>
                </a:lnTo>
                <a:lnTo>
                  <a:pt x="11408209" y="0"/>
                </a:lnTo>
                <a:lnTo>
                  <a:pt x="11408209" y="1203047"/>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9070181" y="-174347"/>
            <a:ext cx="11408209" cy="1203047"/>
          </a:xfrm>
          <a:custGeom>
            <a:avLst/>
            <a:gdLst/>
            <a:ahLst/>
            <a:cxnLst/>
            <a:rect l="l" t="t" r="r" b="b"/>
            <a:pathLst>
              <a:path w="11408209" h="1203047">
                <a:moveTo>
                  <a:pt x="0" y="0"/>
                </a:moveTo>
                <a:lnTo>
                  <a:pt x="11408209" y="0"/>
                </a:lnTo>
                <a:lnTo>
                  <a:pt x="11408209" y="1203047"/>
                </a:lnTo>
                <a:lnTo>
                  <a:pt x="0" y="1203047"/>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AutoShape 6"/>
          <p:cNvSpPr/>
          <p:nvPr/>
        </p:nvSpPr>
        <p:spPr>
          <a:xfrm>
            <a:off x="4254817" y="9840774"/>
            <a:ext cx="3827092" cy="0"/>
          </a:xfrm>
          <a:prstGeom prst="line">
            <a:avLst/>
          </a:prstGeom>
          <a:ln w="57150" cap="flat">
            <a:solidFill>
              <a:srgbClr val="333137"/>
            </a:solidFill>
            <a:prstDash val="solid"/>
            <a:headEnd type="none" w="sm" len="sm"/>
            <a:tailEnd type="none" w="sm" len="sm"/>
          </a:ln>
        </p:spPr>
      </p:sp>
      <p:sp>
        <p:nvSpPr>
          <p:cNvPr id="7" name="AutoShape 7"/>
          <p:cNvSpPr/>
          <p:nvPr/>
        </p:nvSpPr>
        <p:spPr>
          <a:xfrm>
            <a:off x="10146030" y="446226"/>
            <a:ext cx="3827092" cy="0"/>
          </a:xfrm>
          <a:prstGeom prst="line">
            <a:avLst/>
          </a:prstGeom>
          <a:ln w="57150" cap="flat">
            <a:solidFill>
              <a:srgbClr val="333137"/>
            </a:solidFill>
            <a:prstDash val="solid"/>
            <a:headEnd type="none" w="sm" len="sm"/>
            <a:tailEnd type="none" w="sm" len="sm"/>
          </a:ln>
        </p:spPr>
      </p:sp>
      <p:sp>
        <p:nvSpPr>
          <p:cNvPr id="8" name="TextBox 8"/>
          <p:cNvSpPr txBox="1"/>
          <p:nvPr/>
        </p:nvSpPr>
        <p:spPr>
          <a:xfrm>
            <a:off x="2536338" y="1206613"/>
            <a:ext cx="15219384" cy="1028700"/>
          </a:xfrm>
          <a:prstGeom prst="rect">
            <a:avLst/>
          </a:prstGeom>
        </p:spPr>
        <p:txBody>
          <a:bodyPr lIns="0" tIns="0" rIns="0" bIns="0" rtlCol="0" anchor="t">
            <a:spAutoFit/>
          </a:bodyPr>
          <a:lstStyle/>
          <a:p>
            <a:pPr algn="ctr">
              <a:lnSpc>
                <a:spcPts val="8400"/>
              </a:lnSpc>
            </a:pPr>
            <a:r>
              <a:rPr lang="en-US" sz="6000" b="1">
                <a:solidFill>
                  <a:srgbClr val="333137"/>
                </a:solidFill>
                <a:latin typeface="Emmali Medium"/>
                <a:ea typeface="Emmali Medium"/>
                <a:cs typeface="Emmali Medium"/>
                <a:sym typeface="Emmali Medium"/>
              </a:rPr>
              <a:t>4. MATHEMATICAL DERIVATION </a:t>
            </a:r>
          </a:p>
        </p:txBody>
      </p:sp>
      <p:pic>
        <p:nvPicPr>
          <p:cNvPr id="9" name="Picture 9"/>
          <p:cNvPicPr>
            <a:picLocks noChangeAspect="1"/>
          </p:cNvPicPr>
          <p:nvPr/>
        </p:nvPicPr>
        <p:blipFill>
          <a:blip r:embed="rId4"/>
          <a:stretch>
            <a:fillRect/>
          </a:stretch>
        </p:blipFill>
        <p:spPr>
          <a:xfrm>
            <a:off x="7373135" y="2624034"/>
            <a:ext cx="3541730" cy="1296068"/>
          </a:xfrm>
          <a:prstGeom prst="rect">
            <a:avLst/>
          </a:prstGeom>
        </p:spPr>
      </p:pic>
      <p:pic>
        <p:nvPicPr>
          <p:cNvPr id="10" name="Picture 10"/>
          <p:cNvPicPr>
            <a:picLocks noChangeAspect="1"/>
          </p:cNvPicPr>
          <p:nvPr/>
        </p:nvPicPr>
        <p:blipFill>
          <a:blip r:embed="rId5"/>
          <a:stretch>
            <a:fillRect/>
          </a:stretch>
        </p:blipFill>
        <p:spPr>
          <a:xfrm>
            <a:off x="7350495" y="4154899"/>
            <a:ext cx="3813403" cy="1000237"/>
          </a:xfrm>
          <a:prstGeom prst="rect">
            <a:avLst/>
          </a:prstGeom>
        </p:spPr>
      </p:pic>
      <p:pic>
        <p:nvPicPr>
          <p:cNvPr id="11" name="Picture 11"/>
          <p:cNvPicPr>
            <a:picLocks noChangeAspect="1"/>
          </p:cNvPicPr>
          <p:nvPr/>
        </p:nvPicPr>
        <p:blipFill>
          <a:blip r:embed="rId6"/>
          <a:stretch>
            <a:fillRect/>
          </a:stretch>
        </p:blipFill>
        <p:spPr>
          <a:xfrm>
            <a:off x="6578380" y="5355146"/>
            <a:ext cx="5357634" cy="1790150"/>
          </a:xfrm>
          <a:prstGeom prst="rect">
            <a:avLst/>
          </a:prstGeom>
        </p:spPr>
      </p:pic>
      <p:sp>
        <p:nvSpPr>
          <p:cNvPr id="12" name="TextBox 12"/>
          <p:cNvSpPr txBox="1"/>
          <p:nvPr/>
        </p:nvSpPr>
        <p:spPr>
          <a:xfrm>
            <a:off x="2247798" y="2147948"/>
            <a:ext cx="16040202" cy="5525135"/>
          </a:xfrm>
          <a:prstGeom prst="rect">
            <a:avLst/>
          </a:prstGeom>
        </p:spPr>
        <p:txBody>
          <a:bodyPr lIns="0" tIns="0" rIns="0" bIns="0" rtlCol="0" anchor="t">
            <a:spAutoFit/>
          </a:bodyPr>
          <a:lstStyle/>
          <a:p>
            <a:pPr algn="l">
              <a:lnSpc>
                <a:spcPts val="3640"/>
              </a:lnSpc>
            </a:pPr>
            <a:r>
              <a:rPr lang="en-US" sz="2600" b="1">
                <a:solidFill>
                  <a:srgbClr val="333137"/>
                </a:solidFill>
                <a:latin typeface="Nyutro Sans Bold"/>
                <a:ea typeface="Nyutro Sans Bold"/>
                <a:cs typeface="Nyutro Sans Bold"/>
                <a:sym typeface="Nyutro Sans Bold"/>
              </a:rPr>
              <a:t>Step 3: Kinetic Energy (T)</a:t>
            </a:r>
          </a:p>
          <a:p>
            <a:pPr algn="l">
              <a:lnSpc>
                <a:spcPts val="3640"/>
              </a:lnSpc>
            </a:pPr>
            <a:r>
              <a:rPr lang="en-US" sz="2600">
                <a:solidFill>
                  <a:srgbClr val="333137"/>
                </a:solidFill>
                <a:latin typeface="Nyutro Sans"/>
                <a:ea typeface="Nyutro Sans"/>
                <a:cs typeface="Nyutro Sans"/>
                <a:sym typeface="Nyutro Sans"/>
              </a:rPr>
              <a:t>For each link:</a:t>
            </a:r>
          </a:p>
          <a:p>
            <a:pPr algn="l">
              <a:lnSpc>
                <a:spcPts val="3640"/>
              </a:lnSpc>
            </a:pPr>
            <a:endParaRPr lang="en-US" sz="2600">
              <a:solidFill>
                <a:srgbClr val="333137"/>
              </a:solidFill>
              <a:latin typeface="Nyutro Sans"/>
              <a:ea typeface="Nyutro Sans"/>
              <a:cs typeface="Nyutro Sans"/>
              <a:sym typeface="Nyutro Sans"/>
            </a:endParaRPr>
          </a:p>
          <a:p>
            <a:pPr algn="l">
              <a:lnSpc>
                <a:spcPts val="3640"/>
              </a:lnSpc>
            </a:pPr>
            <a:endParaRPr lang="en-US" sz="2600">
              <a:solidFill>
                <a:srgbClr val="333137"/>
              </a:solidFill>
              <a:latin typeface="Nyutro Sans"/>
              <a:ea typeface="Nyutro Sans"/>
              <a:cs typeface="Nyutro Sans"/>
              <a:sym typeface="Nyutro Sans"/>
            </a:endParaRPr>
          </a:p>
          <a:p>
            <a:pPr algn="l">
              <a:lnSpc>
                <a:spcPts val="3640"/>
              </a:lnSpc>
            </a:pPr>
            <a:r>
              <a:rPr lang="en-US" sz="2600">
                <a:solidFill>
                  <a:srgbClr val="333137"/>
                </a:solidFill>
                <a:latin typeface="Nyutro Sans"/>
                <a:ea typeface="Nyutro Sans"/>
                <a:cs typeface="Nyutro Sans"/>
                <a:sym typeface="Nyutro Sans"/>
              </a:rPr>
              <a:t>Total Kinetic Energy:</a:t>
            </a:r>
          </a:p>
          <a:p>
            <a:pPr algn="l">
              <a:lnSpc>
                <a:spcPts val="3640"/>
              </a:lnSpc>
            </a:pPr>
            <a:endParaRPr lang="en-US" sz="2600">
              <a:solidFill>
                <a:srgbClr val="333137"/>
              </a:solidFill>
              <a:latin typeface="Nyutro Sans"/>
              <a:ea typeface="Nyutro Sans"/>
              <a:cs typeface="Nyutro Sans"/>
              <a:sym typeface="Nyutro Sans"/>
            </a:endParaRPr>
          </a:p>
          <a:p>
            <a:pPr algn="l">
              <a:lnSpc>
                <a:spcPts val="3640"/>
              </a:lnSpc>
            </a:pPr>
            <a:endParaRPr lang="en-US" sz="2600">
              <a:solidFill>
                <a:srgbClr val="333137"/>
              </a:solidFill>
              <a:latin typeface="Nyutro Sans"/>
              <a:ea typeface="Nyutro Sans"/>
              <a:cs typeface="Nyutro Sans"/>
              <a:sym typeface="Nyutro Sans"/>
            </a:endParaRPr>
          </a:p>
          <a:p>
            <a:pPr algn="l">
              <a:lnSpc>
                <a:spcPts val="3640"/>
              </a:lnSpc>
            </a:pPr>
            <a:r>
              <a:rPr lang="en-US" sz="2600">
                <a:solidFill>
                  <a:srgbClr val="333137"/>
                </a:solidFill>
                <a:latin typeface="Nyutro Sans"/>
                <a:ea typeface="Nyutro Sans"/>
                <a:cs typeface="Nyutro Sans"/>
                <a:sym typeface="Nyutro Sans"/>
              </a:rPr>
              <a:t>Example (Link 1):</a:t>
            </a:r>
          </a:p>
          <a:p>
            <a:pPr algn="l">
              <a:lnSpc>
                <a:spcPts val="3640"/>
              </a:lnSpc>
            </a:pPr>
            <a:endParaRPr lang="en-US" sz="2600">
              <a:solidFill>
                <a:srgbClr val="333137"/>
              </a:solidFill>
              <a:latin typeface="Nyutro Sans"/>
              <a:ea typeface="Nyutro Sans"/>
              <a:cs typeface="Nyutro Sans"/>
              <a:sym typeface="Nyutro Sans"/>
            </a:endParaRPr>
          </a:p>
          <a:p>
            <a:pPr algn="l">
              <a:lnSpc>
                <a:spcPts val="3640"/>
              </a:lnSpc>
            </a:pPr>
            <a:endParaRPr lang="en-US" sz="2600">
              <a:solidFill>
                <a:srgbClr val="333137"/>
              </a:solidFill>
              <a:latin typeface="Nyutro Sans"/>
              <a:ea typeface="Nyutro Sans"/>
              <a:cs typeface="Nyutro Sans"/>
              <a:sym typeface="Nyutro Sans"/>
            </a:endParaRPr>
          </a:p>
          <a:p>
            <a:pPr algn="l">
              <a:lnSpc>
                <a:spcPts val="3640"/>
              </a:lnSpc>
            </a:pPr>
            <a:endParaRPr lang="en-US" sz="2600">
              <a:solidFill>
                <a:srgbClr val="333137"/>
              </a:solidFill>
              <a:latin typeface="Nyutro Sans"/>
              <a:ea typeface="Nyutro Sans"/>
              <a:cs typeface="Nyutro Sans"/>
              <a:sym typeface="Nyutro Sans"/>
            </a:endParaRPr>
          </a:p>
          <a:p>
            <a:pPr algn="l">
              <a:lnSpc>
                <a:spcPts val="3640"/>
              </a:lnSpc>
            </a:pPr>
            <a:r>
              <a:rPr lang="en-US" sz="2600">
                <a:solidFill>
                  <a:srgbClr val="333137"/>
                </a:solidFill>
                <a:latin typeface="Nyutro Sans"/>
                <a:ea typeface="Nyutro Sans"/>
                <a:cs typeface="Nyutro Sans"/>
                <a:sym typeface="Nyutro Sans"/>
              </a:rPr>
              <a:t>​Final compact form:</a:t>
            </a:r>
          </a:p>
        </p:txBody>
      </p:sp>
      <p:pic>
        <p:nvPicPr>
          <p:cNvPr id="13" name="Picture 13"/>
          <p:cNvPicPr>
            <a:picLocks noChangeAspect="1"/>
          </p:cNvPicPr>
          <p:nvPr/>
        </p:nvPicPr>
        <p:blipFill>
          <a:blip r:embed="rId7"/>
          <a:stretch>
            <a:fillRect/>
          </a:stretch>
        </p:blipFill>
        <p:spPr>
          <a:xfrm>
            <a:off x="7782354" y="7363533"/>
            <a:ext cx="3594672" cy="149778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DDDDDF"/>
        </a:solidFill>
        <a:effectLst/>
      </p:bgPr>
    </p:bg>
    <p:spTree>
      <p:nvGrpSpPr>
        <p:cNvPr id="1" name=""/>
        <p:cNvGrpSpPr/>
        <p:nvPr/>
      </p:nvGrpSpPr>
      <p:grpSpPr>
        <a:xfrm>
          <a:off x="0" y="0"/>
          <a:ext cx="0" cy="0"/>
          <a:chOff x="0" y="0"/>
          <a:chExt cx="0" cy="0"/>
        </a:xfrm>
      </p:grpSpPr>
      <p:sp>
        <p:nvSpPr>
          <p:cNvPr id="2" name="Freeform 2"/>
          <p:cNvSpPr/>
          <p:nvPr/>
        </p:nvSpPr>
        <p:spPr>
          <a:xfrm>
            <a:off x="12433764" y="7682720"/>
            <a:ext cx="8412822" cy="6669073"/>
          </a:xfrm>
          <a:custGeom>
            <a:avLst/>
            <a:gdLst/>
            <a:ahLst/>
            <a:cxnLst/>
            <a:rect l="l" t="t" r="r" b="b"/>
            <a:pathLst>
              <a:path w="8412822" h="6669073">
                <a:moveTo>
                  <a:pt x="0" y="0"/>
                </a:moveTo>
                <a:lnTo>
                  <a:pt x="8412822" y="0"/>
                </a:lnTo>
                <a:lnTo>
                  <a:pt x="8412822" y="6669074"/>
                </a:lnTo>
                <a:lnTo>
                  <a:pt x="0" y="666907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flipH="1" flipV="1">
            <a:off x="-2558586" y="-4064794"/>
            <a:ext cx="8412822" cy="6669073"/>
          </a:xfrm>
          <a:custGeom>
            <a:avLst/>
            <a:gdLst/>
            <a:ahLst/>
            <a:cxnLst/>
            <a:rect l="l" t="t" r="r" b="b"/>
            <a:pathLst>
              <a:path w="8412822" h="6669073">
                <a:moveTo>
                  <a:pt x="8412822" y="6669074"/>
                </a:moveTo>
                <a:lnTo>
                  <a:pt x="0" y="6669074"/>
                </a:lnTo>
                <a:lnTo>
                  <a:pt x="0" y="0"/>
                </a:lnTo>
                <a:lnTo>
                  <a:pt x="8412822" y="0"/>
                </a:lnTo>
                <a:lnTo>
                  <a:pt x="8412822" y="6669074"/>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flipH="1" flipV="1">
            <a:off x="-2190390" y="9258300"/>
            <a:ext cx="11408209" cy="1203047"/>
          </a:xfrm>
          <a:custGeom>
            <a:avLst/>
            <a:gdLst/>
            <a:ahLst/>
            <a:cxnLst/>
            <a:rect l="l" t="t" r="r" b="b"/>
            <a:pathLst>
              <a:path w="11408209" h="1203047">
                <a:moveTo>
                  <a:pt x="11408209" y="1203047"/>
                </a:moveTo>
                <a:lnTo>
                  <a:pt x="0" y="1203047"/>
                </a:lnTo>
                <a:lnTo>
                  <a:pt x="0" y="0"/>
                </a:lnTo>
                <a:lnTo>
                  <a:pt x="11408209" y="0"/>
                </a:lnTo>
                <a:lnTo>
                  <a:pt x="11408209" y="1203047"/>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9070181" y="-174347"/>
            <a:ext cx="11408209" cy="1203047"/>
          </a:xfrm>
          <a:custGeom>
            <a:avLst/>
            <a:gdLst/>
            <a:ahLst/>
            <a:cxnLst/>
            <a:rect l="l" t="t" r="r" b="b"/>
            <a:pathLst>
              <a:path w="11408209" h="1203047">
                <a:moveTo>
                  <a:pt x="0" y="0"/>
                </a:moveTo>
                <a:lnTo>
                  <a:pt x="11408209" y="0"/>
                </a:lnTo>
                <a:lnTo>
                  <a:pt x="11408209" y="1203047"/>
                </a:lnTo>
                <a:lnTo>
                  <a:pt x="0" y="1203047"/>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AutoShape 6"/>
          <p:cNvSpPr/>
          <p:nvPr/>
        </p:nvSpPr>
        <p:spPr>
          <a:xfrm>
            <a:off x="4254817" y="9840774"/>
            <a:ext cx="3827092" cy="0"/>
          </a:xfrm>
          <a:prstGeom prst="line">
            <a:avLst/>
          </a:prstGeom>
          <a:ln w="57150" cap="flat">
            <a:solidFill>
              <a:srgbClr val="333137"/>
            </a:solidFill>
            <a:prstDash val="solid"/>
            <a:headEnd type="none" w="sm" len="sm"/>
            <a:tailEnd type="none" w="sm" len="sm"/>
          </a:ln>
        </p:spPr>
      </p:sp>
      <p:sp>
        <p:nvSpPr>
          <p:cNvPr id="7" name="AutoShape 7"/>
          <p:cNvSpPr/>
          <p:nvPr/>
        </p:nvSpPr>
        <p:spPr>
          <a:xfrm>
            <a:off x="10146030" y="446226"/>
            <a:ext cx="3827092" cy="0"/>
          </a:xfrm>
          <a:prstGeom prst="line">
            <a:avLst/>
          </a:prstGeom>
          <a:ln w="57150" cap="flat">
            <a:solidFill>
              <a:srgbClr val="333137"/>
            </a:solidFill>
            <a:prstDash val="solid"/>
            <a:headEnd type="none" w="sm" len="sm"/>
            <a:tailEnd type="none" w="sm" len="sm"/>
          </a:ln>
        </p:spPr>
      </p:sp>
      <p:sp>
        <p:nvSpPr>
          <p:cNvPr id="8" name="TextBox 8"/>
          <p:cNvSpPr txBox="1"/>
          <p:nvPr/>
        </p:nvSpPr>
        <p:spPr>
          <a:xfrm>
            <a:off x="2536338" y="1206613"/>
            <a:ext cx="15219384" cy="1028700"/>
          </a:xfrm>
          <a:prstGeom prst="rect">
            <a:avLst/>
          </a:prstGeom>
        </p:spPr>
        <p:txBody>
          <a:bodyPr lIns="0" tIns="0" rIns="0" bIns="0" rtlCol="0" anchor="t">
            <a:spAutoFit/>
          </a:bodyPr>
          <a:lstStyle/>
          <a:p>
            <a:pPr algn="ctr">
              <a:lnSpc>
                <a:spcPts val="8400"/>
              </a:lnSpc>
            </a:pPr>
            <a:r>
              <a:rPr lang="en-US" sz="6000" b="1">
                <a:solidFill>
                  <a:srgbClr val="333137"/>
                </a:solidFill>
                <a:latin typeface="Emmali Medium"/>
                <a:ea typeface="Emmali Medium"/>
                <a:cs typeface="Emmali Medium"/>
                <a:sym typeface="Emmali Medium"/>
              </a:rPr>
              <a:t>4. MATHEMATICAL DERIVATION </a:t>
            </a:r>
          </a:p>
        </p:txBody>
      </p:sp>
      <p:sp>
        <p:nvSpPr>
          <p:cNvPr id="9" name="TextBox 9"/>
          <p:cNvSpPr txBox="1"/>
          <p:nvPr/>
        </p:nvSpPr>
        <p:spPr>
          <a:xfrm>
            <a:off x="2247798" y="2104248"/>
            <a:ext cx="16040202" cy="6439535"/>
          </a:xfrm>
          <a:prstGeom prst="rect">
            <a:avLst/>
          </a:prstGeom>
        </p:spPr>
        <p:txBody>
          <a:bodyPr lIns="0" tIns="0" rIns="0" bIns="0" rtlCol="0" anchor="t">
            <a:spAutoFit/>
          </a:bodyPr>
          <a:lstStyle/>
          <a:p>
            <a:pPr algn="l">
              <a:lnSpc>
                <a:spcPts val="3640"/>
              </a:lnSpc>
            </a:pPr>
            <a:r>
              <a:rPr lang="en-US" sz="2600" b="1">
                <a:solidFill>
                  <a:srgbClr val="333137"/>
                </a:solidFill>
                <a:latin typeface="Nyutro Sans Bold"/>
                <a:ea typeface="Nyutro Sans Bold"/>
                <a:cs typeface="Nyutro Sans Bold"/>
                <a:sym typeface="Nyutro Sans Bold"/>
              </a:rPr>
              <a:t>Step 4: Potential Energy (V)</a:t>
            </a:r>
          </a:p>
          <a:p>
            <a:pPr algn="l">
              <a:lnSpc>
                <a:spcPts val="3640"/>
              </a:lnSpc>
            </a:pPr>
            <a:r>
              <a:rPr lang="en-US" sz="2600">
                <a:solidFill>
                  <a:srgbClr val="333137"/>
                </a:solidFill>
                <a:latin typeface="Nyutro Sans"/>
                <a:ea typeface="Nyutro Sans"/>
                <a:cs typeface="Nyutro Sans"/>
                <a:sym typeface="Nyutro Sans"/>
              </a:rPr>
              <a:t>Due to gravity:</a:t>
            </a:r>
          </a:p>
          <a:p>
            <a:pPr algn="l">
              <a:lnSpc>
                <a:spcPts val="3640"/>
              </a:lnSpc>
            </a:pPr>
            <a:endParaRPr lang="en-US" sz="2600">
              <a:solidFill>
                <a:srgbClr val="333137"/>
              </a:solidFill>
              <a:latin typeface="Nyutro Sans"/>
              <a:ea typeface="Nyutro Sans"/>
              <a:cs typeface="Nyutro Sans"/>
              <a:sym typeface="Nyutro Sans"/>
            </a:endParaRPr>
          </a:p>
          <a:p>
            <a:pPr algn="l">
              <a:lnSpc>
                <a:spcPts val="3640"/>
              </a:lnSpc>
            </a:pPr>
            <a:endParaRPr lang="en-US" sz="2600">
              <a:solidFill>
                <a:srgbClr val="333137"/>
              </a:solidFill>
              <a:latin typeface="Nyutro Sans"/>
              <a:ea typeface="Nyutro Sans"/>
              <a:cs typeface="Nyutro Sans"/>
              <a:sym typeface="Nyutro Sans"/>
            </a:endParaRPr>
          </a:p>
          <a:p>
            <a:pPr algn="l">
              <a:lnSpc>
                <a:spcPts val="3640"/>
              </a:lnSpc>
            </a:pPr>
            <a:r>
              <a:rPr lang="en-US" sz="2600">
                <a:solidFill>
                  <a:srgbClr val="333137"/>
                </a:solidFill>
                <a:latin typeface="Nyutro Sans"/>
                <a:ea typeface="Nyutro Sans"/>
                <a:cs typeface="Nyutro Sans"/>
                <a:sym typeface="Nyutro Sans"/>
              </a:rPr>
              <a:t>Link 1:</a:t>
            </a:r>
          </a:p>
          <a:p>
            <a:pPr algn="l">
              <a:lnSpc>
                <a:spcPts val="3640"/>
              </a:lnSpc>
            </a:pPr>
            <a:endParaRPr lang="en-US" sz="2600">
              <a:solidFill>
                <a:srgbClr val="333137"/>
              </a:solidFill>
              <a:latin typeface="Nyutro Sans"/>
              <a:ea typeface="Nyutro Sans"/>
              <a:cs typeface="Nyutro Sans"/>
              <a:sym typeface="Nyutro Sans"/>
            </a:endParaRPr>
          </a:p>
          <a:p>
            <a:pPr algn="l">
              <a:lnSpc>
                <a:spcPts val="3640"/>
              </a:lnSpc>
            </a:pPr>
            <a:endParaRPr lang="en-US" sz="2600">
              <a:solidFill>
                <a:srgbClr val="333137"/>
              </a:solidFill>
              <a:latin typeface="Nyutro Sans"/>
              <a:ea typeface="Nyutro Sans"/>
              <a:cs typeface="Nyutro Sans"/>
              <a:sym typeface="Nyutro Sans"/>
            </a:endParaRPr>
          </a:p>
          <a:p>
            <a:pPr algn="l">
              <a:lnSpc>
                <a:spcPts val="3640"/>
              </a:lnSpc>
            </a:pPr>
            <a:r>
              <a:rPr lang="en-US" sz="2600">
                <a:solidFill>
                  <a:srgbClr val="333137"/>
                </a:solidFill>
                <a:latin typeface="Nyutro Sans"/>
                <a:ea typeface="Nyutro Sans"/>
                <a:cs typeface="Nyutro Sans"/>
                <a:sym typeface="Nyutro Sans"/>
              </a:rPr>
              <a:t>Link 2:</a:t>
            </a:r>
          </a:p>
          <a:p>
            <a:pPr algn="l">
              <a:lnSpc>
                <a:spcPts val="3640"/>
              </a:lnSpc>
            </a:pPr>
            <a:endParaRPr lang="en-US" sz="2600">
              <a:solidFill>
                <a:srgbClr val="333137"/>
              </a:solidFill>
              <a:latin typeface="Nyutro Sans"/>
              <a:ea typeface="Nyutro Sans"/>
              <a:cs typeface="Nyutro Sans"/>
              <a:sym typeface="Nyutro Sans"/>
            </a:endParaRPr>
          </a:p>
          <a:p>
            <a:pPr algn="l">
              <a:lnSpc>
                <a:spcPts val="3640"/>
              </a:lnSpc>
            </a:pPr>
            <a:endParaRPr lang="en-US" sz="2600">
              <a:solidFill>
                <a:srgbClr val="333137"/>
              </a:solidFill>
              <a:latin typeface="Nyutro Sans"/>
              <a:ea typeface="Nyutro Sans"/>
              <a:cs typeface="Nyutro Sans"/>
              <a:sym typeface="Nyutro Sans"/>
            </a:endParaRPr>
          </a:p>
          <a:p>
            <a:pPr algn="l">
              <a:lnSpc>
                <a:spcPts val="3640"/>
              </a:lnSpc>
            </a:pPr>
            <a:r>
              <a:rPr lang="en-US" sz="2600">
                <a:solidFill>
                  <a:srgbClr val="333137"/>
                </a:solidFill>
                <a:latin typeface="Nyutro Sans"/>
                <a:ea typeface="Nyutro Sans"/>
                <a:cs typeface="Nyutro Sans"/>
                <a:sym typeface="Nyutro Sans"/>
              </a:rPr>
              <a:t>Link 3:</a:t>
            </a:r>
          </a:p>
          <a:p>
            <a:pPr algn="l">
              <a:lnSpc>
                <a:spcPts val="3640"/>
              </a:lnSpc>
            </a:pPr>
            <a:endParaRPr lang="en-US" sz="2600">
              <a:solidFill>
                <a:srgbClr val="333137"/>
              </a:solidFill>
              <a:latin typeface="Nyutro Sans"/>
              <a:ea typeface="Nyutro Sans"/>
              <a:cs typeface="Nyutro Sans"/>
              <a:sym typeface="Nyutro Sans"/>
            </a:endParaRPr>
          </a:p>
          <a:p>
            <a:pPr algn="l">
              <a:lnSpc>
                <a:spcPts val="3640"/>
              </a:lnSpc>
            </a:pPr>
            <a:endParaRPr lang="en-US" sz="2600">
              <a:solidFill>
                <a:srgbClr val="333137"/>
              </a:solidFill>
              <a:latin typeface="Nyutro Sans"/>
              <a:ea typeface="Nyutro Sans"/>
              <a:cs typeface="Nyutro Sans"/>
              <a:sym typeface="Nyutro Sans"/>
            </a:endParaRPr>
          </a:p>
          <a:p>
            <a:pPr algn="l">
              <a:lnSpc>
                <a:spcPts val="3640"/>
              </a:lnSpc>
            </a:pPr>
            <a:r>
              <a:rPr lang="en-US" sz="2600">
                <a:solidFill>
                  <a:srgbClr val="333137"/>
                </a:solidFill>
                <a:latin typeface="Nyutro Sans"/>
                <a:ea typeface="Nyutro Sans"/>
                <a:cs typeface="Nyutro Sans"/>
                <a:sym typeface="Nyutro Sans"/>
              </a:rPr>
              <a:t>Total:</a:t>
            </a:r>
          </a:p>
        </p:txBody>
      </p:sp>
      <p:pic>
        <p:nvPicPr>
          <p:cNvPr id="10" name="Picture 10"/>
          <p:cNvPicPr>
            <a:picLocks noChangeAspect="1"/>
          </p:cNvPicPr>
          <p:nvPr/>
        </p:nvPicPr>
        <p:blipFill>
          <a:blip r:embed="rId4"/>
          <a:stretch>
            <a:fillRect/>
          </a:stretch>
        </p:blipFill>
        <p:spPr>
          <a:xfrm>
            <a:off x="9011517" y="3197295"/>
            <a:ext cx="1589794" cy="570696"/>
          </a:xfrm>
          <a:prstGeom prst="rect">
            <a:avLst/>
          </a:prstGeom>
        </p:spPr>
      </p:pic>
      <p:pic>
        <p:nvPicPr>
          <p:cNvPr id="11" name="Picture 11"/>
          <p:cNvPicPr>
            <a:picLocks noChangeAspect="1"/>
          </p:cNvPicPr>
          <p:nvPr/>
        </p:nvPicPr>
        <p:blipFill>
          <a:blip r:embed="rId5"/>
          <a:stretch>
            <a:fillRect/>
          </a:stretch>
        </p:blipFill>
        <p:spPr>
          <a:xfrm>
            <a:off x="8546980" y="4121177"/>
            <a:ext cx="2518867" cy="911079"/>
          </a:xfrm>
          <a:prstGeom prst="rect">
            <a:avLst/>
          </a:prstGeom>
        </p:spPr>
      </p:pic>
      <p:pic>
        <p:nvPicPr>
          <p:cNvPr id="12" name="Picture 12"/>
          <p:cNvPicPr>
            <a:picLocks noChangeAspect="1"/>
          </p:cNvPicPr>
          <p:nvPr/>
        </p:nvPicPr>
        <p:blipFill>
          <a:blip r:embed="rId6"/>
          <a:stretch>
            <a:fillRect/>
          </a:stretch>
        </p:blipFill>
        <p:spPr>
          <a:xfrm>
            <a:off x="6240270" y="4956607"/>
            <a:ext cx="6735833" cy="1910101"/>
          </a:xfrm>
          <a:prstGeom prst="rect">
            <a:avLst/>
          </a:prstGeom>
        </p:spPr>
      </p:pic>
      <p:pic>
        <p:nvPicPr>
          <p:cNvPr id="13" name="Picture 13"/>
          <p:cNvPicPr>
            <a:picLocks noChangeAspect="1"/>
          </p:cNvPicPr>
          <p:nvPr/>
        </p:nvPicPr>
        <p:blipFill>
          <a:blip r:embed="rId7"/>
          <a:stretch>
            <a:fillRect/>
          </a:stretch>
        </p:blipFill>
        <p:spPr>
          <a:xfrm>
            <a:off x="5297184" y="6249176"/>
            <a:ext cx="9018461" cy="2176870"/>
          </a:xfrm>
          <a:prstGeom prst="rect">
            <a:avLst/>
          </a:prstGeom>
        </p:spPr>
      </p:pic>
      <p:pic>
        <p:nvPicPr>
          <p:cNvPr id="14" name="Picture 14"/>
          <p:cNvPicPr>
            <a:picLocks noChangeAspect="1"/>
          </p:cNvPicPr>
          <p:nvPr/>
        </p:nvPicPr>
        <p:blipFill>
          <a:blip r:embed="rId8"/>
          <a:stretch>
            <a:fillRect/>
          </a:stretch>
        </p:blipFill>
        <p:spPr>
          <a:xfrm>
            <a:off x="7776254" y="8064176"/>
            <a:ext cx="3667876" cy="95921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DDDDDF"/>
        </a:solidFill>
        <a:effectLst/>
      </p:bgPr>
    </p:bg>
    <p:spTree>
      <p:nvGrpSpPr>
        <p:cNvPr id="1" name=""/>
        <p:cNvGrpSpPr/>
        <p:nvPr/>
      </p:nvGrpSpPr>
      <p:grpSpPr>
        <a:xfrm>
          <a:off x="0" y="0"/>
          <a:ext cx="0" cy="0"/>
          <a:chOff x="0" y="0"/>
          <a:chExt cx="0" cy="0"/>
        </a:xfrm>
      </p:grpSpPr>
      <p:sp>
        <p:nvSpPr>
          <p:cNvPr id="2" name="Freeform 2"/>
          <p:cNvSpPr/>
          <p:nvPr/>
        </p:nvSpPr>
        <p:spPr>
          <a:xfrm>
            <a:off x="12433764" y="7682720"/>
            <a:ext cx="8412822" cy="6669073"/>
          </a:xfrm>
          <a:custGeom>
            <a:avLst/>
            <a:gdLst/>
            <a:ahLst/>
            <a:cxnLst/>
            <a:rect l="l" t="t" r="r" b="b"/>
            <a:pathLst>
              <a:path w="8412822" h="6669073">
                <a:moveTo>
                  <a:pt x="0" y="0"/>
                </a:moveTo>
                <a:lnTo>
                  <a:pt x="8412822" y="0"/>
                </a:lnTo>
                <a:lnTo>
                  <a:pt x="8412822" y="6669074"/>
                </a:lnTo>
                <a:lnTo>
                  <a:pt x="0" y="666907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flipH="1" flipV="1">
            <a:off x="-2558586" y="-4064794"/>
            <a:ext cx="8412822" cy="6669073"/>
          </a:xfrm>
          <a:custGeom>
            <a:avLst/>
            <a:gdLst/>
            <a:ahLst/>
            <a:cxnLst/>
            <a:rect l="l" t="t" r="r" b="b"/>
            <a:pathLst>
              <a:path w="8412822" h="6669073">
                <a:moveTo>
                  <a:pt x="8412822" y="6669074"/>
                </a:moveTo>
                <a:lnTo>
                  <a:pt x="0" y="6669074"/>
                </a:lnTo>
                <a:lnTo>
                  <a:pt x="0" y="0"/>
                </a:lnTo>
                <a:lnTo>
                  <a:pt x="8412822" y="0"/>
                </a:lnTo>
                <a:lnTo>
                  <a:pt x="8412822" y="6669074"/>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flipH="1" flipV="1">
            <a:off x="-2190390" y="9258300"/>
            <a:ext cx="11408209" cy="1203047"/>
          </a:xfrm>
          <a:custGeom>
            <a:avLst/>
            <a:gdLst/>
            <a:ahLst/>
            <a:cxnLst/>
            <a:rect l="l" t="t" r="r" b="b"/>
            <a:pathLst>
              <a:path w="11408209" h="1203047">
                <a:moveTo>
                  <a:pt x="11408209" y="1203047"/>
                </a:moveTo>
                <a:lnTo>
                  <a:pt x="0" y="1203047"/>
                </a:lnTo>
                <a:lnTo>
                  <a:pt x="0" y="0"/>
                </a:lnTo>
                <a:lnTo>
                  <a:pt x="11408209" y="0"/>
                </a:lnTo>
                <a:lnTo>
                  <a:pt x="11408209" y="1203047"/>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9070181" y="-174347"/>
            <a:ext cx="11408209" cy="1203047"/>
          </a:xfrm>
          <a:custGeom>
            <a:avLst/>
            <a:gdLst/>
            <a:ahLst/>
            <a:cxnLst/>
            <a:rect l="l" t="t" r="r" b="b"/>
            <a:pathLst>
              <a:path w="11408209" h="1203047">
                <a:moveTo>
                  <a:pt x="0" y="0"/>
                </a:moveTo>
                <a:lnTo>
                  <a:pt x="11408209" y="0"/>
                </a:lnTo>
                <a:lnTo>
                  <a:pt x="11408209" y="1203047"/>
                </a:lnTo>
                <a:lnTo>
                  <a:pt x="0" y="1203047"/>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AutoShape 6"/>
          <p:cNvSpPr/>
          <p:nvPr/>
        </p:nvSpPr>
        <p:spPr>
          <a:xfrm>
            <a:off x="4254817" y="9840774"/>
            <a:ext cx="3827092" cy="0"/>
          </a:xfrm>
          <a:prstGeom prst="line">
            <a:avLst/>
          </a:prstGeom>
          <a:ln w="57150" cap="flat">
            <a:solidFill>
              <a:srgbClr val="333137"/>
            </a:solidFill>
            <a:prstDash val="solid"/>
            <a:headEnd type="none" w="sm" len="sm"/>
            <a:tailEnd type="none" w="sm" len="sm"/>
          </a:ln>
        </p:spPr>
      </p:sp>
      <p:sp>
        <p:nvSpPr>
          <p:cNvPr id="7" name="AutoShape 7"/>
          <p:cNvSpPr/>
          <p:nvPr/>
        </p:nvSpPr>
        <p:spPr>
          <a:xfrm>
            <a:off x="10146030" y="446226"/>
            <a:ext cx="3827092" cy="0"/>
          </a:xfrm>
          <a:prstGeom prst="line">
            <a:avLst/>
          </a:prstGeom>
          <a:ln w="57150" cap="flat">
            <a:solidFill>
              <a:srgbClr val="333137"/>
            </a:solidFill>
            <a:prstDash val="solid"/>
            <a:headEnd type="none" w="sm" len="sm"/>
            <a:tailEnd type="none" w="sm" len="sm"/>
          </a:ln>
        </p:spPr>
      </p:sp>
      <p:sp>
        <p:nvSpPr>
          <p:cNvPr id="8" name="TextBox 8"/>
          <p:cNvSpPr txBox="1"/>
          <p:nvPr/>
        </p:nvSpPr>
        <p:spPr>
          <a:xfrm>
            <a:off x="2536338" y="1206613"/>
            <a:ext cx="15219384" cy="1028700"/>
          </a:xfrm>
          <a:prstGeom prst="rect">
            <a:avLst/>
          </a:prstGeom>
        </p:spPr>
        <p:txBody>
          <a:bodyPr lIns="0" tIns="0" rIns="0" bIns="0" rtlCol="0" anchor="t">
            <a:spAutoFit/>
          </a:bodyPr>
          <a:lstStyle/>
          <a:p>
            <a:pPr algn="ctr">
              <a:lnSpc>
                <a:spcPts val="8400"/>
              </a:lnSpc>
            </a:pPr>
            <a:r>
              <a:rPr lang="en-US" sz="6000" b="1">
                <a:solidFill>
                  <a:srgbClr val="333137"/>
                </a:solidFill>
                <a:latin typeface="Emmali Medium"/>
                <a:ea typeface="Emmali Medium"/>
                <a:cs typeface="Emmali Medium"/>
                <a:sym typeface="Emmali Medium"/>
              </a:rPr>
              <a:t>4. MATHEMATICAL DERIVATION </a:t>
            </a:r>
          </a:p>
        </p:txBody>
      </p:sp>
      <p:sp>
        <p:nvSpPr>
          <p:cNvPr id="9" name="TextBox 9"/>
          <p:cNvSpPr txBox="1"/>
          <p:nvPr/>
        </p:nvSpPr>
        <p:spPr>
          <a:xfrm>
            <a:off x="2125929" y="2168681"/>
            <a:ext cx="16040202" cy="4528820"/>
          </a:xfrm>
          <a:prstGeom prst="rect">
            <a:avLst/>
          </a:prstGeom>
        </p:spPr>
        <p:txBody>
          <a:bodyPr lIns="0" tIns="0" rIns="0" bIns="0" rtlCol="0" anchor="t">
            <a:spAutoFit/>
          </a:bodyPr>
          <a:lstStyle/>
          <a:p>
            <a:pPr algn="l">
              <a:lnSpc>
                <a:spcPts val="4480"/>
              </a:lnSpc>
            </a:pPr>
            <a:r>
              <a:rPr lang="en-US" sz="3200" b="1">
                <a:solidFill>
                  <a:srgbClr val="333137"/>
                </a:solidFill>
                <a:latin typeface="Nyutro Sans Bold"/>
                <a:ea typeface="Nyutro Sans Bold"/>
                <a:cs typeface="Nyutro Sans Bold"/>
                <a:sym typeface="Nyutro Sans Bold"/>
              </a:rPr>
              <a:t>Step 5: Lagrangian</a:t>
            </a:r>
          </a:p>
          <a:p>
            <a:pPr algn="l">
              <a:lnSpc>
                <a:spcPts val="4480"/>
              </a:lnSpc>
            </a:pPr>
            <a:endParaRPr lang="en-US" sz="3200" b="1">
              <a:solidFill>
                <a:srgbClr val="333137"/>
              </a:solidFill>
              <a:latin typeface="Nyutro Sans Bold"/>
              <a:ea typeface="Nyutro Sans Bold"/>
              <a:cs typeface="Nyutro Sans Bold"/>
              <a:sym typeface="Nyutro Sans Bold"/>
            </a:endParaRPr>
          </a:p>
          <a:p>
            <a:pPr algn="l">
              <a:lnSpc>
                <a:spcPts val="4480"/>
              </a:lnSpc>
            </a:pPr>
            <a:endParaRPr lang="en-US" sz="3200" b="1">
              <a:solidFill>
                <a:srgbClr val="333137"/>
              </a:solidFill>
              <a:latin typeface="Nyutro Sans Bold"/>
              <a:ea typeface="Nyutro Sans Bold"/>
              <a:cs typeface="Nyutro Sans Bold"/>
              <a:sym typeface="Nyutro Sans Bold"/>
            </a:endParaRPr>
          </a:p>
          <a:p>
            <a:pPr algn="l">
              <a:lnSpc>
                <a:spcPts val="4480"/>
              </a:lnSpc>
            </a:pPr>
            <a:endParaRPr lang="en-US" sz="3200" b="1">
              <a:solidFill>
                <a:srgbClr val="333137"/>
              </a:solidFill>
              <a:latin typeface="Nyutro Sans Bold"/>
              <a:ea typeface="Nyutro Sans Bold"/>
              <a:cs typeface="Nyutro Sans Bold"/>
              <a:sym typeface="Nyutro Sans Bold"/>
            </a:endParaRPr>
          </a:p>
          <a:p>
            <a:pPr algn="l">
              <a:lnSpc>
                <a:spcPts val="4480"/>
              </a:lnSpc>
            </a:pPr>
            <a:r>
              <a:rPr lang="en-US" sz="3200" b="1">
                <a:solidFill>
                  <a:srgbClr val="333137"/>
                </a:solidFill>
                <a:latin typeface="Nyutro Sans Bold"/>
                <a:ea typeface="Nyutro Sans Bold"/>
                <a:cs typeface="Nyutro Sans Bold"/>
                <a:sym typeface="Nyutro Sans Bold"/>
              </a:rPr>
              <a:t>Step 6: Apply Euler–Lagrange Equation</a:t>
            </a:r>
          </a:p>
          <a:p>
            <a:pPr algn="l">
              <a:lnSpc>
                <a:spcPts val="4480"/>
              </a:lnSpc>
            </a:pPr>
            <a:r>
              <a:rPr lang="en-US" sz="3200">
                <a:solidFill>
                  <a:srgbClr val="333137"/>
                </a:solidFill>
                <a:latin typeface="Nyutro Sans"/>
                <a:ea typeface="Nyutro Sans"/>
                <a:cs typeface="Nyutro Sans"/>
                <a:sym typeface="Nyutro Sans"/>
              </a:rPr>
              <a:t>For each coordinate θi:</a:t>
            </a:r>
          </a:p>
          <a:p>
            <a:pPr algn="l">
              <a:lnSpc>
                <a:spcPts val="4480"/>
              </a:lnSpc>
            </a:pPr>
            <a:endParaRPr lang="en-US" sz="3200">
              <a:solidFill>
                <a:srgbClr val="333137"/>
              </a:solidFill>
              <a:latin typeface="Nyutro Sans"/>
              <a:ea typeface="Nyutro Sans"/>
              <a:cs typeface="Nyutro Sans"/>
              <a:sym typeface="Nyutro Sans"/>
            </a:endParaRPr>
          </a:p>
          <a:p>
            <a:pPr algn="l">
              <a:lnSpc>
                <a:spcPts val="4480"/>
              </a:lnSpc>
            </a:pPr>
            <a:endParaRPr lang="en-US" sz="3200">
              <a:solidFill>
                <a:srgbClr val="333137"/>
              </a:solidFill>
              <a:latin typeface="Nyutro Sans"/>
              <a:ea typeface="Nyutro Sans"/>
              <a:cs typeface="Nyutro Sans"/>
              <a:sym typeface="Nyutro Sans"/>
            </a:endParaRPr>
          </a:p>
        </p:txBody>
      </p:sp>
      <p:pic>
        <p:nvPicPr>
          <p:cNvPr id="10" name="Picture 10"/>
          <p:cNvPicPr>
            <a:picLocks noChangeAspect="1"/>
          </p:cNvPicPr>
          <p:nvPr/>
        </p:nvPicPr>
        <p:blipFill>
          <a:blip r:embed="rId4"/>
          <a:stretch>
            <a:fillRect/>
          </a:stretch>
        </p:blipFill>
        <p:spPr>
          <a:xfrm>
            <a:off x="2291664" y="2952587"/>
            <a:ext cx="2936087" cy="875675"/>
          </a:xfrm>
          <a:prstGeom prst="rect">
            <a:avLst/>
          </a:prstGeom>
        </p:spPr>
      </p:pic>
      <p:pic>
        <p:nvPicPr>
          <p:cNvPr id="11" name="Picture 11"/>
          <p:cNvPicPr>
            <a:picLocks noChangeAspect="1"/>
          </p:cNvPicPr>
          <p:nvPr/>
        </p:nvPicPr>
        <p:blipFill>
          <a:blip r:embed="rId5"/>
          <a:stretch>
            <a:fillRect/>
          </a:stretch>
        </p:blipFill>
        <p:spPr>
          <a:xfrm>
            <a:off x="2079400" y="5536868"/>
            <a:ext cx="5483261" cy="232205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DDDDDF"/>
        </a:solidFill>
        <a:effectLst/>
      </p:bgPr>
    </p:bg>
    <p:spTree>
      <p:nvGrpSpPr>
        <p:cNvPr id="1" name=""/>
        <p:cNvGrpSpPr/>
        <p:nvPr/>
      </p:nvGrpSpPr>
      <p:grpSpPr>
        <a:xfrm>
          <a:off x="0" y="0"/>
          <a:ext cx="0" cy="0"/>
          <a:chOff x="0" y="0"/>
          <a:chExt cx="0" cy="0"/>
        </a:xfrm>
      </p:grpSpPr>
      <p:sp>
        <p:nvSpPr>
          <p:cNvPr id="2" name="Freeform 2"/>
          <p:cNvSpPr/>
          <p:nvPr/>
        </p:nvSpPr>
        <p:spPr>
          <a:xfrm>
            <a:off x="12433764" y="7682720"/>
            <a:ext cx="8412822" cy="6669073"/>
          </a:xfrm>
          <a:custGeom>
            <a:avLst/>
            <a:gdLst/>
            <a:ahLst/>
            <a:cxnLst/>
            <a:rect l="l" t="t" r="r" b="b"/>
            <a:pathLst>
              <a:path w="8412822" h="6669073">
                <a:moveTo>
                  <a:pt x="0" y="0"/>
                </a:moveTo>
                <a:lnTo>
                  <a:pt x="8412822" y="0"/>
                </a:lnTo>
                <a:lnTo>
                  <a:pt x="8412822" y="6669074"/>
                </a:lnTo>
                <a:lnTo>
                  <a:pt x="0" y="666907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flipH="1" flipV="1">
            <a:off x="-2558586" y="-4064794"/>
            <a:ext cx="8412822" cy="6669073"/>
          </a:xfrm>
          <a:custGeom>
            <a:avLst/>
            <a:gdLst/>
            <a:ahLst/>
            <a:cxnLst/>
            <a:rect l="l" t="t" r="r" b="b"/>
            <a:pathLst>
              <a:path w="8412822" h="6669073">
                <a:moveTo>
                  <a:pt x="8412822" y="6669074"/>
                </a:moveTo>
                <a:lnTo>
                  <a:pt x="0" y="6669074"/>
                </a:lnTo>
                <a:lnTo>
                  <a:pt x="0" y="0"/>
                </a:lnTo>
                <a:lnTo>
                  <a:pt x="8412822" y="0"/>
                </a:lnTo>
                <a:lnTo>
                  <a:pt x="8412822" y="6669074"/>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flipH="1" flipV="1">
            <a:off x="-2190390" y="9258300"/>
            <a:ext cx="11408209" cy="1203047"/>
          </a:xfrm>
          <a:custGeom>
            <a:avLst/>
            <a:gdLst/>
            <a:ahLst/>
            <a:cxnLst/>
            <a:rect l="l" t="t" r="r" b="b"/>
            <a:pathLst>
              <a:path w="11408209" h="1203047">
                <a:moveTo>
                  <a:pt x="11408209" y="1203047"/>
                </a:moveTo>
                <a:lnTo>
                  <a:pt x="0" y="1203047"/>
                </a:lnTo>
                <a:lnTo>
                  <a:pt x="0" y="0"/>
                </a:lnTo>
                <a:lnTo>
                  <a:pt x="11408209" y="0"/>
                </a:lnTo>
                <a:lnTo>
                  <a:pt x="11408209" y="1203047"/>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9070181" y="-174347"/>
            <a:ext cx="11408209" cy="1203047"/>
          </a:xfrm>
          <a:custGeom>
            <a:avLst/>
            <a:gdLst/>
            <a:ahLst/>
            <a:cxnLst/>
            <a:rect l="l" t="t" r="r" b="b"/>
            <a:pathLst>
              <a:path w="11408209" h="1203047">
                <a:moveTo>
                  <a:pt x="0" y="0"/>
                </a:moveTo>
                <a:lnTo>
                  <a:pt x="11408209" y="0"/>
                </a:lnTo>
                <a:lnTo>
                  <a:pt x="11408209" y="1203047"/>
                </a:lnTo>
                <a:lnTo>
                  <a:pt x="0" y="1203047"/>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AutoShape 6"/>
          <p:cNvSpPr/>
          <p:nvPr/>
        </p:nvSpPr>
        <p:spPr>
          <a:xfrm>
            <a:off x="4254817" y="9840774"/>
            <a:ext cx="3827092" cy="0"/>
          </a:xfrm>
          <a:prstGeom prst="line">
            <a:avLst/>
          </a:prstGeom>
          <a:ln w="57150" cap="flat">
            <a:solidFill>
              <a:srgbClr val="333137"/>
            </a:solidFill>
            <a:prstDash val="solid"/>
            <a:headEnd type="none" w="sm" len="sm"/>
            <a:tailEnd type="none" w="sm" len="sm"/>
          </a:ln>
        </p:spPr>
      </p:sp>
      <p:sp>
        <p:nvSpPr>
          <p:cNvPr id="7" name="AutoShape 7"/>
          <p:cNvSpPr/>
          <p:nvPr/>
        </p:nvSpPr>
        <p:spPr>
          <a:xfrm>
            <a:off x="10146030" y="446226"/>
            <a:ext cx="3827092" cy="0"/>
          </a:xfrm>
          <a:prstGeom prst="line">
            <a:avLst/>
          </a:prstGeom>
          <a:ln w="57150" cap="flat">
            <a:solidFill>
              <a:srgbClr val="333137"/>
            </a:solidFill>
            <a:prstDash val="solid"/>
            <a:headEnd type="none" w="sm" len="sm"/>
            <a:tailEnd type="none" w="sm" len="sm"/>
          </a:ln>
        </p:spPr>
      </p:sp>
      <p:sp>
        <p:nvSpPr>
          <p:cNvPr id="8" name="TextBox 8"/>
          <p:cNvSpPr txBox="1"/>
          <p:nvPr/>
        </p:nvSpPr>
        <p:spPr>
          <a:xfrm>
            <a:off x="2536338" y="1206613"/>
            <a:ext cx="15219384" cy="1028700"/>
          </a:xfrm>
          <a:prstGeom prst="rect">
            <a:avLst/>
          </a:prstGeom>
        </p:spPr>
        <p:txBody>
          <a:bodyPr lIns="0" tIns="0" rIns="0" bIns="0" rtlCol="0" anchor="t">
            <a:spAutoFit/>
          </a:bodyPr>
          <a:lstStyle/>
          <a:p>
            <a:pPr algn="ctr">
              <a:lnSpc>
                <a:spcPts val="8400"/>
              </a:lnSpc>
            </a:pPr>
            <a:r>
              <a:rPr lang="en-US" sz="6000" b="1">
                <a:solidFill>
                  <a:srgbClr val="333137"/>
                </a:solidFill>
                <a:latin typeface="Emmali Medium"/>
                <a:ea typeface="Emmali Medium"/>
                <a:cs typeface="Emmali Medium"/>
                <a:sym typeface="Emmali Medium"/>
              </a:rPr>
              <a:t>4. MATHEMATICAL DERIVATION </a:t>
            </a:r>
          </a:p>
        </p:txBody>
      </p:sp>
      <p:sp>
        <p:nvSpPr>
          <p:cNvPr id="9" name="TextBox 9"/>
          <p:cNvSpPr txBox="1"/>
          <p:nvPr/>
        </p:nvSpPr>
        <p:spPr>
          <a:xfrm>
            <a:off x="1415579" y="2130538"/>
            <a:ext cx="16040202" cy="6896735"/>
          </a:xfrm>
          <a:prstGeom prst="rect">
            <a:avLst/>
          </a:prstGeom>
        </p:spPr>
        <p:txBody>
          <a:bodyPr lIns="0" tIns="0" rIns="0" bIns="0" rtlCol="0" anchor="t">
            <a:spAutoFit/>
          </a:bodyPr>
          <a:lstStyle/>
          <a:p>
            <a:pPr algn="l">
              <a:lnSpc>
                <a:spcPts val="3640"/>
              </a:lnSpc>
            </a:pPr>
            <a:r>
              <a:rPr lang="en-US" sz="2600" b="1">
                <a:solidFill>
                  <a:srgbClr val="333137"/>
                </a:solidFill>
                <a:latin typeface="Nyutro Sans Bold"/>
                <a:ea typeface="Nyutro Sans Bold"/>
                <a:cs typeface="Nyutro Sans Bold"/>
                <a:sym typeface="Nyutro Sans Bold"/>
              </a:rPr>
              <a:t>Step 7:Solve for Each Joint</a:t>
            </a:r>
          </a:p>
          <a:p>
            <a:pPr algn="l">
              <a:lnSpc>
                <a:spcPts val="3640"/>
              </a:lnSpc>
            </a:pPr>
            <a:r>
              <a:rPr lang="en-US" sz="2600">
                <a:solidFill>
                  <a:srgbClr val="333137"/>
                </a:solidFill>
                <a:latin typeface="Nyutro Sans"/>
                <a:ea typeface="Nyutro Sans"/>
                <a:cs typeface="Nyutro Sans"/>
                <a:sym typeface="Nyutro Sans"/>
              </a:rPr>
              <a:t>After simplification:</a:t>
            </a:r>
          </a:p>
          <a:p>
            <a:pPr algn="l">
              <a:lnSpc>
                <a:spcPts val="3640"/>
              </a:lnSpc>
            </a:pPr>
            <a:endParaRPr lang="en-US" sz="2600">
              <a:solidFill>
                <a:srgbClr val="333137"/>
              </a:solidFill>
              <a:latin typeface="Nyutro Sans"/>
              <a:ea typeface="Nyutro Sans"/>
              <a:cs typeface="Nyutro Sans"/>
              <a:sym typeface="Nyutro Sans"/>
            </a:endParaRPr>
          </a:p>
          <a:p>
            <a:pPr algn="l">
              <a:lnSpc>
                <a:spcPts val="3640"/>
              </a:lnSpc>
            </a:pPr>
            <a:endParaRPr lang="en-US" sz="2600">
              <a:solidFill>
                <a:srgbClr val="333137"/>
              </a:solidFill>
              <a:latin typeface="Nyutro Sans"/>
              <a:ea typeface="Nyutro Sans"/>
              <a:cs typeface="Nyutro Sans"/>
              <a:sym typeface="Nyutro Sans"/>
            </a:endParaRPr>
          </a:p>
          <a:p>
            <a:pPr algn="l">
              <a:lnSpc>
                <a:spcPts val="3640"/>
              </a:lnSpc>
            </a:pPr>
            <a:r>
              <a:rPr lang="en-US" sz="2600">
                <a:solidFill>
                  <a:srgbClr val="333137"/>
                </a:solidFill>
                <a:latin typeface="Nyutro Sans"/>
                <a:ea typeface="Nyutro Sans"/>
                <a:cs typeface="Nyutro Sans"/>
                <a:sym typeface="Nyutro Sans"/>
              </a:rPr>
              <a:t>​Similarly:</a:t>
            </a:r>
          </a:p>
          <a:p>
            <a:pPr algn="l">
              <a:lnSpc>
                <a:spcPts val="3640"/>
              </a:lnSpc>
            </a:pPr>
            <a:r>
              <a:rPr lang="en-US" sz="2600" b="1">
                <a:solidFill>
                  <a:srgbClr val="333137"/>
                </a:solidFill>
                <a:latin typeface="Nyutro Sans Bold"/>
                <a:ea typeface="Nyutro Sans Bold"/>
                <a:cs typeface="Nyutro Sans Bold"/>
                <a:sym typeface="Nyutro Sans Bold"/>
              </a:rPr>
              <a:t>​</a:t>
            </a:r>
          </a:p>
          <a:p>
            <a:pPr algn="l">
              <a:lnSpc>
                <a:spcPts val="3640"/>
              </a:lnSpc>
            </a:pPr>
            <a:endParaRPr lang="en-US" sz="2600" b="1">
              <a:solidFill>
                <a:srgbClr val="333137"/>
              </a:solidFill>
              <a:latin typeface="Nyutro Sans Bold"/>
              <a:ea typeface="Nyutro Sans Bold"/>
              <a:cs typeface="Nyutro Sans Bold"/>
              <a:sym typeface="Nyutro Sans Bold"/>
            </a:endParaRPr>
          </a:p>
          <a:p>
            <a:pPr algn="l">
              <a:lnSpc>
                <a:spcPts val="3640"/>
              </a:lnSpc>
            </a:pPr>
            <a:endParaRPr lang="en-US" sz="2600" b="1">
              <a:solidFill>
                <a:srgbClr val="333137"/>
              </a:solidFill>
              <a:latin typeface="Nyutro Sans Bold"/>
              <a:ea typeface="Nyutro Sans Bold"/>
              <a:cs typeface="Nyutro Sans Bold"/>
              <a:sym typeface="Nyutro Sans Bold"/>
            </a:endParaRPr>
          </a:p>
          <a:p>
            <a:pPr algn="l">
              <a:lnSpc>
                <a:spcPts val="3640"/>
              </a:lnSpc>
            </a:pPr>
            <a:r>
              <a:rPr lang="en-US" sz="2600" b="1">
                <a:solidFill>
                  <a:srgbClr val="333137"/>
                </a:solidFill>
                <a:latin typeface="Nyutro Sans Bold"/>
                <a:ea typeface="Nyutro Sans Bold"/>
                <a:cs typeface="Nyutro Sans Bold"/>
                <a:sym typeface="Nyutro Sans Bold"/>
              </a:rPr>
              <a:t>Step 8: Final Matrix Form</a:t>
            </a:r>
          </a:p>
          <a:p>
            <a:pPr algn="l">
              <a:lnSpc>
                <a:spcPts val="3640"/>
              </a:lnSpc>
            </a:pPr>
            <a:endParaRPr lang="en-US" sz="2600" b="1">
              <a:solidFill>
                <a:srgbClr val="333137"/>
              </a:solidFill>
              <a:latin typeface="Nyutro Sans Bold"/>
              <a:ea typeface="Nyutro Sans Bold"/>
              <a:cs typeface="Nyutro Sans Bold"/>
              <a:sym typeface="Nyutro Sans Bold"/>
            </a:endParaRPr>
          </a:p>
          <a:p>
            <a:pPr algn="l">
              <a:lnSpc>
                <a:spcPts val="3640"/>
              </a:lnSpc>
            </a:pPr>
            <a:endParaRPr lang="en-US" sz="2600" b="1">
              <a:solidFill>
                <a:srgbClr val="333137"/>
              </a:solidFill>
              <a:latin typeface="Nyutro Sans Bold"/>
              <a:ea typeface="Nyutro Sans Bold"/>
              <a:cs typeface="Nyutro Sans Bold"/>
              <a:sym typeface="Nyutro Sans Bold"/>
            </a:endParaRPr>
          </a:p>
          <a:p>
            <a:pPr algn="l">
              <a:lnSpc>
                <a:spcPts val="3640"/>
              </a:lnSpc>
            </a:pPr>
            <a:r>
              <a:rPr lang="en-US" sz="2600" b="1">
                <a:solidFill>
                  <a:srgbClr val="333137"/>
                </a:solidFill>
                <a:latin typeface="Nyutro Sans Bold"/>
                <a:ea typeface="Nyutro Sans Bold"/>
                <a:cs typeface="Nyutro Sans Bold"/>
                <a:sym typeface="Nyutro Sans Bold"/>
              </a:rPr>
              <a:t>Step 9: Extend to Full Hexapod</a:t>
            </a:r>
          </a:p>
          <a:p>
            <a:pPr marL="561341" lvl="1" indent="-280670" algn="l">
              <a:lnSpc>
                <a:spcPts val="3640"/>
              </a:lnSpc>
              <a:buFont typeface="Arial"/>
              <a:buChar char="•"/>
            </a:pPr>
            <a:r>
              <a:rPr lang="en-US" sz="2600">
                <a:solidFill>
                  <a:srgbClr val="333137"/>
                </a:solidFill>
                <a:latin typeface="Nyutro Sans"/>
                <a:ea typeface="Nyutro Sans"/>
                <a:cs typeface="Nyutro Sans"/>
                <a:sym typeface="Nyutro Sans"/>
              </a:rPr>
              <a:t>Each leg → same derivation</a:t>
            </a:r>
          </a:p>
          <a:p>
            <a:pPr marL="561341" lvl="1" indent="-280670" algn="l">
              <a:lnSpc>
                <a:spcPts val="3640"/>
              </a:lnSpc>
              <a:buFont typeface="Arial"/>
              <a:buChar char="•"/>
            </a:pPr>
            <a:r>
              <a:rPr lang="en-US" sz="2600">
                <a:solidFill>
                  <a:srgbClr val="333137"/>
                </a:solidFill>
                <a:latin typeface="Nyutro Sans"/>
                <a:ea typeface="Nyutro Sans"/>
                <a:cs typeface="Nyutro Sans"/>
                <a:sym typeface="Nyutro Sans"/>
              </a:rPr>
              <a:t>Total system:</a:t>
            </a:r>
          </a:p>
          <a:p>
            <a:pPr algn="l">
              <a:lnSpc>
                <a:spcPts val="3640"/>
              </a:lnSpc>
            </a:pPr>
            <a:endParaRPr lang="en-US" sz="2600">
              <a:solidFill>
                <a:srgbClr val="333137"/>
              </a:solidFill>
              <a:latin typeface="Nyutro Sans"/>
              <a:ea typeface="Nyutro Sans"/>
              <a:cs typeface="Nyutro Sans"/>
              <a:sym typeface="Nyutro Sans"/>
            </a:endParaRPr>
          </a:p>
        </p:txBody>
      </p:sp>
      <p:pic>
        <p:nvPicPr>
          <p:cNvPr id="10" name="Picture 10"/>
          <p:cNvPicPr>
            <a:picLocks noChangeAspect="1"/>
          </p:cNvPicPr>
          <p:nvPr/>
        </p:nvPicPr>
        <p:blipFill>
          <a:blip r:embed="rId4"/>
          <a:stretch>
            <a:fillRect/>
          </a:stretch>
        </p:blipFill>
        <p:spPr>
          <a:xfrm>
            <a:off x="6698613" y="5906522"/>
            <a:ext cx="5474135" cy="1403624"/>
          </a:xfrm>
          <a:prstGeom prst="rect">
            <a:avLst/>
          </a:prstGeom>
        </p:spPr>
      </p:pic>
      <p:pic>
        <p:nvPicPr>
          <p:cNvPr id="11" name="Picture 11"/>
          <p:cNvPicPr>
            <a:picLocks noChangeAspect="1"/>
          </p:cNvPicPr>
          <p:nvPr/>
        </p:nvPicPr>
        <p:blipFill>
          <a:blip r:embed="rId5"/>
          <a:stretch>
            <a:fillRect/>
          </a:stretch>
        </p:blipFill>
        <p:spPr>
          <a:xfrm>
            <a:off x="5862961" y="4148273"/>
            <a:ext cx="7145440" cy="1590681"/>
          </a:xfrm>
          <a:prstGeom prst="rect">
            <a:avLst/>
          </a:prstGeom>
        </p:spPr>
      </p:pic>
      <p:pic>
        <p:nvPicPr>
          <p:cNvPr id="12" name="Picture 12"/>
          <p:cNvPicPr>
            <a:picLocks noChangeAspect="1"/>
          </p:cNvPicPr>
          <p:nvPr/>
        </p:nvPicPr>
        <p:blipFill>
          <a:blip r:embed="rId6"/>
          <a:stretch>
            <a:fillRect/>
          </a:stretch>
        </p:blipFill>
        <p:spPr>
          <a:xfrm>
            <a:off x="5862961" y="3708656"/>
            <a:ext cx="7145440" cy="1590681"/>
          </a:xfrm>
          <a:prstGeom prst="rect">
            <a:avLst/>
          </a:prstGeom>
        </p:spPr>
      </p:pic>
      <p:pic>
        <p:nvPicPr>
          <p:cNvPr id="13" name="Picture 13"/>
          <p:cNvPicPr>
            <a:picLocks noChangeAspect="1"/>
          </p:cNvPicPr>
          <p:nvPr/>
        </p:nvPicPr>
        <p:blipFill>
          <a:blip r:embed="rId7"/>
          <a:stretch>
            <a:fillRect/>
          </a:stretch>
        </p:blipFill>
        <p:spPr>
          <a:xfrm>
            <a:off x="5883778" y="2530314"/>
            <a:ext cx="7145440" cy="1590681"/>
          </a:xfrm>
          <a:prstGeom prst="rect">
            <a:avLst/>
          </a:prstGeom>
        </p:spPr>
      </p:pic>
      <p:pic>
        <p:nvPicPr>
          <p:cNvPr id="14" name="Picture 14"/>
          <p:cNvPicPr>
            <a:picLocks noChangeAspect="1"/>
          </p:cNvPicPr>
          <p:nvPr/>
        </p:nvPicPr>
        <p:blipFill>
          <a:blip r:embed="rId8"/>
          <a:stretch>
            <a:fillRect/>
          </a:stretch>
        </p:blipFill>
        <p:spPr>
          <a:xfrm>
            <a:off x="5220522" y="7956342"/>
            <a:ext cx="8186243" cy="197155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DDDDDF"/>
        </a:solidFill>
        <a:effectLst/>
      </p:bgPr>
    </p:bg>
    <p:spTree>
      <p:nvGrpSpPr>
        <p:cNvPr id="1" name=""/>
        <p:cNvGrpSpPr/>
        <p:nvPr/>
      </p:nvGrpSpPr>
      <p:grpSpPr>
        <a:xfrm>
          <a:off x="0" y="0"/>
          <a:ext cx="0" cy="0"/>
          <a:chOff x="0" y="0"/>
          <a:chExt cx="0" cy="0"/>
        </a:xfrm>
      </p:grpSpPr>
      <p:sp>
        <p:nvSpPr>
          <p:cNvPr id="2" name="Freeform 2"/>
          <p:cNvSpPr/>
          <p:nvPr/>
        </p:nvSpPr>
        <p:spPr>
          <a:xfrm>
            <a:off x="12433764" y="7682720"/>
            <a:ext cx="8412822" cy="6669073"/>
          </a:xfrm>
          <a:custGeom>
            <a:avLst/>
            <a:gdLst/>
            <a:ahLst/>
            <a:cxnLst/>
            <a:rect l="l" t="t" r="r" b="b"/>
            <a:pathLst>
              <a:path w="8412822" h="6669073">
                <a:moveTo>
                  <a:pt x="0" y="0"/>
                </a:moveTo>
                <a:lnTo>
                  <a:pt x="8412822" y="0"/>
                </a:lnTo>
                <a:lnTo>
                  <a:pt x="8412822" y="6669074"/>
                </a:lnTo>
                <a:lnTo>
                  <a:pt x="0" y="666907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flipH="1" flipV="1">
            <a:off x="-2558586" y="-4064794"/>
            <a:ext cx="8412822" cy="6669073"/>
          </a:xfrm>
          <a:custGeom>
            <a:avLst/>
            <a:gdLst/>
            <a:ahLst/>
            <a:cxnLst/>
            <a:rect l="l" t="t" r="r" b="b"/>
            <a:pathLst>
              <a:path w="8412822" h="6669073">
                <a:moveTo>
                  <a:pt x="8412822" y="6669074"/>
                </a:moveTo>
                <a:lnTo>
                  <a:pt x="0" y="6669074"/>
                </a:lnTo>
                <a:lnTo>
                  <a:pt x="0" y="0"/>
                </a:lnTo>
                <a:lnTo>
                  <a:pt x="8412822" y="0"/>
                </a:lnTo>
                <a:lnTo>
                  <a:pt x="8412822" y="6669074"/>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flipH="1" flipV="1">
            <a:off x="-2190390" y="9258300"/>
            <a:ext cx="11408209" cy="1203047"/>
          </a:xfrm>
          <a:custGeom>
            <a:avLst/>
            <a:gdLst/>
            <a:ahLst/>
            <a:cxnLst/>
            <a:rect l="l" t="t" r="r" b="b"/>
            <a:pathLst>
              <a:path w="11408209" h="1203047">
                <a:moveTo>
                  <a:pt x="11408209" y="1203047"/>
                </a:moveTo>
                <a:lnTo>
                  <a:pt x="0" y="1203047"/>
                </a:lnTo>
                <a:lnTo>
                  <a:pt x="0" y="0"/>
                </a:lnTo>
                <a:lnTo>
                  <a:pt x="11408209" y="0"/>
                </a:lnTo>
                <a:lnTo>
                  <a:pt x="11408209" y="1203047"/>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9070181" y="-174347"/>
            <a:ext cx="11408209" cy="1203047"/>
          </a:xfrm>
          <a:custGeom>
            <a:avLst/>
            <a:gdLst/>
            <a:ahLst/>
            <a:cxnLst/>
            <a:rect l="l" t="t" r="r" b="b"/>
            <a:pathLst>
              <a:path w="11408209" h="1203047">
                <a:moveTo>
                  <a:pt x="0" y="0"/>
                </a:moveTo>
                <a:lnTo>
                  <a:pt x="11408209" y="0"/>
                </a:lnTo>
                <a:lnTo>
                  <a:pt x="11408209" y="1203047"/>
                </a:lnTo>
                <a:lnTo>
                  <a:pt x="0" y="1203047"/>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AutoShape 6"/>
          <p:cNvSpPr/>
          <p:nvPr/>
        </p:nvSpPr>
        <p:spPr>
          <a:xfrm>
            <a:off x="4254817" y="9840774"/>
            <a:ext cx="3827092" cy="0"/>
          </a:xfrm>
          <a:prstGeom prst="line">
            <a:avLst/>
          </a:prstGeom>
          <a:ln w="57150" cap="flat">
            <a:solidFill>
              <a:srgbClr val="333137"/>
            </a:solidFill>
            <a:prstDash val="solid"/>
            <a:headEnd type="none" w="sm" len="sm"/>
            <a:tailEnd type="none" w="sm" len="sm"/>
          </a:ln>
        </p:spPr>
      </p:sp>
      <p:sp>
        <p:nvSpPr>
          <p:cNvPr id="7" name="AutoShape 7"/>
          <p:cNvSpPr/>
          <p:nvPr/>
        </p:nvSpPr>
        <p:spPr>
          <a:xfrm>
            <a:off x="10146030" y="446226"/>
            <a:ext cx="3827092" cy="0"/>
          </a:xfrm>
          <a:prstGeom prst="line">
            <a:avLst/>
          </a:prstGeom>
          <a:ln w="57150" cap="flat">
            <a:solidFill>
              <a:srgbClr val="333137"/>
            </a:solidFill>
            <a:prstDash val="solid"/>
            <a:headEnd type="none" w="sm" len="sm"/>
            <a:tailEnd type="none" w="sm" len="sm"/>
          </a:ln>
        </p:spPr>
      </p:sp>
      <p:sp>
        <p:nvSpPr>
          <p:cNvPr id="8" name="TextBox 8"/>
          <p:cNvSpPr txBox="1"/>
          <p:nvPr/>
        </p:nvSpPr>
        <p:spPr>
          <a:xfrm>
            <a:off x="2768584" y="670471"/>
            <a:ext cx="15219384" cy="1028700"/>
          </a:xfrm>
          <a:prstGeom prst="rect">
            <a:avLst/>
          </a:prstGeom>
        </p:spPr>
        <p:txBody>
          <a:bodyPr lIns="0" tIns="0" rIns="0" bIns="0" rtlCol="0" anchor="t">
            <a:spAutoFit/>
          </a:bodyPr>
          <a:lstStyle/>
          <a:p>
            <a:pPr algn="ctr">
              <a:lnSpc>
                <a:spcPts val="8400"/>
              </a:lnSpc>
            </a:pPr>
            <a:r>
              <a:rPr lang="en-US" sz="6000" b="1">
                <a:solidFill>
                  <a:srgbClr val="333137"/>
                </a:solidFill>
                <a:latin typeface="Emmali Medium"/>
                <a:ea typeface="Emmali Medium"/>
                <a:cs typeface="Emmali Medium"/>
                <a:sym typeface="Emmali Medium"/>
              </a:rPr>
              <a:t>5. FINAL EQUATIONS &amp; STATE-SPACE</a:t>
            </a:r>
          </a:p>
        </p:txBody>
      </p:sp>
      <p:sp>
        <p:nvSpPr>
          <p:cNvPr id="9" name="TextBox 9"/>
          <p:cNvSpPr txBox="1"/>
          <p:nvPr/>
        </p:nvSpPr>
        <p:spPr>
          <a:xfrm>
            <a:off x="1647825" y="1594396"/>
            <a:ext cx="16040202" cy="7353935"/>
          </a:xfrm>
          <a:prstGeom prst="rect">
            <a:avLst/>
          </a:prstGeom>
        </p:spPr>
        <p:txBody>
          <a:bodyPr lIns="0" tIns="0" rIns="0" bIns="0" rtlCol="0" anchor="t">
            <a:spAutoFit/>
          </a:bodyPr>
          <a:lstStyle/>
          <a:p>
            <a:pPr algn="l">
              <a:lnSpc>
                <a:spcPts val="3640"/>
              </a:lnSpc>
            </a:pPr>
            <a:r>
              <a:rPr lang="en-US" sz="2600" b="1">
                <a:solidFill>
                  <a:srgbClr val="333137"/>
                </a:solidFill>
                <a:latin typeface="Nyutro Sans Bold"/>
                <a:ea typeface="Nyutro Sans Bold"/>
                <a:cs typeface="Nyutro Sans Bold"/>
                <a:sym typeface="Nyutro Sans Bold"/>
              </a:rPr>
              <a:t>Equations of Motion</a:t>
            </a:r>
          </a:p>
          <a:p>
            <a:pPr algn="l">
              <a:lnSpc>
                <a:spcPts val="3640"/>
              </a:lnSpc>
            </a:pPr>
            <a:endParaRPr lang="en-US" sz="2600" b="1">
              <a:solidFill>
                <a:srgbClr val="333137"/>
              </a:solidFill>
              <a:latin typeface="Nyutro Sans Bold"/>
              <a:ea typeface="Nyutro Sans Bold"/>
              <a:cs typeface="Nyutro Sans Bold"/>
              <a:sym typeface="Nyutro Sans Bold"/>
            </a:endParaRPr>
          </a:p>
          <a:p>
            <a:pPr algn="l">
              <a:lnSpc>
                <a:spcPts val="3640"/>
              </a:lnSpc>
            </a:pPr>
            <a:r>
              <a:rPr lang="en-US" sz="2600">
                <a:solidFill>
                  <a:srgbClr val="333137"/>
                </a:solidFill>
                <a:latin typeface="Nyutro Sans"/>
                <a:ea typeface="Nyutro Sans"/>
                <a:cs typeface="Nyutro Sans"/>
                <a:sym typeface="Nyutro Sans"/>
              </a:rPr>
              <a:t>Where:</a:t>
            </a:r>
          </a:p>
          <a:p>
            <a:pPr marL="561341" lvl="1" indent="-280670" algn="l">
              <a:lnSpc>
                <a:spcPts val="3640"/>
              </a:lnSpc>
              <a:buFont typeface="Arial"/>
              <a:buChar char="•"/>
            </a:pPr>
            <a:r>
              <a:rPr lang="en-US" sz="2600">
                <a:solidFill>
                  <a:srgbClr val="333137"/>
                </a:solidFill>
                <a:latin typeface="Nyutro Sans"/>
                <a:ea typeface="Nyutro Sans"/>
                <a:cs typeface="Nyutro Sans"/>
                <a:sym typeface="Nyutro Sans"/>
              </a:rPr>
              <a:t>M(θ) → inertia matrix</a:t>
            </a:r>
          </a:p>
          <a:p>
            <a:pPr marL="561341" lvl="1" indent="-280670" algn="l">
              <a:lnSpc>
                <a:spcPts val="3640"/>
              </a:lnSpc>
              <a:buFont typeface="Arial"/>
              <a:buChar char="•"/>
            </a:pPr>
            <a:r>
              <a:rPr lang="en-US" sz="2600">
                <a:solidFill>
                  <a:srgbClr val="333137"/>
                </a:solidFill>
                <a:latin typeface="Nyutro Sans"/>
                <a:ea typeface="Nyutro Sans"/>
                <a:cs typeface="Nyutro Sans"/>
                <a:sym typeface="Nyutro Sans"/>
              </a:rPr>
              <a:t>C(θ, θ̇) → Coriolis &amp; centrifugal forces</a:t>
            </a:r>
          </a:p>
          <a:p>
            <a:pPr marL="561341" lvl="1" indent="-280670" algn="l">
              <a:lnSpc>
                <a:spcPts val="3640"/>
              </a:lnSpc>
              <a:buFont typeface="Arial"/>
              <a:buChar char="•"/>
            </a:pPr>
            <a:r>
              <a:rPr lang="en-US" sz="2600">
                <a:solidFill>
                  <a:srgbClr val="333137"/>
                </a:solidFill>
                <a:latin typeface="Nyutro Sans"/>
                <a:ea typeface="Nyutro Sans"/>
                <a:cs typeface="Nyutro Sans"/>
                <a:sym typeface="Nyutro Sans"/>
              </a:rPr>
              <a:t>G(θ) → gravity terms</a:t>
            </a:r>
          </a:p>
          <a:p>
            <a:pPr algn="l">
              <a:lnSpc>
                <a:spcPts val="3640"/>
              </a:lnSpc>
            </a:pPr>
            <a:r>
              <a:rPr lang="en-US" sz="2600" b="1">
                <a:solidFill>
                  <a:srgbClr val="333137"/>
                </a:solidFill>
                <a:latin typeface="Nyutro Sans Bold"/>
                <a:ea typeface="Nyutro Sans Bold"/>
                <a:cs typeface="Nyutro Sans Bold"/>
                <a:sym typeface="Nyutro Sans Bold"/>
              </a:rPr>
              <a:t>State-Space Form:</a:t>
            </a:r>
          </a:p>
          <a:p>
            <a:pPr algn="l">
              <a:lnSpc>
                <a:spcPts val="3640"/>
              </a:lnSpc>
            </a:pPr>
            <a:r>
              <a:rPr lang="en-US" sz="2600">
                <a:solidFill>
                  <a:srgbClr val="333137"/>
                </a:solidFill>
                <a:latin typeface="Nyutro Sans"/>
                <a:ea typeface="Nyutro Sans"/>
                <a:cs typeface="Nyutro Sans"/>
                <a:sym typeface="Nyutro Sans"/>
              </a:rPr>
              <a:t>Let:</a:t>
            </a:r>
          </a:p>
          <a:p>
            <a:pPr algn="l">
              <a:lnSpc>
                <a:spcPts val="3640"/>
              </a:lnSpc>
            </a:pPr>
            <a:endParaRPr lang="en-US" sz="2600">
              <a:solidFill>
                <a:srgbClr val="333137"/>
              </a:solidFill>
              <a:latin typeface="Nyutro Sans"/>
              <a:ea typeface="Nyutro Sans"/>
              <a:cs typeface="Nyutro Sans"/>
              <a:sym typeface="Nyutro Sans"/>
            </a:endParaRPr>
          </a:p>
          <a:p>
            <a:pPr algn="l">
              <a:lnSpc>
                <a:spcPts val="3640"/>
              </a:lnSpc>
            </a:pPr>
            <a:r>
              <a:rPr lang="en-US" sz="2600">
                <a:solidFill>
                  <a:srgbClr val="333137"/>
                </a:solidFill>
                <a:latin typeface="Nyutro Sans"/>
                <a:ea typeface="Nyutro Sans"/>
                <a:cs typeface="Nyutro Sans"/>
                <a:sym typeface="Nyutro Sans"/>
              </a:rPr>
              <a:t>Then:</a:t>
            </a:r>
          </a:p>
          <a:p>
            <a:pPr algn="l">
              <a:lnSpc>
                <a:spcPts val="3640"/>
              </a:lnSpc>
            </a:pPr>
            <a:endParaRPr lang="en-US" sz="2600">
              <a:solidFill>
                <a:srgbClr val="333137"/>
              </a:solidFill>
              <a:latin typeface="Nyutro Sans"/>
              <a:ea typeface="Nyutro Sans"/>
              <a:cs typeface="Nyutro Sans"/>
              <a:sym typeface="Nyutro Sans"/>
            </a:endParaRPr>
          </a:p>
          <a:p>
            <a:pPr algn="l">
              <a:lnSpc>
                <a:spcPts val="3640"/>
              </a:lnSpc>
            </a:pPr>
            <a:r>
              <a:rPr lang="en-US" sz="2600" b="1">
                <a:solidFill>
                  <a:srgbClr val="333137"/>
                </a:solidFill>
                <a:latin typeface="Nyutro Sans Bold"/>
                <a:ea typeface="Nyutro Sans Bold"/>
                <a:cs typeface="Nyutro Sans Bold"/>
                <a:sym typeface="Nyutro Sans Bold"/>
              </a:rPr>
              <a:t>Physical Meaning (CO3 important):</a:t>
            </a:r>
          </a:p>
          <a:p>
            <a:pPr marL="561341" lvl="1" indent="-280670" algn="l">
              <a:lnSpc>
                <a:spcPts val="3640"/>
              </a:lnSpc>
              <a:buFont typeface="Arial"/>
              <a:buChar char="•"/>
            </a:pPr>
            <a:r>
              <a:rPr lang="en-US" sz="2600">
                <a:solidFill>
                  <a:srgbClr val="333137"/>
                </a:solidFill>
                <a:latin typeface="Nyutro Sans"/>
                <a:ea typeface="Nyutro Sans"/>
                <a:cs typeface="Nyutro Sans"/>
                <a:sym typeface="Nyutro Sans"/>
              </a:rPr>
              <a:t>G(θ) → gravitational torque</a:t>
            </a:r>
          </a:p>
          <a:p>
            <a:pPr marL="561341" lvl="1" indent="-280670" algn="l">
              <a:lnSpc>
                <a:spcPts val="3640"/>
              </a:lnSpc>
              <a:buFont typeface="Arial"/>
              <a:buChar char="•"/>
            </a:pPr>
            <a:r>
              <a:rPr lang="en-US" sz="2600">
                <a:solidFill>
                  <a:srgbClr val="333137"/>
                </a:solidFill>
                <a:latin typeface="Nyutro Sans"/>
                <a:ea typeface="Nyutro Sans"/>
                <a:cs typeface="Nyutro Sans"/>
                <a:sym typeface="Nyutro Sans"/>
              </a:rPr>
              <a:t>C(θ,θ˙) → motion coupling between joints</a:t>
            </a:r>
          </a:p>
          <a:p>
            <a:pPr marL="561341" lvl="1" indent="-280670" algn="l">
              <a:lnSpc>
                <a:spcPts val="3640"/>
              </a:lnSpc>
              <a:buFont typeface="Arial"/>
              <a:buChar char="•"/>
            </a:pPr>
            <a:r>
              <a:rPr lang="en-US" sz="2600">
                <a:solidFill>
                  <a:srgbClr val="333137"/>
                </a:solidFill>
                <a:latin typeface="Nyutro Sans"/>
                <a:ea typeface="Nyutro Sans"/>
                <a:cs typeface="Nyutro Sans"/>
                <a:sym typeface="Nyutro Sans"/>
              </a:rPr>
              <a:t>M(θ)θ¨ → inertia resistance</a:t>
            </a:r>
          </a:p>
          <a:p>
            <a:pPr algn="l">
              <a:lnSpc>
                <a:spcPts val="3640"/>
              </a:lnSpc>
            </a:pPr>
            <a:r>
              <a:rPr lang="en-US" sz="2600" b="1">
                <a:solidFill>
                  <a:srgbClr val="333137"/>
                </a:solidFill>
                <a:latin typeface="Nyutro Sans Bold"/>
                <a:ea typeface="Nyutro Sans Bold"/>
                <a:cs typeface="Nyutro Sans Bold"/>
                <a:sym typeface="Nyutro Sans Bold"/>
              </a:rPr>
              <a:t>Energy Expression:</a:t>
            </a:r>
          </a:p>
        </p:txBody>
      </p:sp>
      <p:pic>
        <p:nvPicPr>
          <p:cNvPr id="10" name="Picture 10"/>
          <p:cNvPicPr>
            <a:picLocks noChangeAspect="1"/>
          </p:cNvPicPr>
          <p:nvPr/>
        </p:nvPicPr>
        <p:blipFill>
          <a:blip r:embed="rId4"/>
          <a:stretch>
            <a:fillRect/>
          </a:stretch>
        </p:blipFill>
        <p:spPr>
          <a:xfrm>
            <a:off x="5578604" y="1560259"/>
            <a:ext cx="6094532" cy="1562700"/>
          </a:xfrm>
          <a:prstGeom prst="rect">
            <a:avLst/>
          </a:prstGeom>
        </p:spPr>
      </p:pic>
      <p:pic>
        <p:nvPicPr>
          <p:cNvPr id="11" name="Picture 11"/>
          <p:cNvPicPr>
            <a:picLocks noChangeAspect="1"/>
          </p:cNvPicPr>
          <p:nvPr/>
        </p:nvPicPr>
        <p:blipFill>
          <a:blip r:embed="rId5"/>
          <a:stretch>
            <a:fillRect/>
          </a:stretch>
        </p:blipFill>
        <p:spPr>
          <a:xfrm>
            <a:off x="7850049" y="4985084"/>
            <a:ext cx="1551642" cy="696571"/>
          </a:xfrm>
          <a:prstGeom prst="rect">
            <a:avLst/>
          </a:prstGeom>
        </p:spPr>
      </p:pic>
      <p:pic>
        <p:nvPicPr>
          <p:cNvPr id="12" name="Picture 12"/>
          <p:cNvPicPr>
            <a:picLocks noChangeAspect="1"/>
          </p:cNvPicPr>
          <p:nvPr/>
        </p:nvPicPr>
        <p:blipFill>
          <a:blip r:embed="rId6"/>
          <a:stretch>
            <a:fillRect/>
          </a:stretch>
        </p:blipFill>
        <p:spPr>
          <a:xfrm>
            <a:off x="7612727" y="5893288"/>
            <a:ext cx="2026288" cy="684089"/>
          </a:xfrm>
          <a:prstGeom prst="rect">
            <a:avLst/>
          </a:prstGeom>
        </p:spPr>
      </p:pic>
      <p:pic>
        <p:nvPicPr>
          <p:cNvPr id="13" name="Picture 13"/>
          <p:cNvPicPr>
            <a:picLocks noChangeAspect="1"/>
          </p:cNvPicPr>
          <p:nvPr/>
        </p:nvPicPr>
        <p:blipFill>
          <a:blip r:embed="rId7"/>
          <a:stretch>
            <a:fillRect/>
          </a:stretch>
        </p:blipFill>
        <p:spPr>
          <a:xfrm>
            <a:off x="6919872" y="8737023"/>
            <a:ext cx="3411996" cy="104255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DDDDDF"/>
        </a:solidFill>
        <a:effectLst/>
      </p:bgPr>
    </p:bg>
    <p:spTree>
      <p:nvGrpSpPr>
        <p:cNvPr id="1" name=""/>
        <p:cNvGrpSpPr/>
        <p:nvPr/>
      </p:nvGrpSpPr>
      <p:grpSpPr>
        <a:xfrm>
          <a:off x="0" y="0"/>
          <a:ext cx="0" cy="0"/>
          <a:chOff x="0" y="0"/>
          <a:chExt cx="0" cy="0"/>
        </a:xfrm>
      </p:grpSpPr>
      <p:sp>
        <p:nvSpPr>
          <p:cNvPr id="2" name="Freeform 2"/>
          <p:cNvSpPr/>
          <p:nvPr/>
        </p:nvSpPr>
        <p:spPr>
          <a:xfrm>
            <a:off x="12433764" y="7682720"/>
            <a:ext cx="8412822" cy="6669073"/>
          </a:xfrm>
          <a:custGeom>
            <a:avLst/>
            <a:gdLst/>
            <a:ahLst/>
            <a:cxnLst/>
            <a:rect l="l" t="t" r="r" b="b"/>
            <a:pathLst>
              <a:path w="8412822" h="6669073">
                <a:moveTo>
                  <a:pt x="0" y="0"/>
                </a:moveTo>
                <a:lnTo>
                  <a:pt x="8412822" y="0"/>
                </a:lnTo>
                <a:lnTo>
                  <a:pt x="8412822" y="6669074"/>
                </a:lnTo>
                <a:lnTo>
                  <a:pt x="0" y="666907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flipH="1" flipV="1">
            <a:off x="-2558586" y="-4064794"/>
            <a:ext cx="8412822" cy="6669073"/>
          </a:xfrm>
          <a:custGeom>
            <a:avLst/>
            <a:gdLst/>
            <a:ahLst/>
            <a:cxnLst/>
            <a:rect l="l" t="t" r="r" b="b"/>
            <a:pathLst>
              <a:path w="8412822" h="6669073">
                <a:moveTo>
                  <a:pt x="8412822" y="6669074"/>
                </a:moveTo>
                <a:lnTo>
                  <a:pt x="0" y="6669074"/>
                </a:lnTo>
                <a:lnTo>
                  <a:pt x="0" y="0"/>
                </a:lnTo>
                <a:lnTo>
                  <a:pt x="8412822" y="0"/>
                </a:lnTo>
                <a:lnTo>
                  <a:pt x="8412822" y="6669074"/>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flipH="1" flipV="1">
            <a:off x="-2190390" y="9258300"/>
            <a:ext cx="11408209" cy="1203047"/>
          </a:xfrm>
          <a:custGeom>
            <a:avLst/>
            <a:gdLst/>
            <a:ahLst/>
            <a:cxnLst/>
            <a:rect l="l" t="t" r="r" b="b"/>
            <a:pathLst>
              <a:path w="11408209" h="1203047">
                <a:moveTo>
                  <a:pt x="11408209" y="1203047"/>
                </a:moveTo>
                <a:lnTo>
                  <a:pt x="0" y="1203047"/>
                </a:lnTo>
                <a:lnTo>
                  <a:pt x="0" y="0"/>
                </a:lnTo>
                <a:lnTo>
                  <a:pt x="11408209" y="0"/>
                </a:lnTo>
                <a:lnTo>
                  <a:pt x="11408209" y="1203047"/>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9070181" y="-174347"/>
            <a:ext cx="11408209" cy="1203047"/>
          </a:xfrm>
          <a:custGeom>
            <a:avLst/>
            <a:gdLst/>
            <a:ahLst/>
            <a:cxnLst/>
            <a:rect l="l" t="t" r="r" b="b"/>
            <a:pathLst>
              <a:path w="11408209" h="1203047">
                <a:moveTo>
                  <a:pt x="0" y="0"/>
                </a:moveTo>
                <a:lnTo>
                  <a:pt x="11408209" y="0"/>
                </a:lnTo>
                <a:lnTo>
                  <a:pt x="11408209" y="1203047"/>
                </a:lnTo>
                <a:lnTo>
                  <a:pt x="0" y="1203047"/>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AutoShape 6"/>
          <p:cNvSpPr/>
          <p:nvPr/>
        </p:nvSpPr>
        <p:spPr>
          <a:xfrm>
            <a:off x="4254817" y="9840774"/>
            <a:ext cx="3827092" cy="0"/>
          </a:xfrm>
          <a:prstGeom prst="line">
            <a:avLst/>
          </a:prstGeom>
          <a:ln w="57150" cap="flat">
            <a:solidFill>
              <a:srgbClr val="333137"/>
            </a:solidFill>
            <a:prstDash val="solid"/>
            <a:headEnd type="none" w="sm" len="sm"/>
            <a:tailEnd type="none" w="sm" len="sm"/>
          </a:ln>
        </p:spPr>
      </p:sp>
      <p:sp>
        <p:nvSpPr>
          <p:cNvPr id="7" name="AutoShape 7"/>
          <p:cNvSpPr/>
          <p:nvPr/>
        </p:nvSpPr>
        <p:spPr>
          <a:xfrm>
            <a:off x="10146030" y="446226"/>
            <a:ext cx="3827092" cy="0"/>
          </a:xfrm>
          <a:prstGeom prst="line">
            <a:avLst/>
          </a:prstGeom>
          <a:ln w="57150" cap="flat">
            <a:solidFill>
              <a:srgbClr val="333137"/>
            </a:solidFill>
            <a:prstDash val="solid"/>
            <a:headEnd type="none" w="sm" len="sm"/>
            <a:tailEnd type="none" w="sm" len="sm"/>
          </a:ln>
        </p:spPr>
      </p:sp>
      <p:sp>
        <p:nvSpPr>
          <p:cNvPr id="8" name="Freeform 8"/>
          <p:cNvSpPr/>
          <p:nvPr/>
        </p:nvSpPr>
        <p:spPr>
          <a:xfrm>
            <a:off x="2231911" y="1714220"/>
            <a:ext cx="14120502" cy="6931548"/>
          </a:xfrm>
          <a:custGeom>
            <a:avLst/>
            <a:gdLst/>
            <a:ahLst/>
            <a:cxnLst/>
            <a:rect l="l" t="t" r="r" b="b"/>
            <a:pathLst>
              <a:path w="14120502" h="6931548">
                <a:moveTo>
                  <a:pt x="0" y="0"/>
                </a:moveTo>
                <a:lnTo>
                  <a:pt x="14120502" y="0"/>
                </a:lnTo>
                <a:lnTo>
                  <a:pt x="14120502" y="6931548"/>
                </a:lnTo>
                <a:lnTo>
                  <a:pt x="0" y="6931548"/>
                </a:lnTo>
                <a:lnTo>
                  <a:pt x="0" y="0"/>
                </a:lnTo>
                <a:close/>
              </a:path>
            </a:pathLst>
          </a:custGeom>
          <a:blipFill>
            <a:blip r:embed="rId4">
              <a:extLst>
                <a:ext uri="{28A0092B-C50C-407E-A947-70E740481C1C}">
                  <a14:useLocalDpi xmlns:a14="http://schemas.microsoft.com/office/drawing/2010/main" val="0"/>
                </a:ext>
              </a:extLst>
            </a:blip>
            <a:stretch>
              <a:fillRect/>
            </a:stretch>
          </a:blipFill>
          <a:ln w="38100" cap="rnd">
            <a:solidFill>
              <a:srgbClr val="000000"/>
            </a:solidFill>
            <a:prstDash val="solid"/>
            <a:round/>
          </a:ln>
        </p:spPr>
      </p:sp>
      <p:sp>
        <p:nvSpPr>
          <p:cNvPr id="9" name="TextBox 9"/>
          <p:cNvSpPr txBox="1"/>
          <p:nvPr/>
        </p:nvSpPr>
        <p:spPr>
          <a:xfrm>
            <a:off x="2039916" y="673374"/>
            <a:ext cx="15219384" cy="1028700"/>
          </a:xfrm>
          <a:prstGeom prst="rect">
            <a:avLst/>
          </a:prstGeom>
        </p:spPr>
        <p:txBody>
          <a:bodyPr lIns="0" tIns="0" rIns="0" bIns="0" rtlCol="0" anchor="t">
            <a:spAutoFit/>
          </a:bodyPr>
          <a:lstStyle/>
          <a:p>
            <a:pPr algn="ctr">
              <a:lnSpc>
                <a:spcPts val="8400"/>
              </a:lnSpc>
            </a:pPr>
            <a:r>
              <a:rPr lang="en-US" sz="6000" b="1">
                <a:solidFill>
                  <a:srgbClr val="333137"/>
                </a:solidFill>
                <a:latin typeface="Emmali Medium"/>
                <a:ea typeface="Emmali Medium"/>
                <a:cs typeface="Emmali Medium"/>
                <a:sym typeface="Emmali Medium"/>
              </a:rPr>
              <a:t>6. SIMULATION &amp; ENERGY ANALYSIS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DDDDDF"/>
        </a:solidFill>
        <a:effectLst/>
      </p:bgPr>
    </p:bg>
    <p:spTree>
      <p:nvGrpSpPr>
        <p:cNvPr id="1" name=""/>
        <p:cNvGrpSpPr/>
        <p:nvPr/>
      </p:nvGrpSpPr>
      <p:grpSpPr>
        <a:xfrm>
          <a:off x="0" y="0"/>
          <a:ext cx="0" cy="0"/>
          <a:chOff x="0" y="0"/>
          <a:chExt cx="0" cy="0"/>
        </a:xfrm>
      </p:grpSpPr>
      <p:sp>
        <p:nvSpPr>
          <p:cNvPr id="2" name="Freeform 2"/>
          <p:cNvSpPr/>
          <p:nvPr/>
        </p:nvSpPr>
        <p:spPr>
          <a:xfrm>
            <a:off x="12433764" y="7682720"/>
            <a:ext cx="8412822" cy="6669073"/>
          </a:xfrm>
          <a:custGeom>
            <a:avLst/>
            <a:gdLst/>
            <a:ahLst/>
            <a:cxnLst/>
            <a:rect l="l" t="t" r="r" b="b"/>
            <a:pathLst>
              <a:path w="8412822" h="6669073">
                <a:moveTo>
                  <a:pt x="0" y="0"/>
                </a:moveTo>
                <a:lnTo>
                  <a:pt x="8412822" y="0"/>
                </a:lnTo>
                <a:lnTo>
                  <a:pt x="8412822" y="6669074"/>
                </a:lnTo>
                <a:lnTo>
                  <a:pt x="0" y="666907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flipH="1" flipV="1">
            <a:off x="-2558586" y="-4064794"/>
            <a:ext cx="8412822" cy="6669073"/>
          </a:xfrm>
          <a:custGeom>
            <a:avLst/>
            <a:gdLst/>
            <a:ahLst/>
            <a:cxnLst/>
            <a:rect l="l" t="t" r="r" b="b"/>
            <a:pathLst>
              <a:path w="8412822" h="6669073">
                <a:moveTo>
                  <a:pt x="8412822" y="6669074"/>
                </a:moveTo>
                <a:lnTo>
                  <a:pt x="0" y="6669074"/>
                </a:lnTo>
                <a:lnTo>
                  <a:pt x="0" y="0"/>
                </a:lnTo>
                <a:lnTo>
                  <a:pt x="8412822" y="0"/>
                </a:lnTo>
                <a:lnTo>
                  <a:pt x="8412822" y="6669074"/>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flipH="1" flipV="1">
            <a:off x="-2190390" y="9258300"/>
            <a:ext cx="11408209" cy="1203047"/>
          </a:xfrm>
          <a:custGeom>
            <a:avLst/>
            <a:gdLst/>
            <a:ahLst/>
            <a:cxnLst/>
            <a:rect l="l" t="t" r="r" b="b"/>
            <a:pathLst>
              <a:path w="11408209" h="1203047">
                <a:moveTo>
                  <a:pt x="11408209" y="1203047"/>
                </a:moveTo>
                <a:lnTo>
                  <a:pt x="0" y="1203047"/>
                </a:lnTo>
                <a:lnTo>
                  <a:pt x="0" y="0"/>
                </a:lnTo>
                <a:lnTo>
                  <a:pt x="11408209" y="0"/>
                </a:lnTo>
                <a:lnTo>
                  <a:pt x="11408209" y="1203047"/>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9070181" y="-174347"/>
            <a:ext cx="11408209" cy="1203047"/>
          </a:xfrm>
          <a:custGeom>
            <a:avLst/>
            <a:gdLst/>
            <a:ahLst/>
            <a:cxnLst/>
            <a:rect l="l" t="t" r="r" b="b"/>
            <a:pathLst>
              <a:path w="11408209" h="1203047">
                <a:moveTo>
                  <a:pt x="0" y="0"/>
                </a:moveTo>
                <a:lnTo>
                  <a:pt x="11408209" y="0"/>
                </a:lnTo>
                <a:lnTo>
                  <a:pt x="11408209" y="1203047"/>
                </a:lnTo>
                <a:lnTo>
                  <a:pt x="0" y="1203047"/>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AutoShape 6"/>
          <p:cNvSpPr/>
          <p:nvPr/>
        </p:nvSpPr>
        <p:spPr>
          <a:xfrm>
            <a:off x="4254817" y="9840774"/>
            <a:ext cx="3827092" cy="0"/>
          </a:xfrm>
          <a:prstGeom prst="line">
            <a:avLst/>
          </a:prstGeom>
          <a:ln w="57150" cap="flat">
            <a:solidFill>
              <a:srgbClr val="333137"/>
            </a:solidFill>
            <a:prstDash val="solid"/>
            <a:headEnd type="none" w="sm" len="sm"/>
            <a:tailEnd type="none" w="sm" len="sm"/>
          </a:ln>
        </p:spPr>
      </p:sp>
      <p:sp>
        <p:nvSpPr>
          <p:cNvPr id="7" name="AutoShape 7"/>
          <p:cNvSpPr/>
          <p:nvPr/>
        </p:nvSpPr>
        <p:spPr>
          <a:xfrm>
            <a:off x="10146030" y="446226"/>
            <a:ext cx="3827092" cy="0"/>
          </a:xfrm>
          <a:prstGeom prst="line">
            <a:avLst/>
          </a:prstGeom>
          <a:ln w="57150" cap="flat">
            <a:solidFill>
              <a:srgbClr val="333137"/>
            </a:solidFill>
            <a:prstDash val="solid"/>
            <a:headEnd type="none" w="sm" len="sm"/>
            <a:tailEnd type="none" w="sm" len="sm"/>
          </a:ln>
        </p:spPr>
      </p:sp>
      <p:sp>
        <p:nvSpPr>
          <p:cNvPr id="8" name="Freeform 8"/>
          <p:cNvSpPr/>
          <p:nvPr/>
        </p:nvSpPr>
        <p:spPr>
          <a:xfrm>
            <a:off x="4254817" y="1692347"/>
            <a:ext cx="8826945" cy="7565953"/>
          </a:xfrm>
          <a:custGeom>
            <a:avLst/>
            <a:gdLst/>
            <a:ahLst/>
            <a:cxnLst/>
            <a:rect l="l" t="t" r="r" b="b"/>
            <a:pathLst>
              <a:path w="8826945" h="7565953">
                <a:moveTo>
                  <a:pt x="0" y="0"/>
                </a:moveTo>
                <a:lnTo>
                  <a:pt x="8826946" y="0"/>
                </a:lnTo>
                <a:lnTo>
                  <a:pt x="8826946" y="7565953"/>
                </a:lnTo>
                <a:lnTo>
                  <a:pt x="0" y="7565953"/>
                </a:lnTo>
                <a:lnTo>
                  <a:pt x="0" y="0"/>
                </a:lnTo>
                <a:close/>
              </a:path>
            </a:pathLst>
          </a:custGeom>
          <a:blipFill>
            <a:blip r:embed="rId4">
              <a:extLst>
                <a:ext uri="{28A0092B-C50C-407E-A947-70E740481C1C}">
                  <a14:useLocalDpi xmlns:a14="http://schemas.microsoft.com/office/drawing/2010/main" val="0"/>
                </a:ext>
              </a:extLst>
            </a:blip>
            <a:stretch>
              <a:fillRect/>
            </a:stretch>
          </a:blipFill>
        </p:spPr>
      </p:sp>
      <p:sp>
        <p:nvSpPr>
          <p:cNvPr id="9" name="TextBox 9"/>
          <p:cNvSpPr txBox="1"/>
          <p:nvPr/>
        </p:nvSpPr>
        <p:spPr>
          <a:xfrm>
            <a:off x="2039916" y="673374"/>
            <a:ext cx="15219384" cy="1028700"/>
          </a:xfrm>
          <a:prstGeom prst="rect">
            <a:avLst/>
          </a:prstGeom>
        </p:spPr>
        <p:txBody>
          <a:bodyPr lIns="0" tIns="0" rIns="0" bIns="0" rtlCol="0" anchor="t">
            <a:spAutoFit/>
          </a:bodyPr>
          <a:lstStyle/>
          <a:p>
            <a:pPr algn="ctr">
              <a:lnSpc>
                <a:spcPts val="8400"/>
              </a:lnSpc>
            </a:pPr>
            <a:r>
              <a:rPr lang="en-US" sz="6000" b="1">
                <a:solidFill>
                  <a:srgbClr val="333137"/>
                </a:solidFill>
                <a:latin typeface="Emmali Medium"/>
                <a:ea typeface="Emmali Medium"/>
                <a:cs typeface="Emmali Medium"/>
                <a:sym typeface="Emmali Medium"/>
              </a:rPr>
              <a:t>7. SIMULATION VISUALIZATION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DDDDDF"/>
        </a:solidFill>
        <a:effectLst/>
      </p:bgPr>
    </p:bg>
    <p:spTree>
      <p:nvGrpSpPr>
        <p:cNvPr id="1" name=""/>
        <p:cNvGrpSpPr/>
        <p:nvPr/>
      </p:nvGrpSpPr>
      <p:grpSpPr>
        <a:xfrm>
          <a:off x="0" y="0"/>
          <a:ext cx="0" cy="0"/>
          <a:chOff x="0" y="0"/>
          <a:chExt cx="0" cy="0"/>
        </a:xfrm>
      </p:grpSpPr>
      <p:sp>
        <p:nvSpPr>
          <p:cNvPr id="2" name="Freeform 2"/>
          <p:cNvSpPr/>
          <p:nvPr/>
        </p:nvSpPr>
        <p:spPr>
          <a:xfrm>
            <a:off x="12433764" y="7682720"/>
            <a:ext cx="8412822" cy="6669073"/>
          </a:xfrm>
          <a:custGeom>
            <a:avLst/>
            <a:gdLst/>
            <a:ahLst/>
            <a:cxnLst/>
            <a:rect l="l" t="t" r="r" b="b"/>
            <a:pathLst>
              <a:path w="8412822" h="6669073">
                <a:moveTo>
                  <a:pt x="0" y="0"/>
                </a:moveTo>
                <a:lnTo>
                  <a:pt x="8412822" y="0"/>
                </a:lnTo>
                <a:lnTo>
                  <a:pt x="8412822" y="6669074"/>
                </a:lnTo>
                <a:lnTo>
                  <a:pt x="0" y="666907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flipH="1" flipV="1">
            <a:off x="-2558586" y="-4064794"/>
            <a:ext cx="8412822" cy="6669073"/>
          </a:xfrm>
          <a:custGeom>
            <a:avLst/>
            <a:gdLst/>
            <a:ahLst/>
            <a:cxnLst/>
            <a:rect l="l" t="t" r="r" b="b"/>
            <a:pathLst>
              <a:path w="8412822" h="6669073">
                <a:moveTo>
                  <a:pt x="8412822" y="6669074"/>
                </a:moveTo>
                <a:lnTo>
                  <a:pt x="0" y="6669074"/>
                </a:lnTo>
                <a:lnTo>
                  <a:pt x="0" y="0"/>
                </a:lnTo>
                <a:lnTo>
                  <a:pt x="8412822" y="0"/>
                </a:lnTo>
                <a:lnTo>
                  <a:pt x="8412822" y="6669074"/>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flipH="1" flipV="1">
            <a:off x="-2190390" y="9258300"/>
            <a:ext cx="11408209" cy="1203047"/>
          </a:xfrm>
          <a:custGeom>
            <a:avLst/>
            <a:gdLst/>
            <a:ahLst/>
            <a:cxnLst/>
            <a:rect l="l" t="t" r="r" b="b"/>
            <a:pathLst>
              <a:path w="11408209" h="1203047">
                <a:moveTo>
                  <a:pt x="11408209" y="1203047"/>
                </a:moveTo>
                <a:lnTo>
                  <a:pt x="0" y="1203047"/>
                </a:lnTo>
                <a:lnTo>
                  <a:pt x="0" y="0"/>
                </a:lnTo>
                <a:lnTo>
                  <a:pt x="11408209" y="0"/>
                </a:lnTo>
                <a:lnTo>
                  <a:pt x="11408209" y="1203047"/>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9070181" y="-174347"/>
            <a:ext cx="11408209" cy="1203047"/>
          </a:xfrm>
          <a:custGeom>
            <a:avLst/>
            <a:gdLst/>
            <a:ahLst/>
            <a:cxnLst/>
            <a:rect l="l" t="t" r="r" b="b"/>
            <a:pathLst>
              <a:path w="11408209" h="1203047">
                <a:moveTo>
                  <a:pt x="0" y="0"/>
                </a:moveTo>
                <a:lnTo>
                  <a:pt x="11408209" y="0"/>
                </a:lnTo>
                <a:lnTo>
                  <a:pt x="11408209" y="1203047"/>
                </a:lnTo>
                <a:lnTo>
                  <a:pt x="0" y="1203047"/>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AutoShape 6"/>
          <p:cNvSpPr/>
          <p:nvPr/>
        </p:nvSpPr>
        <p:spPr>
          <a:xfrm>
            <a:off x="4254817" y="9840774"/>
            <a:ext cx="3827092" cy="0"/>
          </a:xfrm>
          <a:prstGeom prst="line">
            <a:avLst/>
          </a:prstGeom>
          <a:ln w="57150" cap="flat">
            <a:solidFill>
              <a:srgbClr val="333137"/>
            </a:solidFill>
            <a:prstDash val="solid"/>
            <a:headEnd type="none" w="sm" len="sm"/>
            <a:tailEnd type="none" w="sm" len="sm"/>
          </a:ln>
        </p:spPr>
      </p:sp>
      <p:sp>
        <p:nvSpPr>
          <p:cNvPr id="7" name="AutoShape 7"/>
          <p:cNvSpPr/>
          <p:nvPr/>
        </p:nvSpPr>
        <p:spPr>
          <a:xfrm>
            <a:off x="10146030" y="446226"/>
            <a:ext cx="3827092" cy="0"/>
          </a:xfrm>
          <a:prstGeom prst="line">
            <a:avLst/>
          </a:prstGeom>
          <a:ln w="57150" cap="flat">
            <a:solidFill>
              <a:srgbClr val="333137"/>
            </a:solidFill>
            <a:prstDash val="solid"/>
            <a:headEnd type="none" w="sm" len="sm"/>
            <a:tailEnd type="none" w="sm" len="sm"/>
          </a:ln>
        </p:spPr>
      </p:sp>
      <p:sp>
        <p:nvSpPr>
          <p:cNvPr id="8" name="Freeform 8"/>
          <p:cNvSpPr/>
          <p:nvPr/>
        </p:nvSpPr>
        <p:spPr>
          <a:xfrm>
            <a:off x="2649706" y="1955546"/>
            <a:ext cx="12988588" cy="6375908"/>
          </a:xfrm>
          <a:custGeom>
            <a:avLst/>
            <a:gdLst/>
            <a:ahLst/>
            <a:cxnLst/>
            <a:rect l="l" t="t" r="r" b="b"/>
            <a:pathLst>
              <a:path w="12988588" h="6375908">
                <a:moveTo>
                  <a:pt x="0" y="0"/>
                </a:moveTo>
                <a:lnTo>
                  <a:pt x="12988588" y="0"/>
                </a:lnTo>
                <a:lnTo>
                  <a:pt x="12988588" y="6375908"/>
                </a:lnTo>
                <a:lnTo>
                  <a:pt x="0" y="6375908"/>
                </a:lnTo>
                <a:lnTo>
                  <a:pt x="0" y="0"/>
                </a:lnTo>
                <a:close/>
              </a:path>
            </a:pathLst>
          </a:custGeom>
          <a:blipFill>
            <a:blip r:embed="rId4">
              <a:extLst>
                <a:ext uri="{28A0092B-C50C-407E-A947-70E740481C1C}">
                  <a14:useLocalDpi xmlns:a14="http://schemas.microsoft.com/office/drawing/2010/main" val="0"/>
                </a:ext>
              </a:extLst>
            </a:blip>
            <a:stretch>
              <a:fillRect/>
            </a:stretch>
          </a:blipFill>
        </p:spPr>
      </p:sp>
      <p:sp>
        <p:nvSpPr>
          <p:cNvPr id="9" name="TextBox 9"/>
          <p:cNvSpPr txBox="1"/>
          <p:nvPr/>
        </p:nvSpPr>
        <p:spPr>
          <a:xfrm>
            <a:off x="2039916" y="673374"/>
            <a:ext cx="15219384" cy="1028700"/>
          </a:xfrm>
          <a:prstGeom prst="rect">
            <a:avLst/>
          </a:prstGeom>
        </p:spPr>
        <p:txBody>
          <a:bodyPr lIns="0" tIns="0" rIns="0" bIns="0" rtlCol="0" anchor="t">
            <a:spAutoFit/>
          </a:bodyPr>
          <a:lstStyle/>
          <a:p>
            <a:pPr algn="ctr">
              <a:lnSpc>
                <a:spcPts val="8400"/>
              </a:lnSpc>
            </a:pPr>
            <a:r>
              <a:rPr lang="en-US" sz="6000" b="1">
                <a:solidFill>
                  <a:srgbClr val="333137"/>
                </a:solidFill>
                <a:latin typeface="Emmali Medium"/>
                <a:ea typeface="Emmali Medium"/>
                <a:cs typeface="Emmali Medium"/>
                <a:sym typeface="Emmali Medium"/>
              </a:rPr>
              <a:t>7. SIMULATION VISUALIZATION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DDDDDF"/>
        </a:solidFill>
        <a:effectLst/>
      </p:bgPr>
    </p:bg>
    <p:spTree>
      <p:nvGrpSpPr>
        <p:cNvPr id="1" name=""/>
        <p:cNvGrpSpPr/>
        <p:nvPr/>
      </p:nvGrpSpPr>
      <p:grpSpPr>
        <a:xfrm>
          <a:off x="0" y="0"/>
          <a:ext cx="0" cy="0"/>
          <a:chOff x="0" y="0"/>
          <a:chExt cx="0" cy="0"/>
        </a:xfrm>
      </p:grpSpPr>
      <p:sp>
        <p:nvSpPr>
          <p:cNvPr id="2" name="Freeform 2"/>
          <p:cNvSpPr/>
          <p:nvPr/>
        </p:nvSpPr>
        <p:spPr>
          <a:xfrm>
            <a:off x="12433764" y="7682720"/>
            <a:ext cx="8412822" cy="6669073"/>
          </a:xfrm>
          <a:custGeom>
            <a:avLst/>
            <a:gdLst/>
            <a:ahLst/>
            <a:cxnLst/>
            <a:rect l="l" t="t" r="r" b="b"/>
            <a:pathLst>
              <a:path w="8412822" h="6669073">
                <a:moveTo>
                  <a:pt x="0" y="0"/>
                </a:moveTo>
                <a:lnTo>
                  <a:pt x="8412822" y="0"/>
                </a:lnTo>
                <a:lnTo>
                  <a:pt x="8412822" y="6669074"/>
                </a:lnTo>
                <a:lnTo>
                  <a:pt x="0" y="666907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flipH="1" flipV="1">
            <a:off x="-2558586" y="-4064794"/>
            <a:ext cx="8412822" cy="6669073"/>
          </a:xfrm>
          <a:custGeom>
            <a:avLst/>
            <a:gdLst/>
            <a:ahLst/>
            <a:cxnLst/>
            <a:rect l="l" t="t" r="r" b="b"/>
            <a:pathLst>
              <a:path w="8412822" h="6669073">
                <a:moveTo>
                  <a:pt x="8412822" y="6669074"/>
                </a:moveTo>
                <a:lnTo>
                  <a:pt x="0" y="6669074"/>
                </a:lnTo>
                <a:lnTo>
                  <a:pt x="0" y="0"/>
                </a:lnTo>
                <a:lnTo>
                  <a:pt x="8412822" y="0"/>
                </a:lnTo>
                <a:lnTo>
                  <a:pt x="8412822" y="6669074"/>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flipH="1" flipV="1">
            <a:off x="-2190390" y="9258300"/>
            <a:ext cx="11408209" cy="1203047"/>
          </a:xfrm>
          <a:custGeom>
            <a:avLst/>
            <a:gdLst/>
            <a:ahLst/>
            <a:cxnLst/>
            <a:rect l="l" t="t" r="r" b="b"/>
            <a:pathLst>
              <a:path w="11408209" h="1203047">
                <a:moveTo>
                  <a:pt x="11408209" y="1203047"/>
                </a:moveTo>
                <a:lnTo>
                  <a:pt x="0" y="1203047"/>
                </a:lnTo>
                <a:lnTo>
                  <a:pt x="0" y="0"/>
                </a:lnTo>
                <a:lnTo>
                  <a:pt x="11408209" y="0"/>
                </a:lnTo>
                <a:lnTo>
                  <a:pt x="11408209" y="1203047"/>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9070181" y="-174347"/>
            <a:ext cx="11408209" cy="1203047"/>
          </a:xfrm>
          <a:custGeom>
            <a:avLst/>
            <a:gdLst/>
            <a:ahLst/>
            <a:cxnLst/>
            <a:rect l="l" t="t" r="r" b="b"/>
            <a:pathLst>
              <a:path w="11408209" h="1203047">
                <a:moveTo>
                  <a:pt x="0" y="0"/>
                </a:moveTo>
                <a:lnTo>
                  <a:pt x="11408209" y="0"/>
                </a:lnTo>
                <a:lnTo>
                  <a:pt x="11408209" y="1203047"/>
                </a:lnTo>
                <a:lnTo>
                  <a:pt x="0" y="1203047"/>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AutoShape 6"/>
          <p:cNvSpPr/>
          <p:nvPr/>
        </p:nvSpPr>
        <p:spPr>
          <a:xfrm>
            <a:off x="4254817" y="9840774"/>
            <a:ext cx="3827092" cy="0"/>
          </a:xfrm>
          <a:prstGeom prst="line">
            <a:avLst/>
          </a:prstGeom>
          <a:ln w="57150" cap="flat">
            <a:solidFill>
              <a:srgbClr val="333137"/>
            </a:solidFill>
            <a:prstDash val="solid"/>
            <a:headEnd type="none" w="sm" len="sm"/>
            <a:tailEnd type="none" w="sm" len="sm"/>
          </a:ln>
        </p:spPr>
      </p:sp>
      <p:sp>
        <p:nvSpPr>
          <p:cNvPr id="7" name="AutoShape 7"/>
          <p:cNvSpPr/>
          <p:nvPr/>
        </p:nvSpPr>
        <p:spPr>
          <a:xfrm>
            <a:off x="10146030" y="446226"/>
            <a:ext cx="3827092" cy="0"/>
          </a:xfrm>
          <a:prstGeom prst="line">
            <a:avLst/>
          </a:prstGeom>
          <a:ln w="57150" cap="flat">
            <a:solidFill>
              <a:srgbClr val="333137"/>
            </a:solidFill>
            <a:prstDash val="solid"/>
            <a:headEnd type="none" w="sm" len="sm"/>
            <a:tailEnd type="none" w="sm" len="sm"/>
          </a:ln>
        </p:spPr>
      </p:sp>
      <p:sp>
        <p:nvSpPr>
          <p:cNvPr id="8" name="Freeform 8"/>
          <p:cNvSpPr/>
          <p:nvPr/>
        </p:nvSpPr>
        <p:spPr>
          <a:xfrm>
            <a:off x="5017669" y="2016399"/>
            <a:ext cx="7762698" cy="6653741"/>
          </a:xfrm>
          <a:custGeom>
            <a:avLst/>
            <a:gdLst/>
            <a:ahLst/>
            <a:cxnLst/>
            <a:rect l="l" t="t" r="r" b="b"/>
            <a:pathLst>
              <a:path w="7762698" h="6653741">
                <a:moveTo>
                  <a:pt x="0" y="0"/>
                </a:moveTo>
                <a:lnTo>
                  <a:pt x="7762698" y="0"/>
                </a:lnTo>
                <a:lnTo>
                  <a:pt x="7762698" y="6653742"/>
                </a:lnTo>
                <a:lnTo>
                  <a:pt x="0" y="6653742"/>
                </a:lnTo>
                <a:lnTo>
                  <a:pt x="0" y="0"/>
                </a:lnTo>
                <a:close/>
              </a:path>
            </a:pathLst>
          </a:custGeom>
          <a:blipFill>
            <a:blip r:embed="rId4">
              <a:extLst>
                <a:ext uri="{28A0092B-C50C-407E-A947-70E740481C1C}">
                  <a14:useLocalDpi xmlns:a14="http://schemas.microsoft.com/office/drawing/2010/main" val="0"/>
                </a:ext>
              </a:extLst>
            </a:blip>
            <a:stretch>
              <a:fillRect/>
            </a:stretch>
          </a:blipFill>
        </p:spPr>
      </p:sp>
      <p:sp>
        <p:nvSpPr>
          <p:cNvPr id="9" name="TextBox 9"/>
          <p:cNvSpPr txBox="1"/>
          <p:nvPr/>
        </p:nvSpPr>
        <p:spPr>
          <a:xfrm>
            <a:off x="2039916" y="673374"/>
            <a:ext cx="15219384" cy="1028700"/>
          </a:xfrm>
          <a:prstGeom prst="rect">
            <a:avLst/>
          </a:prstGeom>
        </p:spPr>
        <p:txBody>
          <a:bodyPr lIns="0" tIns="0" rIns="0" bIns="0" rtlCol="0" anchor="t">
            <a:spAutoFit/>
          </a:bodyPr>
          <a:lstStyle/>
          <a:p>
            <a:pPr algn="ctr">
              <a:lnSpc>
                <a:spcPts val="8400"/>
              </a:lnSpc>
            </a:pPr>
            <a:r>
              <a:rPr lang="en-US" sz="6000" b="1">
                <a:solidFill>
                  <a:srgbClr val="333137"/>
                </a:solidFill>
                <a:latin typeface="Emmali Medium"/>
                <a:ea typeface="Emmali Medium"/>
                <a:cs typeface="Emmali Medium"/>
                <a:sym typeface="Emmali Medium"/>
              </a:rPr>
              <a:t>7. SIMULATION VISUALIZATION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DDDDDF"/>
        </a:solidFill>
        <a:effectLst/>
      </p:bgPr>
    </p:bg>
    <p:spTree>
      <p:nvGrpSpPr>
        <p:cNvPr id="1" name=""/>
        <p:cNvGrpSpPr/>
        <p:nvPr/>
      </p:nvGrpSpPr>
      <p:grpSpPr>
        <a:xfrm>
          <a:off x="0" y="0"/>
          <a:ext cx="0" cy="0"/>
          <a:chOff x="0" y="0"/>
          <a:chExt cx="0" cy="0"/>
        </a:xfrm>
      </p:grpSpPr>
      <p:sp>
        <p:nvSpPr>
          <p:cNvPr id="2" name="Freeform 2"/>
          <p:cNvSpPr/>
          <p:nvPr/>
        </p:nvSpPr>
        <p:spPr>
          <a:xfrm>
            <a:off x="12433764" y="7682720"/>
            <a:ext cx="8412822" cy="6669073"/>
          </a:xfrm>
          <a:custGeom>
            <a:avLst/>
            <a:gdLst/>
            <a:ahLst/>
            <a:cxnLst/>
            <a:rect l="l" t="t" r="r" b="b"/>
            <a:pathLst>
              <a:path w="8412822" h="6669073">
                <a:moveTo>
                  <a:pt x="0" y="0"/>
                </a:moveTo>
                <a:lnTo>
                  <a:pt x="8412822" y="0"/>
                </a:lnTo>
                <a:lnTo>
                  <a:pt x="8412822" y="6669074"/>
                </a:lnTo>
                <a:lnTo>
                  <a:pt x="0" y="666907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flipH="1" flipV="1">
            <a:off x="-2558586" y="-4064794"/>
            <a:ext cx="8412822" cy="6669073"/>
          </a:xfrm>
          <a:custGeom>
            <a:avLst/>
            <a:gdLst/>
            <a:ahLst/>
            <a:cxnLst/>
            <a:rect l="l" t="t" r="r" b="b"/>
            <a:pathLst>
              <a:path w="8412822" h="6669073">
                <a:moveTo>
                  <a:pt x="8412822" y="6669074"/>
                </a:moveTo>
                <a:lnTo>
                  <a:pt x="0" y="6669074"/>
                </a:lnTo>
                <a:lnTo>
                  <a:pt x="0" y="0"/>
                </a:lnTo>
                <a:lnTo>
                  <a:pt x="8412822" y="0"/>
                </a:lnTo>
                <a:lnTo>
                  <a:pt x="8412822" y="6669074"/>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flipH="1" flipV="1">
            <a:off x="-2190390" y="9258300"/>
            <a:ext cx="11408209" cy="1203047"/>
          </a:xfrm>
          <a:custGeom>
            <a:avLst/>
            <a:gdLst/>
            <a:ahLst/>
            <a:cxnLst/>
            <a:rect l="l" t="t" r="r" b="b"/>
            <a:pathLst>
              <a:path w="11408209" h="1203047">
                <a:moveTo>
                  <a:pt x="11408209" y="1203047"/>
                </a:moveTo>
                <a:lnTo>
                  <a:pt x="0" y="1203047"/>
                </a:lnTo>
                <a:lnTo>
                  <a:pt x="0" y="0"/>
                </a:lnTo>
                <a:lnTo>
                  <a:pt x="11408209" y="0"/>
                </a:lnTo>
                <a:lnTo>
                  <a:pt x="11408209" y="1203047"/>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9070181" y="-174347"/>
            <a:ext cx="11408209" cy="1203047"/>
          </a:xfrm>
          <a:custGeom>
            <a:avLst/>
            <a:gdLst/>
            <a:ahLst/>
            <a:cxnLst/>
            <a:rect l="l" t="t" r="r" b="b"/>
            <a:pathLst>
              <a:path w="11408209" h="1203047">
                <a:moveTo>
                  <a:pt x="0" y="0"/>
                </a:moveTo>
                <a:lnTo>
                  <a:pt x="11408209" y="0"/>
                </a:lnTo>
                <a:lnTo>
                  <a:pt x="11408209" y="1203047"/>
                </a:lnTo>
                <a:lnTo>
                  <a:pt x="0" y="1203047"/>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AutoShape 6"/>
          <p:cNvSpPr/>
          <p:nvPr/>
        </p:nvSpPr>
        <p:spPr>
          <a:xfrm>
            <a:off x="4254817" y="9840774"/>
            <a:ext cx="3827092" cy="0"/>
          </a:xfrm>
          <a:prstGeom prst="line">
            <a:avLst/>
          </a:prstGeom>
          <a:ln w="57150" cap="flat">
            <a:solidFill>
              <a:srgbClr val="333137"/>
            </a:solidFill>
            <a:prstDash val="solid"/>
            <a:headEnd type="none" w="sm" len="sm"/>
            <a:tailEnd type="none" w="sm" len="sm"/>
          </a:ln>
        </p:spPr>
      </p:sp>
      <p:sp>
        <p:nvSpPr>
          <p:cNvPr id="7" name="AutoShape 7"/>
          <p:cNvSpPr/>
          <p:nvPr/>
        </p:nvSpPr>
        <p:spPr>
          <a:xfrm>
            <a:off x="10146030" y="446226"/>
            <a:ext cx="3827092" cy="0"/>
          </a:xfrm>
          <a:prstGeom prst="line">
            <a:avLst/>
          </a:prstGeom>
          <a:ln w="57150" cap="flat">
            <a:solidFill>
              <a:srgbClr val="333137"/>
            </a:solidFill>
            <a:prstDash val="solid"/>
            <a:headEnd type="none" w="sm" len="sm"/>
            <a:tailEnd type="none" w="sm" len="sm"/>
          </a:ln>
        </p:spPr>
      </p:sp>
      <p:sp>
        <p:nvSpPr>
          <p:cNvPr id="8" name="Freeform 8"/>
          <p:cNvSpPr/>
          <p:nvPr/>
        </p:nvSpPr>
        <p:spPr>
          <a:xfrm>
            <a:off x="9070181" y="1853255"/>
            <a:ext cx="6592359" cy="7171112"/>
          </a:xfrm>
          <a:custGeom>
            <a:avLst/>
            <a:gdLst/>
            <a:ahLst/>
            <a:cxnLst/>
            <a:rect l="l" t="t" r="r" b="b"/>
            <a:pathLst>
              <a:path w="6592359" h="7171112">
                <a:moveTo>
                  <a:pt x="0" y="0"/>
                </a:moveTo>
                <a:lnTo>
                  <a:pt x="6592359" y="0"/>
                </a:lnTo>
                <a:lnTo>
                  <a:pt x="6592359" y="7171112"/>
                </a:lnTo>
                <a:lnTo>
                  <a:pt x="0" y="7171112"/>
                </a:lnTo>
                <a:lnTo>
                  <a:pt x="0" y="0"/>
                </a:lnTo>
                <a:close/>
              </a:path>
            </a:pathLst>
          </a:custGeom>
          <a:blipFill>
            <a:blip r:embed="rId4"/>
            <a:stretch>
              <a:fillRect/>
            </a:stretch>
          </a:blipFill>
        </p:spPr>
      </p:sp>
      <p:sp>
        <p:nvSpPr>
          <p:cNvPr id="9" name="Freeform 9"/>
          <p:cNvSpPr/>
          <p:nvPr/>
        </p:nvSpPr>
        <p:spPr>
          <a:xfrm>
            <a:off x="2039916" y="1853255"/>
            <a:ext cx="6673915" cy="7171112"/>
          </a:xfrm>
          <a:custGeom>
            <a:avLst/>
            <a:gdLst/>
            <a:ahLst/>
            <a:cxnLst/>
            <a:rect l="l" t="t" r="r" b="b"/>
            <a:pathLst>
              <a:path w="6673915" h="7171112">
                <a:moveTo>
                  <a:pt x="0" y="0"/>
                </a:moveTo>
                <a:lnTo>
                  <a:pt x="6673914" y="0"/>
                </a:lnTo>
                <a:lnTo>
                  <a:pt x="6673914" y="7171112"/>
                </a:lnTo>
                <a:lnTo>
                  <a:pt x="0" y="7171112"/>
                </a:lnTo>
                <a:lnTo>
                  <a:pt x="0" y="0"/>
                </a:lnTo>
                <a:close/>
              </a:path>
            </a:pathLst>
          </a:custGeom>
          <a:blipFill>
            <a:blip r:embed="rId5"/>
            <a:stretch>
              <a:fillRect/>
            </a:stretch>
          </a:blipFill>
        </p:spPr>
      </p:sp>
      <p:sp>
        <p:nvSpPr>
          <p:cNvPr id="10" name="TextBox 10"/>
          <p:cNvSpPr txBox="1"/>
          <p:nvPr/>
        </p:nvSpPr>
        <p:spPr>
          <a:xfrm>
            <a:off x="2039916" y="673374"/>
            <a:ext cx="15219384" cy="1028700"/>
          </a:xfrm>
          <a:prstGeom prst="rect">
            <a:avLst/>
          </a:prstGeom>
        </p:spPr>
        <p:txBody>
          <a:bodyPr lIns="0" tIns="0" rIns="0" bIns="0" rtlCol="0" anchor="t">
            <a:spAutoFit/>
          </a:bodyPr>
          <a:lstStyle/>
          <a:p>
            <a:pPr algn="ctr">
              <a:lnSpc>
                <a:spcPts val="8400"/>
              </a:lnSpc>
            </a:pPr>
            <a:r>
              <a:rPr lang="en-US" sz="6000" b="1">
                <a:solidFill>
                  <a:srgbClr val="333137"/>
                </a:solidFill>
                <a:latin typeface="Emmali Medium"/>
                <a:ea typeface="Emmali Medium"/>
                <a:cs typeface="Emmali Medium"/>
                <a:sym typeface="Emmali Medium"/>
              </a:rPr>
              <a:t>8. VALIDATION &amp; ANALYSIS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DDDDDF"/>
        </a:solidFill>
        <a:effectLst/>
      </p:bgPr>
    </p:bg>
    <p:spTree>
      <p:nvGrpSpPr>
        <p:cNvPr id="1" name=""/>
        <p:cNvGrpSpPr/>
        <p:nvPr/>
      </p:nvGrpSpPr>
      <p:grpSpPr>
        <a:xfrm>
          <a:off x="0" y="0"/>
          <a:ext cx="0" cy="0"/>
          <a:chOff x="0" y="0"/>
          <a:chExt cx="0" cy="0"/>
        </a:xfrm>
      </p:grpSpPr>
      <p:sp>
        <p:nvSpPr>
          <p:cNvPr id="2" name="Freeform 2"/>
          <p:cNvSpPr/>
          <p:nvPr/>
        </p:nvSpPr>
        <p:spPr>
          <a:xfrm>
            <a:off x="12433764" y="7682720"/>
            <a:ext cx="8412822" cy="6669073"/>
          </a:xfrm>
          <a:custGeom>
            <a:avLst/>
            <a:gdLst/>
            <a:ahLst/>
            <a:cxnLst/>
            <a:rect l="l" t="t" r="r" b="b"/>
            <a:pathLst>
              <a:path w="8412822" h="6669073">
                <a:moveTo>
                  <a:pt x="0" y="0"/>
                </a:moveTo>
                <a:lnTo>
                  <a:pt x="8412822" y="0"/>
                </a:lnTo>
                <a:lnTo>
                  <a:pt x="8412822" y="6669074"/>
                </a:lnTo>
                <a:lnTo>
                  <a:pt x="0" y="666907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flipH="1" flipV="1">
            <a:off x="-2558586" y="-4064794"/>
            <a:ext cx="8412822" cy="6669073"/>
          </a:xfrm>
          <a:custGeom>
            <a:avLst/>
            <a:gdLst/>
            <a:ahLst/>
            <a:cxnLst/>
            <a:rect l="l" t="t" r="r" b="b"/>
            <a:pathLst>
              <a:path w="8412822" h="6669073">
                <a:moveTo>
                  <a:pt x="8412822" y="6669074"/>
                </a:moveTo>
                <a:lnTo>
                  <a:pt x="0" y="6669074"/>
                </a:lnTo>
                <a:lnTo>
                  <a:pt x="0" y="0"/>
                </a:lnTo>
                <a:lnTo>
                  <a:pt x="8412822" y="0"/>
                </a:lnTo>
                <a:lnTo>
                  <a:pt x="8412822" y="6669074"/>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flipH="1" flipV="1">
            <a:off x="-2190390" y="9258300"/>
            <a:ext cx="11408209" cy="1203047"/>
          </a:xfrm>
          <a:custGeom>
            <a:avLst/>
            <a:gdLst/>
            <a:ahLst/>
            <a:cxnLst/>
            <a:rect l="l" t="t" r="r" b="b"/>
            <a:pathLst>
              <a:path w="11408209" h="1203047">
                <a:moveTo>
                  <a:pt x="11408209" y="1203047"/>
                </a:moveTo>
                <a:lnTo>
                  <a:pt x="0" y="1203047"/>
                </a:lnTo>
                <a:lnTo>
                  <a:pt x="0" y="0"/>
                </a:lnTo>
                <a:lnTo>
                  <a:pt x="11408209" y="0"/>
                </a:lnTo>
                <a:lnTo>
                  <a:pt x="11408209" y="1203047"/>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9070181" y="-174347"/>
            <a:ext cx="11408209" cy="1203047"/>
          </a:xfrm>
          <a:custGeom>
            <a:avLst/>
            <a:gdLst/>
            <a:ahLst/>
            <a:cxnLst/>
            <a:rect l="l" t="t" r="r" b="b"/>
            <a:pathLst>
              <a:path w="11408209" h="1203047">
                <a:moveTo>
                  <a:pt x="0" y="0"/>
                </a:moveTo>
                <a:lnTo>
                  <a:pt x="11408209" y="0"/>
                </a:lnTo>
                <a:lnTo>
                  <a:pt x="11408209" y="1203047"/>
                </a:lnTo>
                <a:lnTo>
                  <a:pt x="0" y="1203047"/>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AutoShape 6"/>
          <p:cNvSpPr/>
          <p:nvPr/>
        </p:nvSpPr>
        <p:spPr>
          <a:xfrm>
            <a:off x="4254817" y="9840774"/>
            <a:ext cx="3827092" cy="0"/>
          </a:xfrm>
          <a:prstGeom prst="line">
            <a:avLst/>
          </a:prstGeom>
          <a:ln w="57150" cap="flat">
            <a:solidFill>
              <a:srgbClr val="333137"/>
            </a:solidFill>
            <a:prstDash val="solid"/>
            <a:headEnd type="none" w="sm" len="sm"/>
            <a:tailEnd type="none" w="sm" len="sm"/>
          </a:ln>
        </p:spPr>
      </p:sp>
      <p:sp>
        <p:nvSpPr>
          <p:cNvPr id="7" name="AutoShape 7"/>
          <p:cNvSpPr/>
          <p:nvPr/>
        </p:nvSpPr>
        <p:spPr>
          <a:xfrm>
            <a:off x="10146030" y="446226"/>
            <a:ext cx="3827092" cy="0"/>
          </a:xfrm>
          <a:prstGeom prst="line">
            <a:avLst/>
          </a:prstGeom>
          <a:ln w="57150" cap="flat">
            <a:solidFill>
              <a:srgbClr val="333137"/>
            </a:solidFill>
            <a:prstDash val="solid"/>
            <a:headEnd type="none" w="sm" len="sm"/>
            <a:tailEnd type="none" w="sm" len="sm"/>
          </a:ln>
        </p:spPr>
      </p:sp>
      <p:sp>
        <p:nvSpPr>
          <p:cNvPr id="8" name="Freeform 8"/>
          <p:cNvSpPr/>
          <p:nvPr/>
        </p:nvSpPr>
        <p:spPr>
          <a:xfrm>
            <a:off x="4185470" y="2016399"/>
            <a:ext cx="9769422" cy="3577074"/>
          </a:xfrm>
          <a:custGeom>
            <a:avLst/>
            <a:gdLst/>
            <a:ahLst/>
            <a:cxnLst/>
            <a:rect l="l" t="t" r="r" b="b"/>
            <a:pathLst>
              <a:path w="9769422" h="3577074">
                <a:moveTo>
                  <a:pt x="0" y="0"/>
                </a:moveTo>
                <a:lnTo>
                  <a:pt x="9769422" y="0"/>
                </a:lnTo>
                <a:lnTo>
                  <a:pt x="9769422" y="3577074"/>
                </a:lnTo>
                <a:lnTo>
                  <a:pt x="0" y="3577074"/>
                </a:lnTo>
                <a:lnTo>
                  <a:pt x="0" y="0"/>
                </a:lnTo>
                <a:close/>
              </a:path>
            </a:pathLst>
          </a:custGeom>
          <a:blipFill>
            <a:blip r:embed="rId4"/>
            <a:stretch>
              <a:fillRect r="-6407"/>
            </a:stretch>
          </a:blipFill>
        </p:spPr>
      </p:sp>
      <p:sp>
        <p:nvSpPr>
          <p:cNvPr id="9" name="Freeform 9"/>
          <p:cNvSpPr/>
          <p:nvPr/>
        </p:nvSpPr>
        <p:spPr>
          <a:xfrm>
            <a:off x="4185470" y="4807210"/>
            <a:ext cx="9769422" cy="3905047"/>
          </a:xfrm>
          <a:custGeom>
            <a:avLst/>
            <a:gdLst/>
            <a:ahLst/>
            <a:cxnLst/>
            <a:rect l="l" t="t" r="r" b="b"/>
            <a:pathLst>
              <a:path w="9769422" h="3905047">
                <a:moveTo>
                  <a:pt x="0" y="0"/>
                </a:moveTo>
                <a:lnTo>
                  <a:pt x="9769422" y="0"/>
                </a:lnTo>
                <a:lnTo>
                  <a:pt x="9769422" y="3905048"/>
                </a:lnTo>
                <a:lnTo>
                  <a:pt x="0" y="3905048"/>
                </a:lnTo>
                <a:lnTo>
                  <a:pt x="0" y="0"/>
                </a:lnTo>
                <a:close/>
              </a:path>
            </a:pathLst>
          </a:custGeom>
          <a:blipFill>
            <a:blip r:embed="rId5"/>
            <a:stretch>
              <a:fillRect/>
            </a:stretch>
          </a:blipFill>
        </p:spPr>
      </p:sp>
      <p:sp>
        <p:nvSpPr>
          <p:cNvPr id="10" name="TextBox 10"/>
          <p:cNvSpPr txBox="1"/>
          <p:nvPr/>
        </p:nvSpPr>
        <p:spPr>
          <a:xfrm>
            <a:off x="2039916" y="673374"/>
            <a:ext cx="15219384" cy="1028700"/>
          </a:xfrm>
          <a:prstGeom prst="rect">
            <a:avLst/>
          </a:prstGeom>
        </p:spPr>
        <p:txBody>
          <a:bodyPr lIns="0" tIns="0" rIns="0" bIns="0" rtlCol="0" anchor="t">
            <a:spAutoFit/>
          </a:bodyPr>
          <a:lstStyle/>
          <a:p>
            <a:pPr algn="ctr">
              <a:lnSpc>
                <a:spcPts val="8400"/>
              </a:lnSpc>
            </a:pPr>
            <a:r>
              <a:rPr lang="en-US" sz="6000" b="1">
                <a:solidFill>
                  <a:srgbClr val="333137"/>
                </a:solidFill>
                <a:latin typeface="Emmali Medium"/>
                <a:ea typeface="Emmali Medium"/>
                <a:cs typeface="Emmali Medium"/>
                <a:sym typeface="Emmali Medium"/>
              </a:rPr>
              <a:t>8. VALIDATION &amp; ANALYSIS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DDDDDF"/>
        </a:solidFill>
        <a:effectLst/>
      </p:bgPr>
    </p:bg>
    <p:spTree>
      <p:nvGrpSpPr>
        <p:cNvPr id="1" name=""/>
        <p:cNvGrpSpPr/>
        <p:nvPr/>
      </p:nvGrpSpPr>
      <p:grpSpPr>
        <a:xfrm>
          <a:off x="0" y="0"/>
          <a:ext cx="0" cy="0"/>
          <a:chOff x="0" y="0"/>
          <a:chExt cx="0" cy="0"/>
        </a:xfrm>
      </p:grpSpPr>
      <p:sp>
        <p:nvSpPr>
          <p:cNvPr id="2" name="Freeform 2"/>
          <p:cNvSpPr/>
          <p:nvPr/>
        </p:nvSpPr>
        <p:spPr>
          <a:xfrm>
            <a:off x="12433764" y="7682720"/>
            <a:ext cx="8412822" cy="6669073"/>
          </a:xfrm>
          <a:custGeom>
            <a:avLst/>
            <a:gdLst/>
            <a:ahLst/>
            <a:cxnLst/>
            <a:rect l="l" t="t" r="r" b="b"/>
            <a:pathLst>
              <a:path w="8412822" h="6669073">
                <a:moveTo>
                  <a:pt x="0" y="0"/>
                </a:moveTo>
                <a:lnTo>
                  <a:pt x="8412822" y="0"/>
                </a:lnTo>
                <a:lnTo>
                  <a:pt x="8412822" y="6669074"/>
                </a:lnTo>
                <a:lnTo>
                  <a:pt x="0" y="666907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flipH="1" flipV="1">
            <a:off x="-2558586" y="-4064794"/>
            <a:ext cx="8412822" cy="6669073"/>
          </a:xfrm>
          <a:custGeom>
            <a:avLst/>
            <a:gdLst/>
            <a:ahLst/>
            <a:cxnLst/>
            <a:rect l="l" t="t" r="r" b="b"/>
            <a:pathLst>
              <a:path w="8412822" h="6669073">
                <a:moveTo>
                  <a:pt x="8412822" y="6669074"/>
                </a:moveTo>
                <a:lnTo>
                  <a:pt x="0" y="6669074"/>
                </a:lnTo>
                <a:lnTo>
                  <a:pt x="0" y="0"/>
                </a:lnTo>
                <a:lnTo>
                  <a:pt x="8412822" y="0"/>
                </a:lnTo>
                <a:lnTo>
                  <a:pt x="8412822" y="6669074"/>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flipH="1" flipV="1">
            <a:off x="-2190390" y="9258300"/>
            <a:ext cx="11408209" cy="1203047"/>
          </a:xfrm>
          <a:custGeom>
            <a:avLst/>
            <a:gdLst/>
            <a:ahLst/>
            <a:cxnLst/>
            <a:rect l="l" t="t" r="r" b="b"/>
            <a:pathLst>
              <a:path w="11408209" h="1203047">
                <a:moveTo>
                  <a:pt x="11408209" y="1203047"/>
                </a:moveTo>
                <a:lnTo>
                  <a:pt x="0" y="1203047"/>
                </a:lnTo>
                <a:lnTo>
                  <a:pt x="0" y="0"/>
                </a:lnTo>
                <a:lnTo>
                  <a:pt x="11408209" y="0"/>
                </a:lnTo>
                <a:lnTo>
                  <a:pt x="11408209" y="1203047"/>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9070181" y="-174347"/>
            <a:ext cx="11408209" cy="1203047"/>
          </a:xfrm>
          <a:custGeom>
            <a:avLst/>
            <a:gdLst/>
            <a:ahLst/>
            <a:cxnLst/>
            <a:rect l="l" t="t" r="r" b="b"/>
            <a:pathLst>
              <a:path w="11408209" h="1203047">
                <a:moveTo>
                  <a:pt x="0" y="0"/>
                </a:moveTo>
                <a:lnTo>
                  <a:pt x="11408209" y="0"/>
                </a:lnTo>
                <a:lnTo>
                  <a:pt x="11408209" y="1203047"/>
                </a:lnTo>
                <a:lnTo>
                  <a:pt x="0" y="1203047"/>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AutoShape 6"/>
          <p:cNvSpPr/>
          <p:nvPr/>
        </p:nvSpPr>
        <p:spPr>
          <a:xfrm>
            <a:off x="4254817" y="9840774"/>
            <a:ext cx="3827092" cy="0"/>
          </a:xfrm>
          <a:prstGeom prst="line">
            <a:avLst/>
          </a:prstGeom>
          <a:ln w="57150" cap="flat">
            <a:solidFill>
              <a:srgbClr val="333137"/>
            </a:solidFill>
            <a:prstDash val="solid"/>
            <a:headEnd type="none" w="sm" len="sm"/>
            <a:tailEnd type="none" w="sm" len="sm"/>
          </a:ln>
        </p:spPr>
      </p:sp>
      <p:sp>
        <p:nvSpPr>
          <p:cNvPr id="7" name="AutoShape 7"/>
          <p:cNvSpPr/>
          <p:nvPr/>
        </p:nvSpPr>
        <p:spPr>
          <a:xfrm>
            <a:off x="10146030" y="446226"/>
            <a:ext cx="3827092" cy="0"/>
          </a:xfrm>
          <a:prstGeom prst="line">
            <a:avLst/>
          </a:prstGeom>
          <a:ln w="57150" cap="flat">
            <a:solidFill>
              <a:srgbClr val="333137"/>
            </a:solidFill>
            <a:prstDash val="solid"/>
            <a:headEnd type="none" w="sm" len="sm"/>
            <a:tailEnd type="none" w="sm" len="sm"/>
          </a:ln>
        </p:spPr>
      </p:sp>
      <p:sp>
        <p:nvSpPr>
          <p:cNvPr id="8" name="TextBox 8"/>
          <p:cNvSpPr txBox="1"/>
          <p:nvPr/>
        </p:nvSpPr>
        <p:spPr>
          <a:xfrm>
            <a:off x="2039916" y="673374"/>
            <a:ext cx="15219384" cy="1028700"/>
          </a:xfrm>
          <a:prstGeom prst="rect">
            <a:avLst/>
          </a:prstGeom>
        </p:spPr>
        <p:txBody>
          <a:bodyPr lIns="0" tIns="0" rIns="0" bIns="0" rtlCol="0" anchor="t">
            <a:spAutoFit/>
          </a:bodyPr>
          <a:lstStyle/>
          <a:p>
            <a:pPr algn="ctr">
              <a:lnSpc>
                <a:spcPts val="8400"/>
              </a:lnSpc>
            </a:pPr>
            <a:r>
              <a:rPr lang="en-US" sz="6000" b="1">
                <a:solidFill>
                  <a:srgbClr val="333137"/>
                </a:solidFill>
                <a:latin typeface="Emmali Medium"/>
                <a:ea typeface="Emmali Medium"/>
                <a:cs typeface="Emmali Medium"/>
                <a:sym typeface="Emmali Medium"/>
              </a:rPr>
              <a:t>9. CONCLUSIONS &amp; REFLECTIONS</a:t>
            </a:r>
          </a:p>
        </p:txBody>
      </p:sp>
      <p:sp>
        <p:nvSpPr>
          <p:cNvPr id="9" name="TextBox 9"/>
          <p:cNvSpPr txBox="1"/>
          <p:nvPr/>
        </p:nvSpPr>
        <p:spPr>
          <a:xfrm>
            <a:off x="1537648" y="1616349"/>
            <a:ext cx="16223919" cy="8142652"/>
          </a:xfrm>
          <a:prstGeom prst="rect">
            <a:avLst/>
          </a:prstGeom>
        </p:spPr>
        <p:txBody>
          <a:bodyPr lIns="0" tIns="0" rIns="0" bIns="0" rtlCol="0" anchor="t">
            <a:spAutoFit/>
          </a:bodyPr>
          <a:lstStyle/>
          <a:p>
            <a:pPr algn="l">
              <a:lnSpc>
                <a:spcPts val="2725"/>
              </a:lnSpc>
            </a:pPr>
            <a:r>
              <a:rPr lang="en-US" sz="1946" b="1">
                <a:solidFill>
                  <a:srgbClr val="333137"/>
                </a:solidFill>
                <a:latin typeface="Nyutro Sans Bold"/>
                <a:ea typeface="Nyutro Sans Bold"/>
                <a:cs typeface="Nyutro Sans Bold"/>
                <a:sym typeface="Nyutro Sans Bold"/>
              </a:rPr>
              <a:t>Key Finding</a:t>
            </a:r>
          </a:p>
          <a:p>
            <a:pPr algn="l">
              <a:lnSpc>
                <a:spcPts val="2725"/>
              </a:lnSpc>
            </a:pPr>
            <a:r>
              <a:rPr lang="en-US" sz="1946">
                <a:solidFill>
                  <a:srgbClr val="333137"/>
                </a:solidFill>
                <a:latin typeface="Nyutro Sans"/>
                <a:ea typeface="Nyutro Sans"/>
                <a:cs typeface="Nyutro Sans"/>
                <a:sym typeface="Nyutro Sans"/>
              </a:rPr>
              <a:t>The hexapod robot achieves highly stable locomotion using a tripod gait, while the derived dynamic model accurately captures joint interactions, forces, and energy behavior during motion.</a:t>
            </a:r>
          </a:p>
          <a:p>
            <a:pPr algn="l">
              <a:lnSpc>
                <a:spcPts val="2725"/>
              </a:lnSpc>
            </a:pPr>
            <a:r>
              <a:rPr lang="en-US" sz="1946" b="1">
                <a:solidFill>
                  <a:srgbClr val="333137"/>
                </a:solidFill>
                <a:latin typeface="Nyutro Sans Bold"/>
                <a:ea typeface="Nyutro Sans Bold"/>
                <a:cs typeface="Nyutro Sans Bold"/>
                <a:sym typeface="Nyutro Sans Bold"/>
              </a:rPr>
              <a:t>What we learned that a textbook couldn't teach</a:t>
            </a:r>
          </a:p>
          <a:p>
            <a:pPr algn="l">
              <a:lnSpc>
                <a:spcPts val="2725"/>
              </a:lnSpc>
            </a:pPr>
            <a:r>
              <a:rPr lang="en-US" sz="1946">
                <a:solidFill>
                  <a:srgbClr val="333137"/>
                </a:solidFill>
                <a:latin typeface="Nyutro Sans"/>
                <a:ea typeface="Nyutro Sans"/>
                <a:cs typeface="Nyutro Sans"/>
                <a:sym typeface="Nyutro Sans"/>
              </a:rPr>
              <a:t>Understanding how multi-DOF systems behave in real simulations showed us that joint coupling and numerical instability are significant challenges, which are not evident in simplified textbook problems.</a:t>
            </a:r>
          </a:p>
          <a:p>
            <a:pPr algn="l">
              <a:lnSpc>
                <a:spcPts val="2725"/>
              </a:lnSpc>
            </a:pPr>
            <a:r>
              <a:rPr lang="en-US" sz="1946">
                <a:solidFill>
                  <a:srgbClr val="333137"/>
                </a:solidFill>
                <a:latin typeface="Nyutro Sans"/>
                <a:ea typeface="Nyutro Sans"/>
                <a:cs typeface="Nyutro Sans"/>
                <a:sym typeface="Nyutro Sans"/>
              </a:rPr>
              <a:t>Most challenging CO: CO4 (Applying Lagrangian dynamics to a complex multi-body system).</a:t>
            </a:r>
          </a:p>
          <a:p>
            <a:pPr algn="l">
              <a:lnSpc>
                <a:spcPts val="2725"/>
              </a:lnSpc>
            </a:pPr>
            <a:r>
              <a:rPr lang="en-US" sz="1946" b="1">
                <a:solidFill>
                  <a:srgbClr val="333137"/>
                </a:solidFill>
                <a:latin typeface="Nyutro Sans Bold"/>
                <a:ea typeface="Nyutro Sans Bold"/>
                <a:cs typeface="Nyutro Sans Bold"/>
                <a:sym typeface="Nyutro Sans Bold"/>
              </a:rPr>
              <a:t>What we would do differently</a:t>
            </a:r>
          </a:p>
          <a:p>
            <a:pPr algn="l">
              <a:lnSpc>
                <a:spcPts val="2725"/>
              </a:lnSpc>
            </a:pPr>
            <a:r>
              <a:rPr lang="en-US" sz="1946">
                <a:solidFill>
                  <a:srgbClr val="333137"/>
                </a:solidFill>
                <a:latin typeface="Nyutro Sans"/>
                <a:ea typeface="Nyutro Sans"/>
                <a:cs typeface="Nyutro Sans"/>
                <a:sym typeface="Nyutro Sans"/>
              </a:rPr>
              <a:t>We would begin simulation earlier instead of completing full derivations first. Not testing it on PyBullet in the earlier stage caused more problem as the leg geometry was correct but at the time of simulation the bot could not stand in proper stance.</a:t>
            </a:r>
          </a:p>
          <a:p>
            <a:pPr algn="l">
              <a:lnSpc>
                <a:spcPts val="2725"/>
              </a:lnSpc>
            </a:pPr>
            <a:r>
              <a:rPr lang="en-US" sz="1946">
                <a:solidFill>
                  <a:srgbClr val="333137"/>
                </a:solidFill>
                <a:latin typeface="Nyutro Sans"/>
                <a:ea typeface="Nyutro Sans"/>
                <a:cs typeface="Nyutro Sans"/>
                <a:sym typeface="Nyutro Sans"/>
              </a:rPr>
              <a:t>Follow a modular approach (one leg -&gt; gait -&gt; full robot).</a:t>
            </a:r>
          </a:p>
          <a:p>
            <a:pPr algn="l">
              <a:lnSpc>
                <a:spcPts val="2725"/>
              </a:lnSpc>
            </a:pPr>
            <a:r>
              <a:rPr lang="en-US" sz="1946" b="1">
                <a:solidFill>
                  <a:srgbClr val="333137"/>
                </a:solidFill>
                <a:latin typeface="Nyutro Sans Bold"/>
                <a:ea typeface="Nyutro Sans Bold"/>
                <a:cs typeface="Nyutro Sans Bold"/>
                <a:sym typeface="Nyutro Sans Bold"/>
              </a:rPr>
              <a:t>Course units most critica</a:t>
            </a:r>
            <a:r>
              <a:rPr lang="en-US" sz="1946">
                <a:solidFill>
                  <a:srgbClr val="333137"/>
                </a:solidFill>
                <a:latin typeface="Nyutro Sans"/>
                <a:ea typeface="Nyutro Sans"/>
                <a:cs typeface="Nyutro Sans"/>
                <a:sym typeface="Nyutro Sans"/>
              </a:rPr>
              <a:t>l</a:t>
            </a:r>
          </a:p>
          <a:p>
            <a:pPr marL="420335" lvl="1" indent="-210167" algn="l">
              <a:lnSpc>
                <a:spcPts val="2725"/>
              </a:lnSpc>
              <a:buFont typeface="Arial"/>
              <a:buChar char="•"/>
            </a:pPr>
            <a:r>
              <a:rPr lang="en-US" sz="1946">
                <a:solidFill>
                  <a:srgbClr val="333137"/>
                </a:solidFill>
                <a:latin typeface="Nyutro Sans"/>
                <a:ea typeface="Nyutro Sans"/>
                <a:cs typeface="Nyutro Sans"/>
                <a:sym typeface="Nyutro Sans"/>
              </a:rPr>
              <a:t>Kinematics of multi-body systems</a:t>
            </a:r>
          </a:p>
          <a:p>
            <a:pPr marL="420335" lvl="1" indent="-210167" algn="l">
              <a:lnSpc>
                <a:spcPts val="2725"/>
              </a:lnSpc>
              <a:buFont typeface="Arial"/>
              <a:buChar char="•"/>
            </a:pPr>
            <a:r>
              <a:rPr lang="en-US" sz="1946">
                <a:solidFill>
                  <a:srgbClr val="333137"/>
                </a:solidFill>
                <a:latin typeface="Nyutro Sans"/>
                <a:ea typeface="Nyutro Sans"/>
                <a:cs typeface="Nyutro Sans"/>
                <a:sym typeface="Nyutro Sans"/>
              </a:rPr>
              <a:t>Free Body Diagram analysis</a:t>
            </a:r>
          </a:p>
          <a:p>
            <a:pPr marL="420335" lvl="1" indent="-210167" algn="l">
              <a:lnSpc>
                <a:spcPts val="2725"/>
              </a:lnSpc>
              <a:buFont typeface="Arial"/>
              <a:buChar char="•"/>
            </a:pPr>
            <a:r>
              <a:rPr lang="en-US" sz="1946">
                <a:solidFill>
                  <a:srgbClr val="333137"/>
                </a:solidFill>
                <a:latin typeface="Nyutro Sans"/>
                <a:ea typeface="Nyutro Sans"/>
                <a:cs typeface="Nyutro Sans"/>
                <a:sym typeface="Nyutro Sans"/>
              </a:rPr>
              <a:t>Newtonian and Lagrangian dynamics</a:t>
            </a:r>
          </a:p>
          <a:p>
            <a:pPr marL="420335" lvl="1" indent="-210167" algn="l">
              <a:lnSpc>
                <a:spcPts val="2725"/>
              </a:lnSpc>
              <a:buFont typeface="Arial"/>
              <a:buChar char="•"/>
            </a:pPr>
            <a:r>
              <a:rPr lang="en-US" sz="1946">
                <a:solidFill>
                  <a:srgbClr val="333137"/>
                </a:solidFill>
                <a:latin typeface="Nyutro Sans"/>
                <a:ea typeface="Nyutro Sans"/>
                <a:cs typeface="Nyutro Sans"/>
                <a:sym typeface="Nyutro Sans"/>
              </a:rPr>
              <a:t>Energy methods in dynamic systems</a:t>
            </a:r>
          </a:p>
          <a:p>
            <a:pPr marL="420335" lvl="1" indent="-210167" algn="l">
              <a:lnSpc>
                <a:spcPts val="2725"/>
              </a:lnSpc>
              <a:buFont typeface="Arial"/>
              <a:buChar char="•"/>
            </a:pPr>
            <a:r>
              <a:rPr lang="en-US" sz="1946">
                <a:solidFill>
                  <a:srgbClr val="333137"/>
                </a:solidFill>
                <a:latin typeface="Nyutro Sans"/>
                <a:ea typeface="Nyutro Sans"/>
                <a:cs typeface="Nyutro Sans"/>
                <a:sym typeface="Nyutro Sans"/>
              </a:rPr>
              <a:t>Numerical methods for ODE solving</a:t>
            </a:r>
          </a:p>
          <a:p>
            <a:pPr algn="l">
              <a:lnSpc>
                <a:spcPts val="2725"/>
              </a:lnSpc>
            </a:pPr>
            <a:r>
              <a:rPr lang="en-US" sz="1946" b="1">
                <a:solidFill>
                  <a:srgbClr val="333137"/>
                </a:solidFill>
                <a:latin typeface="Nyutro Sans Bold"/>
                <a:ea typeface="Nyutro Sans Bold"/>
                <a:cs typeface="Nyutro Sans Bold"/>
                <a:sym typeface="Nyutro Sans Bold"/>
              </a:rPr>
              <a:t>CO Self-Assessment</a:t>
            </a:r>
          </a:p>
          <a:p>
            <a:pPr marL="420335" lvl="1" indent="-210167" algn="l">
              <a:lnSpc>
                <a:spcPts val="2725"/>
              </a:lnSpc>
              <a:buFont typeface="Arial"/>
              <a:buChar char="•"/>
            </a:pPr>
            <a:r>
              <a:rPr lang="en-US" sz="1946">
                <a:solidFill>
                  <a:srgbClr val="333137"/>
                </a:solidFill>
                <a:latin typeface="Nyutro Sans"/>
                <a:ea typeface="Nyutro Sans"/>
                <a:cs typeface="Nyutro Sans"/>
                <a:sym typeface="Nyutro Sans"/>
              </a:rPr>
              <a:t> CO1 (Kinematics): ✓</a:t>
            </a:r>
          </a:p>
          <a:p>
            <a:pPr marL="420335" lvl="1" indent="-210167" algn="l">
              <a:lnSpc>
                <a:spcPts val="2725"/>
              </a:lnSpc>
              <a:buFont typeface="Arial"/>
              <a:buChar char="•"/>
            </a:pPr>
            <a:r>
              <a:rPr lang="en-US" sz="1946">
                <a:solidFill>
                  <a:srgbClr val="333137"/>
                </a:solidFill>
                <a:latin typeface="Nyutro Sans"/>
                <a:ea typeface="Nyutro Sans"/>
                <a:cs typeface="Nyutro Sans"/>
                <a:sym typeface="Nyutro Sans"/>
              </a:rPr>
              <a:t> CO2 (FBD): ✓</a:t>
            </a:r>
          </a:p>
          <a:p>
            <a:pPr marL="420335" lvl="1" indent="-210167" algn="l">
              <a:lnSpc>
                <a:spcPts val="2725"/>
              </a:lnSpc>
              <a:buFont typeface="Arial"/>
              <a:buChar char="•"/>
            </a:pPr>
            <a:r>
              <a:rPr lang="en-US" sz="1946">
                <a:solidFill>
                  <a:srgbClr val="333137"/>
                </a:solidFill>
                <a:latin typeface="Nyutro Sans"/>
                <a:ea typeface="Nyutro Sans"/>
                <a:cs typeface="Nyutro Sans"/>
                <a:sym typeface="Nyutro Sans"/>
              </a:rPr>
              <a:t> CO3 (Forces): ✓</a:t>
            </a:r>
          </a:p>
          <a:p>
            <a:pPr marL="420335" lvl="1" indent="-210167" algn="l">
              <a:lnSpc>
                <a:spcPts val="2725"/>
              </a:lnSpc>
              <a:buFont typeface="Arial"/>
              <a:buChar char="•"/>
            </a:pPr>
            <a:r>
              <a:rPr lang="en-US" sz="1946">
                <a:solidFill>
                  <a:srgbClr val="333137"/>
                </a:solidFill>
                <a:latin typeface="Nyutro Sans"/>
                <a:ea typeface="Nyutro Sans"/>
                <a:cs typeface="Nyutro Sans"/>
                <a:sym typeface="Nyutro Sans"/>
              </a:rPr>
              <a:t> CO4 (Laws): ✓</a:t>
            </a:r>
          </a:p>
          <a:p>
            <a:pPr marL="420335" lvl="1" indent="-210167" algn="l">
              <a:lnSpc>
                <a:spcPts val="2725"/>
              </a:lnSpc>
              <a:buFont typeface="Arial"/>
              <a:buChar char="•"/>
            </a:pPr>
            <a:r>
              <a:rPr lang="en-US" sz="1946">
                <a:solidFill>
                  <a:srgbClr val="333137"/>
                </a:solidFill>
                <a:latin typeface="Nyutro Sans"/>
                <a:ea typeface="Nyutro Sans"/>
                <a:cs typeface="Nyutro Sans"/>
                <a:sym typeface="Nyutro Sans"/>
              </a:rPr>
              <a:t> CO5 (Energy): ✓</a:t>
            </a:r>
          </a:p>
          <a:p>
            <a:pPr algn="l">
              <a:lnSpc>
                <a:spcPts val="2725"/>
              </a:lnSpc>
            </a:pPr>
            <a:endParaRPr lang="en-US" sz="1946">
              <a:solidFill>
                <a:srgbClr val="333137"/>
              </a:solidFill>
              <a:latin typeface="Nyutro Sans"/>
              <a:ea typeface="Nyutro Sans"/>
              <a:cs typeface="Nyutro Sans"/>
              <a:sym typeface="Nyutro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DDDDDF"/>
        </a:solidFill>
        <a:effectLst/>
      </p:bgPr>
    </p:bg>
    <p:spTree>
      <p:nvGrpSpPr>
        <p:cNvPr id="1" name=""/>
        <p:cNvGrpSpPr/>
        <p:nvPr/>
      </p:nvGrpSpPr>
      <p:grpSpPr>
        <a:xfrm>
          <a:off x="0" y="0"/>
          <a:ext cx="0" cy="0"/>
          <a:chOff x="0" y="0"/>
          <a:chExt cx="0" cy="0"/>
        </a:xfrm>
      </p:grpSpPr>
      <p:sp>
        <p:nvSpPr>
          <p:cNvPr id="2" name="Freeform 2"/>
          <p:cNvSpPr/>
          <p:nvPr/>
        </p:nvSpPr>
        <p:spPr>
          <a:xfrm>
            <a:off x="12433764" y="7682720"/>
            <a:ext cx="8412822" cy="6669073"/>
          </a:xfrm>
          <a:custGeom>
            <a:avLst/>
            <a:gdLst/>
            <a:ahLst/>
            <a:cxnLst/>
            <a:rect l="l" t="t" r="r" b="b"/>
            <a:pathLst>
              <a:path w="8412822" h="6669073">
                <a:moveTo>
                  <a:pt x="0" y="0"/>
                </a:moveTo>
                <a:lnTo>
                  <a:pt x="8412822" y="0"/>
                </a:lnTo>
                <a:lnTo>
                  <a:pt x="8412822" y="6669074"/>
                </a:lnTo>
                <a:lnTo>
                  <a:pt x="0" y="666907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flipH="1" flipV="1">
            <a:off x="-2558586" y="-4064794"/>
            <a:ext cx="8412822" cy="6669073"/>
          </a:xfrm>
          <a:custGeom>
            <a:avLst/>
            <a:gdLst/>
            <a:ahLst/>
            <a:cxnLst/>
            <a:rect l="l" t="t" r="r" b="b"/>
            <a:pathLst>
              <a:path w="8412822" h="6669073">
                <a:moveTo>
                  <a:pt x="8412822" y="6669074"/>
                </a:moveTo>
                <a:lnTo>
                  <a:pt x="0" y="6669074"/>
                </a:lnTo>
                <a:lnTo>
                  <a:pt x="0" y="0"/>
                </a:lnTo>
                <a:lnTo>
                  <a:pt x="8412822" y="0"/>
                </a:lnTo>
                <a:lnTo>
                  <a:pt x="8412822" y="6669074"/>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flipH="1" flipV="1">
            <a:off x="-2190390" y="9258300"/>
            <a:ext cx="11408209" cy="1203047"/>
          </a:xfrm>
          <a:custGeom>
            <a:avLst/>
            <a:gdLst/>
            <a:ahLst/>
            <a:cxnLst/>
            <a:rect l="l" t="t" r="r" b="b"/>
            <a:pathLst>
              <a:path w="11408209" h="1203047">
                <a:moveTo>
                  <a:pt x="11408209" y="1203047"/>
                </a:moveTo>
                <a:lnTo>
                  <a:pt x="0" y="1203047"/>
                </a:lnTo>
                <a:lnTo>
                  <a:pt x="0" y="0"/>
                </a:lnTo>
                <a:lnTo>
                  <a:pt x="11408209" y="0"/>
                </a:lnTo>
                <a:lnTo>
                  <a:pt x="11408209" y="1203047"/>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9070181" y="-174347"/>
            <a:ext cx="11408209" cy="1203047"/>
          </a:xfrm>
          <a:custGeom>
            <a:avLst/>
            <a:gdLst/>
            <a:ahLst/>
            <a:cxnLst/>
            <a:rect l="l" t="t" r="r" b="b"/>
            <a:pathLst>
              <a:path w="11408209" h="1203047">
                <a:moveTo>
                  <a:pt x="0" y="0"/>
                </a:moveTo>
                <a:lnTo>
                  <a:pt x="11408209" y="0"/>
                </a:lnTo>
                <a:lnTo>
                  <a:pt x="11408209" y="1203047"/>
                </a:lnTo>
                <a:lnTo>
                  <a:pt x="0" y="1203047"/>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AutoShape 6"/>
          <p:cNvSpPr/>
          <p:nvPr/>
        </p:nvSpPr>
        <p:spPr>
          <a:xfrm>
            <a:off x="4254817" y="9840774"/>
            <a:ext cx="3827092" cy="0"/>
          </a:xfrm>
          <a:prstGeom prst="line">
            <a:avLst/>
          </a:prstGeom>
          <a:ln w="57150" cap="flat">
            <a:solidFill>
              <a:srgbClr val="333137"/>
            </a:solidFill>
            <a:prstDash val="solid"/>
            <a:headEnd type="none" w="sm" len="sm"/>
            <a:tailEnd type="none" w="sm" len="sm"/>
          </a:ln>
        </p:spPr>
      </p:sp>
      <p:sp>
        <p:nvSpPr>
          <p:cNvPr id="7" name="AutoShape 7"/>
          <p:cNvSpPr/>
          <p:nvPr/>
        </p:nvSpPr>
        <p:spPr>
          <a:xfrm>
            <a:off x="10146030" y="446226"/>
            <a:ext cx="3827092" cy="0"/>
          </a:xfrm>
          <a:prstGeom prst="line">
            <a:avLst/>
          </a:prstGeom>
          <a:ln w="57150" cap="flat">
            <a:solidFill>
              <a:srgbClr val="333137"/>
            </a:solidFill>
            <a:prstDash val="solid"/>
            <a:headEnd type="none" w="sm" len="sm"/>
            <a:tailEnd type="none" w="sm" len="sm"/>
          </a:ln>
        </p:spPr>
      </p:sp>
      <p:sp>
        <p:nvSpPr>
          <p:cNvPr id="8" name="TextBox 8"/>
          <p:cNvSpPr txBox="1"/>
          <p:nvPr/>
        </p:nvSpPr>
        <p:spPr>
          <a:xfrm>
            <a:off x="2039916" y="673374"/>
            <a:ext cx="15219384" cy="1028700"/>
          </a:xfrm>
          <a:prstGeom prst="rect">
            <a:avLst/>
          </a:prstGeom>
        </p:spPr>
        <p:txBody>
          <a:bodyPr lIns="0" tIns="0" rIns="0" bIns="0" rtlCol="0" anchor="t">
            <a:spAutoFit/>
          </a:bodyPr>
          <a:lstStyle/>
          <a:p>
            <a:pPr algn="ctr">
              <a:lnSpc>
                <a:spcPts val="8400"/>
              </a:lnSpc>
            </a:pPr>
            <a:r>
              <a:rPr lang="en-US" sz="6000" b="1">
                <a:solidFill>
                  <a:srgbClr val="333137"/>
                </a:solidFill>
                <a:latin typeface="Emmali Medium"/>
                <a:ea typeface="Emmali Medium"/>
                <a:cs typeface="Emmali Medium"/>
                <a:sym typeface="Emmali Medium"/>
              </a:rPr>
              <a:t>10. REFERENCES &amp; AI DISCLOSURE</a:t>
            </a:r>
          </a:p>
        </p:txBody>
      </p:sp>
      <p:sp>
        <p:nvSpPr>
          <p:cNvPr id="9" name="TextBox 9"/>
          <p:cNvSpPr txBox="1"/>
          <p:nvPr/>
        </p:nvSpPr>
        <p:spPr>
          <a:xfrm>
            <a:off x="1537648" y="1629956"/>
            <a:ext cx="16223919" cy="7411085"/>
          </a:xfrm>
          <a:prstGeom prst="rect">
            <a:avLst/>
          </a:prstGeom>
        </p:spPr>
        <p:txBody>
          <a:bodyPr lIns="0" tIns="0" rIns="0" bIns="0" rtlCol="0" anchor="t">
            <a:spAutoFit/>
          </a:bodyPr>
          <a:lstStyle/>
          <a:p>
            <a:pPr algn="l">
              <a:lnSpc>
                <a:spcPts val="3919"/>
              </a:lnSpc>
            </a:pPr>
            <a:r>
              <a:rPr lang="en-US" sz="2799" b="1">
                <a:solidFill>
                  <a:srgbClr val="333137"/>
                </a:solidFill>
                <a:latin typeface="Nyutro Sans Bold"/>
                <a:ea typeface="Nyutro Sans Bold"/>
                <a:cs typeface="Nyutro Sans Bold"/>
                <a:sym typeface="Nyutro Sans Bold"/>
              </a:rPr>
              <a:t>Textbook References:</a:t>
            </a:r>
          </a:p>
          <a:p>
            <a:pPr algn="l">
              <a:lnSpc>
                <a:spcPts val="3359"/>
              </a:lnSpc>
            </a:pPr>
            <a:r>
              <a:rPr lang="en-US" sz="2400" b="1">
                <a:solidFill>
                  <a:srgbClr val="333137"/>
                </a:solidFill>
                <a:latin typeface="Nyutro Sans Bold"/>
                <a:ea typeface="Nyutro Sans Bold"/>
                <a:cs typeface="Nyutro Sans Bold"/>
                <a:sym typeface="Nyutro Sans Bold"/>
              </a:rPr>
              <a:t>[1] </a:t>
            </a:r>
            <a:r>
              <a:rPr lang="en-US" sz="2400">
                <a:solidFill>
                  <a:srgbClr val="333137"/>
                </a:solidFill>
                <a:latin typeface="Nyutro Sans"/>
                <a:ea typeface="Nyutro Sans"/>
                <a:cs typeface="Nyutro Sans"/>
                <a:sym typeface="Nyutro Sans"/>
              </a:rPr>
              <a:t>Ginsberg, J. (2008). Engineering Dynamics. Cambridge UP.</a:t>
            </a:r>
          </a:p>
          <a:p>
            <a:pPr algn="l">
              <a:lnSpc>
                <a:spcPts val="3359"/>
              </a:lnSpc>
            </a:pPr>
            <a:endParaRPr lang="en-US" sz="2400">
              <a:solidFill>
                <a:srgbClr val="333137"/>
              </a:solidFill>
              <a:latin typeface="Nyutro Sans"/>
              <a:ea typeface="Nyutro Sans"/>
              <a:cs typeface="Nyutro Sans"/>
              <a:sym typeface="Nyutro Sans"/>
            </a:endParaRPr>
          </a:p>
          <a:p>
            <a:pPr algn="l">
              <a:lnSpc>
                <a:spcPts val="3919"/>
              </a:lnSpc>
            </a:pPr>
            <a:r>
              <a:rPr lang="en-US" sz="2799" b="1">
                <a:solidFill>
                  <a:srgbClr val="333137"/>
                </a:solidFill>
                <a:latin typeface="Nyutro Sans Bold"/>
                <a:ea typeface="Nyutro Sans Bold"/>
                <a:cs typeface="Nyutro Sans Bold"/>
                <a:sym typeface="Nyutro Sans Bold"/>
              </a:rPr>
              <a:t>Online Resources:</a:t>
            </a:r>
          </a:p>
          <a:p>
            <a:pPr algn="l">
              <a:lnSpc>
                <a:spcPts val="3359"/>
              </a:lnSpc>
            </a:pPr>
            <a:r>
              <a:rPr lang="en-US" sz="2400" b="1">
                <a:solidFill>
                  <a:srgbClr val="333137"/>
                </a:solidFill>
                <a:latin typeface="Nyutro Sans Bold"/>
                <a:ea typeface="Nyutro Sans Bold"/>
                <a:cs typeface="Nyutro Sans Bold"/>
                <a:sym typeface="Nyutro Sans Bold"/>
              </a:rPr>
              <a:t>[1] </a:t>
            </a:r>
            <a:r>
              <a:rPr lang="en-US" sz="2400">
                <a:solidFill>
                  <a:srgbClr val="333137"/>
                </a:solidFill>
                <a:latin typeface="Nyutro Sans"/>
                <a:ea typeface="Nyutro Sans"/>
                <a:cs typeface="Nyutro Sans"/>
                <a:sym typeface="Nyutro Sans"/>
              </a:rPr>
              <a:t>Youtube Video for hardware files - </a:t>
            </a:r>
          </a:p>
          <a:p>
            <a:pPr algn="l">
              <a:lnSpc>
                <a:spcPts val="3359"/>
              </a:lnSpc>
            </a:pPr>
            <a:r>
              <a:rPr lang="en-US" sz="2400" b="1">
                <a:solidFill>
                  <a:srgbClr val="333137"/>
                </a:solidFill>
                <a:latin typeface="Nyutro Sans Bold"/>
                <a:ea typeface="Nyutro Sans Bold"/>
                <a:cs typeface="Nyutro Sans Bold"/>
                <a:sym typeface="Nyutro Sans Bold"/>
              </a:rPr>
              <a:t>[2] </a:t>
            </a:r>
            <a:r>
              <a:rPr lang="en-US" sz="2400">
                <a:solidFill>
                  <a:srgbClr val="333137"/>
                </a:solidFill>
                <a:latin typeface="Nyutro Sans"/>
                <a:ea typeface="Nyutro Sans"/>
                <a:cs typeface="Nyutro Sans"/>
                <a:sym typeface="Nyutro Sans"/>
              </a:rPr>
              <a:t>Hardware Modeling(3D Model File) - </a:t>
            </a:r>
          </a:p>
          <a:p>
            <a:pPr algn="l">
              <a:lnSpc>
                <a:spcPts val="3359"/>
              </a:lnSpc>
            </a:pPr>
            <a:endParaRPr lang="en-US" sz="2400">
              <a:solidFill>
                <a:srgbClr val="333137"/>
              </a:solidFill>
              <a:latin typeface="Nyutro Sans"/>
              <a:ea typeface="Nyutro Sans"/>
              <a:cs typeface="Nyutro Sans"/>
              <a:sym typeface="Nyutro Sans"/>
            </a:endParaRPr>
          </a:p>
          <a:p>
            <a:pPr algn="l">
              <a:lnSpc>
                <a:spcPts val="3359"/>
              </a:lnSpc>
            </a:pPr>
            <a:endParaRPr lang="en-US" sz="2400">
              <a:solidFill>
                <a:srgbClr val="333137"/>
              </a:solidFill>
              <a:latin typeface="Nyutro Sans"/>
              <a:ea typeface="Nyutro Sans"/>
              <a:cs typeface="Nyutro Sans"/>
              <a:sym typeface="Nyutro Sans"/>
            </a:endParaRPr>
          </a:p>
          <a:p>
            <a:pPr algn="l">
              <a:lnSpc>
                <a:spcPts val="3919"/>
              </a:lnSpc>
            </a:pPr>
            <a:r>
              <a:rPr lang="en-US" sz="2799" b="1">
                <a:solidFill>
                  <a:srgbClr val="333137"/>
                </a:solidFill>
                <a:latin typeface="Nyutro Sans Bold"/>
                <a:ea typeface="Nyutro Sans Bold"/>
                <a:cs typeface="Nyutro Sans Bold"/>
                <a:sym typeface="Nyutro Sans Bold"/>
              </a:rPr>
              <a:t>AI Tools :</a:t>
            </a:r>
          </a:p>
          <a:p>
            <a:pPr algn="l">
              <a:lnSpc>
                <a:spcPts val="3359"/>
              </a:lnSpc>
            </a:pPr>
            <a:r>
              <a:rPr lang="en-US" sz="2400" b="1">
                <a:solidFill>
                  <a:srgbClr val="333137"/>
                </a:solidFill>
                <a:latin typeface="Nyutro Sans Bold"/>
                <a:ea typeface="Nyutro Sans Bold"/>
                <a:cs typeface="Nyutro Sans Bold"/>
                <a:sym typeface="Nyutro Sans Bold"/>
              </a:rPr>
              <a:t>We used AI tools like ChatGPT/Claude/GLM(Z.ai) for:</a:t>
            </a:r>
          </a:p>
          <a:p>
            <a:pPr marL="518160" lvl="1" indent="-259080" algn="l">
              <a:lnSpc>
                <a:spcPts val="3359"/>
              </a:lnSpc>
              <a:buFont typeface="Arial"/>
              <a:buChar char="•"/>
            </a:pPr>
            <a:r>
              <a:rPr lang="en-US" sz="2400">
                <a:solidFill>
                  <a:srgbClr val="333137"/>
                </a:solidFill>
                <a:latin typeface="Nyutro Sans"/>
                <a:ea typeface="Nyutro Sans"/>
                <a:cs typeface="Nyutro Sans"/>
                <a:sym typeface="Nyutro Sans"/>
              </a:rPr>
              <a:t>Understanding complex concepts like inverse kinematics and modeling.</a:t>
            </a:r>
          </a:p>
          <a:p>
            <a:pPr marL="518160" lvl="1" indent="-259080" algn="l">
              <a:lnSpc>
                <a:spcPts val="3359"/>
              </a:lnSpc>
              <a:buFont typeface="Arial"/>
              <a:buChar char="•"/>
            </a:pPr>
            <a:r>
              <a:rPr lang="en-US" sz="2400">
                <a:solidFill>
                  <a:srgbClr val="333137"/>
                </a:solidFill>
                <a:latin typeface="Nyutro Sans"/>
                <a:ea typeface="Nyutro Sans"/>
                <a:cs typeface="Nyutro Sans"/>
                <a:sym typeface="Nyutro Sans"/>
              </a:rPr>
              <a:t>Writing Python/PyBullet code from MATLAB code (Prompt based coding).</a:t>
            </a:r>
          </a:p>
          <a:p>
            <a:pPr marL="518160" lvl="1" indent="-259080" algn="l">
              <a:lnSpc>
                <a:spcPts val="3359"/>
              </a:lnSpc>
              <a:buFont typeface="Arial"/>
              <a:buChar char="•"/>
            </a:pPr>
            <a:r>
              <a:rPr lang="en-US" sz="2400">
                <a:solidFill>
                  <a:srgbClr val="333137"/>
                </a:solidFill>
                <a:latin typeface="Nyutro Sans"/>
                <a:ea typeface="Nyutro Sans"/>
                <a:cs typeface="Nyutro Sans"/>
                <a:sym typeface="Nyutro Sans"/>
              </a:rPr>
              <a:t>Structuring explanations and documentation.</a:t>
            </a:r>
          </a:p>
          <a:p>
            <a:pPr algn="l">
              <a:lnSpc>
                <a:spcPts val="3359"/>
              </a:lnSpc>
            </a:pPr>
            <a:r>
              <a:rPr lang="en-US" sz="2400" b="1">
                <a:solidFill>
                  <a:srgbClr val="333137"/>
                </a:solidFill>
                <a:latin typeface="Nyutro Sans Bold"/>
                <a:ea typeface="Nyutro Sans Bold"/>
                <a:cs typeface="Nyutro Sans Bold"/>
                <a:sym typeface="Nyutro Sans Bold"/>
              </a:rPr>
              <a:t>We did NOT use AI for:</a:t>
            </a:r>
          </a:p>
          <a:p>
            <a:pPr marL="518160" lvl="1" indent="-259080" algn="l">
              <a:lnSpc>
                <a:spcPts val="3359"/>
              </a:lnSpc>
              <a:buFont typeface="Arial"/>
              <a:buChar char="•"/>
            </a:pPr>
            <a:r>
              <a:rPr lang="en-US" sz="2400">
                <a:solidFill>
                  <a:srgbClr val="333137"/>
                </a:solidFill>
                <a:latin typeface="Nyutro Sans"/>
                <a:ea typeface="Nyutro Sans"/>
                <a:cs typeface="Nyutro Sans"/>
                <a:sym typeface="Nyutro Sans"/>
              </a:rPr>
              <a:t>Deriving problem, it’s mathematical modeling concept and FBDs.</a:t>
            </a:r>
          </a:p>
          <a:p>
            <a:pPr marL="518160" lvl="1" indent="-259080" algn="l">
              <a:lnSpc>
                <a:spcPts val="3359"/>
              </a:lnSpc>
              <a:buFont typeface="Arial"/>
              <a:buChar char="•"/>
            </a:pPr>
            <a:r>
              <a:rPr lang="en-US" sz="2400">
                <a:solidFill>
                  <a:srgbClr val="333137"/>
                </a:solidFill>
                <a:latin typeface="Nyutro Sans"/>
                <a:ea typeface="Nyutro Sans"/>
                <a:cs typeface="Nyutro Sans"/>
                <a:sym typeface="Nyutro Sans"/>
              </a:rPr>
              <a:t>Simulation validation.</a:t>
            </a:r>
          </a:p>
          <a:p>
            <a:pPr marL="518160" lvl="1" indent="-259080" algn="l">
              <a:lnSpc>
                <a:spcPts val="3359"/>
              </a:lnSpc>
              <a:buFont typeface="Arial"/>
              <a:buChar char="•"/>
            </a:pPr>
            <a:r>
              <a:rPr lang="en-US" sz="2400">
                <a:solidFill>
                  <a:srgbClr val="333137"/>
                </a:solidFill>
                <a:latin typeface="Nyutro Sans"/>
                <a:ea typeface="Nyutro Sans"/>
                <a:cs typeface="Nyutro Sans"/>
                <a:sym typeface="Nyutro Sans"/>
              </a:rPr>
              <a:t>Core conceptual learning.</a:t>
            </a:r>
          </a:p>
        </p:txBody>
      </p:sp>
      <p:sp>
        <p:nvSpPr>
          <p:cNvPr id="10" name="TextBox 10"/>
          <p:cNvSpPr txBox="1"/>
          <p:nvPr/>
        </p:nvSpPr>
        <p:spPr>
          <a:xfrm>
            <a:off x="6828608" y="3381070"/>
            <a:ext cx="7166514" cy="462915"/>
          </a:xfrm>
          <a:prstGeom prst="rect">
            <a:avLst/>
          </a:prstGeom>
        </p:spPr>
        <p:txBody>
          <a:bodyPr lIns="0" tIns="0" rIns="0" bIns="0" rtlCol="0" anchor="t">
            <a:spAutoFit/>
          </a:bodyPr>
          <a:lstStyle/>
          <a:p>
            <a:pPr algn="l">
              <a:lnSpc>
                <a:spcPts val="3359"/>
              </a:lnSpc>
            </a:pPr>
            <a:r>
              <a:rPr lang="en-US" sz="2400" u="sng">
                <a:solidFill>
                  <a:srgbClr val="333137"/>
                </a:solidFill>
                <a:latin typeface="Nyutro Sans"/>
                <a:ea typeface="Nyutro Sans"/>
                <a:cs typeface="Nyutro Sans"/>
                <a:sym typeface="Nyutro Sans"/>
                <a:hlinkClick r:id="rId4" tooltip="https://youtu.be/ciE2Z_92T7s?si=EKsPSDTH10j7Pghe"/>
              </a:rPr>
              <a:t>https://youtu.be/ciE2Z_92T7s?si=EKsPSDTH10j7Pghe</a:t>
            </a:r>
          </a:p>
        </p:txBody>
      </p:sp>
      <p:sp>
        <p:nvSpPr>
          <p:cNvPr id="11" name="TextBox 11"/>
          <p:cNvSpPr txBox="1"/>
          <p:nvPr/>
        </p:nvSpPr>
        <p:spPr>
          <a:xfrm>
            <a:off x="6828608" y="3789661"/>
            <a:ext cx="8551000" cy="882015"/>
          </a:xfrm>
          <a:prstGeom prst="rect">
            <a:avLst/>
          </a:prstGeom>
        </p:spPr>
        <p:txBody>
          <a:bodyPr lIns="0" tIns="0" rIns="0" bIns="0" rtlCol="0" anchor="t">
            <a:spAutoFit/>
          </a:bodyPr>
          <a:lstStyle/>
          <a:p>
            <a:pPr algn="l">
              <a:lnSpc>
                <a:spcPts val="3359"/>
              </a:lnSpc>
            </a:pPr>
            <a:r>
              <a:rPr lang="en-US" sz="2400" u="sng">
                <a:solidFill>
                  <a:srgbClr val="333137"/>
                </a:solidFill>
                <a:latin typeface="Nyutro Sans"/>
                <a:ea typeface="Nyutro Sans"/>
                <a:cs typeface="Nyutro Sans"/>
                <a:sym typeface="Nyutro Sans"/>
                <a:hlinkClick r:id="rId5" tooltip="https://makerworld.com/en/models/1973965-hexapod-spider-robot-with-servo-arduino#profileId-2122819"/>
              </a:rPr>
              <a:t>https://makerworld.com/en/models/1973965-hexapod-spider-robot-with-servo-arduino#profileId-2122819</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DDDDDF"/>
        </a:solidFill>
        <a:effectLst/>
      </p:bgPr>
    </p:bg>
    <p:spTree>
      <p:nvGrpSpPr>
        <p:cNvPr id="1" name=""/>
        <p:cNvGrpSpPr/>
        <p:nvPr/>
      </p:nvGrpSpPr>
      <p:grpSpPr>
        <a:xfrm>
          <a:off x="0" y="0"/>
          <a:ext cx="0" cy="0"/>
          <a:chOff x="0" y="0"/>
          <a:chExt cx="0" cy="0"/>
        </a:xfrm>
      </p:grpSpPr>
      <p:sp>
        <p:nvSpPr>
          <p:cNvPr id="2" name="Freeform 2"/>
          <p:cNvSpPr/>
          <p:nvPr/>
        </p:nvSpPr>
        <p:spPr>
          <a:xfrm>
            <a:off x="12433764" y="7682720"/>
            <a:ext cx="8412822" cy="6669073"/>
          </a:xfrm>
          <a:custGeom>
            <a:avLst/>
            <a:gdLst/>
            <a:ahLst/>
            <a:cxnLst/>
            <a:rect l="l" t="t" r="r" b="b"/>
            <a:pathLst>
              <a:path w="8412822" h="6669073">
                <a:moveTo>
                  <a:pt x="0" y="0"/>
                </a:moveTo>
                <a:lnTo>
                  <a:pt x="8412822" y="0"/>
                </a:lnTo>
                <a:lnTo>
                  <a:pt x="8412822" y="6669074"/>
                </a:lnTo>
                <a:lnTo>
                  <a:pt x="0" y="666907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flipH="1" flipV="1">
            <a:off x="-2558586" y="-4064794"/>
            <a:ext cx="8412822" cy="6669073"/>
          </a:xfrm>
          <a:custGeom>
            <a:avLst/>
            <a:gdLst/>
            <a:ahLst/>
            <a:cxnLst/>
            <a:rect l="l" t="t" r="r" b="b"/>
            <a:pathLst>
              <a:path w="8412822" h="6669073">
                <a:moveTo>
                  <a:pt x="8412822" y="6669074"/>
                </a:moveTo>
                <a:lnTo>
                  <a:pt x="0" y="6669074"/>
                </a:lnTo>
                <a:lnTo>
                  <a:pt x="0" y="0"/>
                </a:lnTo>
                <a:lnTo>
                  <a:pt x="8412822" y="0"/>
                </a:lnTo>
                <a:lnTo>
                  <a:pt x="8412822" y="6669074"/>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flipH="1" flipV="1">
            <a:off x="-2190390" y="9258300"/>
            <a:ext cx="11408209" cy="1203047"/>
          </a:xfrm>
          <a:custGeom>
            <a:avLst/>
            <a:gdLst/>
            <a:ahLst/>
            <a:cxnLst/>
            <a:rect l="l" t="t" r="r" b="b"/>
            <a:pathLst>
              <a:path w="11408209" h="1203047">
                <a:moveTo>
                  <a:pt x="11408209" y="1203047"/>
                </a:moveTo>
                <a:lnTo>
                  <a:pt x="0" y="1203047"/>
                </a:lnTo>
                <a:lnTo>
                  <a:pt x="0" y="0"/>
                </a:lnTo>
                <a:lnTo>
                  <a:pt x="11408209" y="0"/>
                </a:lnTo>
                <a:lnTo>
                  <a:pt x="11408209" y="1203047"/>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9070181" y="-174347"/>
            <a:ext cx="11408209" cy="1203047"/>
          </a:xfrm>
          <a:custGeom>
            <a:avLst/>
            <a:gdLst/>
            <a:ahLst/>
            <a:cxnLst/>
            <a:rect l="l" t="t" r="r" b="b"/>
            <a:pathLst>
              <a:path w="11408209" h="1203047">
                <a:moveTo>
                  <a:pt x="0" y="0"/>
                </a:moveTo>
                <a:lnTo>
                  <a:pt x="11408209" y="0"/>
                </a:lnTo>
                <a:lnTo>
                  <a:pt x="11408209" y="1203047"/>
                </a:lnTo>
                <a:lnTo>
                  <a:pt x="0" y="1203047"/>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TextBox 6"/>
          <p:cNvSpPr txBox="1"/>
          <p:nvPr/>
        </p:nvSpPr>
        <p:spPr>
          <a:xfrm>
            <a:off x="2392627" y="3272511"/>
            <a:ext cx="13502745" cy="3789602"/>
          </a:xfrm>
          <a:prstGeom prst="rect">
            <a:avLst/>
          </a:prstGeom>
        </p:spPr>
        <p:txBody>
          <a:bodyPr lIns="0" tIns="0" rIns="0" bIns="0" rtlCol="0" anchor="t">
            <a:spAutoFit/>
          </a:bodyPr>
          <a:lstStyle/>
          <a:p>
            <a:pPr algn="ctr">
              <a:lnSpc>
                <a:spcPts val="14917"/>
              </a:lnSpc>
            </a:pPr>
            <a:r>
              <a:rPr lang="en-US" sz="12859" b="1">
                <a:solidFill>
                  <a:srgbClr val="333137"/>
                </a:solidFill>
                <a:latin typeface="Emmali Medium"/>
                <a:ea typeface="Emmali Medium"/>
                <a:cs typeface="Emmali Medium"/>
                <a:sym typeface="Emmali Medium"/>
              </a:rPr>
              <a:t>THANK</a:t>
            </a:r>
          </a:p>
          <a:p>
            <a:pPr algn="ctr">
              <a:lnSpc>
                <a:spcPts val="14917"/>
              </a:lnSpc>
            </a:pPr>
            <a:r>
              <a:rPr lang="en-US" sz="12859" b="1">
                <a:solidFill>
                  <a:srgbClr val="333137"/>
                </a:solidFill>
                <a:latin typeface="Emmali Medium"/>
                <a:ea typeface="Emmali Medium"/>
                <a:cs typeface="Emmali Medium"/>
                <a:sym typeface="Emmali Medium"/>
              </a:rPr>
              <a:t>YOU</a:t>
            </a:r>
          </a:p>
        </p:txBody>
      </p:sp>
      <p:sp>
        <p:nvSpPr>
          <p:cNvPr id="7" name="AutoShape 7"/>
          <p:cNvSpPr/>
          <p:nvPr/>
        </p:nvSpPr>
        <p:spPr>
          <a:xfrm>
            <a:off x="4254817" y="9840774"/>
            <a:ext cx="3827092" cy="0"/>
          </a:xfrm>
          <a:prstGeom prst="line">
            <a:avLst/>
          </a:prstGeom>
          <a:ln w="57150" cap="flat">
            <a:solidFill>
              <a:srgbClr val="333137"/>
            </a:solidFill>
            <a:prstDash val="solid"/>
            <a:headEnd type="none" w="sm" len="sm"/>
            <a:tailEnd type="none" w="sm" len="sm"/>
          </a:ln>
        </p:spPr>
      </p:sp>
      <p:sp>
        <p:nvSpPr>
          <p:cNvPr id="8" name="AutoShape 8"/>
          <p:cNvSpPr/>
          <p:nvPr/>
        </p:nvSpPr>
        <p:spPr>
          <a:xfrm>
            <a:off x="10146030" y="446226"/>
            <a:ext cx="3827092" cy="0"/>
          </a:xfrm>
          <a:prstGeom prst="line">
            <a:avLst/>
          </a:prstGeom>
          <a:ln w="57150" cap="flat">
            <a:solidFill>
              <a:srgbClr val="333137"/>
            </a:solidFill>
            <a:prstDash val="solid"/>
            <a:headEnd type="none" w="sm" len="sm"/>
            <a:tailEnd type="none" w="sm" len="sm"/>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FE5ED340F12FF438B134E672892BFDA" ma:contentTypeVersion="12" ma:contentTypeDescription="Create a new document." ma:contentTypeScope="" ma:versionID="2c87ab58b8ec2353d2b26750d179ec7e">
  <xsd:schema xmlns:xsd="http://www.w3.org/2001/XMLSchema" xmlns:xs="http://www.w3.org/2001/XMLSchema" xmlns:p="http://schemas.microsoft.com/office/2006/metadata/properties" xmlns:ns2="b7aa8a3b-80d1-4955-8f76-a3254a33a331" xmlns:ns3="8aa28b7e-c5b6-4db8-be1f-ce18dc9d6788" targetNamespace="http://schemas.microsoft.com/office/2006/metadata/properties" ma:root="true" ma:fieldsID="69fb4eb5051183c283dc3b3a79120d25" ns2:_="" ns3:_="">
    <xsd:import namespace="b7aa8a3b-80d1-4955-8f76-a3254a33a331"/>
    <xsd:import namespace="8aa28b7e-c5b6-4db8-be1f-ce18dc9d6788"/>
    <xsd:element name="properties">
      <xsd:complexType>
        <xsd:sequence>
          <xsd:element name="documentManagement">
            <xsd:complexType>
              <xsd:all>
                <xsd:element ref="ns2:ReferenceId" minOccurs="0"/>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7aa8a3b-80d1-4955-8f76-a3254a33a331" elementFormDefault="qualified">
    <xsd:import namespace="http://schemas.microsoft.com/office/2006/documentManagement/types"/>
    <xsd:import namespace="http://schemas.microsoft.com/office/infopath/2007/PartnerControls"/>
    <xsd:element name="ReferenceId" ma:index="8" nillable="true" ma:displayName="ReferenceId" ma:indexed="true" ma:internalName="ReferenceId">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d765a431-9415-4219-9cd0-5363948861b2"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8aa28b7e-c5b6-4db8-be1f-ce18dc9d6788"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5a5849d0-3a25-4ea2-a66f-6da2942d5ba7}" ma:internalName="TaxCatchAll" ma:showField="CatchAllData" ma:web="8aa28b7e-c5b6-4db8-be1f-ce18dc9d678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ReferenceId xmlns="b7aa8a3b-80d1-4955-8f76-a3254a33a331" xsi:nil="true"/>
    <lcf76f155ced4ddcb4097134ff3c332f xmlns="b7aa8a3b-80d1-4955-8f76-a3254a33a331">
      <Terms xmlns="http://schemas.microsoft.com/office/infopath/2007/PartnerControls"/>
    </lcf76f155ced4ddcb4097134ff3c332f>
    <TaxCatchAll xmlns="8aa28b7e-c5b6-4db8-be1f-ce18dc9d6788" xsi:nil="true"/>
  </documentManagement>
</p:properties>
</file>

<file path=customXml/itemProps1.xml><?xml version="1.0" encoding="utf-8"?>
<ds:datastoreItem xmlns:ds="http://schemas.openxmlformats.org/officeDocument/2006/customXml" ds:itemID="{7E916D74-272B-4F02-A20B-C6A8886F67CA}"/>
</file>

<file path=customXml/itemProps2.xml><?xml version="1.0" encoding="utf-8"?>
<ds:datastoreItem xmlns:ds="http://schemas.openxmlformats.org/officeDocument/2006/customXml" ds:itemID="{7A57C14E-1EDC-4E07-B958-510D1592D023}"/>
</file>

<file path=customXml/itemProps3.xml><?xml version="1.0" encoding="utf-8"?>
<ds:datastoreItem xmlns:ds="http://schemas.openxmlformats.org/officeDocument/2006/customXml" ds:itemID="{808844AC-2C75-4638-A064-2FC4E1F7CCE0}"/>
</file>

<file path=docProps/app.xml><?xml version="1.0" encoding="utf-8"?>
<Properties xmlns="http://schemas.openxmlformats.org/officeDocument/2006/extended-properties" xmlns:vt="http://schemas.openxmlformats.org/officeDocument/2006/docPropsVTypes">
  <TotalTime>1</TotalTime>
  <Words>1058</Words>
  <Application>Microsoft Office PowerPoint</Application>
  <PresentationFormat>Custom</PresentationFormat>
  <Paragraphs>196</Paragraphs>
  <Slides>21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Nyutro Sans</vt:lpstr>
      <vt:lpstr>Arial</vt:lpstr>
      <vt:lpstr>Emmali Medium</vt:lpstr>
      <vt:lpstr>Nyutro Sans Bold</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Hexapod Robot</dc:title>
  <cp:lastModifiedBy>Daksh Hariya</cp:lastModifiedBy>
  <cp:revision>2</cp:revision>
  <dcterms:created xsi:type="dcterms:W3CDTF">2006-08-16T00:00:00Z</dcterms:created>
  <dcterms:modified xsi:type="dcterms:W3CDTF">2026-04-24T13:40:23Z</dcterms:modified>
  <dc:identifier>DAHHT8ALwvk</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0x010100AFE5ED340F12FF438B134E672892BFDA</vt:lpwstr>
  </property>
</Properties>
</file>