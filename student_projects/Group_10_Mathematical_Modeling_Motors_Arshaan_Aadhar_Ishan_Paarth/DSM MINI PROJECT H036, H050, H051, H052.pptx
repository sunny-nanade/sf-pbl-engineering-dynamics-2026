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9" r:id="rId8"/>
    <p:sldId id="26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676"/>
  </p:normalViewPr>
  <p:slideViewPr>
    <p:cSldViewPr snapToGrid="0" snapToObjects="1">
      <p:cViewPr>
        <p:scale>
          <a:sx n="111" d="100"/>
          <a:sy n="111" d="100"/>
        </p:scale>
        <p:origin x="56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8E4A4-F83B-3242-8FF2-83C94C101E7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26C97-5BA2-184E-8B20-5DF48C3F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4870-621E-F5C8-F45F-1876BB8F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DF3B9-6CB9-BB5D-6ED4-8A4245338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407F0-F14E-91A7-BC14-493AA083A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D4C3-D64B-873F-0E4A-B5D655482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42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6672-D40F-DE98-A296-36321103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84B4E-54CE-4E12-1030-AEF48E28A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D24D0-7E3D-73BC-0452-FF07051F8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C1D4F-8E6C-8E34-F211-DCE3FC425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5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TIMING: 5:00-7:00 (2 min)</a:t>
            </a:r>
            <a:r>
              <a:rPr lang="en-IN" dirty="0"/>
              <a:t> Screenshot 2026-04-20 at 12.14.18 AM</a:t>
            </a:r>
            <a:endParaRPr dirty="0"/>
          </a:p>
          <a:p>
            <a:r>
              <a:rPr dirty="0"/>
              <a:t>FOCUS: Show your simulation setup, key code snippet, and output plots.</a:t>
            </a:r>
          </a:p>
          <a:p>
            <a:r>
              <a:rPr dirty="0"/>
              <a:t>INCLUDE: Energy vs time plot — this validates your model physically.</a:t>
            </a:r>
          </a:p>
          <a:p>
            <a:r>
              <a:rPr dirty="0"/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sblog.com/torque-equation-of-dc-motor-derivation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58730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US" dirty="0"/>
              <a:t>MATHEMATICAL MODELING OF DC, STEPPER AND SERVO MOTORS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pPr>
              <a:defRPr sz="1800"/>
            </a:pPr>
            <a:r>
              <a:rPr dirty="0"/>
              <a:t>Team: </a:t>
            </a:r>
            <a:r>
              <a:rPr lang="en-US" dirty="0"/>
              <a:t>Aadhar Patel, Arshaan Lakhani, Ishan Patel, Paarth Patel</a:t>
            </a:r>
            <a:endParaRPr dirty="0"/>
          </a:p>
          <a:p>
            <a:pPr>
              <a:defRPr sz="1800"/>
            </a:pPr>
            <a:r>
              <a:rPr dirty="0"/>
              <a:t>Course: Dynamic System Modeling (702MH0C023)</a:t>
            </a:r>
          </a:p>
          <a:p>
            <a:pPr>
              <a:defRPr sz="1800"/>
            </a:pPr>
            <a:r>
              <a:rPr dirty="0"/>
              <a:t>B.Tech Mechatronics, Sem IV | NMIMS MPSTME Mumbai</a:t>
            </a:r>
          </a:p>
          <a:p>
            <a:pPr>
              <a:defRPr sz="1800"/>
            </a:pPr>
            <a:r>
              <a:rPr dirty="0"/>
              <a:t>Category: </a:t>
            </a:r>
            <a:r>
              <a:rPr lang="en-US" dirty="0"/>
              <a:t>E</a:t>
            </a:r>
            <a:r>
              <a:rPr dirty="0"/>
              <a:t>| Complexity: Medium</a:t>
            </a:r>
            <a:r>
              <a:rPr lang="en-US" dirty="0"/>
              <a:t> </a:t>
            </a:r>
          </a:p>
          <a:p>
            <a:pPr>
              <a:defRPr sz="1800"/>
            </a:pPr>
            <a:r>
              <a:rPr dirty="0"/>
              <a:t>COs Exercised: [CO1, CO2, CO3, CO4, CO5] | Date: </a:t>
            </a:r>
            <a:r>
              <a:rPr lang="en-US" dirty="0"/>
              <a:t>19</a:t>
            </a:r>
            <a:r>
              <a:rPr dirty="0"/>
              <a:t>/</a:t>
            </a:r>
            <a:r>
              <a:rPr lang="en-US" dirty="0"/>
              <a:t>04</a:t>
            </a:r>
            <a:r>
              <a:rPr dirty="0"/>
              <a:t>/</a:t>
            </a:r>
            <a:r>
              <a:rPr lang="en-US" dirty="0"/>
              <a:t>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3487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348654" cy="4525963"/>
          </a:xfrm>
        </p:spPr>
        <p:txBody>
          <a:bodyPr>
            <a:normAutofit/>
          </a:bodyPr>
          <a:lstStyle/>
          <a:p>
            <a:pPr algn="just"/>
            <a:r>
              <a:rPr lang="en-IN" sz="1600" b="1" u="sng" dirty="0"/>
              <a:t>The system under study consists of three types of electric motors </a:t>
            </a:r>
          </a:p>
          <a:p>
            <a:pPr marL="0" indent="0" algn="just">
              <a:buNone/>
            </a:pPr>
            <a:r>
              <a:rPr lang="en-IN" sz="1600" b="1" dirty="0"/>
              <a:t>	</a:t>
            </a:r>
            <a:r>
              <a:rPr lang="en-IN" sz="1400" b="1" dirty="0"/>
              <a:t>DC, stepper and servo motor</a:t>
            </a:r>
            <a:r>
              <a:rPr lang="en-IN" sz="1400" dirty="0"/>
              <a:t>, which convert electrical energy into mechanical motion</a:t>
            </a:r>
            <a:r>
              <a:rPr lang="en-IN" sz="1600" dirty="0"/>
              <a:t>.</a:t>
            </a:r>
          </a:p>
          <a:p>
            <a:pPr marL="400050" lvl="1" indent="0" algn="just">
              <a:buNone/>
            </a:pPr>
            <a:r>
              <a:rPr lang="en-IN" sz="1400" dirty="0"/>
              <a:t>A </a:t>
            </a:r>
            <a:r>
              <a:rPr lang="en-IN" sz="1400" b="1" dirty="0"/>
              <a:t>DC motor</a:t>
            </a:r>
            <a:r>
              <a:rPr lang="en-IN" sz="1400" dirty="0"/>
              <a:t> provides continuous rotational motion.</a:t>
            </a:r>
          </a:p>
          <a:p>
            <a:pPr marL="400050" lvl="1" indent="0" algn="just">
              <a:buNone/>
            </a:pPr>
            <a:r>
              <a:rPr lang="en-IN" sz="1400" dirty="0"/>
              <a:t>A </a:t>
            </a:r>
            <a:r>
              <a:rPr lang="en-IN" sz="1400" b="1" dirty="0"/>
              <a:t>stepper motor</a:t>
            </a:r>
            <a:r>
              <a:rPr lang="en-IN" sz="1400" dirty="0"/>
              <a:t> produces discrete angular steps.</a:t>
            </a:r>
          </a:p>
          <a:p>
            <a:pPr marL="400050" lvl="1" indent="0" algn="just">
              <a:buNone/>
            </a:pPr>
            <a:r>
              <a:rPr lang="en-IN" sz="1400" dirty="0"/>
              <a:t>A </a:t>
            </a:r>
            <a:r>
              <a:rPr lang="en-IN" sz="1400" b="1" dirty="0"/>
              <a:t>servo motor</a:t>
            </a:r>
            <a:r>
              <a:rPr lang="en-IN" sz="1400" dirty="0"/>
              <a:t> enables precise position, velocity, and acceleration control using feedback.</a:t>
            </a:r>
            <a:br>
              <a:rPr lang="en-IN" sz="1400" dirty="0"/>
            </a:br>
            <a:endParaRPr lang="en-IN" sz="1400" dirty="0"/>
          </a:p>
          <a:p>
            <a:pPr algn="just"/>
            <a:r>
              <a:rPr lang="en-IN" sz="1600" b="1" u="sng" dirty="0"/>
              <a:t>These motors are fundamental in modern engineering systems</a:t>
            </a:r>
          </a:p>
          <a:p>
            <a:pPr marL="400050" lvl="1" indent="0" algn="just">
              <a:buNone/>
            </a:pPr>
            <a:r>
              <a:rPr lang="en-IN" sz="1400" b="1" dirty="0"/>
              <a:t>DC Motors</a:t>
            </a:r>
            <a:r>
              <a:rPr lang="en-IN" sz="1400" dirty="0"/>
              <a:t> → conveyors, fans, electric vehicles</a:t>
            </a:r>
          </a:p>
          <a:p>
            <a:pPr marL="400050" lvl="1" indent="0" algn="just">
              <a:buNone/>
            </a:pPr>
            <a:r>
              <a:rPr lang="en-IN" sz="1400" b="1" dirty="0"/>
              <a:t>Stepper Motors</a:t>
            </a:r>
            <a:r>
              <a:rPr lang="en-IN" sz="1400" dirty="0"/>
              <a:t> → 3D printers, CNC machines, robotics</a:t>
            </a:r>
          </a:p>
          <a:p>
            <a:pPr marL="400050" lvl="1" indent="0" algn="just">
              <a:buNone/>
            </a:pPr>
            <a:r>
              <a:rPr lang="en-IN" sz="1400" b="1" dirty="0"/>
              <a:t>Servo Motors</a:t>
            </a:r>
            <a:r>
              <a:rPr lang="en-IN" sz="1400" dirty="0"/>
              <a:t> → robotic arms, aerospace systems, automation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>
              <a:spcBef>
                <a:spcPts val="600"/>
              </a:spcBef>
              <a:defRPr sz="1800"/>
            </a:pPr>
            <a:r>
              <a:rPr lang="en-IN" sz="1600" b="1" u="sng" dirty="0"/>
              <a:t>What question are we answering?</a:t>
            </a:r>
            <a:endParaRPr lang="en-US" sz="1600" b="1" u="sng" dirty="0"/>
          </a:p>
          <a:p>
            <a:pPr marL="0" indent="0" algn="just">
              <a:spcBef>
                <a:spcPts val="600"/>
              </a:spcBef>
              <a:buNone/>
              <a:defRPr sz="1800"/>
            </a:pPr>
            <a:r>
              <a:rPr lang="en-US" sz="1600" dirty="0"/>
              <a:t>	</a:t>
            </a:r>
            <a:r>
              <a:rPr lang="en-IN" sz="1400" dirty="0"/>
              <a:t>How can we mathematically model DC, stepper, and servo motors using physical laws 	(FBD, 	electrical laws), and represent them in forms suitable for analysis such as 	differential equations and state-space models?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52696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 Problem Formulation &amp; Assumptions</a:t>
            </a:r>
            <a:r>
              <a:rPr lang="en-US" dirty="0"/>
              <a:t> for DC Motor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5104"/>
          </a:xfrm>
        </p:spPr>
        <p:txBody>
          <a:bodyPr>
            <a:normAutofit/>
          </a:bodyPr>
          <a:lstStyle/>
          <a:p>
            <a:pPr algn="just"/>
            <a:r>
              <a:rPr lang="en-IN" sz="1400" b="1" dirty="0"/>
              <a:t>Inputs</a:t>
            </a:r>
          </a:p>
          <a:p>
            <a:pPr marL="400050" lvl="1" indent="0" algn="just">
              <a:buNone/>
            </a:pPr>
            <a:r>
              <a:rPr lang="en-IN" sz="1200" dirty="0"/>
              <a:t>Voltage: V(t)</a:t>
            </a:r>
          </a:p>
          <a:p>
            <a:pPr marL="400050" lvl="1" indent="0" algn="just">
              <a:buNone/>
            </a:pPr>
            <a:r>
              <a:rPr lang="en-IN" sz="1200" dirty="0"/>
              <a:t>Load torque disturbance: T_L(t)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Outputs</a:t>
            </a:r>
          </a:p>
          <a:p>
            <a:pPr marL="400050" lvl="1" indent="0" algn="just">
              <a:buNone/>
            </a:pPr>
            <a:r>
              <a:rPr lang="en-IN" sz="1200" dirty="0"/>
              <a:t>Angular velocity: \omega(t) and Angular position: \theta(t)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State Variables</a:t>
            </a:r>
          </a:p>
          <a:p>
            <a:pPr marL="400050" lvl="1" indent="0" algn="just">
              <a:buNone/>
            </a:pPr>
            <a:r>
              <a:rPr lang="en-IN" sz="1200" dirty="0"/>
              <a:t>x_1 = \omega(t) (angular velocity)</a:t>
            </a:r>
          </a:p>
          <a:p>
            <a:pPr marL="400050" lvl="1" indent="0" algn="just">
              <a:buNone/>
            </a:pPr>
            <a:r>
              <a:rPr lang="en-IN" sz="1200" dirty="0"/>
              <a:t>x_2 = </a:t>
            </a:r>
            <a:r>
              <a:rPr lang="en-IN" sz="1200" dirty="0" err="1"/>
              <a:t>i</a:t>
            </a:r>
            <a:r>
              <a:rPr lang="en-IN" sz="1200" dirty="0"/>
              <a:t>(t) (armature current)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500" b="1" dirty="0"/>
              <a:t>Parameters</a:t>
            </a:r>
          </a:p>
          <a:p>
            <a:pPr marL="400050" lvl="1" indent="0" algn="just">
              <a:buNone/>
            </a:pPr>
            <a:r>
              <a:rPr lang="en-IN" sz="1200" dirty="0"/>
              <a:t>J: Moment of inertia</a:t>
            </a:r>
          </a:p>
          <a:p>
            <a:pPr marL="400050" lvl="1" indent="0" algn="just">
              <a:buNone/>
            </a:pPr>
            <a:r>
              <a:rPr lang="en-IN" sz="1200" dirty="0"/>
              <a:t>B: Viscous friction coefficient</a:t>
            </a:r>
          </a:p>
          <a:p>
            <a:pPr marL="400050" lvl="1" indent="0" algn="just">
              <a:buNone/>
            </a:pPr>
            <a:r>
              <a:rPr lang="en-IN" sz="1200" dirty="0"/>
              <a:t>R: Armature resistance</a:t>
            </a:r>
          </a:p>
          <a:p>
            <a:pPr marL="400050" lvl="1" indent="0" algn="just">
              <a:buNone/>
            </a:pPr>
            <a:r>
              <a:rPr lang="en-IN" sz="1200" dirty="0"/>
              <a:t>L: Armature inductance</a:t>
            </a:r>
          </a:p>
          <a:p>
            <a:pPr marL="400050" lvl="1" indent="0" algn="just">
              <a:buNone/>
            </a:pPr>
            <a:r>
              <a:rPr lang="en-IN" sz="1200" dirty="0" err="1"/>
              <a:t>K_t</a:t>
            </a:r>
            <a:r>
              <a:rPr lang="en-IN" sz="1200" dirty="0"/>
              <a:t>: Torque constant</a:t>
            </a:r>
          </a:p>
          <a:p>
            <a:pPr marL="400050" lvl="1" indent="0" algn="just">
              <a:buNone/>
            </a:pPr>
            <a:r>
              <a:rPr lang="en-IN" sz="1200" dirty="0" err="1"/>
              <a:t>K_e</a:t>
            </a:r>
            <a:r>
              <a:rPr lang="en-IN" sz="1200" dirty="0"/>
              <a:t>: Back EMF constant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DOF = 1. </a:t>
            </a:r>
            <a:r>
              <a:rPr lang="en-IN" sz="1400" dirty="0"/>
              <a:t>Only one independent mechanical motion: </a:t>
            </a:r>
            <a:r>
              <a:rPr lang="en-IN" sz="1400" b="1" dirty="0"/>
              <a:t>shaft rotation</a:t>
            </a:r>
            <a:endParaRPr lang="en-IN" sz="1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D48C-4DD0-4058-F0DC-056D47D7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B387-30CD-711B-CE67-7311F5F0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064" y="352696"/>
            <a:ext cx="9355872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 Problem Formulation &amp; Assumptions</a:t>
            </a:r>
            <a:r>
              <a:rPr lang="en-US" dirty="0"/>
              <a:t> for Stepper Motor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805E-C04F-2797-51B6-1AA7F8CDD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5104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1400" b="1" dirty="0"/>
              <a:t>Inputs</a:t>
            </a:r>
          </a:p>
          <a:p>
            <a:pPr marL="400050" lvl="1" indent="0">
              <a:buNone/>
            </a:pPr>
            <a:r>
              <a:rPr lang="en-IN" sz="1200" dirty="0"/>
              <a:t>Phase voltages: V_A(t), V_B(t)</a:t>
            </a:r>
          </a:p>
          <a:p>
            <a:pPr marL="400050" lvl="1" indent="0">
              <a:buNone/>
            </a:pPr>
            <a:r>
              <a:rPr lang="en-IN" sz="1200" dirty="0"/>
              <a:t>Pulse sequence (digital control input)</a:t>
            </a:r>
          </a:p>
          <a:p>
            <a:pPr marL="400050" lvl="1" indent="0">
              <a:buNone/>
            </a:pPr>
            <a:endParaRPr lang="en-IN" sz="1200" dirty="0"/>
          </a:p>
          <a:p>
            <a:pPr algn="just"/>
            <a:r>
              <a:rPr lang="en-IN" sz="1400" b="1" dirty="0"/>
              <a:t>Outputs</a:t>
            </a:r>
          </a:p>
          <a:p>
            <a:pPr marL="400050" lvl="1" indent="0">
              <a:buNone/>
            </a:pPr>
            <a:r>
              <a:rPr lang="en-IN" sz="1200" dirty="0"/>
              <a:t>Angular position: \theta(t)</a:t>
            </a:r>
          </a:p>
          <a:p>
            <a:pPr marL="400050" lvl="1" indent="0">
              <a:buNone/>
            </a:pPr>
            <a:r>
              <a:rPr lang="en-IN" sz="1200" dirty="0"/>
              <a:t>Step position (discrete)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State Variables</a:t>
            </a:r>
          </a:p>
          <a:p>
            <a:pPr marL="400050" lvl="1" indent="0">
              <a:buNone/>
            </a:pPr>
            <a:r>
              <a:rPr lang="en-IN" sz="1400" dirty="0"/>
              <a:t>x_1 = \theta(t)</a:t>
            </a:r>
          </a:p>
          <a:p>
            <a:pPr marL="400050" lvl="1" indent="0">
              <a:buNone/>
            </a:pPr>
            <a:r>
              <a:rPr lang="en-IN" sz="1400" dirty="0"/>
              <a:t>x_2 = \dot{\theta}(t)</a:t>
            </a:r>
          </a:p>
          <a:p>
            <a:pPr marL="400050" lvl="1" indent="0">
              <a:buNone/>
            </a:pPr>
            <a:r>
              <a:rPr lang="en-IN" sz="1400" dirty="0"/>
              <a:t>x_3 = </a:t>
            </a:r>
            <a:r>
              <a:rPr lang="en-IN" sz="1400" dirty="0" err="1"/>
              <a:t>i_A</a:t>
            </a:r>
            <a:r>
              <a:rPr lang="en-IN" sz="1400" dirty="0"/>
              <a:t>(t)</a:t>
            </a:r>
          </a:p>
          <a:p>
            <a:pPr marL="400050" lvl="1" indent="0">
              <a:buNone/>
            </a:pPr>
            <a:r>
              <a:rPr lang="en-IN" sz="1400" dirty="0"/>
              <a:t>x_4 = </a:t>
            </a:r>
            <a:r>
              <a:rPr lang="en-IN" sz="1400" dirty="0" err="1"/>
              <a:t>i_B</a:t>
            </a:r>
            <a:r>
              <a:rPr lang="en-IN" sz="1400" dirty="0"/>
              <a:t>(t)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500" b="1" dirty="0"/>
              <a:t>Parameters</a:t>
            </a:r>
          </a:p>
          <a:p>
            <a:pPr marL="400050" lvl="1" indent="0">
              <a:buNone/>
            </a:pPr>
            <a:r>
              <a:rPr lang="en-IN" sz="1300" dirty="0"/>
              <a:t>J: Rotor inertia</a:t>
            </a:r>
          </a:p>
          <a:p>
            <a:pPr marL="400050" lvl="1" indent="0">
              <a:buNone/>
            </a:pPr>
            <a:r>
              <a:rPr lang="en-IN" sz="1300" dirty="0"/>
              <a:t>B: Damping coefficient</a:t>
            </a:r>
          </a:p>
          <a:p>
            <a:pPr marL="400050" lvl="1" indent="0">
              <a:buNone/>
            </a:pPr>
            <a:r>
              <a:rPr lang="en-IN" sz="1300" dirty="0"/>
              <a:t>R, L: Phase resistance &amp; inductance</a:t>
            </a:r>
          </a:p>
          <a:p>
            <a:pPr marL="400050" lvl="1" indent="0">
              <a:buNone/>
            </a:pPr>
            <a:r>
              <a:rPr lang="en-IN" sz="1300" dirty="0" err="1"/>
              <a:t>K_m</a:t>
            </a:r>
            <a:r>
              <a:rPr lang="en-IN" sz="1300" dirty="0"/>
              <a:t>: Motor torque constant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DOF = 1. </a:t>
            </a:r>
            <a:r>
              <a:rPr lang="en-IN" sz="1400" dirty="0"/>
              <a:t>Only one mechanical motion: </a:t>
            </a:r>
            <a:r>
              <a:rPr lang="en-IN" sz="1400" b="1" dirty="0"/>
              <a:t>rotor angle (theta)</a:t>
            </a:r>
            <a:endParaRPr lang="en-IN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13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8FAD6-5C76-07B1-3141-8A4FF4CB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C1A5-1081-AECA-0728-7B9E03FB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52696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 Problem Formulation &amp; Assumptions</a:t>
            </a:r>
            <a:r>
              <a:rPr lang="en-US" dirty="0"/>
              <a:t> for Servo Motor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C0E54-404B-C703-82D5-A59DC6988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510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1400" b="1" dirty="0"/>
              <a:t>Inputs</a:t>
            </a:r>
          </a:p>
          <a:p>
            <a:pPr marL="400050" lvl="1" indent="0">
              <a:buNone/>
            </a:pPr>
            <a:r>
              <a:rPr lang="en-IN" sz="1300" dirty="0"/>
              <a:t>Control voltage: V(t)</a:t>
            </a:r>
          </a:p>
          <a:p>
            <a:pPr marL="400050" lvl="1" indent="0">
              <a:buNone/>
            </a:pPr>
            <a:r>
              <a:rPr lang="en-IN" sz="1300" dirty="0"/>
              <a:t>Reference input (desired position): \theta_{ref}(t)</a:t>
            </a:r>
          </a:p>
          <a:p>
            <a:pPr marL="400050" lvl="1" indent="0">
              <a:buNone/>
            </a:pPr>
            <a:r>
              <a:rPr lang="en-IN" sz="1300" dirty="0"/>
              <a:t>Load torque: T_L(t)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Outputs</a:t>
            </a:r>
          </a:p>
          <a:p>
            <a:pPr marL="400050" lvl="1" indent="0">
              <a:buNone/>
            </a:pPr>
            <a:r>
              <a:rPr lang="en-IN" sz="1300" dirty="0"/>
              <a:t>Angular position: \theta(t)</a:t>
            </a:r>
          </a:p>
          <a:p>
            <a:pPr marL="400050" lvl="1" indent="0">
              <a:buNone/>
            </a:pPr>
            <a:r>
              <a:rPr lang="en-IN" sz="1300" dirty="0"/>
              <a:t>Angular velocity: \dot{\theta}(t)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State Variables</a:t>
            </a:r>
          </a:p>
          <a:p>
            <a:pPr marL="400050" lvl="1" indent="0">
              <a:buNone/>
            </a:pPr>
            <a:r>
              <a:rPr lang="en-IN" sz="1300" dirty="0"/>
              <a:t>x_1 = \theta(t)</a:t>
            </a:r>
          </a:p>
          <a:p>
            <a:pPr marL="400050" lvl="1" indent="0">
              <a:buNone/>
            </a:pPr>
            <a:r>
              <a:rPr lang="en-IN" sz="1300" dirty="0"/>
              <a:t>x_2 = \dot{\theta}(t)</a:t>
            </a:r>
          </a:p>
          <a:p>
            <a:pPr marL="400050" lvl="1" indent="0">
              <a:buNone/>
            </a:pPr>
            <a:r>
              <a:rPr lang="en-IN" sz="1300" dirty="0"/>
              <a:t>x_3 = </a:t>
            </a:r>
            <a:r>
              <a:rPr lang="en-IN" sz="1300" dirty="0" err="1"/>
              <a:t>i</a:t>
            </a:r>
            <a:r>
              <a:rPr lang="en-IN" sz="1300" dirty="0"/>
              <a:t>(t)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500" b="1" dirty="0"/>
              <a:t>Parameters</a:t>
            </a:r>
          </a:p>
          <a:p>
            <a:pPr marL="400050" lvl="1" indent="0">
              <a:buNone/>
            </a:pPr>
            <a:r>
              <a:rPr lang="en-IN" sz="1400" dirty="0"/>
              <a:t>J: Inertia</a:t>
            </a:r>
          </a:p>
          <a:p>
            <a:pPr marL="400050" lvl="1" indent="0">
              <a:buNone/>
            </a:pPr>
            <a:r>
              <a:rPr lang="en-IN" sz="1400" dirty="0"/>
              <a:t>B: Damping coefficient</a:t>
            </a:r>
          </a:p>
          <a:p>
            <a:pPr marL="400050" lvl="1" indent="0">
              <a:buNone/>
            </a:pPr>
            <a:r>
              <a:rPr lang="en-IN" sz="1400" dirty="0"/>
              <a:t>R, L: Electrical parameters</a:t>
            </a:r>
          </a:p>
          <a:p>
            <a:pPr marL="400050" lvl="1" indent="0">
              <a:buNone/>
            </a:pPr>
            <a:r>
              <a:rPr lang="en-IN" sz="1400" dirty="0" err="1"/>
              <a:t>K_t</a:t>
            </a:r>
            <a:r>
              <a:rPr lang="en-IN" sz="1400" dirty="0"/>
              <a:t>, </a:t>
            </a:r>
            <a:r>
              <a:rPr lang="en-IN" sz="1400" dirty="0" err="1"/>
              <a:t>K_e</a:t>
            </a:r>
            <a:r>
              <a:rPr lang="en-IN" sz="1400" dirty="0"/>
              <a:t>: Motor constants</a:t>
            </a:r>
          </a:p>
          <a:p>
            <a:pPr marL="400050" lvl="1" indent="0">
              <a:buNone/>
            </a:pPr>
            <a:r>
              <a:rPr lang="en-IN" sz="1400" dirty="0"/>
              <a:t>Controller gain (if included): </a:t>
            </a:r>
            <a:r>
              <a:rPr lang="en-IN" sz="1400" dirty="0" err="1"/>
              <a:t>K_p</a:t>
            </a:r>
            <a:r>
              <a:rPr lang="en-IN" sz="1400" dirty="0"/>
              <a:t>, </a:t>
            </a:r>
            <a:r>
              <a:rPr lang="en-IN" sz="1400" dirty="0" err="1"/>
              <a:t>K_d</a:t>
            </a:r>
            <a:r>
              <a:rPr lang="en-IN" sz="1400" dirty="0"/>
              <a:t>, etc.</a:t>
            </a:r>
          </a:p>
          <a:p>
            <a:pPr marL="400050" lvl="1" indent="0" algn="just">
              <a:buNone/>
            </a:pPr>
            <a:endParaRPr lang="en-IN" sz="1200" dirty="0"/>
          </a:p>
          <a:p>
            <a:pPr algn="just"/>
            <a:r>
              <a:rPr lang="en-IN" sz="1400" b="1" dirty="0"/>
              <a:t>DOF = 1. </a:t>
            </a:r>
            <a:r>
              <a:rPr lang="en-IN" sz="1400" dirty="0"/>
              <a:t>Only one motion: </a:t>
            </a:r>
            <a:r>
              <a:rPr lang="en-IN" sz="1400" b="1" dirty="0"/>
              <a:t>shaft rotation. </a:t>
            </a:r>
            <a:endParaRPr lang="en-IN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79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45780" y="307774"/>
            <a:ext cx="6300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3A4F4-A118-9356-7389-5B322200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82" y="985767"/>
            <a:ext cx="3709639" cy="5564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513D81-2330-E134-6352-9EDEAFBF5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903" y="4034722"/>
            <a:ext cx="4142771" cy="2330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E15B29-7EED-DF7C-8BC3-45363F810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394" y="1259792"/>
            <a:ext cx="4780624" cy="2169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7516"/>
            <a:ext cx="3837008" cy="3327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Method: </a:t>
            </a:r>
            <a:r>
              <a:rPr lang="en-US" dirty="0"/>
              <a:t>Newton – Euler Method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34EDE-DDCD-9416-CD25-8BF0D6DB1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55" y="1692718"/>
            <a:ext cx="3048803" cy="4370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1C0E64-F373-4D29-674F-CCF3B90F1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730" y="1681143"/>
            <a:ext cx="3262322" cy="4676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6B2067-8668-6B44-A5C4-BD5320D8E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198" y="1692718"/>
            <a:ext cx="3212166" cy="4803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5. Final Equations &amp; State-Space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11277600" cy="4525963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dirty="0"/>
              <a:t>FINAL EQUATIONS AND STATE SPACE FOR DC, STEPPER AND SERVO MOTOR</a:t>
            </a:r>
          </a:p>
          <a:p>
            <a:pPr marL="0" indent="0">
              <a:buNone/>
              <a:defRPr sz="1800"/>
            </a:pPr>
            <a:r>
              <a:rPr lang="en-US" dirty="0"/>
              <a:t>DC MOTOR							STEPPER MOTOR							SERVO MOTOR </a:t>
            </a:r>
          </a:p>
          <a:p>
            <a:pPr marL="0" indent="0">
              <a:buNone/>
              <a:defRPr sz="1800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EA90F-07C5-7AA2-0244-0007FE1477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851"/>
          <a:stretch>
            <a:fillRect/>
          </a:stretch>
        </p:blipFill>
        <p:spPr>
          <a:xfrm>
            <a:off x="357440" y="2017661"/>
            <a:ext cx="2258435" cy="1953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9D03E8-4B00-425B-0FED-C618F8912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566" y="2017660"/>
            <a:ext cx="2587400" cy="22956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03DE4A-4F5F-4D4A-EE5E-516129F7E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776" y="2017660"/>
            <a:ext cx="1761690" cy="1511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95BC8E-7169-C6C7-0DDF-1E99DA549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40" y="4137950"/>
            <a:ext cx="2794000" cy="22860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CD5B0-3E21-EE5E-9B3A-EA804F46E0F1}"/>
              </a:ext>
            </a:extLst>
          </p:cNvPr>
          <p:cNvCxnSpPr>
            <a:cxnSpLocks/>
          </p:cNvCxnSpPr>
          <p:nvPr/>
        </p:nvCxnSpPr>
        <p:spPr>
          <a:xfrm>
            <a:off x="3308621" y="1655180"/>
            <a:ext cx="0" cy="4768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9336237-885E-5B97-F65F-318B26FBC932}"/>
              </a:ext>
            </a:extLst>
          </p:cNvPr>
          <p:cNvCxnSpPr>
            <a:cxnSpLocks/>
          </p:cNvCxnSpPr>
          <p:nvPr/>
        </p:nvCxnSpPr>
        <p:spPr>
          <a:xfrm>
            <a:off x="8125619" y="1655180"/>
            <a:ext cx="0" cy="4768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6781B3F-E51B-E3AB-7905-CBF833DB98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2847" y="3708784"/>
            <a:ext cx="3084891" cy="27151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B2B0936-1896-9F0A-0636-0B1D9ED1DC8D}"/>
              </a:ext>
            </a:extLst>
          </p:cNvPr>
          <p:cNvSpPr txBox="1"/>
          <p:nvPr/>
        </p:nvSpPr>
        <p:spPr>
          <a:xfrm>
            <a:off x="3465803" y="5066367"/>
            <a:ext cx="4416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State space of stepper is non-linear due to sin and cosine terms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21149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489B9E-BD50-20B8-CB2E-77309A99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558800"/>
            <a:ext cx="7772400" cy="5630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41403" y="238831"/>
            <a:ext cx="4109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F9F96A-4376-BE85-BCED-0D24C263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3" t="6116" r="8936"/>
          <a:stretch>
            <a:fillRect/>
          </a:stretch>
        </p:blipFill>
        <p:spPr>
          <a:xfrm>
            <a:off x="5092860" y="972912"/>
            <a:ext cx="3379807" cy="2325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72A353-0039-38FB-1B65-C5F80E7192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3" r="9193"/>
          <a:stretch>
            <a:fillRect/>
          </a:stretch>
        </p:blipFill>
        <p:spPr>
          <a:xfrm>
            <a:off x="26909" y="762051"/>
            <a:ext cx="4896091" cy="26602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B6453B-04A1-25F5-98C0-05285857C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998" y="1296201"/>
            <a:ext cx="2839478" cy="1448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BC1847-7E6D-232A-4608-A969F38BE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2972" y="3495990"/>
            <a:ext cx="3159888" cy="3184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D8EFB30-DB44-828A-2BBD-43D73151B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878" y="3495990"/>
            <a:ext cx="3255894" cy="32451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Validation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218037"/>
          </a:xfrm>
        </p:spPr>
        <p:txBody>
          <a:bodyPr/>
          <a:lstStyle/>
          <a:p>
            <a:pPr>
              <a:defRPr sz="1800"/>
            </a:pPr>
            <a:r>
              <a:rPr lang="en-US" dirty="0"/>
              <a:t>Validation of DC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F7B7E-FCD9-E16C-9003-DD1562548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142" y="1600200"/>
            <a:ext cx="5736106" cy="2011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E21E0C-2024-6902-A1A0-3DE001B6E8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851"/>
          <a:stretch>
            <a:fillRect/>
          </a:stretch>
        </p:blipFill>
        <p:spPr>
          <a:xfrm>
            <a:off x="727830" y="1994799"/>
            <a:ext cx="1691279" cy="146299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E24A7A-53FA-1E33-C6F3-48F45F3D7847}"/>
              </a:ext>
            </a:extLst>
          </p:cNvPr>
          <p:cNvSpPr txBox="1">
            <a:spLocks/>
          </p:cNvSpPr>
          <p:nvPr/>
        </p:nvSpPr>
        <p:spPr>
          <a:xfrm>
            <a:off x="485924" y="3611562"/>
            <a:ext cx="8229600" cy="221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sz="1800" dirty="0"/>
              <a:t>Validation of Stepper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FB86AD-8089-A57E-43DE-DC7A98E6C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30" y="4104972"/>
            <a:ext cx="1691279" cy="15005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ACED42-7626-DE03-4C88-A11AB8F4A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142" y="3972006"/>
            <a:ext cx="4233747" cy="15005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IN" sz="1800" dirty="0"/>
              <a:t>The mathematical models of DC, stepper, and servo motors were successfully derived and validated, showing that DC and servo motors are linear systems while the stepper motor is nonlinear.</a:t>
            </a:r>
          </a:p>
          <a:p>
            <a:pPr>
              <a:lnSpc>
                <a:spcPct val="110000"/>
              </a:lnSpc>
            </a:pP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Key Finding: The models accurately represent electromechanical energy conversion and system dynamics, matching standard textbook formulations.</a:t>
            </a:r>
          </a:p>
          <a:p>
            <a:pPr>
              <a:lnSpc>
                <a:spcPct val="110000"/>
              </a:lnSpc>
            </a:pP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What we learned that a textbook couldn’t teach: Converting real systems into equations requires proper assumptions and interpretation; CO2 (FBD) was the most challenging concept.</a:t>
            </a:r>
          </a:p>
          <a:p>
            <a:pPr>
              <a:lnSpc>
                <a:spcPct val="110000"/>
              </a:lnSpc>
            </a:pP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What we would do differently: Start early with simulation tools and improve validation of assumptions and intermediate steps.</a:t>
            </a:r>
          </a:p>
          <a:p>
            <a:pPr>
              <a:lnSpc>
                <a:spcPct val="110000"/>
              </a:lnSpc>
            </a:pP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Course units most critical &amp; CO Self-Assessment: Kinematics, FBD, Forces, Laws, and Energy were essential;</a:t>
            </a:r>
            <a:br>
              <a:rPr lang="en-IN" sz="1800" dirty="0"/>
            </a:br>
            <a:r>
              <a:rPr lang="en-IN" sz="1800" dirty="0"/>
              <a:t>CO1 ✓  CO2 ✓  CO3 ✓  CO4 ✓  CO5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Textbook References: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[1] Ginsberg, J. (2008). Engineering Dynamics. Cambridge UP.</a:t>
            </a:r>
            <a:endParaRPr lang="en-US" dirty="0"/>
          </a:p>
          <a:p>
            <a:pPr>
              <a:spcBef>
                <a:spcPts val="600"/>
              </a:spcBef>
              <a:defRPr sz="1800"/>
            </a:pPr>
            <a:r>
              <a:rPr lang="en-IN" sz="1800" dirty="0"/>
              <a:t>  </a:t>
            </a:r>
            <a:r>
              <a:rPr sz="1800" dirty="0"/>
              <a:t>[2] </a:t>
            </a:r>
            <a:r>
              <a:rPr lang="en-US" altLang="en-US" sz="1800" dirty="0">
                <a:solidFill>
                  <a:srgbClr val="1F1F1F"/>
                </a:solidFill>
                <a:latin typeface="ElsevierGulliver"/>
              </a:rPr>
              <a:t>Electrical equivalent circuit based modeling and analysis of direct current motors by Ali Bekir Yeldiz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Online Resources:</a:t>
            </a:r>
            <a:endParaRPr lang="en-US" dirty="0"/>
          </a:p>
          <a:p>
            <a:pPr marL="0" indent="0">
              <a:spcBef>
                <a:spcPts val="600"/>
              </a:spcBef>
              <a:buNone/>
              <a:defRPr sz="1800"/>
            </a:pPr>
            <a:r>
              <a:rPr lang="en-IN" dirty="0">
                <a:hlinkClick r:id="rId3"/>
              </a:rPr>
              <a:t>	https://www.electricalsblog.com/torque-equation-of-dc-motor-derivation?utm_source=chatgpt.com</a:t>
            </a:r>
            <a:endParaRPr lang="en-IN" dirty="0"/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AI Tools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Tool</a:t>
            </a:r>
            <a:r>
              <a:rPr lang="en-US" dirty="0"/>
              <a:t>: </a:t>
            </a:r>
            <a:r>
              <a:rPr dirty="0"/>
              <a:t>ChatGPT-4o, </a:t>
            </a:r>
            <a:r>
              <a:rPr lang="en-US" dirty="0"/>
              <a:t>Antigravity, Codex</a:t>
            </a: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  Purpose: </a:t>
            </a:r>
            <a:r>
              <a:rPr lang="en-US" dirty="0"/>
              <a:t>Mathematical help, </a:t>
            </a:r>
            <a:r>
              <a:rPr dirty="0"/>
              <a:t>Python syntax debugging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NOT used for: </a:t>
            </a:r>
            <a:r>
              <a:rPr lang="en-US" dirty="0"/>
              <a:t> Equations of Motion, </a:t>
            </a:r>
            <a:r>
              <a:rPr dirty="0"/>
              <a:t>Derivation done by hand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CC650-D21C-7E17-178D-6F48D6828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Gulliver"/>
              </a:rPr>
              <a:t>Electrical equivalent circuit based modeling and analysis of direct current motors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53575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/>
              <a:t>Thank You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623600"/>
            <a:ext cx="6400800" cy="1752600"/>
          </a:xfrm>
        </p:spPr>
        <p:txBody>
          <a:bodyPr>
            <a:normAutofit fontScale="85000" lnSpcReduction="10000"/>
          </a:bodyPr>
          <a:lstStyle/>
          <a:p>
            <a:pPr>
              <a:defRPr sz="1800"/>
            </a:pPr>
            <a:r>
              <a:rPr lang="en-IN" dirty="0"/>
              <a:t>Team: Aadhar Patel, Arshaan Lakhani, Ishan Patel, Paarth Patel</a:t>
            </a:r>
          </a:p>
          <a:p>
            <a:pPr>
              <a:defRPr sz="1800"/>
            </a:pPr>
            <a:r>
              <a:rPr dirty="0"/>
              <a:t>Project: </a:t>
            </a:r>
            <a:r>
              <a:rPr lang="en-US" dirty="0"/>
              <a:t>Mathematical Modelling of DC, Stepper and Servo Motor</a:t>
            </a:r>
            <a:endParaRPr dirty="0"/>
          </a:p>
          <a:p>
            <a:pPr>
              <a:defRPr sz="1800"/>
            </a:pPr>
            <a:r>
              <a:rPr dirty="0"/>
              <a:t>Category: [E]</a:t>
            </a:r>
          </a:p>
          <a:p>
            <a:pPr>
              <a:defRPr sz="1800"/>
            </a:pPr>
            <a:r>
              <a:rPr dirty="0"/>
              <a:t>COs: [CO1-CO5]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[ALL members prepared for Q&amp;A — evaluators may direct to specific members]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4e4a6ae84bd6460c7f5bb12ca08fb79b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dad97b1bfed5a3964b6f7fde8b00b5db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schemas.microsoft.com/office/infopath/2007/PartnerControls"/>
    <ds:schemaRef ds:uri="8ba116ed-0b03-4fad-970c-3f26ccc5a628"/>
  </ds:schemaRefs>
</ds:datastoreItem>
</file>

<file path=customXml/itemProps2.xml><?xml version="1.0" encoding="utf-8"?>
<ds:datastoreItem xmlns:ds="http://schemas.openxmlformats.org/officeDocument/2006/customXml" ds:itemID="{1FD27D87-D2D2-47EC-A0D4-C198E47D1284}"/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1491</Words>
  <Application>Microsoft Macintosh PowerPoint</Application>
  <PresentationFormat>Widescreen</PresentationFormat>
  <Paragraphs>166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ElsevierGulliver</vt:lpstr>
      <vt:lpstr>Office Theme</vt:lpstr>
      <vt:lpstr>MATHEMATICAL MODELING OF DC, STEPPER AND SERVO MOTORS</vt:lpstr>
      <vt:lpstr>1. System Introduction &amp; Motivation</vt:lpstr>
      <vt:lpstr> Problem Formulation &amp; Assumptions for DC Motor</vt:lpstr>
      <vt:lpstr> Problem Formulation &amp; Assumptions for Stepper Motor</vt:lpstr>
      <vt:lpstr> Problem Formulation &amp; Assumptions for Servo Motor</vt:lpstr>
      <vt:lpstr>PowerPoint Presentation</vt:lpstr>
      <vt:lpstr>4. Mathematical Derivation (Part 1) </vt:lpstr>
      <vt:lpstr>5. Final Equations &amp; State-Space</vt:lpstr>
      <vt:lpstr>6. Simulation &amp; Energy Analysis</vt:lpstr>
      <vt:lpstr>PowerPoint Presentation</vt:lpstr>
      <vt:lpstr>8. Validation &amp; Analysis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Shashin Patel</cp:lastModifiedBy>
  <cp:revision>8</cp:revision>
  <dcterms:created xsi:type="dcterms:W3CDTF">2013-01-27T09:14:16Z</dcterms:created>
  <dcterms:modified xsi:type="dcterms:W3CDTF">2026-04-19T19:11:54Z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